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1" d="100"/>
          <a:sy n="151" d="100"/>
        </p:scale>
        <p:origin x="47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26213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Capacitación técnica de Ventura Soluciones sobre SAP Business One Service Layer. Instructor: David Mechato. Nivel: programadores con conocimiento básico de Service Layer.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Layer es la capa de servicios web de SAP Business One. Reutiliza el mismo núcleo (DI Core) que DI API, por lo que las reglas de negocio son idénticas. /b1s/v1 implementa OData v3 y /b1s/v2 OData v4.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como una historia: primero se integraba localmente con DI API (COM). Para cargas masivas nació DTW, que usa DI API por debajo. Para integrar desde otros sistemas se expuso DI API en servidor como DI Server (SOAP). Finalmente Service Layer trae un estándar web (REST/OData/JSON), escalable y multiplataforma.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cliente nunca habla directo con un nodo: entra por el balanceador (Apache). Cada nodo es un proceso que carga DI Core y atiende sesiones. La autenticación de usuarios y la asignación de licencias pasan por SLD / License Server.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generado en Mermaid (código fuente en el archivo seq.mmd).
1-6: Login. El cliente envía CompanyDB, UserName y Password. El balanceador asigna un nodo; el nodo autentica contra SLD y reserva licencia; abre la compañía y devuelve SessionId + cookies B1SESSION y ROUTEID.
7-10: Consumo. Toda petición envía las cookies; ROUTEID garantiza que llegue al mismo nodo que tiene la sesión.
11-12: Logout libera sesión y licencia. Si no se hace logout, la sesión expira tras SessionTimeout minutos de inactividad.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Postman las cookies se guardan automáticamente tras el login. Con curl usamos -c cookies.txt para guardarlas y -b cookies.txt para enviarlas. Alternativa: header 'Cookie: B1SESSION=...; ROUTEID=...'.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ejemplos se ejecutarán en Postman. Aquí solo el curl de referencia para cada POST.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query options se combinan con &amp;. Solo aplican a lecturas (GET). Recordar codificar la URL: espacios como %20 y comillas simples dentro de textos se duplican (O''Brien). En Postman se pueden escribir en la pestaña Params.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Implicancia en rollback: la unidad transaccional es el changeset, no el batch completo. Changesets grandes mantienen bloqueos en la base de datos; conviene lotes de 50 a 100 operaciones.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líneas en blanco son obligatorias (separan headers del cuerpo) y deben ser CRLF. La respuesta también es multipart: cada parte trae su propio código HTTP.</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0.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17.png"/><Relationship Id="rId4" Type="http://schemas.openxmlformats.org/officeDocument/2006/relationships/image" Target="../media/image30.png"/></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2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5.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64.png"/><Relationship Id="rId4" Type="http://schemas.openxmlformats.org/officeDocument/2006/relationships/image" Target="../media/image63.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17.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4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70.png"/><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3886200"/>
            <a:ext cx="9144000" cy="1257300"/>
          </a:xfrm>
          <a:prstGeom prst="rect">
            <a:avLst/>
          </a:prstGeom>
          <a:solidFill>
            <a:srgbClr val="071B3F">
              <a:alpha val="88000"/>
            </a:srgbClr>
          </a:solidFill>
          <a:ln w="12700">
            <a:solidFill>
              <a:srgbClr val="071B3F">
                <a:alpha val="0"/>
              </a:srgbClr>
            </a:solidFill>
            <a:prstDash val="solid"/>
          </a:ln>
        </p:spPr>
      </p:sp>
      <p:sp>
        <p:nvSpPr>
          <p:cNvPr id="3" name="Text 1"/>
          <p:cNvSpPr txBox="1"/>
          <p:nvPr/>
        </p:nvSpPr>
        <p:spPr>
          <a:xfrm>
            <a:off x="548640" y="4005072"/>
            <a:ext cx="5943600" cy="228600"/>
          </a:xfrm>
          <a:prstGeom prst="rect">
            <a:avLst/>
          </a:prstGeom>
          <a:noFill/>
          <a:ln/>
        </p:spPr>
        <p:txBody>
          <a:bodyPr wrap="square" lIns="0" tIns="0" rIns="0" bIns="0" rtlCol="0" anchor="t"/>
          <a:lstStyle/>
          <a:p>
            <a:pPr marL="0" indent="0">
              <a:buNone/>
            </a:pPr>
            <a:r>
              <a:rPr lang="en-US" sz="1000" b="1" kern="0" spc="200" dirty="0">
                <a:solidFill>
                  <a:srgbClr val="F5A800"/>
                </a:solidFill>
                <a:latin typeface="Segoe UI" pitchFamily="34" charset="0"/>
                <a:ea typeface="Segoe UI" pitchFamily="34" charset="-122"/>
                <a:cs typeface="Segoe UI" pitchFamily="34" charset="-120"/>
              </a:rPr>
              <a:t>CAPACITACIÓN TÉCNICA  ·  VENTURA SOLUCIONES</a:t>
            </a:r>
            <a:endParaRPr lang="en-US" sz="1000" dirty="0"/>
          </a:p>
        </p:txBody>
      </p:sp>
      <p:sp>
        <p:nvSpPr>
          <p:cNvPr id="4" name="Text 2"/>
          <p:cNvSpPr txBox="1"/>
          <p:nvPr/>
        </p:nvSpPr>
        <p:spPr>
          <a:xfrm>
            <a:off x="548640" y="4224528"/>
            <a:ext cx="6035040" cy="457200"/>
          </a:xfrm>
          <a:prstGeom prst="rect">
            <a:avLst/>
          </a:prstGeom>
          <a:noFill/>
          <a:ln/>
        </p:spPr>
        <p:txBody>
          <a:bodyPr wrap="square" lIns="0" tIns="0" rIns="0" bIns="0" rtlCol="0" anchor="ctr"/>
          <a:lstStyle/>
          <a:p>
            <a:pPr marL="0" indent="0">
              <a:buNone/>
            </a:pPr>
            <a:r>
              <a:rPr lang="en-US" sz="2300" b="1" dirty="0">
                <a:solidFill>
                  <a:srgbClr val="FFFFFF"/>
                </a:solidFill>
                <a:latin typeface="Segoe UI" pitchFamily="34" charset="0"/>
                <a:ea typeface="Segoe UI" pitchFamily="34" charset="-122"/>
                <a:cs typeface="Segoe UI" pitchFamily="34" charset="-120"/>
              </a:rPr>
              <a:t>SAP Business One – Service Layer</a:t>
            </a:r>
            <a:endParaRPr lang="en-US" sz="2300" dirty="0"/>
          </a:p>
        </p:txBody>
      </p:sp>
      <p:sp>
        <p:nvSpPr>
          <p:cNvPr id="5" name="Text 3"/>
          <p:cNvSpPr txBox="1"/>
          <p:nvPr/>
        </p:nvSpPr>
        <p:spPr>
          <a:xfrm>
            <a:off x="548640" y="4663440"/>
            <a:ext cx="6400800" cy="274320"/>
          </a:xfrm>
          <a:prstGeom prst="rect">
            <a:avLst/>
          </a:prstGeom>
          <a:noFill/>
          <a:ln/>
        </p:spPr>
        <p:txBody>
          <a:bodyPr wrap="square" lIns="0" tIns="0" rIns="0" bIns="0" rtlCol="0" anchor="t"/>
          <a:lstStyle/>
          <a:p>
            <a:pPr marL="0" indent="0">
              <a:buNone/>
            </a:pPr>
            <a:r>
              <a:rPr lang="en-US" sz="1200" dirty="0">
                <a:solidFill>
                  <a:srgbClr val="B9D3F0"/>
                </a:solidFill>
                <a:latin typeface="Calibri" pitchFamily="34" charset="0"/>
                <a:ea typeface="Calibri" pitchFamily="34" charset="-122"/>
                <a:cs typeface="Calibri" pitchFamily="34" charset="-120"/>
              </a:rPr>
              <a:t>De cero a integrar: REST/OData, documentos, UDO, batch, B1SLayer y SSO</a:t>
            </a:r>
            <a:endParaRPr lang="en-US" sz="1200" dirty="0"/>
          </a:p>
        </p:txBody>
      </p:sp>
      <p:sp>
        <p:nvSpPr>
          <p:cNvPr id="6" name="Shape 4"/>
          <p:cNvSpPr/>
          <p:nvPr/>
        </p:nvSpPr>
        <p:spPr>
          <a:xfrm>
            <a:off x="6720840" y="4224528"/>
            <a:ext cx="2011680" cy="566928"/>
          </a:xfrm>
          <a:prstGeom prst="roundRect">
            <a:avLst>
              <a:gd name="adj" fmla="val 16129"/>
            </a:avLst>
          </a:prstGeom>
          <a:solidFill>
            <a:srgbClr val="FFFFFF">
              <a:alpha val="12000"/>
            </a:srgbClr>
          </a:solidFill>
          <a:ln w="9525">
            <a:solidFill>
              <a:srgbClr val="7FB6F0"/>
            </a:solidFill>
            <a:prstDash val="solid"/>
          </a:ln>
        </p:spPr>
      </p:sp>
      <p:sp>
        <p:nvSpPr>
          <p:cNvPr id="7" name="Text 5"/>
          <p:cNvSpPr txBox="1"/>
          <p:nvPr/>
        </p:nvSpPr>
        <p:spPr>
          <a:xfrm>
            <a:off x="6858000" y="4270248"/>
            <a:ext cx="1828800" cy="475488"/>
          </a:xfrm>
          <a:prstGeom prst="rect">
            <a:avLst/>
          </a:prstGeom>
          <a:noFill/>
          <a:ln/>
        </p:spPr>
        <p:txBody>
          <a:bodyPr wrap="square" lIns="0" tIns="0" rIns="0" bIns="0" rtlCol="0" anchor="ctr"/>
          <a:lstStyle/>
          <a:p>
            <a:pPr marL="0" indent="0">
              <a:buNone/>
            </a:pPr>
            <a:r>
              <a:rPr lang="en-US" sz="900" b="1" dirty="0">
                <a:solidFill>
                  <a:srgbClr val="29B6F6"/>
                </a:solidFill>
                <a:latin typeface="Calibri" pitchFamily="34" charset="0"/>
                <a:ea typeface="Calibri" pitchFamily="34" charset="-122"/>
                <a:cs typeface="Calibri" pitchFamily="34" charset="-120"/>
              </a:rPr>
              <a:t>Instructor</a:t>
            </a:r>
            <a:endParaRPr lang="en-US" sz="1300" dirty="0"/>
          </a:p>
          <a:p>
            <a:pPr marL="0" indent="0">
              <a:buNone/>
            </a:pPr>
            <a:r>
              <a:rPr lang="en-US" sz="1400" b="1" dirty="0">
                <a:solidFill>
                  <a:srgbClr val="FFFFFF"/>
                </a:solidFill>
                <a:latin typeface="Segoe UI" pitchFamily="34" charset="0"/>
                <a:ea typeface="Segoe UI" pitchFamily="34" charset="-122"/>
                <a:cs typeface="Segoe UI" pitchFamily="34" charset="-120"/>
              </a:rPr>
              <a:t>David Mechato</a:t>
            </a:r>
            <a:endParaRPr lang="en-US" sz="130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C"/>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4572000" cy="548640"/>
          </a:xfrm>
          <a:prstGeom prst="rect">
            <a:avLst/>
          </a:prstGeom>
          <a:noFill/>
          <a:ln/>
        </p:spPr>
        <p:txBody>
          <a:bodyPr wrap="square" lIns="0" tIns="0" rIns="0" bIns="0" rtlCol="0" anchor="t"/>
          <a:lstStyle/>
          <a:p>
            <a:pPr marL="0" indent="0">
              <a:buNone/>
            </a:pPr>
            <a:r>
              <a:rPr lang="en-US" sz="3000" b="1" dirty="0">
                <a:solidFill>
                  <a:srgbClr val="071B3F"/>
                </a:solidFill>
                <a:latin typeface="Segoe UI" pitchFamily="34" charset="0"/>
                <a:ea typeface="Segoe UI" pitchFamily="34" charset="-122"/>
                <a:cs typeface="Segoe UI" pitchFamily="34" charset="-120"/>
              </a:rPr>
              <a:t>Agenda</a:t>
            </a:r>
            <a:endParaRPr lang="en-US" sz="3000" dirty="0"/>
          </a:p>
        </p:txBody>
      </p:sp>
      <p:sp>
        <p:nvSpPr>
          <p:cNvPr id="3" name="Text 1"/>
          <p:cNvSpPr txBox="1"/>
          <p:nvPr/>
        </p:nvSpPr>
        <p:spPr>
          <a:xfrm>
            <a:off x="457200" y="896112"/>
            <a:ext cx="7315200" cy="274320"/>
          </a:xfrm>
          <a:prstGeom prst="rect">
            <a:avLst/>
          </a:prstGeom>
          <a:noFill/>
          <a:ln/>
        </p:spPr>
        <p:txBody>
          <a:bodyPr wrap="square" lIns="0" tIns="0" rIns="0" bIns="0" rtlCol="0" anchor="t"/>
          <a:lstStyle/>
          <a:p>
            <a:pPr marL="0" indent="0">
              <a:buNone/>
            </a:pPr>
            <a:r>
              <a:rPr lang="en-US" sz="1300" dirty="0">
                <a:solidFill>
                  <a:srgbClr val="5B6B82"/>
                </a:solidFill>
                <a:latin typeface="Calibri" pitchFamily="34" charset="0"/>
                <a:ea typeface="Calibri" pitchFamily="34" charset="-122"/>
                <a:cs typeface="Calibri" pitchFamily="34" charset="-120"/>
              </a:rPr>
              <a:t>Siete bloques: de los conceptos a la práctica con Postman y .NET</a:t>
            </a:r>
            <a:endParaRPr lang="en-US" sz="1300" dirty="0"/>
          </a:p>
        </p:txBody>
      </p:sp>
      <p:sp>
        <p:nvSpPr>
          <p:cNvPr id="4" name="Shape 2"/>
          <p:cNvSpPr/>
          <p:nvPr/>
        </p:nvSpPr>
        <p:spPr>
          <a:xfrm>
            <a:off x="457200" y="1417320"/>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5" name="Shape 3"/>
          <p:cNvSpPr/>
          <p:nvPr/>
        </p:nvSpPr>
        <p:spPr>
          <a:xfrm>
            <a:off x="621792" y="1600200"/>
            <a:ext cx="420624" cy="420624"/>
          </a:xfrm>
          <a:prstGeom prst="ellipse">
            <a:avLst/>
          </a:prstGeom>
          <a:solidFill>
            <a:srgbClr val="E8F1FC"/>
          </a:solidFill>
          <a:ln w="12700">
            <a:solidFill>
              <a:srgbClr val="E8F1FC"/>
            </a:solidFill>
            <a:prstDash val="solid"/>
          </a:ln>
        </p:spPr>
      </p:sp>
      <p:pic>
        <p:nvPicPr>
          <p:cNvPr id="6" name="Image 0" descr="preencoded.png"/>
          <p:cNvPicPr>
            <a:picLocks noChangeAspect="1"/>
          </p:cNvPicPr>
          <p:nvPr/>
        </p:nvPicPr>
        <p:blipFill>
          <a:blip r:embed="rId3"/>
          <a:stretch>
            <a:fillRect/>
          </a:stretch>
        </p:blipFill>
        <p:spPr>
          <a:xfrm>
            <a:off x="731154" y="1709562"/>
            <a:ext cx="201900" cy="201900"/>
          </a:xfrm>
          <a:prstGeom prst="rect">
            <a:avLst/>
          </a:prstGeom>
        </p:spPr>
      </p:pic>
      <p:sp>
        <p:nvSpPr>
          <p:cNvPr id="7" name="Text 4"/>
          <p:cNvSpPr txBox="1"/>
          <p:nvPr/>
        </p:nvSpPr>
        <p:spPr>
          <a:xfrm>
            <a:off x="1691640" y="1581912"/>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01</a:t>
            </a:r>
            <a:endParaRPr lang="en-US" sz="2200" dirty="0"/>
          </a:p>
        </p:txBody>
      </p:sp>
      <p:sp>
        <p:nvSpPr>
          <p:cNvPr id="8" name="Text 5"/>
          <p:cNvSpPr txBox="1"/>
          <p:nvPr/>
        </p:nvSpPr>
        <p:spPr>
          <a:xfrm>
            <a:off x="621792" y="2093976"/>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Introducción</a:t>
            </a:r>
            <a:endParaRPr lang="en-US" sz="1150" dirty="0"/>
          </a:p>
        </p:txBody>
      </p:sp>
      <p:sp>
        <p:nvSpPr>
          <p:cNvPr id="9" name="Text 6"/>
          <p:cNvSpPr txBox="1"/>
          <p:nvPr/>
        </p:nvSpPr>
        <p:spPr>
          <a:xfrm>
            <a:off x="621792" y="2386584"/>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Qué es, evolución, documentación y casos de uso</a:t>
            </a:r>
            <a:endParaRPr lang="en-US" sz="1050" dirty="0"/>
          </a:p>
        </p:txBody>
      </p:sp>
      <p:sp>
        <p:nvSpPr>
          <p:cNvPr id="10" name="Shape 7"/>
          <p:cNvSpPr/>
          <p:nvPr/>
        </p:nvSpPr>
        <p:spPr>
          <a:xfrm>
            <a:off x="2560320" y="1417320"/>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1" name="Shape 8"/>
          <p:cNvSpPr/>
          <p:nvPr/>
        </p:nvSpPr>
        <p:spPr>
          <a:xfrm>
            <a:off x="2724912" y="1600200"/>
            <a:ext cx="420624" cy="420624"/>
          </a:xfrm>
          <a:prstGeom prst="ellipse">
            <a:avLst/>
          </a:prstGeom>
          <a:solidFill>
            <a:srgbClr val="E8F1FC"/>
          </a:solidFill>
          <a:ln w="12700">
            <a:solidFill>
              <a:srgbClr val="E8F1FC"/>
            </a:solidFill>
            <a:prstDash val="solid"/>
          </a:ln>
        </p:spPr>
      </p:sp>
      <p:pic>
        <p:nvPicPr>
          <p:cNvPr id="12" name="Image 1" descr="preencoded.png"/>
          <p:cNvPicPr>
            <a:picLocks noChangeAspect="1"/>
          </p:cNvPicPr>
          <p:nvPr/>
        </p:nvPicPr>
        <p:blipFill>
          <a:blip r:embed="rId4"/>
          <a:stretch>
            <a:fillRect/>
          </a:stretch>
        </p:blipFill>
        <p:spPr>
          <a:xfrm>
            <a:off x="2834274" y="1709562"/>
            <a:ext cx="201900" cy="201900"/>
          </a:xfrm>
          <a:prstGeom prst="rect">
            <a:avLst/>
          </a:prstGeom>
        </p:spPr>
      </p:pic>
      <p:sp>
        <p:nvSpPr>
          <p:cNvPr id="13" name="Text 9"/>
          <p:cNvSpPr txBox="1"/>
          <p:nvPr/>
        </p:nvSpPr>
        <p:spPr>
          <a:xfrm>
            <a:off x="3794760" y="1581912"/>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02</a:t>
            </a:r>
            <a:endParaRPr lang="en-US" sz="2200" dirty="0"/>
          </a:p>
        </p:txBody>
      </p:sp>
      <p:sp>
        <p:nvSpPr>
          <p:cNvPr id="14" name="Text 10"/>
          <p:cNvSpPr txBox="1"/>
          <p:nvPr/>
        </p:nvSpPr>
        <p:spPr>
          <a:xfrm>
            <a:off x="2724912" y="2093976"/>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Arquitectura</a:t>
            </a:r>
            <a:endParaRPr lang="en-US" sz="1150" dirty="0"/>
          </a:p>
        </p:txBody>
      </p:sp>
      <p:sp>
        <p:nvSpPr>
          <p:cNvPr id="15" name="Text 11"/>
          <p:cNvSpPr txBox="1"/>
          <p:nvPr/>
        </p:nvSpPr>
        <p:spPr>
          <a:xfrm>
            <a:off x="2724912" y="2386584"/>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Componentes, balanceo, nodos y performance</a:t>
            </a:r>
            <a:endParaRPr lang="en-US" sz="1050" dirty="0"/>
          </a:p>
        </p:txBody>
      </p:sp>
      <p:sp>
        <p:nvSpPr>
          <p:cNvPr id="16" name="Shape 12"/>
          <p:cNvSpPr/>
          <p:nvPr/>
        </p:nvSpPr>
        <p:spPr>
          <a:xfrm>
            <a:off x="4663440" y="1417320"/>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7" name="Shape 13"/>
          <p:cNvSpPr/>
          <p:nvPr/>
        </p:nvSpPr>
        <p:spPr>
          <a:xfrm>
            <a:off x="4828032" y="1600200"/>
            <a:ext cx="420624" cy="420624"/>
          </a:xfrm>
          <a:prstGeom prst="ellipse">
            <a:avLst/>
          </a:prstGeom>
          <a:solidFill>
            <a:srgbClr val="E8F1FC"/>
          </a:solidFill>
          <a:ln w="12700">
            <a:solidFill>
              <a:srgbClr val="E8F1FC"/>
            </a:solidFill>
            <a:prstDash val="solid"/>
          </a:ln>
        </p:spPr>
      </p:sp>
      <p:pic>
        <p:nvPicPr>
          <p:cNvPr id="18" name="Image 2" descr="preencoded.png"/>
          <p:cNvPicPr>
            <a:picLocks noChangeAspect="1"/>
          </p:cNvPicPr>
          <p:nvPr/>
        </p:nvPicPr>
        <p:blipFill>
          <a:blip r:embed="rId5"/>
          <a:stretch>
            <a:fillRect/>
          </a:stretch>
        </p:blipFill>
        <p:spPr>
          <a:xfrm>
            <a:off x="4937394" y="1709562"/>
            <a:ext cx="201900" cy="201900"/>
          </a:xfrm>
          <a:prstGeom prst="rect">
            <a:avLst/>
          </a:prstGeom>
        </p:spPr>
      </p:pic>
      <p:sp>
        <p:nvSpPr>
          <p:cNvPr id="19" name="Text 14"/>
          <p:cNvSpPr txBox="1"/>
          <p:nvPr/>
        </p:nvSpPr>
        <p:spPr>
          <a:xfrm>
            <a:off x="5897880" y="1581912"/>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03</a:t>
            </a:r>
            <a:endParaRPr lang="en-US" sz="2200" dirty="0"/>
          </a:p>
        </p:txBody>
      </p:sp>
      <p:sp>
        <p:nvSpPr>
          <p:cNvPr id="20" name="Text 15"/>
          <p:cNvSpPr txBox="1"/>
          <p:nvPr/>
        </p:nvSpPr>
        <p:spPr>
          <a:xfrm>
            <a:off x="4828032" y="2093976"/>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Flujos de operación I</a:t>
            </a:r>
            <a:endParaRPr lang="en-US" sz="1150" dirty="0"/>
          </a:p>
        </p:txBody>
      </p:sp>
      <p:sp>
        <p:nvSpPr>
          <p:cNvPr id="21" name="Text 16"/>
          <p:cNvSpPr txBox="1"/>
          <p:nvPr/>
        </p:nvSpPr>
        <p:spPr>
          <a:xfrm>
            <a:off x="4828032" y="2386584"/>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Login, SLD, sesión y consumo de endpoints</a:t>
            </a:r>
            <a:endParaRPr lang="en-US" sz="1050" dirty="0"/>
          </a:p>
        </p:txBody>
      </p:sp>
      <p:sp>
        <p:nvSpPr>
          <p:cNvPr id="22" name="Shape 17"/>
          <p:cNvSpPr/>
          <p:nvPr/>
        </p:nvSpPr>
        <p:spPr>
          <a:xfrm>
            <a:off x="6766560" y="1417320"/>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3" name="Shape 18"/>
          <p:cNvSpPr/>
          <p:nvPr/>
        </p:nvSpPr>
        <p:spPr>
          <a:xfrm>
            <a:off x="6931152" y="1600200"/>
            <a:ext cx="420624" cy="420624"/>
          </a:xfrm>
          <a:prstGeom prst="ellipse">
            <a:avLst/>
          </a:prstGeom>
          <a:solidFill>
            <a:srgbClr val="E8F1FC"/>
          </a:solidFill>
          <a:ln w="12700">
            <a:solidFill>
              <a:srgbClr val="E8F1FC"/>
            </a:solidFill>
            <a:prstDash val="solid"/>
          </a:ln>
        </p:spPr>
      </p:sp>
      <p:pic>
        <p:nvPicPr>
          <p:cNvPr id="24" name="Image 3" descr="preencoded.png"/>
          <p:cNvPicPr>
            <a:picLocks noChangeAspect="1"/>
          </p:cNvPicPr>
          <p:nvPr/>
        </p:nvPicPr>
        <p:blipFill>
          <a:blip r:embed="rId6"/>
          <a:stretch>
            <a:fillRect/>
          </a:stretch>
        </p:blipFill>
        <p:spPr>
          <a:xfrm>
            <a:off x="7040514" y="1709562"/>
            <a:ext cx="201900" cy="201900"/>
          </a:xfrm>
          <a:prstGeom prst="rect">
            <a:avLst/>
          </a:prstGeom>
        </p:spPr>
      </p:pic>
      <p:sp>
        <p:nvSpPr>
          <p:cNvPr id="25" name="Text 19"/>
          <p:cNvSpPr txBox="1"/>
          <p:nvPr/>
        </p:nvSpPr>
        <p:spPr>
          <a:xfrm>
            <a:off x="8001000" y="1581912"/>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04</a:t>
            </a:r>
            <a:endParaRPr lang="en-US" sz="2200" dirty="0"/>
          </a:p>
        </p:txBody>
      </p:sp>
      <p:sp>
        <p:nvSpPr>
          <p:cNvPr id="26" name="Text 20"/>
          <p:cNvSpPr txBox="1"/>
          <p:nvPr/>
        </p:nvSpPr>
        <p:spPr>
          <a:xfrm>
            <a:off x="6931152" y="2093976"/>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Flujos de operación II</a:t>
            </a:r>
            <a:endParaRPr lang="en-US" sz="1150" dirty="0"/>
          </a:p>
        </p:txBody>
      </p:sp>
      <p:sp>
        <p:nvSpPr>
          <p:cNvPr id="27" name="Text 21"/>
          <p:cNvSpPr txBox="1"/>
          <p:nvPr/>
        </p:nvSpPr>
        <p:spPr>
          <a:xfrm>
            <a:off x="6931152" y="2386584"/>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Métodos HTTP y documentos de negocio</a:t>
            </a:r>
            <a:endParaRPr lang="en-US" sz="1050" dirty="0"/>
          </a:p>
        </p:txBody>
      </p:sp>
      <p:sp>
        <p:nvSpPr>
          <p:cNvPr id="28" name="Shape 22"/>
          <p:cNvSpPr/>
          <p:nvPr/>
        </p:nvSpPr>
        <p:spPr>
          <a:xfrm>
            <a:off x="1508760" y="3081528"/>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9" name="Shape 23"/>
          <p:cNvSpPr/>
          <p:nvPr/>
        </p:nvSpPr>
        <p:spPr>
          <a:xfrm>
            <a:off x="1673352" y="3264408"/>
            <a:ext cx="420624" cy="420624"/>
          </a:xfrm>
          <a:prstGeom prst="ellipse">
            <a:avLst/>
          </a:prstGeom>
          <a:solidFill>
            <a:srgbClr val="E8F1FC"/>
          </a:solidFill>
          <a:ln w="12700">
            <a:solidFill>
              <a:srgbClr val="E8F1FC"/>
            </a:solidFill>
            <a:prstDash val="solid"/>
          </a:ln>
        </p:spPr>
      </p:sp>
      <p:pic>
        <p:nvPicPr>
          <p:cNvPr id="30" name="Image 4" descr="preencoded.png"/>
          <p:cNvPicPr>
            <a:picLocks noChangeAspect="1"/>
          </p:cNvPicPr>
          <p:nvPr/>
        </p:nvPicPr>
        <p:blipFill>
          <a:blip r:embed="rId7"/>
          <a:stretch>
            <a:fillRect/>
          </a:stretch>
        </p:blipFill>
        <p:spPr>
          <a:xfrm>
            <a:off x="1782714" y="3373770"/>
            <a:ext cx="201900" cy="201900"/>
          </a:xfrm>
          <a:prstGeom prst="rect">
            <a:avLst/>
          </a:prstGeom>
        </p:spPr>
      </p:pic>
      <p:sp>
        <p:nvSpPr>
          <p:cNvPr id="31" name="Text 24"/>
          <p:cNvSpPr txBox="1"/>
          <p:nvPr/>
        </p:nvSpPr>
        <p:spPr>
          <a:xfrm>
            <a:off x="2743200" y="3246120"/>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05</a:t>
            </a:r>
            <a:endParaRPr lang="en-US" sz="2200" dirty="0"/>
          </a:p>
        </p:txBody>
      </p:sp>
      <p:sp>
        <p:nvSpPr>
          <p:cNvPr id="32" name="Text 25"/>
          <p:cNvSpPr txBox="1"/>
          <p:nvPr/>
        </p:nvSpPr>
        <p:spPr>
          <a:xfrm>
            <a:off x="1673352" y="3758184"/>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Flujos de operación III</a:t>
            </a:r>
            <a:endParaRPr lang="en-US" sz="1150" dirty="0"/>
          </a:p>
        </p:txBody>
      </p:sp>
      <p:sp>
        <p:nvSpPr>
          <p:cNvPr id="33" name="Text 26"/>
          <p:cNvSpPr txBox="1"/>
          <p:nvPr/>
        </p:nvSpPr>
        <p:spPr>
          <a:xfrm>
            <a:off x="1673352" y="4050792"/>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UDT vs UDO y operaciones batch</a:t>
            </a:r>
            <a:endParaRPr lang="en-US" sz="1050" dirty="0"/>
          </a:p>
        </p:txBody>
      </p:sp>
      <p:sp>
        <p:nvSpPr>
          <p:cNvPr id="34" name="Shape 27"/>
          <p:cNvSpPr/>
          <p:nvPr/>
        </p:nvSpPr>
        <p:spPr>
          <a:xfrm>
            <a:off x="3611880" y="3081528"/>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5" name="Shape 28"/>
          <p:cNvSpPr/>
          <p:nvPr/>
        </p:nvSpPr>
        <p:spPr>
          <a:xfrm>
            <a:off x="3776472" y="3264408"/>
            <a:ext cx="420624" cy="420624"/>
          </a:xfrm>
          <a:prstGeom prst="ellipse">
            <a:avLst/>
          </a:prstGeom>
          <a:solidFill>
            <a:srgbClr val="E8F1FC"/>
          </a:solidFill>
          <a:ln w="12700">
            <a:solidFill>
              <a:srgbClr val="E8F1FC"/>
            </a:solidFill>
            <a:prstDash val="solid"/>
          </a:ln>
        </p:spPr>
      </p:sp>
      <p:pic>
        <p:nvPicPr>
          <p:cNvPr id="36" name="Image 5" descr="preencoded.png"/>
          <p:cNvPicPr>
            <a:picLocks noChangeAspect="1"/>
          </p:cNvPicPr>
          <p:nvPr/>
        </p:nvPicPr>
        <p:blipFill>
          <a:blip r:embed="rId8"/>
          <a:stretch>
            <a:fillRect/>
          </a:stretch>
        </p:blipFill>
        <p:spPr>
          <a:xfrm>
            <a:off x="3885834" y="3373770"/>
            <a:ext cx="201900" cy="201900"/>
          </a:xfrm>
          <a:prstGeom prst="rect">
            <a:avLst/>
          </a:prstGeom>
        </p:spPr>
      </p:pic>
      <p:sp>
        <p:nvSpPr>
          <p:cNvPr id="37" name="Text 29"/>
          <p:cNvSpPr txBox="1"/>
          <p:nvPr/>
        </p:nvSpPr>
        <p:spPr>
          <a:xfrm>
            <a:off x="4846320" y="3246120"/>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06</a:t>
            </a:r>
            <a:endParaRPr lang="en-US" sz="2200" dirty="0"/>
          </a:p>
        </p:txBody>
      </p:sp>
      <p:sp>
        <p:nvSpPr>
          <p:cNvPr id="38" name="Text 30"/>
          <p:cNvSpPr txBox="1"/>
          <p:nvPr/>
        </p:nvSpPr>
        <p:spPr>
          <a:xfrm>
            <a:off x="3776472" y="3758184"/>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Cliente HTTP</a:t>
            </a:r>
            <a:endParaRPr lang="en-US" sz="1150" dirty="0"/>
          </a:p>
        </p:txBody>
      </p:sp>
      <p:sp>
        <p:nvSpPr>
          <p:cNvPr id="39" name="Text 31"/>
          <p:cNvSpPr txBox="1"/>
          <p:nvPr/>
        </p:nvSpPr>
        <p:spPr>
          <a:xfrm>
            <a:off x="3776472" y="4050792"/>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Construcción de un cliente con B1SLayer</a:t>
            </a:r>
            <a:endParaRPr lang="en-US" sz="1050" dirty="0"/>
          </a:p>
        </p:txBody>
      </p:sp>
      <p:sp>
        <p:nvSpPr>
          <p:cNvPr id="40" name="Shape 32"/>
          <p:cNvSpPr/>
          <p:nvPr/>
        </p:nvSpPr>
        <p:spPr>
          <a:xfrm>
            <a:off x="5715000" y="3081528"/>
            <a:ext cx="192024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41" name="Shape 33"/>
          <p:cNvSpPr/>
          <p:nvPr/>
        </p:nvSpPr>
        <p:spPr>
          <a:xfrm>
            <a:off x="5879592" y="3264408"/>
            <a:ext cx="420624" cy="420624"/>
          </a:xfrm>
          <a:prstGeom prst="ellipse">
            <a:avLst/>
          </a:prstGeom>
          <a:solidFill>
            <a:srgbClr val="E8F1FC"/>
          </a:solidFill>
          <a:ln w="12700">
            <a:solidFill>
              <a:srgbClr val="E8F1FC"/>
            </a:solidFill>
            <a:prstDash val="solid"/>
          </a:ln>
        </p:spPr>
      </p:sp>
      <p:pic>
        <p:nvPicPr>
          <p:cNvPr id="42" name="Image 6" descr="preencoded.png"/>
          <p:cNvPicPr>
            <a:picLocks noChangeAspect="1"/>
          </p:cNvPicPr>
          <p:nvPr/>
        </p:nvPicPr>
        <p:blipFill>
          <a:blip r:embed="rId9"/>
          <a:stretch>
            <a:fillRect/>
          </a:stretch>
        </p:blipFill>
        <p:spPr>
          <a:xfrm>
            <a:off x="5988954" y="3373770"/>
            <a:ext cx="201900" cy="201900"/>
          </a:xfrm>
          <a:prstGeom prst="rect">
            <a:avLst/>
          </a:prstGeom>
        </p:spPr>
      </p:pic>
      <p:sp>
        <p:nvSpPr>
          <p:cNvPr id="43" name="Text 34"/>
          <p:cNvSpPr txBox="1"/>
          <p:nvPr/>
        </p:nvSpPr>
        <p:spPr>
          <a:xfrm>
            <a:off x="6949440" y="3246120"/>
            <a:ext cx="548640" cy="411480"/>
          </a:xfrm>
          <a:prstGeom prst="rect">
            <a:avLst/>
          </a:prstGeom>
          <a:noFill/>
          <a:ln/>
        </p:spPr>
        <p:txBody>
          <a:bodyPr wrap="square" lIns="0" tIns="0" rIns="0" bIns="0" rtlCol="0" anchor="t"/>
          <a:lstStyle/>
          <a:p>
            <a:pPr marL="0" indent="0" algn="r">
              <a:buNone/>
            </a:pPr>
            <a:r>
              <a:rPr lang="en-US" sz="2200" b="1" dirty="0">
                <a:solidFill>
                  <a:srgbClr val="C9D6E8"/>
                </a:solidFill>
                <a:latin typeface="Segoe UI" pitchFamily="34" charset="0"/>
                <a:ea typeface="Segoe UI" pitchFamily="34" charset="-122"/>
                <a:cs typeface="Segoe UI" pitchFamily="34" charset="-120"/>
              </a:rPr>
              <a:t>07</a:t>
            </a:r>
            <a:endParaRPr lang="en-US" sz="2200" dirty="0"/>
          </a:p>
        </p:txBody>
      </p:sp>
      <p:sp>
        <p:nvSpPr>
          <p:cNvPr id="44" name="Text 35"/>
          <p:cNvSpPr txBox="1"/>
          <p:nvPr/>
        </p:nvSpPr>
        <p:spPr>
          <a:xfrm>
            <a:off x="5879592" y="3758184"/>
            <a:ext cx="1691640" cy="274320"/>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Add-on + SSO</a:t>
            </a:r>
            <a:endParaRPr lang="en-US" sz="1150" dirty="0"/>
          </a:p>
        </p:txBody>
      </p:sp>
      <p:sp>
        <p:nvSpPr>
          <p:cNvPr id="45" name="Text 36"/>
          <p:cNvSpPr txBox="1"/>
          <p:nvPr/>
        </p:nvSpPr>
        <p:spPr>
          <a:xfrm>
            <a:off x="5879592" y="4050792"/>
            <a:ext cx="1645920" cy="41148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Service Layer desde un add-on sin credenciales</a:t>
            </a:r>
            <a:endParaRPr lang="en-US" sz="10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01</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Introducción</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Qué es Service Layer   •   Evolución de la integración   •   Documentación   •   Casos de uso</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01  ·  INTRODUCCIÓN</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¿Qué es Service Layer?</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280160"/>
            <a:ext cx="3291840" cy="3383280"/>
          </a:xfrm>
          <a:prstGeom prst="roundRect">
            <a:avLst>
              <a:gd name="adj" fmla="val 2222"/>
            </a:avLst>
          </a:prstGeom>
          <a:solidFill>
            <a:srgbClr val="071B3F"/>
          </a:solidFill>
          <a:ln w="9525">
            <a:solidFill>
              <a:srgbClr val="D5DFEC"/>
            </a:solidFill>
            <a:prstDash val="solid"/>
          </a:ln>
          <a:effectLst>
            <a:outerShdw blurRad="101600" dist="25400" dir="5400000" algn="bl" rotWithShape="0">
              <a:srgbClr val="0B2A55">
                <a:alpha val="12000"/>
              </a:srgbClr>
            </a:outerShdw>
          </a:effectLst>
        </p:spPr>
      </p:sp>
      <p:sp>
        <p:nvSpPr>
          <p:cNvPr id="7" name="Text 5"/>
          <p:cNvSpPr txBox="1"/>
          <p:nvPr/>
        </p:nvSpPr>
        <p:spPr>
          <a:xfrm>
            <a:off x="685800" y="1481328"/>
            <a:ext cx="2743200" cy="228600"/>
          </a:xfrm>
          <a:prstGeom prst="rect">
            <a:avLst/>
          </a:prstGeom>
          <a:noFill/>
          <a:ln/>
        </p:spPr>
        <p:txBody>
          <a:bodyPr wrap="square" lIns="0" tIns="0" rIns="0" bIns="0" rtlCol="0" anchor="t"/>
          <a:lstStyle/>
          <a:p>
            <a:pPr marL="0" indent="0">
              <a:buNone/>
            </a:pPr>
            <a:r>
              <a:rPr lang="en-US" sz="1000" b="1" kern="0" spc="200" dirty="0">
                <a:solidFill>
                  <a:srgbClr val="F5A800"/>
                </a:solidFill>
                <a:latin typeface="Segoe UI" pitchFamily="34" charset="0"/>
                <a:ea typeface="Segoe UI" pitchFamily="34" charset="-122"/>
                <a:cs typeface="Segoe UI" pitchFamily="34" charset="-120"/>
              </a:rPr>
              <a:t>DEFINICIÓN</a:t>
            </a:r>
            <a:endParaRPr lang="en-US" sz="1000" dirty="0"/>
          </a:p>
        </p:txBody>
      </p:sp>
      <p:sp>
        <p:nvSpPr>
          <p:cNvPr id="8" name="Text 6"/>
          <p:cNvSpPr txBox="1"/>
          <p:nvPr/>
        </p:nvSpPr>
        <p:spPr>
          <a:xfrm>
            <a:off x="685800" y="1783080"/>
            <a:ext cx="2880360" cy="1463040"/>
          </a:xfrm>
          <a:prstGeom prst="rect">
            <a:avLst/>
          </a:prstGeom>
          <a:noFill/>
          <a:ln/>
        </p:spPr>
        <p:txBody>
          <a:bodyPr wrap="square" lIns="0" tIns="0" rIns="0" bIns="0" rtlCol="0" anchor="t"/>
          <a:lstStyle/>
          <a:p>
            <a:pPr marL="0" indent="0">
              <a:buNone/>
            </a:pPr>
            <a:r>
              <a:rPr lang="en-US" sz="1500" dirty="0">
                <a:solidFill>
                  <a:srgbClr val="FFFFFF"/>
                </a:solidFill>
                <a:latin typeface="Calibri" pitchFamily="34" charset="0"/>
                <a:ea typeface="Calibri" pitchFamily="34" charset="-122"/>
                <a:cs typeface="Calibri" pitchFamily="34" charset="-120"/>
              </a:rPr>
              <a:t>Servidor de aplicaciones web que expone los objetos de negocio de SAP Business One como </a:t>
            </a:r>
            <a:r>
              <a:rPr lang="en-US" sz="1500" b="1" dirty="0">
                <a:solidFill>
                  <a:srgbClr val="29B6F6"/>
                </a:solidFill>
                <a:latin typeface="Calibri" pitchFamily="34" charset="0"/>
                <a:ea typeface="Calibri" pitchFamily="34" charset="-122"/>
                <a:cs typeface="Calibri" pitchFamily="34" charset="-120"/>
              </a:rPr>
              <a:t>servicios RESTful basados en OData</a:t>
            </a:r>
            <a:r>
              <a:rPr lang="en-US" sz="1500" dirty="0">
                <a:solidFill>
                  <a:srgbClr val="FFFFFF"/>
                </a:solidFill>
                <a:latin typeface="Calibri" pitchFamily="34" charset="0"/>
                <a:ea typeface="Calibri" pitchFamily="34" charset="-122"/>
                <a:cs typeface="Calibri" pitchFamily="34" charset="-120"/>
              </a:rPr>
              <a:t>, intercambiando </a:t>
            </a:r>
            <a:r>
              <a:rPr lang="en-US" sz="1500" b="1" dirty="0">
                <a:solidFill>
                  <a:srgbClr val="29B6F6"/>
                </a:solidFill>
                <a:latin typeface="Calibri" pitchFamily="34" charset="0"/>
                <a:ea typeface="Calibri" pitchFamily="34" charset="-122"/>
                <a:cs typeface="Calibri" pitchFamily="34" charset="-120"/>
              </a:rPr>
              <a:t>JSON sobre HTTPS</a:t>
            </a: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685800" y="3429000"/>
            <a:ext cx="2926080" cy="457200"/>
          </a:xfrm>
          <a:prstGeom prst="rect">
            <a:avLst/>
          </a:prstGeom>
          <a:noFill/>
          <a:ln/>
        </p:spPr>
        <p:txBody>
          <a:bodyPr wrap="square" lIns="0" tIns="0" rIns="0" bIns="0" rtlCol="0" anchor="t"/>
          <a:lstStyle/>
          <a:p>
            <a:pPr marL="0" indent="0">
              <a:buNone/>
            </a:pPr>
            <a:r>
              <a:rPr lang="en-US" sz="1100" dirty="0">
                <a:solidFill>
                  <a:srgbClr val="F5A800"/>
                </a:solidFill>
                <a:latin typeface="Consolas" pitchFamily="34" charset="0"/>
                <a:ea typeface="Consolas" pitchFamily="34" charset="-122"/>
                <a:cs typeface="Consolas" pitchFamily="34" charset="-120"/>
              </a:rPr>
              <a:t>https://servidor:50000/b1s/v1</a:t>
            </a:r>
            <a:endParaRPr lang="en-US" sz="1100" dirty="0"/>
          </a:p>
          <a:p>
            <a:pPr marL="0" indent="0">
              <a:buNone/>
            </a:pPr>
            <a:r>
              <a:rPr lang="en-US" sz="1100" dirty="0">
                <a:solidFill>
                  <a:srgbClr val="F5A800"/>
                </a:solidFill>
                <a:latin typeface="Consolas" pitchFamily="34" charset="0"/>
                <a:ea typeface="Consolas" pitchFamily="34" charset="-122"/>
                <a:cs typeface="Consolas" pitchFamily="34" charset="-120"/>
              </a:rPr>
              <a:t>https://servidor:50000/b1s/v2</a:t>
            </a:r>
            <a:endParaRPr lang="en-US" sz="1100" dirty="0"/>
          </a:p>
        </p:txBody>
      </p:sp>
      <p:sp>
        <p:nvSpPr>
          <p:cNvPr id="10" name="Text 8"/>
          <p:cNvSpPr txBox="1"/>
          <p:nvPr/>
        </p:nvSpPr>
        <p:spPr>
          <a:xfrm>
            <a:off x="685800" y="3977640"/>
            <a:ext cx="2926080" cy="274320"/>
          </a:xfrm>
          <a:prstGeom prst="rect">
            <a:avLst/>
          </a:prstGeom>
          <a:noFill/>
          <a:ln/>
        </p:spPr>
        <p:txBody>
          <a:bodyPr wrap="square" lIns="0" tIns="0" rIns="0" bIns="0" rtlCol="0" anchor="t"/>
          <a:lstStyle/>
          <a:p>
            <a:pPr marL="0" indent="0">
              <a:buNone/>
            </a:pPr>
            <a:r>
              <a:rPr lang="en-US" sz="1100" dirty="0">
                <a:solidFill>
                  <a:srgbClr val="B9D3F0"/>
                </a:solidFill>
                <a:latin typeface="Calibri" pitchFamily="34" charset="0"/>
                <a:ea typeface="Calibri" pitchFamily="34" charset="-122"/>
                <a:cs typeface="Calibri" pitchFamily="34" charset="-120"/>
              </a:rPr>
              <a:t>v1 = OData v3  ·  v2 = OData v4</a:t>
            </a:r>
            <a:endParaRPr lang="en-US" sz="1100" dirty="0"/>
          </a:p>
        </p:txBody>
      </p:sp>
      <p:sp>
        <p:nvSpPr>
          <p:cNvPr id="11" name="Shape 9"/>
          <p:cNvSpPr/>
          <p:nvPr/>
        </p:nvSpPr>
        <p:spPr>
          <a:xfrm>
            <a:off x="3977640" y="1280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2" name="Shape 10"/>
          <p:cNvSpPr/>
          <p:nvPr/>
        </p:nvSpPr>
        <p:spPr>
          <a:xfrm>
            <a:off x="4114800" y="1435608"/>
            <a:ext cx="384048" cy="384048"/>
          </a:xfrm>
          <a:prstGeom prst="ellipse">
            <a:avLst/>
          </a:prstGeom>
          <a:solidFill>
            <a:srgbClr val="E8F1FC"/>
          </a:solidFill>
          <a:ln w="12700">
            <a:solidFill>
              <a:srgbClr val="E8F1FC"/>
            </a:solidFill>
            <a:prstDash val="solid"/>
          </a:ln>
        </p:spPr>
      </p:sp>
      <p:pic>
        <p:nvPicPr>
          <p:cNvPr id="13" name="Image 0" descr="preencoded.png"/>
          <p:cNvPicPr>
            <a:picLocks noChangeAspect="1"/>
          </p:cNvPicPr>
          <p:nvPr/>
        </p:nvPicPr>
        <p:blipFill>
          <a:blip r:embed="rId3"/>
          <a:stretch>
            <a:fillRect/>
          </a:stretch>
        </p:blipFill>
        <p:spPr>
          <a:xfrm>
            <a:off x="4214652" y="1535460"/>
            <a:ext cx="184343" cy="184343"/>
          </a:xfrm>
          <a:prstGeom prst="rect">
            <a:avLst/>
          </a:prstGeom>
        </p:spPr>
      </p:pic>
      <p:sp>
        <p:nvSpPr>
          <p:cNvPr id="14" name="Text 11"/>
          <p:cNvSpPr txBox="1"/>
          <p:nvPr/>
        </p:nvSpPr>
        <p:spPr>
          <a:xfrm>
            <a:off x="4590288" y="1435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REST + OData</a:t>
            </a:r>
            <a:endParaRPr lang="en-US" sz="1150" dirty="0"/>
          </a:p>
        </p:txBody>
      </p:sp>
      <p:sp>
        <p:nvSpPr>
          <p:cNvPr id="15" name="Text 12"/>
          <p:cNvSpPr txBox="1"/>
          <p:nvPr/>
        </p:nvSpPr>
        <p:spPr>
          <a:xfrm>
            <a:off x="4590288" y="1709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URLs, verbos HTTP y opciones de consulta estándar ($filter, $select…).</a:t>
            </a:r>
            <a:endParaRPr lang="en-US" sz="950" dirty="0"/>
          </a:p>
        </p:txBody>
      </p:sp>
      <p:sp>
        <p:nvSpPr>
          <p:cNvPr id="16" name="Shape 13"/>
          <p:cNvSpPr/>
          <p:nvPr/>
        </p:nvSpPr>
        <p:spPr>
          <a:xfrm>
            <a:off x="6355080" y="1280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7" name="Shape 14"/>
          <p:cNvSpPr/>
          <p:nvPr/>
        </p:nvSpPr>
        <p:spPr>
          <a:xfrm>
            <a:off x="6492240" y="1435608"/>
            <a:ext cx="384048" cy="384048"/>
          </a:xfrm>
          <a:prstGeom prst="ellipse">
            <a:avLst/>
          </a:prstGeom>
          <a:solidFill>
            <a:srgbClr val="E8F1FC"/>
          </a:solidFill>
          <a:ln w="12700">
            <a:solidFill>
              <a:srgbClr val="E8F1FC"/>
            </a:solidFill>
            <a:prstDash val="solid"/>
          </a:ln>
        </p:spPr>
      </p:sp>
      <p:pic>
        <p:nvPicPr>
          <p:cNvPr id="18" name="Image 1" descr="preencoded.png"/>
          <p:cNvPicPr>
            <a:picLocks noChangeAspect="1"/>
          </p:cNvPicPr>
          <p:nvPr/>
        </p:nvPicPr>
        <p:blipFill>
          <a:blip r:embed="rId4"/>
          <a:stretch>
            <a:fillRect/>
          </a:stretch>
        </p:blipFill>
        <p:spPr>
          <a:xfrm>
            <a:off x="6592092" y="1535460"/>
            <a:ext cx="184343" cy="184343"/>
          </a:xfrm>
          <a:prstGeom prst="rect">
            <a:avLst/>
          </a:prstGeom>
        </p:spPr>
      </p:pic>
      <p:sp>
        <p:nvSpPr>
          <p:cNvPr id="19" name="Text 15"/>
          <p:cNvSpPr txBox="1"/>
          <p:nvPr/>
        </p:nvSpPr>
        <p:spPr>
          <a:xfrm>
            <a:off x="6967728" y="1435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JSON ligero</a:t>
            </a:r>
            <a:endParaRPr lang="en-US" sz="1150" dirty="0"/>
          </a:p>
        </p:txBody>
      </p:sp>
      <p:sp>
        <p:nvSpPr>
          <p:cNvPr id="20" name="Text 16"/>
          <p:cNvSpPr txBox="1"/>
          <p:nvPr/>
        </p:nvSpPr>
        <p:spPr>
          <a:xfrm>
            <a:off x="6967728" y="1709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Payloads legibles y fáciles de serializar en cualquier lenguaje.</a:t>
            </a:r>
            <a:endParaRPr lang="en-US" sz="950" dirty="0"/>
          </a:p>
        </p:txBody>
      </p:sp>
      <p:sp>
        <p:nvSpPr>
          <p:cNvPr id="21" name="Shape 17"/>
          <p:cNvSpPr/>
          <p:nvPr/>
        </p:nvSpPr>
        <p:spPr>
          <a:xfrm>
            <a:off x="3977640" y="2423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2" name="Shape 18"/>
          <p:cNvSpPr/>
          <p:nvPr/>
        </p:nvSpPr>
        <p:spPr>
          <a:xfrm>
            <a:off x="4114800" y="2578608"/>
            <a:ext cx="384048" cy="384048"/>
          </a:xfrm>
          <a:prstGeom prst="ellipse">
            <a:avLst/>
          </a:prstGeom>
          <a:solidFill>
            <a:srgbClr val="E8F1FC"/>
          </a:solidFill>
          <a:ln w="12700">
            <a:solidFill>
              <a:srgbClr val="E8F1FC"/>
            </a:solidFill>
            <a:prstDash val="solid"/>
          </a:ln>
        </p:spPr>
      </p:sp>
      <p:pic>
        <p:nvPicPr>
          <p:cNvPr id="23" name="Image 2" descr="preencoded.png"/>
          <p:cNvPicPr>
            <a:picLocks noChangeAspect="1"/>
          </p:cNvPicPr>
          <p:nvPr/>
        </p:nvPicPr>
        <p:blipFill>
          <a:blip r:embed="rId5"/>
          <a:stretch>
            <a:fillRect/>
          </a:stretch>
        </p:blipFill>
        <p:spPr>
          <a:xfrm>
            <a:off x="4214652" y="2678460"/>
            <a:ext cx="184343" cy="184343"/>
          </a:xfrm>
          <a:prstGeom prst="rect">
            <a:avLst/>
          </a:prstGeom>
        </p:spPr>
      </p:pic>
      <p:sp>
        <p:nvSpPr>
          <p:cNvPr id="24" name="Text 19"/>
          <p:cNvSpPr txBox="1"/>
          <p:nvPr/>
        </p:nvSpPr>
        <p:spPr>
          <a:xfrm>
            <a:off x="4590288" y="2578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Multiplataforma</a:t>
            </a:r>
            <a:endParaRPr lang="en-US" sz="1150" dirty="0"/>
          </a:p>
        </p:txBody>
      </p:sp>
      <p:sp>
        <p:nvSpPr>
          <p:cNvPr id="25" name="Text 20"/>
          <p:cNvSpPr txBox="1"/>
          <p:nvPr/>
        </p:nvSpPr>
        <p:spPr>
          <a:xfrm>
            <a:off x="4590288" y="2852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Cualquier cliente HTTP: .NET, Java, Node, Python, Postman.</a:t>
            </a:r>
            <a:endParaRPr lang="en-US" sz="950" dirty="0"/>
          </a:p>
        </p:txBody>
      </p:sp>
      <p:sp>
        <p:nvSpPr>
          <p:cNvPr id="26" name="Shape 21"/>
          <p:cNvSpPr/>
          <p:nvPr/>
        </p:nvSpPr>
        <p:spPr>
          <a:xfrm>
            <a:off x="6355080" y="2423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7" name="Shape 22"/>
          <p:cNvSpPr/>
          <p:nvPr/>
        </p:nvSpPr>
        <p:spPr>
          <a:xfrm>
            <a:off x="6492240" y="2578608"/>
            <a:ext cx="384048" cy="384048"/>
          </a:xfrm>
          <a:prstGeom prst="ellipse">
            <a:avLst/>
          </a:prstGeom>
          <a:solidFill>
            <a:srgbClr val="E8F1FC"/>
          </a:solidFill>
          <a:ln w="12700">
            <a:solidFill>
              <a:srgbClr val="E8F1FC"/>
            </a:solidFill>
            <a:prstDash val="solid"/>
          </a:ln>
        </p:spPr>
      </p:sp>
      <p:pic>
        <p:nvPicPr>
          <p:cNvPr id="28" name="Image 3" descr="preencoded.png"/>
          <p:cNvPicPr>
            <a:picLocks noChangeAspect="1"/>
          </p:cNvPicPr>
          <p:nvPr/>
        </p:nvPicPr>
        <p:blipFill>
          <a:blip r:embed="rId6"/>
          <a:stretch>
            <a:fillRect/>
          </a:stretch>
        </p:blipFill>
        <p:spPr>
          <a:xfrm>
            <a:off x="6592092" y="2678460"/>
            <a:ext cx="184343" cy="184343"/>
          </a:xfrm>
          <a:prstGeom prst="rect">
            <a:avLst/>
          </a:prstGeom>
        </p:spPr>
      </p:pic>
      <p:sp>
        <p:nvSpPr>
          <p:cNvPr id="29" name="Text 23"/>
          <p:cNvSpPr txBox="1"/>
          <p:nvPr/>
        </p:nvSpPr>
        <p:spPr>
          <a:xfrm>
            <a:off x="6967728" y="2578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Alta concurrencia</a:t>
            </a:r>
            <a:endParaRPr lang="en-US" sz="1150" dirty="0"/>
          </a:p>
        </p:txBody>
      </p:sp>
      <p:sp>
        <p:nvSpPr>
          <p:cNvPr id="30" name="Text 24"/>
          <p:cNvSpPr txBox="1"/>
          <p:nvPr/>
        </p:nvSpPr>
        <p:spPr>
          <a:xfrm>
            <a:off x="6967728" y="2852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Balanceador de carga y múltiples nodos de trabajo.</a:t>
            </a:r>
            <a:endParaRPr lang="en-US" sz="950" dirty="0"/>
          </a:p>
        </p:txBody>
      </p:sp>
      <p:sp>
        <p:nvSpPr>
          <p:cNvPr id="31" name="Shape 25"/>
          <p:cNvSpPr/>
          <p:nvPr/>
        </p:nvSpPr>
        <p:spPr>
          <a:xfrm>
            <a:off x="3977640" y="3566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2" name="Shape 26"/>
          <p:cNvSpPr/>
          <p:nvPr/>
        </p:nvSpPr>
        <p:spPr>
          <a:xfrm>
            <a:off x="4114800" y="3721608"/>
            <a:ext cx="384048" cy="384048"/>
          </a:xfrm>
          <a:prstGeom prst="ellipse">
            <a:avLst/>
          </a:prstGeom>
          <a:solidFill>
            <a:srgbClr val="E8F1FC"/>
          </a:solidFill>
          <a:ln w="12700">
            <a:solidFill>
              <a:srgbClr val="E8F1FC"/>
            </a:solidFill>
            <a:prstDash val="solid"/>
          </a:ln>
        </p:spPr>
      </p:sp>
      <p:pic>
        <p:nvPicPr>
          <p:cNvPr id="33" name="Image 4" descr="preencoded.png"/>
          <p:cNvPicPr>
            <a:picLocks noChangeAspect="1"/>
          </p:cNvPicPr>
          <p:nvPr/>
        </p:nvPicPr>
        <p:blipFill>
          <a:blip r:embed="rId7"/>
          <a:stretch>
            <a:fillRect/>
          </a:stretch>
        </p:blipFill>
        <p:spPr>
          <a:xfrm>
            <a:off x="4214652" y="3821460"/>
            <a:ext cx="184343" cy="184343"/>
          </a:xfrm>
          <a:prstGeom prst="rect">
            <a:avLst/>
          </a:prstGeom>
        </p:spPr>
      </p:pic>
      <p:sp>
        <p:nvSpPr>
          <p:cNvPr id="34" name="Text 27"/>
          <p:cNvSpPr txBox="1"/>
          <p:nvPr/>
        </p:nvSpPr>
        <p:spPr>
          <a:xfrm>
            <a:off x="4590288" y="3721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Misma lógica B1</a:t>
            </a:r>
            <a:endParaRPr lang="en-US" sz="1150" dirty="0"/>
          </a:p>
        </p:txBody>
      </p:sp>
      <p:sp>
        <p:nvSpPr>
          <p:cNvPr id="35" name="Text 28"/>
          <p:cNvSpPr txBox="1"/>
          <p:nvPr/>
        </p:nvSpPr>
        <p:spPr>
          <a:xfrm>
            <a:off x="4590288" y="3995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Usa el motor DI Core: validaciones, autorizaciones y reglas.</a:t>
            </a:r>
            <a:endParaRPr lang="en-US" sz="950" dirty="0"/>
          </a:p>
        </p:txBody>
      </p:sp>
      <p:sp>
        <p:nvSpPr>
          <p:cNvPr id="36" name="Shape 29"/>
          <p:cNvSpPr/>
          <p:nvPr/>
        </p:nvSpPr>
        <p:spPr>
          <a:xfrm>
            <a:off x="6355080" y="3566160"/>
            <a:ext cx="2240280" cy="1005840"/>
          </a:xfrm>
          <a:prstGeom prst="roundRect">
            <a:avLst>
              <a:gd name="adj" fmla="val 7273"/>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7" name="Shape 30"/>
          <p:cNvSpPr/>
          <p:nvPr/>
        </p:nvSpPr>
        <p:spPr>
          <a:xfrm>
            <a:off x="6492240" y="3721608"/>
            <a:ext cx="384048" cy="384048"/>
          </a:xfrm>
          <a:prstGeom prst="ellipse">
            <a:avLst/>
          </a:prstGeom>
          <a:solidFill>
            <a:srgbClr val="E8F1FC"/>
          </a:solidFill>
          <a:ln w="12700">
            <a:solidFill>
              <a:srgbClr val="E8F1FC"/>
            </a:solidFill>
            <a:prstDash val="solid"/>
          </a:ln>
        </p:spPr>
      </p:sp>
      <p:pic>
        <p:nvPicPr>
          <p:cNvPr id="38" name="Image 5" descr="preencoded.png"/>
          <p:cNvPicPr>
            <a:picLocks noChangeAspect="1"/>
          </p:cNvPicPr>
          <p:nvPr/>
        </p:nvPicPr>
        <p:blipFill>
          <a:blip r:embed="rId8"/>
          <a:stretch>
            <a:fillRect/>
          </a:stretch>
        </p:blipFill>
        <p:spPr>
          <a:xfrm>
            <a:off x="6592092" y="3821460"/>
            <a:ext cx="184343" cy="184343"/>
          </a:xfrm>
          <a:prstGeom prst="rect">
            <a:avLst/>
          </a:prstGeom>
        </p:spPr>
      </p:pic>
      <p:sp>
        <p:nvSpPr>
          <p:cNvPr id="39" name="Text 31"/>
          <p:cNvSpPr txBox="1"/>
          <p:nvPr/>
        </p:nvSpPr>
        <p:spPr>
          <a:xfrm>
            <a:off x="6967728" y="3721608"/>
            <a:ext cx="1554480" cy="274320"/>
          </a:xfrm>
          <a:prstGeom prst="rect">
            <a:avLst/>
          </a:prstGeom>
          <a:noFill/>
          <a:ln/>
        </p:spPr>
        <p:txBody>
          <a:bodyPr wrap="square" lIns="0" tIns="0" rIns="0" bIns="0" rtlCol="0" anchor="ctr"/>
          <a:lstStyle/>
          <a:p>
            <a:pPr marL="0" indent="0">
              <a:buNone/>
            </a:pPr>
            <a:r>
              <a:rPr lang="en-US" sz="1150" b="1" dirty="0">
                <a:solidFill>
                  <a:srgbClr val="071B3F"/>
                </a:solidFill>
                <a:latin typeface="Segoe UI" pitchFamily="34" charset="0"/>
                <a:ea typeface="Segoe UI" pitchFamily="34" charset="-122"/>
                <a:cs typeface="Segoe UI" pitchFamily="34" charset="-120"/>
              </a:rPr>
              <a:t>Sin instalación</a:t>
            </a:r>
            <a:endParaRPr lang="en-US" sz="1150" dirty="0"/>
          </a:p>
        </p:txBody>
      </p:sp>
      <p:sp>
        <p:nvSpPr>
          <p:cNvPr id="40" name="Text 32"/>
          <p:cNvSpPr txBox="1"/>
          <p:nvPr/>
        </p:nvSpPr>
        <p:spPr>
          <a:xfrm>
            <a:off x="6967728" y="3995928"/>
            <a:ext cx="1554480" cy="530352"/>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No requiere DI API ni SDK en la máquina que consume.</a:t>
            </a:r>
            <a:endParaRPr lang="en-US" sz="950" dirty="0"/>
          </a:p>
        </p:txBody>
      </p:sp>
      <p:sp>
        <p:nvSpPr>
          <p:cNvPr id="41"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01  ·  INTRODUCCIÓN</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Evolución: de DI API a Service Layer</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Cada herramienta resolvió una limitación de la anterior</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822960" y="2331720"/>
            <a:ext cx="7498080" cy="0"/>
          </a:xfrm>
          <a:prstGeom prst="line">
            <a:avLst/>
          </a:prstGeom>
          <a:noFill/>
          <a:ln w="31750">
            <a:solidFill>
              <a:srgbClr val="0B4DA2"/>
            </a:solidFill>
            <a:prstDash val="solid"/>
            <a:tailEnd type="triangle"/>
          </a:ln>
        </p:spPr>
      </p:sp>
      <p:sp>
        <p:nvSpPr>
          <p:cNvPr id="8" name="Shape 6"/>
          <p:cNvSpPr/>
          <p:nvPr/>
        </p:nvSpPr>
        <p:spPr>
          <a:xfrm>
            <a:off x="1078992" y="2039112"/>
            <a:ext cx="585216" cy="585216"/>
          </a:xfrm>
          <a:prstGeom prst="ellipse">
            <a:avLst/>
          </a:prstGeom>
          <a:solidFill>
            <a:srgbClr val="0B4DA2"/>
          </a:solidFill>
          <a:ln w="12700">
            <a:solidFill>
              <a:srgbClr val="0B4DA2"/>
            </a:solidFill>
            <a:prstDash val="solid"/>
          </a:ln>
        </p:spPr>
      </p:sp>
      <p:pic>
        <p:nvPicPr>
          <p:cNvPr id="9" name="Image 0" descr="preencoded.png"/>
          <p:cNvPicPr>
            <a:picLocks noChangeAspect="1"/>
          </p:cNvPicPr>
          <p:nvPr/>
        </p:nvPicPr>
        <p:blipFill>
          <a:blip r:embed="rId3"/>
          <a:stretch>
            <a:fillRect/>
          </a:stretch>
        </p:blipFill>
        <p:spPr>
          <a:xfrm>
            <a:off x="1231148" y="2191268"/>
            <a:ext cx="280904" cy="280904"/>
          </a:xfrm>
          <a:prstGeom prst="rect">
            <a:avLst/>
          </a:prstGeom>
        </p:spPr>
      </p:pic>
      <p:sp>
        <p:nvSpPr>
          <p:cNvPr id="10" name="Text 7"/>
          <p:cNvSpPr txBox="1"/>
          <p:nvPr/>
        </p:nvSpPr>
        <p:spPr>
          <a:xfrm>
            <a:off x="411480" y="1417320"/>
            <a:ext cx="1920240" cy="228600"/>
          </a:xfrm>
          <a:prstGeom prst="rect">
            <a:avLst/>
          </a:prstGeom>
          <a:noFill/>
          <a:ln/>
        </p:spPr>
        <p:txBody>
          <a:bodyPr wrap="square" lIns="0" tIns="0" rIns="0" bIns="0" rtlCol="0" anchor="t"/>
          <a:lstStyle/>
          <a:p>
            <a:pPr marL="0" indent="0" algn="ctr">
              <a:buNone/>
            </a:pPr>
            <a:r>
              <a:rPr lang="en-US" sz="900" b="1" kern="0" spc="100" dirty="0">
                <a:solidFill>
                  <a:srgbClr val="0B4DA2"/>
                </a:solidFill>
                <a:latin typeface="Segoe UI" pitchFamily="34" charset="0"/>
                <a:ea typeface="Segoe UI" pitchFamily="34" charset="-122"/>
                <a:cs typeface="Segoe UI" pitchFamily="34" charset="-120"/>
              </a:rPr>
              <a:t>INTEGRACIÓN LOCAL</a:t>
            </a:r>
            <a:endParaRPr lang="en-US" sz="900" dirty="0"/>
          </a:p>
        </p:txBody>
      </p:sp>
      <p:sp>
        <p:nvSpPr>
          <p:cNvPr id="11" name="Text 8"/>
          <p:cNvSpPr txBox="1"/>
          <p:nvPr/>
        </p:nvSpPr>
        <p:spPr>
          <a:xfrm>
            <a:off x="411480" y="1645920"/>
            <a:ext cx="1920240" cy="320040"/>
          </a:xfrm>
          <a:prstGeom prst="rect">
            <a:avLst/>
          </a:prstGeom>
          <a:noFill/>
          <a:ln/>
        </p:spPr>
        <p:txBody>
          <a:bodyPr wrap="square" lIns="0" tIns="0" rIns="0" bIns="0" rtlCol="0" anchor="t"/>
          <a:lstStyle/>
          <a:p>
            <a:pPr marL="0" indent="0" algn="ctr">
              <a:buNone/>
            </a:pPr>
            <a:r>
              <a:rPr lang="en-US" sz="1600" b="1" dirty="0">
                <a:solidFill>
                  <a:srgbClr val="071B3F"/>
                </a:solidFill>
                <a:latin typeface="Segoe UI" pitchFamily="34" charset="0"/>
                <a:ea typeface="Segoe UI" pitchFamily="34" charset="-122"/>
                <a:cs typeface="Segoe UI" pitchFamily="34" charset="-120"/>
              </a:rPr>
              <a:t>DI API</a:t>
            </a:r>
            <a:endParaRPr lang="en-US" sz="1600" dirty="0"/>
          </a:p>
        </p:txBody>
      </p:sp>
      <p:sp>
        <p:nvSpPr>
          <p:cNvPr id="12" name="Shape 9"/>
          <p:cNvSpPr/>
          <p:nvPr/>
        </p:nvSpPr>
        <p:spPr>
          <a:xfrm>
            <a:off x="411480" y="2788920"/>
            <a:ext cx="1920240" cy="1874520"/>
          </a:xfrm>
          <a:prstGeom prst="roundRect">
            <a:avLst>
              <a:gd name="adj" fmla="val 390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3" name="Text 10"/>
          <p:cNvSpPr txBox="1"/>
          <p:nvPr/>
        </p:nvSpPr>
        <p:spPr>
          <a:xfrm>
            <a:off x="539496" y="2898648"/>
            <a:ext cx="1664208" cy="1005840"/>
          </a:xfrm>
          <a:prstGeom prst="rect">
            <a:avLst/>
          </a:prstGeom>
          <a:noFill/>
          <a:ln/>
        </p:spPr>
        <p:txBody>
          <a:bodyPr wrap="square" lIns="0" tIns="0" rIns="0" bIns="0" rtlCol="0" anchor="t"/>
          <a:lstStyle/>
          <a:p>
            <a:pPr marL="0" indent="0">
              <a:buNone/>
            </a:pPr>
            <a:r>
              <a:rPr lang="en-US" sz="1000" dirty="0">
                <a:solidFill>
                  <a:srgbClr val="1B2433"/>
                </a:solidFill>
                <a:latin typeface="Calibri" pitchFamily="34" charset="0"/>
                <a:ea typeface="Calibri" pitchFamily="34" charset="-122"/>
                <a:cs typeface="Calibri" pitchFamily="34" charset="-120"/>
              </a:rPr>
              <a:t>Librería COM (SAPbobsCOM) instalada en cada equipo. Acceso completo a los objetos de negocio.</a:t>
            </a:r>
            <a:endParaRPr lang="en-US" sz="1000" dirty="0"/>
          </a:p>
        </p:txBody>
      </p:sp>
      <p:sp>
        <p:nvSpPr>
          <p:cNvPr id="14" name="Text 11"/>
          <p:cNvSpPr txBox="1"/>
          <p:nvPr/>
        </p:nvSpPr>
        <p:spPr>
          <a:xfrm>
            <a:off x="539496" y="3959352"/>
            <a:ext cx="1664208" cy="640080"/>
          </a:xfrm>
          <a:prstGeom prst="rect">
            <a:avLst/>
          </a:prstGeom>
          <a:noFill/>
          <a:ln/>
        </p:spPr>
        <p:txBody>
          <a:bodyPr wrap="square" lIns="0" tIns="0" rIns="0" bIns="0" rtlCol="0" anchor="t"/>
          <a:lstStyle/>
          <a:p>
            <a:pPr marL="0" indent="0">
              <a:buNone/>
            </a:pPr>
            <a:r>
              <a:rPr lang="en-US" sz="950" b="1" dirty="0">
                <a:solidFill>
                  <a:srgbClr val="D64545"/>
                </a:solidFill>
                <a:latin typeface="Calibri" pitchFamily="34" charset="0"/>
                <a:ea typeface="Calibri" pitchFamily="34" charset="-122"/>
                <a:cs typeface="Calibri" pitchFamily="34" charset="-120"/>
              </a:rPr>
              <a:t>Limitación: </a:t>
            </a:r>
            <a:r>
              <a:rPr lang="en-US" sz="950" dirty="0">
                <a:solidFill>
                  <a:srgbClr val="5B6B82"/>
                </a:solidFill>
                <a:latin typeface="Calibri" pitchFamily="34" charset="0"/>
                <a:ea typeface="Calibri" pitchFamily="34" charset="-122"/>
                <a:cs typeface="Calibri" pitchFamily="34" charset="-120"/>
              </a:rPr>
              <a:t>Depende de Windows, versión y arquitectura (32/64 bits).</a:t>
            </a:r>
            <a:endParaRPr lang="en-US" sz="950" dirty="0"/>
          </a:p>
        </p:txBody>
      </p:sp>
      <p:sp>
        <p:nvSpPr>
          <p:cNvPr id="15" name="Shape 12"/>
          <p:cNvSpPr/>
          <p:nvPr/>
        </p:nvSpPr>
        <p:spPr>
          <a:xfrm>
            <a:off x="3227832" y="2039112"/>
            <a:ext cx="585216" cy="585216"/>
          </a:xfrm>
          <a:prstGeom prst="ellipse">
            <a:avLst/>
          </a:prstGeom>
          <a:solidFill>
            <a:srgbClr val="0B4DA2"/>
          </a:solidFill>
          <a:ln w="12700">
            <a:solidFill>
              <a:srgbClr val="0B4DA2"/>
            </a:solidFill>
            <a:prstDash val="solid"/>
          </a:ln>
        </p:spPr>
      </p:sp>
      <p:pic>
        <p:nvPicPr>
          <p:cNvPr id="16" name="Image 1" descr="preencoded.png"/>
          <p:cNvPicPr>
            <a:picLocks noChangeAspect="1"/>
          </p:cNvPicPr>
          <p:nvPr/>
        </p:nvPicPr>
        <p:blipFill>
          <a:blip r:embed="rId4"/>
          <a:stretch>
            <a:fillRect/>
          </a:stretch>
        </p:blipFill>
        <p:spPr>
          <a:xfrm>
            <a:off x="3379988" y="2191268"/>
            <a:ext cx="280904" cy="280904"/>
          </a:xfrm>
          <a:prstGeom prst="rect">
            <a:avLst/>
          </a:prstGeom>
        </p:spPr>
      </p:pic>
      <p:sp>
        <p:nvSpPr>
          <p:cNvPr id="17" name="Text 13"/>
          <p:cNvSpPr txBox="1"/>
          <p:nvPr/>
        </p:nvSpPr>
        <p:spPr>
          <a:xfrm>
            <a:off x="2560320" y="1417320"/>
            <a:ext cx="1920240" cy="228600"/>
          </a:xfrm>
          <a:prstGeom prst="rect">
            <a:avLst/>
          </a:prstGeom>
          <a:noFill/>
          <a:ln/>
        </p:spPr>
        <p:txBody>
          <a:bodyPr wrap="square" lIns="0" tIns="0" rIns="0" bIns="0" rtlCol="0" anchor="t"/>
          <a:lstStyle/>
          <a:p>
            <a:pPr marL="0" indent="0" algn="ctr">
              <a:buNone/>
            </a:pPr>
            <a:r>
              <a:rPr lang="en-US" sz="900" b="1" kern="0" spc="100" dirty="0">
                <a:solidFill>
                  <a:srgbClr val="0B4DA2"/>
                </a:solidFill>
                <a:latin typeface="Segoe UI" pitchFamily="34" charset="0"/>
                <a:ea typeface="Segoe UI" pitchFamily="34" charset="-122"/>
                <a:cs typeface="Segoe UI" pitchFamily="34" charset="-120"/>
              </a:rPr>
              <a:t>CARGA MASIVA</a:t>
            </a:r>
            <a:endParaRPr lang="en-US" sz="900" dirty="0"/>
          </a:p>
        </p:txBody>
      </p:sp>
      <p:sp>
        <p:nvSpPr>
          <p:cNvPr id="18" name="Text 14"/>
          <p:cNvSpPr txBox="1"/>
          <p:nvPr/>
        </p:nvSpPr>
        <p:spPr>
          <a:xfrm>
            <a:off x="2560320" y="1645920"/>
            <a:ext cx="1920240" cy="320040"/>
          </a:xfrm>
          <a:prstGeom prst="rect">
            <a:avLst/>
          </a:prstGeom>
          <a:noFill/>
          <a:ln/>
        </p:spPr>
        <p:txBody>
          <a:bodyPr wrap="square" lIns="0" tIns="0" rIns="0" bIns="0" rtlCol="0" anchor="t"/>
          <a:lstStyle/>
          <a:p>
            <a:pPr marL="0" indent="0" algn="ctr">
              <a:buNone/>
            </a:pPr>
            <a:r>
              <a:rPr lang="en-US" sz="1600" b="1" dirty="0">
                <a:solidFill>
                  <a:srgbClr val="071B3F"/>
                </a:solidFill>
                <a:latin typeface="Segoe UI" pitchFamily="34" charset="0"/>
                <a:ea typeface="Segoe UI" pitchFamily="34" charset="-122"/>
                <a:cs typeface="Segoe UI" pitchFamily="34" charset="-120"/>
              </a:rPr>
              <a:t>DTW</a:t>
            </a:r>
            <a:endParaRPr lang="en-US" sz="1600" dirty="0"/>
          </a:p>
        </p:txBody>
      </p:sp>
      <p:sp>
        <p:nvSpPr>
          <p:cNvPr id="19" name="Shape 15"/>
          <p:cNvSpPr/>
          <p:nvPr/>
        </p:nvSpPr>
        <p:spPr>
          <a:xfrm>
            <a:off x="2560320" y="2788920"/>
            <a:ext cx="1920240" cy="1874520"/>
          </a:xfrm>
          <a:prstGeom prst="roundRect">
            <a:avLst>
              <a:gd name="adj" fmla="val 390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0" name="Text 16"/>
          <p:cNvSpPr txBox="1"/>
          <p:nvPr/>
        </p:nvSpPr>
        <p:spPr>
          <a:xfrm>
            <a:off x="2688336" y="2898648"/>
            <a:ext cx="1664208" cy="1005840"/>
          </a:xfrm>
          <a:prstGeom prst="rect">
            <a:avLst/>
          </a:prstGeom>
          <a:noFill/>
          <a:ln/>
        </p:spPr>
        <p:txBody>
          <a:bodyPr wrap="square" lIns="0" tIns="0" rIns="0" bIns="0" rtlCol="0" anchor="t"/>
          <a:lstStyle/>
          <a:p>
            <a:pPr marL="0" indent="0">
              <a:buNone/>
            </a:pPr>
            <a:r>
              <a:rPr lang="en-US" sz="1000" dirty="0">
                <a:solidFill>
                  <a:srgbClr val="1B2433"/>
                </a:solidFill>
                <a:latin typeface="Calibri" pitchFamily="34" charset="0"/>
                <a:ea typeface="Calibri" pitchFamily="34" charset="-122"/>
                <a:cs typeface="Calibri" pitchFamily="34" charset="-120"/>
              </a:rPr>
              <a:t>Data Transfer Workbench: asistente con plantillas CSV/Excel construido sobre DI API.</a:t>
            </a:r>
            <a:endParaRPr lang="en-US" sz="1000" dirty="0"/>
          </a:p>
        </p:txBody>
      </p:sp>
      <p:sp>
        <p:nvSpPr>
          <p:cNvPr id="21" name="Text 17"/>
          <p:cNvSpPr txBox="1"/>
          <p:nvPr/>
        </p:nvSpPr>
        <p:spPr>
          <a:xfrm>
            <a:off x="2688336" y="3959352"/>
            <a:ext cx="1664208" cy="640080"/>
          </a:xfrm>
          <a:prstGeom prst="rect">
            <a:avLst/>
          </a:prstGeom>
          <a:noFill/>
          <a:ln/>
        </p:spPr>
        <p:txBody>
          <a:bodyPr wrap="square" lIns="0" tIns="0" rIns="0" bIns="0" rtlCol="0" anchor="t"/>
          <a:lstStyle/>
          <a:p>
            <a:pPr marL="0" indent="0">
              <a:buNone/>
            </a:pPr>
            <a:r>
              <a:rPr lang="en-US" sz="950" b="1" dirty="0">
                <a:solidFill>
                  <a:srgbClr val="D64545"/>
                </a:solidFill>
                <a:latin typeface="Calibri" pitchFamily="34" charset="0"/>
                <a:ea typeface="Calibri" pitchFamily="34" charset="-122"/>
                <a:cs typeface="Calibri" pitchFamily="34" charset="-120"/>
              </a:rPr>
              <a:t>Limitación: </a:t>
            </a:r>
            <a:r>
              <a:rPr lang="en-US" sz="950" dirty="0">
                <a:solidFill>
                  <a:srgbClr val="5B6B82"/>
                </a:solidFill>
                <a:latin typeface="Calibri" pitchFamily="34" charset="0"/>
                <a:ea typeface="Calibri" pitchFamily="34" charset="-122"/>
                <a:cs typeface="Calibri" pitchFamily="34" charset="-120"/>
              </a:rPr>
              <a:t>Pensado para migraciones, no para integración en línea.</a:t>
            </a:r>
            <a:endParaRPr lang="en-US" sz="950" dirty="0"/>
          </a:p>
        </p:txBody>
      </p:sp>
      <p:sp>
        <p:nvSpPr>
          <p:cNvPr id="22" name="Shape 18"/>
          <p:cNvSpPr/>
          <p:nvPr/>
        </p:nvSpPr>
        <p:spPr>
          <a:xfrm>
            <a:off x="5376672" y="2039112"/>
            <a:ext cx="585216" cy="585216"/>
          </a:xfrm>
          <a:prstGeom prst="ellipse">
            <a:avLst/>
          </a:prstGeom>
          <a:solidFill>
            <a:srgbClr val="0B4DA2"/>
          </a:solidFill>
          <a:ln w="12700">
            <a:solidFill>
              <a:srgbClr val="0B4DA2"/>
            </a:solidFill>
            <a:prstDash val="solid"/>
          </a:ln>
        </p:spPr>
      </p:sp>
      <p:pic>
        <p:nvPicPr>
          <p:cNvPr id="23" name="Image 2" descr="preencoded.png"/>
          <p:cNvPicPr>
            <a:picLocks noChangeAspect="1"/>
          </p:cNvPicPr>
          <p:nvPr/>
        </p:nvPicPr>
        <p:blipFill>
          <a:blip r:embed="rId5"/>
          <a:stretch>
            <a:fillRect/>
          </a:stretch>
        </p:blipFill>
        <p:spPr>
          <a:xfrm>
            <a:off x="5528828" y="2191268"/>
            <a:ext cx="280904" cy="280904"/>
          </a:xfrm>
          <a:prstGeom prst="rect">
            <a:avLst/>
          </a:prstGeom>
        </p:spPr>
      </p:pic>
      <p:sp>
        <p:nvSpPr>
          <p:cNvPr id="24" name="Text 19"/>
          <p:cNvSpPr txBox="1"/>
          <p:nvPr/>
        </p:nvSpPr>
        <p:spPr>
          <a:xfrm>
            <a:off x="4709160" y="1417320"/>
            <a:ext cx="1920240" cy="228600"/>
          </a:xfrm>
          <a:prstGeom prst="rect">
            <a:avLst/>
          </a:prstGeom>
          <a:noFill/>
          <a:ln/>
        </p:spPr>
        <p:txBody>
          <a:bodyPr wrap="square" lIns="0" tIns="0" rIns="0" bIns="0" rtlCol="0" anchor="t"/>
          <a:lstStyle/>
          <a:p>
            <a:pPr marL="0" indent="0" algn="ctr">
              <a:buNone/>
            </a:pPr>
            <a:r>
              <a:rPr lang="en-US" sz="900" b="1" kern="0" spc="100" dirty="0">
                <a:solidFill>
                  <a:srgbClr val="0B4DA2"/>
                </a:solidFill>
                <a:latin typeface="Segoe UI" pitchFamily="34" charset="0"/>
                <a:ea typeface="Segoe UI" pitchFamily="34" charset="-122"/>
                <a:cs typeface="Segoe UI" pitchFamily="34" charset="-120"/>
              </a:rPr>
              <a:t>SERVICIO REMOTO</a:t>
            </a:r>
            <a:endParaRPr lang="en-US" sz="900" dirty="0"/>
          </a:p>
        </p:txBody>
      </p:sp>
      <p:sp>
        <p:nvSpPr>
          <p:cNvPr id="25" name="Text 20"/>
          <p:cNvSpPr txBox="1"/>
          <p:nvPr/>
        </p:nvSpPr>
        <p:spPr>
          <a:xfrm>
            <a:off x="4709160" y="1645920"/>
            <a:ext cx="1920240" cy="320040"/>
          </a:xfrm>
          <a:prstGeom prst="rect">
            <a:avLst/>
          </a:prstGeom>
          <a:noFill/>
          <a:ln/>
        </p:spPr>
        <p:txBody>
          <a:bodyPr wrap="square" lIns="0" tIns="0" rIns="0" bIns="0" rtlCol="0" anchor="t"/>
          <a:lstStyle/>
          <a:p>
            <a:pPr marL="0" indent="0" algn="ctr">
              <a:buNone/>
            </a:pPr>
            <a:r>
              <a:rPr lang="en-US" sz="1600" b="1" dirty="0">
                <a:solidFill>
                  <a:srgbClr val="071B3F"/>
                </a:solidFill>
                <a:latin typeface="Segoe UI" pitchFamily="34" charset="0"/>
                <a:ea typeface="Segoe UI" pitchFamily="34" charset="-122"/>
                <a:cs typeface="Segoe UI" pitchFamily="34" charset="-120"/>
              </a:rPr>
              <a:t>DI Server</a:t>
            </a:r>
            <a:endParaRPr lang="en-US" sz="1600" dirty="0"/>
          </a:p>
        </p:txBody>
      </p:sp>
      <p:sp>
        <p:nvSpPr>
          <p:cNvPr id="26" name="Shape 21"/>
          <p:cNvSpPr/>
          <p:nvPr/>
        </p:nvSpPr>
        <p:spPr>
          <a:xfrm>
            <a:off x="4709160" y="2788920"/>
            <a:ext cx="1920240" cy="1874520"/>
          </a:xfrm>
          <a:prstGeom prst="roundRect">
            <a:avLst>
              <a:gd name="adj" fmla="val 390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7" name="Text 22"/>
          <p:cNvSpPr txBox="1"/>
          <p:nvPr/>
        </p:nvSpPr>
        <p:spPr>
          <a:xfrm>
            <a:off x="4837176" y="2898648"/>
            <a:ext cx="1664208" cy="1005840"/>
          </a:xfrm>
          <a:prstGeom prst="rect">
            <a:avLst/>
          </a:prstGeom>
          <a:noFill/>
          <a:ln/>
        </p:spPr>
        <p:txBody>
          <a:bodyPr wrap="square" lIns="0" tIns="0" rIns="0" bIns="0" rtlCol="0" anchor="t"/>
          <a:lstStyle/>
          <a:p>
            <a:pPr marL="0" indent="0">
              <a:buNone/>
            </a:pPr>
            <a:r>
              <a:rPr lang="en-US" sz="1000" dirty="0">
                <a:solidFill>
                  <a:srgbClr val="1B2433"/>
                </a:solidFill>
                <a:latin typeface="Calibri" pitchFamily="34" charset="0"/>
                <a:ea typeface="Calibri" pitchFamily="34" charset="-122"/>
                <a:cs typeface="Calibri" pitchFamily="34" charset="-120"/>
              </a:rPr>
              <a:t>DI API alojado en servidor y expuesto como servicio SOAP/XML.</a:t>
            </a:r>
            <a:endParaRPr lang="en-US" sz="1000" dirty="0"/>
          </a:p>
        </p:txBody>
      </p:sp>
      <p:sp>
        <p:nvSpPr>
          <p:cNvPr id="28" name="Text 23"/>
          <p:cNvSpPr txBox="1"/>
          <p:nvPr/>
        </p:nvSpPr>
        <p:spPr>
          <a:xfrm>
            <a:off x="4837176" y="3959352"/>
            <a:ext cx="1664208" cy="640080"/>
          </a:xfrm>
          <a:prstGeom prst="rect">
            <a:avLst/>
          </a:prstGeom>
          <a:noFill/>
          <a:ln/>
        </p:spPr>
        <p:txBody>
          <a:bodyPr wrap="square" lIns="0" tIns="0" rIns="0" bIns="0" rtlCol="0" anchor="t"/>
          <a:lstStyle/>
          <a:p>
            <a:pPr marL="0" indent="0">
              <a:buNone/>
            </a:pPr>
            <a:r>
              <a:rPr lang="en-US" sz="950" b="1" dirty="0">
                <a:solidFill>
                  <a:srgbClr val="D64545"/>
                </a:solidFill>
                <a:latin typeface="Calibri" pitchFamily="34" charset="0"/>
                <a:ea typeface="Calibri" pitchFamily="34" charset="-122"/>
                <a:cs typeface="Calibri" pitchFamily="34" charset="-120"/>
              </a:rPr>
              <a:t>Limitación: </a:t>
            </a:r>
            <a:r>
              <a:rPr lang="en-US" sz="950" dirty="0">
                <a:solidFill>
                  <a:srgbClr val="5B6B82"/>
                </a:solidFill>
                <a:latin typeface="Calibri" pitchFamily="34" charset="0"/>
                <a:ea typeface="Calibri" pitchFamily="34" charset="-122"/>
                <a:cs typeface="Calibri" pitchFamily="34" charset="-120"/>
              </a:rPr>
              <a:t>XML verboso, solo Windows, escalabilidad limitada.</a:t>
            </a:r>
            <a:endParaRPr lang="en-US" sz="950" dirty="0"/>
          </a:p>
        </p:txBody>
      </p:sp>
      <p:sp>
        <p:nvSpPr>
          <p:cNvPr id="29" name="Shape 24"/>
          <p:cNvSpPr/>
          <p:nvPr/>
        </p:nvSpPr>
        <p:spPr>
          <a:xfrm>
            <a:off x="7525512" y="2039112"/>
            <a:ext cx="585216" cy="585216"/>
          </a:xfrm>
          <a:prstGeom prst="ellipse">
            <a:avLst/>
          </a:prstGeom>
          <a:solidFill>
            <a:srgbClr val="F5A800"/>
          </a:solidFill>
          <a:ln w="12700">
            <a:solidFill>
              <a:srgbClr val="F5A800"/>
            </a:solidFill>
            <a:prstDash val="solid"/>
          </a:ln>
        </p:spPr>
      </p:sp>
      <p:pic>
        <p:nvPicPr>
          <p:cNvPr id="30" name="Image 3" descr="preencoded.png"/>
          <p:cNvPicPr>
            <a:picLocks noChangeAspect="1"/>
          </p:cNvPicPr>
          <p:nvPr/>
        </p:nvPicPr>
        <p:blipFill>
          <a:blip r:embed="rId6"/>
          <a:stretch>
            <a:fillRect/>
          </a:stretch>
        </p:blipFill>
        <p:spPr>
          <a:xfrm>
            <a:off x="7677668" y="2191268"/>
            <a:ext cx="280904" cy="280904"/>
          </a:xfrm>
          <a:prstGeom prst="rect">
            <a:avLst/>
          </a:prstGeom>
        </p:spPr>
      </p:pic>
      <p:sp>
        <p:nvSpPr>
          <p:cNvPr id="31" name="Text 25"/>
          <p:cNvSpPr txBox="1"/>
          <p:nvPr/>
        </p:nvSpPr>
        <p:spPr>
          <a:xfrm>
            <a:off x="6858000" y="1417320"/>
            <a:ext cx="1920240" cy="228600"/>
          </a:xfrm>
          <a:prstGeom prst="rect">
            <a:avLst/>
          </a:prstGeom>
          <a:noFill/>
          <a:ln/>
        </p:spPr>
        <p:txBody>
          <a:bodyPr wrap="square" lIns="0" tIns="0" rIns="0" bIns="0" rtlCol="0" anchor="t"/>
          <a:lstStyle/>
          <a:p>
            <a:pPr marL="0" indent="0" algn="ctr">
              <a:buNone/>
            </a:pPr>
            <a:r>
              <a:rPr lang="en-US" sz="900" b="1" kern="0" spc="100" dirty="0">
                <a:solidFill>
                  <a:srgbClr val="B07A00"/>
                </a:solidFill>
                <a:latin typeface="Segoe UI" pitchFamily="34" charset="0"/>
                <a:ea typeface="Segoe UI" pitchFamily="34" charset="-122"/>
                <a:cs typeface="Segoe UI" pitchFamily="34" charset="-120"/>
              </a:rPr>
              <a:t>API WEB MODERNA</a:t>
            </a:r>
            <a:endParaRPr lang="en-US" sz="900" dirty="0"/>
          </a:p>
        </p:txBody>
      </p:sp>
      <p:sp>
        <p:nvSpPr>
          <p:cNvPr id="32" name="Text 26"/>
          <p:cNvSpPr txBox="1"/>
          <p:nvPr/>
        </p:nvSpPr>
        <p:spPr>
          <a:xfrm>
            <a:off x="6858000" y="1645920"/>
            <a:ext cx="1920240" cy="320040"/>
          </a:xfrm>
          <a:prstGeom prst="rect">
            <a:avLst/>
          </a:prstGeom>
          <a:noFill/>
          <a:ln/>
        </p:spPr>
        <p:txBody>
          <a:bodyPr wrap="square" lIns="0" tIns="0" rIns="0" bIns="0" rtlCol="0" anchor="t"/>
          <a:lstStyle/>
          <a:p>
            <a:pPr marL="0" indent="0" algn="ctr">
              <a:buNone/>
            </a:pPr>
            <a:r>
              <a:rPr lang="en-US" sz="1600" b="1" dirty="0">
                <a:solidFill>
                  <a:srgbClr val="071B3F"/>
                </a:solidFill>
                <a:latin typeface="Segoe UI" pitchFamily="34" charset="0"/>
                <a:ea typeface="Segoe UI" pitchFamily="34" charset="-122"/>
                <a:cs typeface="Segoe UI" pitchFamily="34" charset="-120"/>
              </a:rPr>
              <a:t>Service Layer</a:t>
            </a:r>
            <a:endParaRPr lang="en-US" sz="1600" dirty="0"/>
          </a:p>
        </p:txBody>
      </p:sp>
      <p:sp>
        <p:nvSpPr>
          <p:cNvPr id="33" name="Shape 27"/>
          <p:cNvSpPr/>
          <p:nvPr/>
        </p:nvSpPr>
        <p:spPr>
          <a:xfrm>
            <a:off x="6858000" y="2788920"/>
            <a:ext cx="1920240" cy="1874520"/>
          </a:xfrm>
          <a:prstGeom prst="roundRect">
            <a:avLst>
              <a:gd name="adj" fmla="val 3902"/>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34" name="Text 28"/>
          <p:cNvSpPr txBox="1"/>
          <p:nvPr/>
        </p:nvSpPr>
        <p:spPr>
          <a:xfrm>
            <a:off x="6986016" y="2898648"/>
            <a:ext cx="1664208" cy="1005840"/>
          </a:xfrm>
          <a:prstGeom prst="rect">
            <a:avLst/>
          </a:prstGeom>
          <a:noFill/>
          <a:ln/>
        </p:spPr>
        <p:txBody>
          <a:bodyPr wrap="square" lIns="0" tIns="0" rIns="0" bIns="0" rtlCol="0" anchor="t"/>
          <a:lstStyle/>
          <a:p>
            <a:pPr marL="0" indent="0">
              <a:buNone/>
            </a:pPr>
            <a:r>
              <a:rPr lang="en-US" sz="1000" dirty="0">
                <a:solidFill>
                  <a:srgbClr val="1B2433"/>
                </a:solidFill>
                <a:latin typeface="Calibri" pitchFamily="34" charset="0"/>
                <a:ea typeface="Calibri" pitchFamily="34" charset="-122"/>
                <a:cs typeface="Calibri" pitchFamily="34" charset="-120"/>
              </a:rPr>
              <a:t>REST/OData + JSON, balanceo de carga y multiplataforma. Estándar actual recomendado por SAP.</a:t>
            </a:r>
            <a:endParaRPr lang="en-US" sz="1000" dirty="0"/>
          </a:p>
        </p:txBody>
      </p:sp>
      <p:sp>
        <p:nvSpPr>
          <p:cNvPr id="35" name="Text 29"/>
          <p:cNvSpPr txBox="1"/>
          <p:nvPr/>
        </p:nvSpPr>
        <p:spPr>
          <a:xfrm>
            <a:off x="6986016" y="3959352"/>
            <a:ext cx="1664208" cy="640080"/>
          </a:xfrm>
          <a:prstGeom prst="rect">
            <a:avLst/>
          </a:prstGeom>
          <a:noFill/>
          <a:ln/>
        </p:spPr>
        <p:txBody>
          <a:bodyPr wrap="square" lIns="0" tIns="0" rIns="0" bIns="0" rtlCol="0" anchor="t"/>
          <a:lstStyle/>
          <a:p>
            <a:pPr marL="0" indent="0">
              <a:buNone/>
            </a:pPr>
            <a:r>
              <a:rPr lang="en-US" sz="950" b="1" dirty="0">
                <a:solidFill>
                  <a:srgbClr val="B07A00"/>
                </a:solidFill>
                <a:latin typeface="Calibri" pitchFamily="34" charset="0"/>
                <a:ea typeface="Calibri" pitchFamily="34" charset="-122"/>
                <a:cs typeface="Calibri" pitchFamily="34" charset="-120"/>
              </a:rPr>
              <a:t>A considerar: </a:t>
            </a:r>
            <a:r>
              <a:rPr lang="en-US" sz="950" dirty="0">
                <a:solidFill>
                  <a:srgbClr val="5B6B82"/>
                </a:solidFill>
                <a:latin typeface="Calibri" pitchFamily="34" charset="0"/>
                <a:ea typeface="Calibri" pitchFamily="34" charset="-122"/>
                <a:cs typeface="Calibri" pitchFamily="34" charset="-120"/>
              </a:rPr>
              <a:t>Requiere gestionar sesiones y licencias por login.</a:t>
            </a:r>
            <a:endParaRPr lang="en-US" sz="950" dirty="0"/>
          </a:p>
        </p:txBody>
      </p:sp>
      <p:sp>
        <p:nvSpPr>
          <p:cNvPr id="36"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01  ·  INTRODUCCIÓN</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¿Dónde está la documentación?</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Fuentes oficiales que usaremos durante el curso</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4069080" cy="1298448"/>
          </a:xfrm>
          <a:prstGeom prst="roundRect">
            <a:avLst>
              <a:gd name="adj" fmla="val 563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640080" y="1664208"/>
            <a:ext cx="502920" cy="502920"/>
          </a:xfrm>
          <a:prstGeom prst="ellipse">
            <a:avLst/>
          </a:prstGeom>
          <a:solidFill>
            <a:srgbClr val="0B4DA2"/>
          </a:solidFill>
          <a:ln w="12700">
            <a:solidFill>
              <a:srgbClr val="0B4DA2"/>
            </a:solidFill>
            <a:prstDash val="solid"/>
          </a:ln>
        </p:spPr>
      </p:sp>
      <p:pic>
        <p:nvPicPr>
          <p:cNvPr id="9" name="Image 0" descr="preencoded.png"/>
          <p:cNvPicPr>
            <a:picLocks noChangeAspect="1"/>
          </p:cNvPicPr>
          <p:nvPr/>
        </p:nvPicPr>
        <p:blipFill>
          <a:blip r:embed="rId3"/>
          <a:stretch>
            <a:fillRect/>
          </a:stretch>
        </p:blipFill>
        <p:spPr>
          <a:xfrm>
            <a:off x="770839" y="1794967"/>
            <a:ext cx="241402" cy="241402"/>
          </a:xfrm>
          <a:prstGeom prst="rect">
            <a:avLst/>
          </a:prstGeom>
        </p:spPr>
      </p:pic>
      <p:sp>
        <p:nvSpPr>
          <p:cNvPr id="10" name="Text 7"/>
          <p:cNvSpPr txBox="1"/>
          <p:nvPr/>
        </p:nvSpPr>
        <p:spPr>
          <a:xfrm>
            <a:off x="1325880" y="1627632"/>
            <a:ext cx="3063240" cy="274320"/>
          </a:xfrm>
          <a:prstGeom prst="rect">
            <a:avLst/>
          </a:prstGeom>
          <a:noFill/>
          <a:ln/>
        </p:spPr>
        <p:txBody>
          <a:bodyPr wrap="square" lIns="0" tIns="0" rIns="0" bIns="0" rtlCol="0" anchor="t"/>
          <a:lstStyle/>
          <a:p>
            <a:pPr marL="0" indent="0">
              <a:buNone/>
            </a:pPr>
            <a:r>
              <a:rPr lang="en-US" sz="1300" b="1" dirty="0">
                <a:solidFill>
                  <a:srgbClr val="071B3F"/>
                </a:solidFill>
                <a:latin typeface="Segoe UI" pitchFamily="34" charset="0"/>
                <a:ea typeface="Segoe UI" pitchFamily="34" charset="-122"/>
                <a:cs typeface="Segoe UI" pitchFamily="34" charset="-120"/>
              </a:rPr>
              <a:t>SAP Help Portal</a:t>
            </a:r>
            <a:endParaRPr lang="en-US" sz="1300" dirty="0"/>
          </a:p>
        </p:txBody>
      </p:sp>
      <p:sp>
        <p:nvSpPr>
          <p:cNvPr id="11" name="Text 8"/>
          <p:cNvSpPr txBox="1"/>
          <p:nvPr/>
        </p:nvSpPr>
        <p:spPr>
          <a:xfrm>
            <a:off x="1325880" y="1920240"/>
            <a:ext cx="3063240" cy="45720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Service Layer API Reference: entidades, propiedades, enumeraciones y acciones por versión.</a:t>
            </a:r>
            <a:endParaRPr lang="en-US" sz="1050" dirty="0"/>
          </a:p>
        </p:txBody>
      </p:sp>
      <p:sp>
        <p:nvSpPr>
          <p:cNvPr id="12" name="Text 9"/>
          <p:cNvSpPr txBox="1"/>
          <p:nvPr/>
        </p:nvSpPr>
        <p:spPr>
          <a:xfrm>
            <a:off x="1325880" y="2414016"/>
            <a:ext cx="3108960" cy="228600"/>
          </a:xfrm>
          <a:prstGeom prst="rect">
            <a:avLst/>
          </a:prstGeom>
          <a:noFill/>
          <a:ln/>
        </p:spPr>
        <p:txBody>
          <a:bodyPr wrap="square" lIns="0" tIns="0" rIns="0" bIns="0" rtlCol="0" anchor="t"/>
          <a:lstStyle/>
          <a:p>
            <a:pPr marL="0" indent="0">
              <a:buNone/>
            </a:pPr>
            <a:r>
              <a:rPr lang="en-US" sz="900" dirty="0">
                <a:solidFill>
                  <a:srgbClr val="0B4DA2"/>
                </a:solidFill>
                <a:latin typeface="Consolas" pitchFamily="34" charset="0"/>
                <a:ea typeface="Consolas" pitchFamily="34" charset="-122"/>
                <a:cs typeface="Consolas" pitchFamily="34" charset="-120"/>
              </a:rPr>
              <a:t>help.sap.com  →  SAP Business One  →  Service Layer</a:t>
            </a:r>
            <a:endParaRPr lang="en-US" sz="900" dirty="0"/>
          </a:p>
        </p:txBody>
      </p:sp>
      <p:sp>
        <p:nvSpPr>
          <p:cNvPr id="13" name="Shape 10"/>
          <p:cNvSpPr/>
          <p:nvPr/>
        </p:nvSpPr>
        <p:spPr>
          <a:xfrm>
            <a:off x="4617720" y="1463040"/>
            <a:ext cx="4069080" cy="1298448"/>
          </a:xfrm>
          <a:prstGeom prst="roundRect">
            <a:avLst>
              <a:gd name="adj" fmla="val 563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Shape 11"/>
          <p:cNvSpPr/>
          <p:nvPr/>
        </p:nvSpPr>
        <p:spPr>
          <a:xfrm>
            <a:off x="4800600" y="1664208"/>
            <a:ext cx="502920" cy="502920"/>
          </a:xfrm>
          <a:prstGeom prst="ellipse">
            <a:avLst/>
          </a:prstGeom>
          <a:solidFill>
            <a:srgbClr val="0B4DA2"/>
          </a:solidFill>
          <a:ln w="12700">
            <a:solidFill>
              <a:srgbClr val="0B4DA2"/>
            </a:solidFill>
            <a:prstDash val="solid"/>
          </a:ln>
        </p:spPr>
      </p:sp>
      <p:pic>
        <p:nvPicPr>
          <p:cNvPr id="15" name="Image 1" descr="preencoded.png"/>
          <p:cNvPicPr>
            <a:picLocks noChangeAspect="1"/>
          </p:cNvPicPr>
          <p:nvPr/>
        </p:nvPicPr>
        <p:blipFill>
          <a:blip r:embed="rId4"/>
          <a:stretch>
            <a:fillRect/>
          </a:stretch>
        </p:blipFill>
        <p:spPr>
          <a:xfrm>
            <a:off x="4931359" y="1794967"/>
            <a:ext cx="241402" cy="241402"/>
          </a:xfrm>
          <a:prstGeom prst="rect">
            <a:avLst/>
          </a:prstGeom>
        </p:spPr>
      </p:pic>
      <p:sp>
        <p:nvSpPr>
          <p:cNvPr id="16" name="Text 12"/>
          <p:cNvSpPr txBox="1"/>
          <p:nvPr/>
        </p:nvSpPr>
        <p:spPr>
          <a:xfrm>
            <a:off x="5486400" y="1627632"/>
            <a:ext cx="3063240" cy="274320"/>
          </a:xfrm>
          <a:prstGeom prst="rect">
            <a:avLst/>
          </a:prstGeom>
          <a:noFill/>
          <a:ln/>
        </p:spPr>
        <p:txBody>
          <a:bodyPr wrap="square" lIns="0" tIns="0" rIns="0" bIns="0" rtlCol="0" anchor="t"/>
          <a:lstStyle/>
          <a:p>
            <a:pPr marL="0" indent="0">
              <a:buNone/>
            </a:pPr>
            <a:r>
              <a:rPr lang="en-US" sz="1300" b="1" dirty="0">
                <a:solidFill>
                  <a:srgbClr val="071B3F"/>
                </a:solidFill>
                <a:latin typeface="Segoe UI" pitchFamily="34" charset="0"/>
                <a:ea typeface="Segoe UI" pitchFamily="34" charset="-122"/>
                <a:cs typeface="Segoe UI" pitchFamily="34" charset="-120"/>
              </a:rPr>
              <a:t>Metadata del servidor</a:t>
            </a:r>
            <a:endParaRPr lang="en-US" sz="1300" dirty="0"/>
          </a:p>
        </p:txBody>
      </p:sp>
      <p:sp>
        <p:nvSpPr>
          <p:cNvPr id="17" name="Text 13"/>
          <p:cNvSpPr txBox="1"/>
          <p:nvPr/>
        </p:nvSpPr>
        <p:spPr>
          <a:xfrm>
            <a:off x="5486400" y="1920240"/>
            <a:ext cx="3063240" cy="45720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Documento OData con todas las entidades de TU versión y TUS campos de usuario.</a:t>
            </a:r>
            <a:endParaRPr lang="en-US" sz="1050" dirty="0"/>
          </a:p>
        </p:txBody>
      </p:sp>
      <p:sp>
        <p:nvSpPr>
          <p:cNvPr id="18" name="Text 14"/>
          <p:cNvSpPr txBox="1"/>
          <p:nvPr/>
        </p:nvSpPr>
        <p:spPr>
          <a:xfrm>
            <a:off x="5486400" y="2414016"/>
            <a:ext cx="3108960" cy="228600"/>
          </a:xfrm>
          <a:prstGeom prst="rect">
            <a:avLst/>
          </a:prstGeom>
          <a:noFill/>
          <a:ln/>
        </p:spPr>
        <p:txBody>
          <a:bodyPr wrap="square" lIns="0" tIns="0" rIns="0" bIns="0" rtlCol="0" anchor="t"/>
          <a:lstStyle/>
          <a:p>
            <a:pPr marL="0" indent="0">
              <a:buNone/>
            </a:pPr>
            <a:r>
              <a:rPr lang="en-US" sz="900" dirty="0">
                <a:solidFill>
                  <a:srgbClr val="0B4DA2"/>
                </a:solidFill>
                <a:latin typeface="Consolas" pitchFamily="34" charset="0"/>
                <a:ea typeface="Consolas" pitchFamily="34" charset="-122"/>
                <a:cs typeface="Consolas" pitchFamily="34" charset="-120"/>
              </a:rPr>
              <a:t>https://&lt;servidor&gt;:50000/b1s/v1/$metadata</a:t>
            </a:r>
            <a:endParaRPr lang="en-US" sz="900" dirty="0"/>
          </a:p>
        </p:txBody>
      </p:sp>
      <p:sp>
        <p:nvSpPr>
          <p:cNvPr id="19" name="Shape 15"/>
          <p:cNvSpPr/>
          <p:nvPr/>
        </p:nvSpPr>
        <p:spPr>
          <a:xfrm>
            <a:off x="457200" y="2926080"/>
            <a:ext cx="4069080" cy="1298448"/>
          </a:xfrm>
          <a:prstGeom prst="roundRect">
            <a:avLst>
              <a:gd name="adj" fmla="val 563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0" name="Shape 16"/>
          <p:cNvSpPr/>
          <p:nvPr/>
        </p:nvSpPr>
        <p:spPr>
          <a:xfrm>
            <a:off x="640080" y="3127248"/>
            <a:ext cx="502920" cy="502920"/>
          </a:xfrm>
          <a:prstGeom prst="ellipse">
            <a:avLst/>
          </a:prstGeom>
          <a:solidFill>
            <a:srgbClr val="0B4DA2"/>
          </a:solidFill>
          <a:ln w="12700">
            <a:solidFill>
              <a:srgbClr val="0B4DA2"/>
            </a:solidFill>
            <a:prstDash val="solid"/>
          </a:ln>
        </p:spPr>
      </p:sp>
      <p:pic>
        <p:nvPicPr>
          <p:cNvPr id="21" name="Image 2" descr="preencoded.png"/>
          <p:cNvPicPr>
            <a:picLocks noChangeAspect="1"/>
          </p:cNvPicPr>
          <p:nvPr/>
        </p:nvPicPr>
        <p:blipFill>
          <a:blip r:embed="rId5"/>
          <a:stretch>
            <a:fillRect/>
          </a:stretch>
        </p:blipFill>
        <p:spPr>
          <a:xfrm>
            <a:off x="770839" y="3258007"/>
            <a:ext cx="241402" cy="241402"/>
          </a:xfrm>
          <a:prstGeom prst="rect">
            <a:avLst/>
          </a:prstGeom>
        </p:spPr>
      </p:pic>
      <p:sp>
        <p:nvSpPr>
          <p:cNvPr id="22" name="Text 17"/>
          <p:cNvSpPr txBox="1"/>
          <p:nvPr/>
        </p:nvSpPr>
        <p:spPr>
          <a:xfrm>
            <a:off x="1325880" y="3090672"/>
            <a:ext cx="3063240" cy="274320"/>
          </a:xfrm>
          <a:prstGeom prst="rect">
            <a:avLst/>
          </a:prstGeom>
          <a:noFill/>
          <a:ln/>
        </p:spPr>
        <p:txBody>
          <a:bodyPr wrap="square" lIns="0" tIns="0" rIns="0" bIns="0" rtlCol="0" anchor="t"/>
          <a:lstStyle/>
          <a:p>
            <a:pPr marL="0" indent="0">
              <a:buNone/>
            </a:pPr>
            <a:r>
              <a:rPr lang="en-US" sz="1300" b="1" dirty="0">
                <a:solidFill>
                  <a:srgbClr val="071B3F"/>
                </a:solidFill>
                <a:latin typeface="Segoe UI" pitchFamily="34" charset="0"/>
                <a:ea typeface="Segoe UI" pitchFamily="34" charset="-122"/>
                <a:cs typeface="Segoe UI" pitchFamily="34" charset="-120"/>
              </a:rPr>
              <a:t>Working with Service Layer</a:t>
            </a:r>
            <a:endParaRPr lang="en-US" sz="1300" dirty="0"/>
          </a:p>
        </p:txBody>
      </p:sp>
      <p:sp>
        <p:nvSpPr>
          <p:cNvPr id="23" name="Text 18"/>
          <p:cNvSpPr txBox="1"/>
          <p:nvPr/>
        </p:nvSpPr>
        <p:spPr>
          <a:xfrm>
            <a:off x="1325880" y="3383280"/>
            <a:ext cx="3063240" cy="45720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Guía oficial (PDF) de la versión: conceptos, sesión, batch, UDO, configuración.</a:t>
            </a:r>
            <a:endParaRPr lang="en-US" sz="1050" dirty="0"/>
          </a:p>
        </p:txBody>
      </p:sp>
      <p:sp>
        <p:nvSpPr>
          <p:cNvPr id="24" name="Text 19"/>
          <p:cNvSpPr txBox="1"/>
          <p:nvPr/>
        </p:nvSpPr>
        <p:spPr>
          <a:xfrm>
            <a:off x="1325880" y="3877056"/>
            <a:ext cx="3108960" cy="228600"/>
          </a:xfrm>
          <a:prstGeom prst="rect">
            <a:avLst/>
          </a:prstGeom>
          <a:noFill/>
          <a:ln/>
        </p:spPr>
        <p:txBody>
          <a:bodyPr wrap="square" lIns="0" tIns="0" rIns="0" bIns="0" rtlCol="0" anchor="t"/>
          <a:lstStyle/>
          <a:p>
            <a:pPr marL="0" indent="0">
              <a:buNone/>
            </a:pPr>
            <a:r>
              <a:rPr lang="en-US" sz="900" dirty="0">
                <a:solidFill>
                  <a:srgbClr val="0B4DA2"/>
                </a:solidFill>
                <a:latin typeface="Consolas" pitchFamily="34" charset="0"/>
                <a:ea typeface="Consolas" pitchFamily="34" charset="-122"/>
                <a:cs typeface="Consolas" pitchFamily="34" charset="-120"/>
              </a:rPr>
              <a:t>Documentación de instalación / SAP Help</a:t>
            </a:r>
            <a:endParaRPr lang="en-US" sz="900" dirty="0"/>
          </a:p>
        </p:txBody>
      </p:sp>
      <p:sp>
        <p:nvSpPr>
          <p:cNvPr id="25" name="Shape 20"/>
          <p:cNvSpPr/>
          <p:nvPr/>
        </p:nvSpPr>
        <p:spPr>
          <a:xfrm>
            <a:off x="4617720" y="2926080"/>
            <a:ext cx="4069080" cy="1298448"/>
          </a:xfrm>
          <a:prstGeom prst="roundRect">
            <a:avLst>
              <a:gd name="adj" fmla="val 563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6" name="Shape 21"/>
          <p:cNvSpPr/>
          <p:nvPr/>
        </p:nvSpPr>
        <p:spPr>
          <a:xfrm>
            <a:off x="4800600" y="3127248"/>
            <a:ext cx="502920" cy="502920"/>
          </a:xfrm>
          <a:prstGeom prst="ellipse">
            <a:avLst/>
          </a:prstGeom>
          <a:solidFill>
            <a:srgbClr val="0B4DA2"/>
          </a:solidFill>
          <a:ln w="12700">
            <a:solidFill>
              <a:srgbClr val="0B4DA2"/>
            </a:solidFill>
            <a:prstDash val="solid"/>
          </a:ln>
        </p:spPr>
      </p:sp>
      <p:pic>
        <p:nvPicPr>
          <p:cNvPr id="27" name="Image 3" descr="preencoded.png"/>
          <p:cNvPicPr>
            <a:picLocks noChangeAspect="1"/>
          </p:cNvPicPr>
          <p:nvPr/>
        </p:nvPicPr>
        <p:blipFill>
          <a:blip r:embed="rId6"/>
          <a:stretch>
            <a:fillRect/>
          </a:stretch>
        </p:blipFill>
        <p:spPr>
          <a:xfrm>
            <a:off x="4931359" y="3258007"/>
            <a:ext cx="241402" cy="241402"/>
          </a:xfrm>
          <a:prstGeom prst="rect">
            <a:avLst/>
          </a:prstGeom>
        </p:spPr>
      </p:pic>
      <p:sp>
        <p:nvSpPr>
          <p:cNvPr id="28" name="Text 22"/>
          <p:cNvSpPr txBox="1"/>
          <p:nvPr/>
        </p:nvSpPr>
        <p:spPr>
          <a:xfrm>
            <a:off x="5486400" y="3090672"/>
            <a:ext cx="3063240" cy="274320"/>
          </a:xfrm>
          <a:prstGeom prst="rect">
            <a:avLst/>
          </a:prstGeom>
          <a:noFill/>
          <a:ln/>
        </p:spPr>
        <p:txBody>
          <a:bodyPr wrap="square" lIns="0" tIns="0" rIns="0" bIns="0" rtlCol="0" anchor="t"/>
          <a:lstStyle/>
          <a:p>
            <a:pPr marL="0" indent="0">
              <a:buNone/>
            </a:pPr>
            <a:r>
              <a:rPr lang="en-US" sz="1300" b="1" dirty="0">
                <a:solidFill>
                  <a:srgbClr val="071B3F"/>
                </a:solidFill>
                <a:latin typeface="Segoe UI" pitchFamily="34" charset="0"/>
                <a:ea typeface="Segoe UI" pitchFamily="34" charset="-122"/>
                <a:cs typeface="Segoe UI" pitchFamily="34" charset="-120"/>
              </a:rPr>
              <a:t>SAP Community y Notas</a:t>
            </a:r>
            <a:endParaRPr lang="en-US" sz="1300" dirty="0"/>
          </a:p>
        </p:txBody>
      </p:sp>
      <p:sp>
        <p:nvSpPr>
          <p:cNvPr id="29" name="Text 23"/>
          <p:cNvSpPr txBox="1"/>
          <p:nvPr/>
        </p:nvSpPr>
        <p:spPr>
          <a:xfrm>
            <a:off x="5486400" y="3383280"/>
            <a:ext cx="3063240" cy="45720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Blogs, preguntas resueltas y notas SAP con correcciones por patch.</a:t>
            </a:r>
            <a:endParaRPr lang="en-US" sz="1050" dirty="0"/>
          </a:p>
        </p:txBody>
      </p:sp>
      <p:sp>
        <p:nvSpPr>
          <p:cNvPr id="30" name="Text 24"/>
          <p:cNvSpPr txBox="1"/>
          <p:nvPr/>
        </p:nvSpPr>
        <p:spPr>
          <a:xfrm>
            <a:off x="5486400" y="3877056"/>
            <a:ext cx="3108960" cy="228600"/>
          </a:xfrm>
          <a:prstGeom prst="rect">
            <a:avLst/>
          </a:prstGeom>
          <a:noFill/>
          <a:ln/>
        </p:spPr>
        <p:txBody>
          <a:bodyPr wrap="square" lIns="0" tIns="0" rIns="0" bIns="0" rtlCol="0" anchor="t"/>
          <a:lstStyle/>
          <a:p>
            <a:pPr marL="0" indent="0">
              <a:buNone/>
            </a:pPr>
            <a:r>
              <a:rPr lang="en-US" sz="900" dirty="0">
                <a:solidFill>
                  <a:srgbClr val="0B4DA2"/>
                </a:solidFill>
                <a:latin typeface="Consolas" pitchFamily="34" charset="0"/>
                <a:ea typeface="Consolas" pitchFamily="34" charset="-122"/>
                <a:cs typeface="Consolas" pitchFamily="34" charset="-120"/>
              </a:rPr>
              <a:t>community.sap.com  ·  me.sap.com</a:t>
            </a:r>
            <a:endParaRPr lang="en-US" sz="900" dirty="0"/>
          </a:p>
        </p:txBody>
      </p:sp>
      <p:sp>
        <p:nvSpPr>
          <p:cNvPr id="31" name="Shape 25"/>
          <p:cNvSpPr/>
          <p:nvPr/>
        </p:nvSpPr>
        <p:spPr>
          <a:xfrm>
            <a:off x="457200" y="4407408"/>
            <a:ext cx="8229600" cy="347472"/>
          </a:xfrm>
          <a:prstGeom prst="roundRect">
            <a:avLst>
              <a:gd name="adj" fmla="val 21053"/>
            </a:avLst>
          </a:prstGeom>
          <a:solidFill>
            <a:srgbClr val="FFF4D6"/>
          </a:solidFill>
          <a:ln w="12700">
            <a:solidFill>
              <a:srgbClr val="FFF4D6"/>
            </a:solidFill>
            <a:prstDash val="solid"/>
          </a:ln>
        </p:spPr>
      </p:sp>
      <p:sp>
        <p:nvSpPr>
          <p:cNvPr id="32" name="Text 26"/>
          <p:cNvSpPr txBox="1"/>
          <p:nvPr/>
        </p:nvSpPr>
        <p:spPr>
          <a:xfrm>
            <a:off x="640080" y="4407408"/>
            <a:ext cx="7955280" cy="347472"/>
          </a:xfrm>
          <a:prstGeom prst="rect">
            <a:avLst/>
          </a:prstGeom>
          <a:noFill/>
          <a:ln/>
        </p:spPr>
        <p:txBody>
          <a:bodyPr wrap="square" lIns="0" tIns="0" rIns="0" bIns="0" rtlCol="0" anchor="ctr"/>
          <a:lstStyle/>
          <a:p>
            <a:pPr marL="0" indent="0">
              <a:buNone/>
            </a:pPr>
            <a:r>
              <a:rPr lang="en-US" sz="1050" b="1" dirty="0">
                <a:solidFill>
                  <a:srgbClr val="B07A00"/>
                </a:solidFill>
                <a:latin typeface="Calibri" pitchFamily="34" charset="0"/>
                <a:ea typeface="Calibri" pitchFamily="34" charset="-122"/>
                <a:cs typeface="Calibri" pitchFamily="34" charset="-120"/>
              </a:rPr>
              <a:t>Tip: </a:t>
            </a:r>
            <a:r>
              <a:rPr lang="en-US" sz="1050" dirty="0">
                <a:solidFill>
                  <a:srgbClr val="1B2433"/>
                </a:solidFill>
                <a:latin typeface="Calibri" pitchFamily="34" charset="0"/>
                <a:ea typeface="Calibri" pitchFamily="34" charset="-122"/>
                <a:cs typeface="Calibri" pitchFamily="34" charset="-120"/>
              </a:rPr>
              <a:t>el $metadata es la fuente de verdad: si un campo o UDO no aparece ahí, Service Layer no lo reconoce (reinicia SL tras crear campos/UDO).</a:t>
            </a:r>
            <a:endParaRPr lang="en-US" sz="1050" dirty="0"/>
          </a:p>
        </p:txBody>
      </p:sp>
      <p:sp>
        <p:nvSpPr>
          <p:cNvPr id="33"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01  ·  INTRODUCCIÓN</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Casos de uso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Dónde aporta valor Service Layer en proyectos reales</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640080" y="1664208"/>
            <a:ext cx="502920" cy="502920"/>
          </a:xfrm>
          <a:prstGeom prst="ellipse">
            <a:avLst/>
          </a:prstGeom>
          <a:solidFill>
            <a:srgbClr val="E8F1FC"/>
          </a:solidFill>
          <a:ln w="12700">
            <a:solidFill>
              <a:srgbClr val="E8F1FC"/>
            </a:solidFill>
            <a:prstDash val="solid"/>
          </a:ln>
        </p:spPr>
      </p:sp>
      <p:pic>
        <p:nvPicPr>
          <p:cNvPr id="9" name="Image 0" descr="preencoded.png"/>
          <p:cNvPicPr>
            <a:picLocks noChangeAspect="1"/>
          </p:cNvPicPr>
          <p:nvPr/>
        </p:nvPicPr>
        <p:blipFill>
          <a:blip r:embed="rId3"/>
          <a:stretch>
            <a:fillRect/>
          </a:stretch>
        </p:blipFill>
        <p:spPr>
          <a:xfrm>
            <a:off x="770839" y="1794967"/>
            <a:ext cx="241402" cy="241402"/>
          </a:xfrm>
          <a:prstGeom prst="rect">
            <a:avLst/>
          </a:prstGeom>
        </p:spPr>
      </p:pic>
      <p:sp>
        <p:nvSpPr>
          <p:cNvPr id="10" name="Text 7"/>
          <p:cNvSpPr txBox="1"/>
          <p:nvPr/>
        </p:nvSpPr>
        <p:spPr>
          <a:xfrm>
            <a:off x="1280160" y="173736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E-commerce</a:t>
            </a:r>
            <a:endParaRPr lang="en-US" sz="1400" dirty="0"/>
          </a:p>
        </p:txBody>
      </p:sp>
      <p:sp>
        <p:nvSpPr>
          <p:cNvPr id="11" name="Text 8"/>
          <p:cNvSpPr txBox="1"/>
          <p:nvPr/>
        </p:nvSpPr>
        <p:spPr>
          <a:xfrm>
            <a:off x="640080" y="228600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Sincroniza artículos, precios y stock; crea pedidos y clientes en línea.</a:t>
            </a:r>
            <a:endParaRPr lang="en-US" sz="1100" dirty="0"/>
          </a:p>
        </p:txBody>
      </p:sp>
      <p:sp>
        <p:nvSpPr>
          <p:cNvPr id="12" name="Shape 9"/>
          <p:cNvSpPr/>
          <p:nvPr/>
        </p:nvSpPr>
        <p:spPr>
          <a:xfrm>
            <a:off x="3246120" y="146304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3" name="Shape 10"/>
          <p:cNvSpPr/>
          <p:nvPr/>
        </p:nvSpPr>
        <p:spPr>
          <a:xfrm>
            <a:off x="3429000" y="1664208"/>
            <a:ext cx="502920" cy="502920"/>
          </a:xfrm>
          <a:prstGeom prst="ellipse">
            <a:avLst/>
          </a:prstGeom>
          <a:solidFill>
            <a:srgbClr val="E8F1FC"/>
          </a:solidFill>
          <a:ln w="12700">
            <a:solidFill>
              <a:srgbClr val="E8F1FC"/>
            </a:solidFill>
            <a:prstDash val="solid"/>
          </a:ln>
        </p:spPr>
      </p:sp>
      <p:pic>
        <p:nvPicPr>
          <p:cNvPr id="14" name="Image 1" descr="preencoded.png"/>
          <p:cNvPicPr>
            <a:picLocks noChangeAspect="1"/>
          </p:cNvPicPr>
          <p:nvPr/>
        </p:nvPicPr>
        <p:blipFill>
          <a:blip r:embed="rId4"/>
          <a:stretch>
            <a:fillRect/>
          </a:stretch>
        </p:blipFill>
        <p:spPr>
          <a:xfrm>
            <a:off x="3559759" y="1794967"/>
            <a:ext cx="241402" cy="241402"/>
          </a:xfrm>
          <a:prstGeom prst="rect">
            <a:avLst/>
          </a:prstGeom>
        </p:spPr>
      </p:pic>
      <p:sp>
        <p:nvSpPr>
          <p:cNvPr id="15" name="Text 11"/>
          <p:cNvSpPr txBox="1"/>
          <p:nvPr/>
        </p:nvSpPr>
        <p:spPr>
          <a:xfrm>
            <a:off x="4069080" y="173736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Apps móviles</a:t>
            </a:r>
            <a:endParaRPr lang="en-US" sz="1400" dirty="0"/>
          </a:p>
        </p:txBody>
      </p:sp>
      <p:sp>
        <p:nvSpPr>
          <p:cNvPr id="16" name="Text 12"/>
          <p:cNvSpPr txBox="1"/>
          <p:nvPr/>
        </p:nvSpPr>
        <p:spPr>
          <a:xfrm>
            <a:off x="3429000" y="228600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Fuerza de ventas, cobranza y despacho desde el celular.</a:t>
            </a:r>
            <a:endParaRPr lang="en-US" sz="1100" dirty="0"/>
          </a:p>
        </p:txBody>
      </p:sp>
      <p:sp>
        <p:nvSpPr>
          <p:cNvPr id="17" name="Shape 13"/>
          <p:cNvSpPr/>
          <p:nvPr/>
        </p:nvSpPr>
        <p:spPr>
          <a:xfrm>
            <a:off x="6035040" y="146304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8" name="Shape 14"/>
          <p:cNvSpPr/>
          <p:nvPr/>
        </p:nvSpPr>
        <p:spPr>
          <a:xfrm>
            <a:off x="6217920" y="1664208"/>
            <a:ext cx="502920" cy="502920"/>
          </a:xfrm>
          <a:prstGeom prst="ellipse">
            <a:avLst/>
          </a:prstGeom>
          <a:solidFill>
            <a:srgbClr val="E8F1FC"/>
          </a:solidFill>
          <a:ln w="12700">
            <a:solidFill>
              <a:srgbClr val="E8F1FC"/>
            </a:solidFill>
            <a:prstDash val="solid"/>
          </a:ln>
        </p:spPr>
      </p:sp>
      <p:pic>
        <p:nvPicPr>
          <p:cNvPr id="19" name="Image 2" descr="preencoded.png"/>
          <p:cNvPicPr>
            <a:picLocks noChangeAspect="1"/>
          </p:cNvPicPr>
          <p:nvPr/>
        </p:nvPicPr>
        <p:blipFill>
          <a:blip r:embed="rId5"/>
          <a:stretch>
            <a:fillRect/>
          </a:stretch>
        </p:blipFill>
        <p:spPr>
          <a:xfrm>
            <a:off x="6348679" y="1794967"/>
            <a:ext cx="241402" cy="241402"/>
          </a:xfrm>
          <a:prstGeom prst="rect">
            <a:avLst/>
          </a:prstGeom>
        </p:spPr>
      </p:pic>
      <p:sp>
        <p:nvSpPr>
          <p:cNvPr id="20" name="Text 15"/>
          <p:cNvSpPr txBox="1"/>
          <p:nvPr/>
        </p:nvSpPr>
        <p:spPr>
          <a:xfrm>
            <a:off x="6858000" y="173736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Portales B2B</a:t>
            </a:r>
            <a:endParaRPr lang="en-US" sz="1400" dirty="0"/>
          </a:p>
        </p:txBody>
      </p:sp>
      <p:sp>
        <p:nvSpPr>
          <p:cNvPr id="21" name="Text 16"/>
          <p:cNvSpPr txBox="1"/>
          <p:nvPr/>
        </p:nvSpPr>
        <p:spPr>
          <a:xfrm>
            <a:off x="6217920" y="228600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Clientes y proveedores consultan estados, facturas y pagos.</a:t>
            </a:r>
            <a:endParaRPr lang="en-US" sz="1100" dirty="0"/>
          </a:p>
        </p:txBody>
      </p:sp>
      <p:sp>
        <p:nvSpPr>
          <p:cNvPr id="22" name="Shape 17"/>
          <p:cNvSpPr/>
          <p:nvPr/>
        </p:nvSpPr>
        <p:spPr>
          <a:xfrm>
            <a:off x="457200" y="310896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3" name="Shape 18"/>
          <p:cNvSpPr/>
          <p:nvPr/>
        </p:nvSpPr>
        <p:spPr>
          <a:xfrm>
            <a:off x="640080" y="3310128"/>
            <a:ext cx="502920" cy="502920"/>
          </a:xfrm>
          <a:prstGeom prst="ellipse">
            <a:avLst/>
          </a:prstGeom>
          <a:solidFill>
            <a:srgbClr val="E8F1FC"/>
          </a:solidFill>
          <a:ln w="12700">
            <a:solidFill>
              <a:srgbClr val="E8F1FC"/>
            </a:solidFill>
            <a:prstDash val="solid"/>
          </a:ln>
        </p:spPr>
      </p:sp>
      <p:pic>
        <p:nvPicPr>
          <p:cNvPr id="24" name="Image 3" descr="preencoded.png"/>
          <p:cNvPicPr>
            <a:picLocks noChangeAspect="1"/>
          </p:cNvPicPr>
          <p:nvPr/>
        </p:nvPicPr>
        <p:blipFill>
          <a:blip r:embed="rId6"/>
          <a:stretch>
            <a:fillRect/>
          </a:stretch>
        </p:blipFill>
        <p:spPr>
          <a:xfrm>
            <a:off x="770839" y="3440887"/>
            <a:ext cx="241402" cy="241402"/>
          </a:xfrm>
          <a:prstGeom prst="rect">
            <a:avLst/>
          </a:prstGeom>
        </p:spPr>
      </p:pic>
      <p:sp>
        <p:nvSpPr>
          <p:cNvPr id="25" name="Text 19"/>
          <p:cNvSpPr txBox="1"/>
          <p:nvPr/>
        </p:nvSpPr>
        <p:spPr>
          <a:xfrm>
            <a:off x="1280160" y="338328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Integraciones</a:t>
            </a:r>
            <a:endParaRPr lang="en-US" sz="1400" dirty="0"/>
          </a:p>
        </p:txBody>
      </p:sp>
      <p:sp>
        <p:nvSpPr>
          <p:cNvPr id="26" name="Text 20"/>
          <p:cNvSpPr txBox="1"/>
          <p:nvPr/>
        </p:nvSpPr>
        <p:spPr>
          <a:xfrm>
            <a:off x="640080" y="393192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WMS, TMS, CRM, bancos, facturación electrónica y marketplaces.</a:t>
            </a:r>
            <a:endParaRPr lang="en-US" sz="1100" dirty="0"/>
          </a:p>
        </p:txBody>
      </p:sp>
      <p:sp>
        <p:nvSpPr>
          <p:cNvPr id="27" name="Shape 21"/>
          <p:cNvSpPr/>
          <p:nvPr/>
        </p:nvSpPr>
        <p:spPr>
          <a:xfrm>
            <a:off x="3246120" y="310896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8" name="Shape 22"/>
          <p:cNvSpPr/>
          <p:nvPr/>
        </p:nvSpPr>
        <p:spPr>
          <a:xfrm>
            <a:off x="3429000" y="3310128"/>
            <a:ext cx="502920" cy="502920"/>
          </a:xfrm>
          <a:prstGeom prst="ellipse">
            <a:avLst/>
          </a:prstGeom>
          <a:solidFill>
            <a:srgbClr val="E8F1FC"/>
          </a:solidFill>
          <a:ln w="12700">
            <a:solidFill>
              <a:srgbClr val="E8F1FC"/>
            </a:solidFill>
            <a:prstDash val="solid"/>
          </a:ln>
        </p:spPr>
      </p:sp>
      <p:pic>
        <p:nvPicPr>
          <p:cNvPr id="29" name="Image 4" descr="preencoded.png"/>
          <p:cNvPicPr>
            <a:picLocks noChangeAspect="1"/>
          </p:cNvPicPr>
          <p:nvPr/>
        </p:nvPicPr>
        <p:blipFill>
          <a:blip r:embed="rId7"/>
          <a:stretch>
            <a:fillRect/>
          </a:stretch>
        </p:blipFill>
        <p:spPr>
          <a:xfrm>
            <a:off x="3559759" y="3440887"/>
            <a:ext cx="241402" cy="241402"/>
          </a:xfrm>
          <a:prstGeom prst="rect">
            <a:avLst/>
          </a:prstGeom>
        </p:spPr>
      </p:pic>
      <p:sp>
        <p:nvSpPr>
          <p:cNvPr id="30" name="Text 23"/>
          <p:cNvSpPr txBox="1"/>
          <p:nvPr/>
        </p:nvSpPr>
        <p:spPr>
          <a:xfrm>
            <a:off x="4069080" y="338328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Automatización e IA</a:t>
            </a:r>
            <a:endParaRPr lang="en-US" sz="1400" dirty="0"/>
          </a:p>
        </p:txBody>
      </p:sp>
      <p:sp>
        <p:nvSpPr>
          <p:cNvPr id="31" name="Text 24"/>
          <p:cNvSpPr txBox="1"/>
          <p:nvPr/>
        </p:nvSpPr>
        <p:spPr>
          <a:xfrm>
            <a:off x="3429000" y="393192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RPA y agentes que leen y registran documentos automáticamente.</a:t>
            </a:r>
            <a:endParaRPr lang="en-US" sz="1100" dirty="0"/>
          </a:p>
        </p:txBody>
      </p:sp>
      <p:sp>
        <p:nvSpPr>
          <p:cNvPr id="32" name="Shape 25"/>
          <p:cNvSpPr/>
          <p:nvPr/>
        </p:nvSpPr>
        <p:spPr>
          <a:xfrm>
            <a:off x="6035040" y="3108960"/>
            <a:ext cx="2651760" cy="1463040"/>
          </a:xfrm>
          <a:prstGeom prst="roundRect">
            <a:avLst>
              <a:gd name="adj" fmla="val 5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3" name="Shape 26"/>
          <p:cNvSpPr/>
          <p:nvPr/>
        </p:nvSpPr>
        <p:spPr>
          <a:xfrm>
            <a:off x="6217920" y="3310128"/>
            <a:ext cx="502920" cy="502920"/>
          </a:xfrm>
          <a:prstGeom prst="ellipse">
            <a:avLst/>
          </a:prstGeom>
          <a:solidFill>
            <a:srgbClr val="E8F1FC"/>
          </a:solidFill>
          <a:ln w="12700">
            <a:solidFill>
              <a:srgbClr val="E8F1FC"/>
            </a:solidFill>
            <a:prstDash val="solid"/>
          </a:ln>
        </p:spPr>
      </p:sp>
      <p:pic>
        <p:nvPicPr>
          <p:cNvPr id="34" name="Image 5" descr="preencoded.png"/>
          <p:cNvPicPr>
            <a:picLocks noChangeAspect="1"/>
          </p:cNvPicPr>
          <p:nvPr/>
        </p:nvPicPr>
        <p:blipFill>
          <a:blip r:embed="rId8"/>
          <a:stretch>
            <a:fillRect/>
          </a:stretch>
        </p:blipFill>
        <p:spPr>
          <a:xfrm>
            <a:off x="6348679" y="3440887"/>
            <a:ext cx="241402" cy="241402"/>
          </a:xfrm>
          <a:prstGeom prst="rect">
            <a:avLst/>
          </a:prstGeom>
        </p:spPr>
      </p:pic>
      <p:sp>
        <p:nvSpPr>
          <p:cNvPr id="35" name="Text 27"/>
          <p:cNvSpPr txBox="1"/>
          <p:nvPr/>
        </p:nvSpPr>
        <p:spPr>
          <a:xfrm>
            <a:off x="6858000" y="3383280"/>
            <a:ext cx="1737360" cy="365760"/>
          </a:xfrm>
          <a:prstGeom prst="rect">
            <a:avLst/>
          </a:prstGeom>
          <a:noFill/>
          <a:ln/>
        </p:spPr>
        <p:txBody>
          <a:bodyPr wrap="square" lIns="0" tIns="0" rIns="0" bIns="0" rtlCol="0" anchor="ctr"/>
          <a:lstStyle/>
          <a:p>
            <a:pPr marL="0" indent="0">
              <a:buNone/>
            </a:pPr>
            <a:r>
              <a:rPr lang="en-US" sz="1400" b="1" dirty="0">
                <a:solidFill>
                  <a:srgbClr val="071B3F"/>
                </a:solidFill>
                <a:latin typeface="Segoe UI" pitchFamily="34" charset="0"/>
                <a:ea typeface="Segoe UI" pitchFamily="34" charset="-122"/>
                <a:cs typeface="Segoe UI" pitchFamily="34" charset="-120"/>
              </a:rPr>
              <a:t>Add-ons</a:t>
            </a:r>
            <a:endParaRPr lang="en-US" sz="1400" dirty="0"/>
          </a:p>
        </p:txBody>
      </p:sp>
      <p:sp>
        <p:nvSpPr>
          <p:cNvPr id="36" name="Text 28"/>
          <p:cNvSpPr txBox="1"/>
          <p:nvPr/>
        </p:nvSpPr>
        <p:spPr>
          <a:xfrm>
            <a:off x="6217920" y="3931920"/>
            <a:ext cx="2331720" cy="548640"/>
          </a:xfrm>
          <a:prstGeom prst="rect">
            <a:avLst/>
          </a:prstGeom>
          <a:noFill/>
          <a:ln/>
        </p:spPr>
        <p:txBody>
          <a:bodyPr wrap="square" lIns="0" tIns="0" rIns="0" bIns="0" rtlCol="0" anchor="t"/>
          <a:lstStyle/>
          <a:p>
            <a:pPr marL="0" indent="0">
              <a:buNone/>
            </a:pPr>
            <a:r>
              <a:rPr lang="en-US" sz="1100" dirty="0">
                <a:solidFill>
                  <a:srgbClr val="5B6B82"/>
                </a:solidFill>
                <a:latin typeface="Calibri" pitchFamily="34" charset="0"/>
                <a:ea typeface="Calibri" pitchFamily="34" charset="-122"/>
                <a:cs typeface="Calibri" pitchFamily="34" charset="-120"/>
              </a:rPr>
              <a:t>Lógica de extensiones sobre REST, conectada por SSO desde el cliente.</a:t>
            </a:r>
            <a:endParaRPr lang="en-US" sz="1100" dirty="0"/>
          </a:p>
        </p:txBody>
      </p:sp>
      <p:sp>
        <p:nvSpPr>
          <p:cNvPr id="37"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02</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Arquitectura</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Componentes   •   Balanceador y nodos   •   Configuración según uso   •   Performance</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02  ·  ARQUITECTURA</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Componentes de Service Layer</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Del cliente a la base de datos: quién hace qué</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822960" y="1673352"/>
            <a:ext cx="548640" cy="548640"/>
          </a:xfrm>
          <a:prstGeom prst="ellipse">
            <a:avLst/>
          </a:prstGeom>
          <a:solidFill>
            <a:srgbClr val="5B6B82"/>
          </a:solidFill>
          <a:ln w="12700">
            <a:solidFill>
              <a:srgbClr val="5B6B82"/>
            </a:solidFill>
            <a:prstDash val="solid"/>
          </a:ln>
        </p:spPr>
      </p:sp>
      <p:pic>
        <p:nvPicPr>
          <p:cNvPr id="9" name="Image 0" descr="preencoded.png"/>
          <p:cNvPicPr>
            <a:picLocks noChangeAspect="1"/>
          </p:cNvPicPr>
          <p:nvPr/>
        </p:nvPicPr>
        <p:blipFill>
          <a:blip r:embed="rId3"/>
          <a:stretch>
            <a:fillRect/>
          </a:stretch>
        </p:blipFill>
        <p:spPr>
          <a:xfrm>
            <a:off x="965606" y="1815998"/>
            <a:ext cx="263347" cy="263347"/>
          </a:xfrm>
          <a:prstGeom prst="rect">
            <a:avLst/>
          </a:prstGeom>
        </p:spPr>
      </p:pic>
      <p:sp>
        <p:nvSpPr>
          <p:cNvPr id="10" name="Text 7"/>
          <p:cNvSpPr txBox="1"/>
          <p:nvPr/>
        </p:nvSpPr>
        <p:spPr>
          <a:xfrm>
            <a:off x="50292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Clientes</a:t>
            </a:r>
            <a:endParaRPr lang="en-US" sz="1150" dirty="0"/>
          </a:p>
        </p:txBody>
      </p:sp>
      <p:sp>
        <p:nvSpPr>
          <p:cNvPr id="11" name="Text 8"/>
          <p:cNvSpPr txBox="1"/>
          <p:nvPr/>
        </p:nvSpPr>
        <p:spPr>
          <a:xfrm>
            <a:off x="50292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Postman · Apps web</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Add-ons · Integraciones</a:t>
            </a:r>
            <a:endParaRPr lang="en-US" sz="900" dirty="0"/>
          </a:p>
        </p:txBody>
      </p:sp>
      <p:sp>
        <p:nvSpPr>
          <p:cNvPr id="12" name="Shape 9"/>
          <p:cNvSpPr/>
          <p:nvPr/>
        </p:nvSpPr>
        <p:spPr>
          <a:xfrm>
            <a:off x="1783080" y="2308860"/>
            <a:ext cx="365760" cy="0"/>
          </a:xfrm>
          <a:prstGeom prst="line">
            <a:avLst/>
          </a:prstGeom>
          <a:noFill/>
          <a:ln w="22225">
            <a:solidFill>
              <a:srgbClr val="0B4DA2"/>
            </a:solidFill>
            <a:prstDash val="solid"/>
            <a:tailEnd type="triangle"/>
          </a:ln>
        </p:spPr>
      </p:sp>
      <p:sp>
        <p:nvSpPr>
          <p:cNvPr id="13" name="Shape 10"/>
          <p:cNvSpPr/>
          <p:nvPr/>
        </p:nvSpPr>
        <p:spPr>
          <a:xfrm>
            <a:off x="219456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Shape 11"/>
          <p:cNvSpPr/>
          <p:nvPr/>
        </p:nvSpPr>
        <p:spPr>
          <a:xfrm>
            <a:off x="2560320" y="1673352"/>
            <a:ext cx="548640" cy="548640"/>
          </a:xfrm>
          <a:prstGeom prst="ellipse">
            <a:avLst/>
          </a:prstGeom>
          <a:solidFill>
            <a:srgbClr val="0B4DA2"/>
          </a:solidFill>
          <a:ln w="12700">
            <a:solidFill>
              <a:srgbClr val="0B4DA2"/>
            </a:solidFill>
            <a:prstDash val="solid"/>
          </a:ln>
        </p:spPr>
      </p:sp>
      <p:pic>
        <p:nvPicPr>
          <p:cNvPr id="15" name="Image 1" descr="preencoded.png"/>
          <p:cNvPicPr>
            <a:picLocks noChangeAspect="1"/>
          </p:cNvPicPr>
          <p:nvPr/>
        </p:nvPicPr>
        <p:blipFill>
          <a:blip r:embed="rId4"/>
          <a:stretch>
            <a:fillRect/>
          </a:stretch>
        </p:blipFill>
        <p:spPr>
          <a:xfrm>
            <a:off x="2702966" y="1815998"/>
            <a:ext cx="263347" cy="263347"/>
          </a:xfrm>
          <a:prstGeom prst="rect">
            <a:avLst/>
          </a:prstGeom>
        </p:spPr>
      </p:pic>
      <p:sp>
        <p:nvSpPr>
          <p:cNvPr id="16" name="Text 12"/>
          <p:cNvSpPr txBox="1"/>
          <p:nvPr/>
        </p:nvSpPr>
        <p:spPr>
          <a:xfrm>
            <a:off x="224028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Load Balancer</a:t>
            </a:r>
            <a:endParaRPr lang="en-US" sz="1150" dirty="0"/>
          </a:p>
        </p:txBody>
      </p:sp>
      <p:sp>
        <p:nvSpPr>
          <p:cNvPr id="17" name="Text 13"/>
          <p:cNvSpPr txBox="1"/>
          <p:nvPr/>
        </p:nvSpPr>
        <p:spPr>
          <a:xfrm>
            <a:off x="224028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Apache HTTP Server</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:50000 HTTPS</a:t>
            </a:r>
            <a:endParaRPr lang="en-US" sz="900" dirty="0"/>
          </a:p>
        </p:txBody>
      </p:sp>
      <p:sp>
        <p:nvSpPr>
          <p:cNvPr id="18" name="Shape 14"/>
          <p:cNvSpPr/>
          <p:nvPr/>
        </p:nvSpPr>
        <p:spPr>
          <a:xfrm>
            <a:off x="3520440" y="2308860"/>
            <a:ext cx="365760" cy="0"/>
          </a:xfrm>
          <a:prstGeom prst="line">
            <a:avLst/>
          </a:prstGeom>
          <a:noFill/>
          <a:ln w="22225">
            <a:solidFill>
              <a:srgbClr val="0B4DA2"/>
            </a:solidFill>
            <a:prstDash val="solid"/>
            <a:tailEnd type="triangle"/>
          </a:ln>
        </p:spPr>
      </p:sp>
      <p:sp>
        <p:nvSpPr>
          <p:cNvPr id="19" name="Shape 15"/>
          <p:cNvSpPr/>
          <p:nvPr/>
        </p:nvSpPr>
        <p:spPr>
          <a:xfrm>
            <a:off x="393192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0" name="Shape 16"/>
          <p:cNvSpPr/>
          <p:nvPr/>
        </p:nvSpPr>
        <p:spPr>
          <a:xfrm>
            <a:off x="4297680" y="1673352"/>
            <a:ext cx="548640" cy="548640"/>
          </a:xfrm>
          <a:prstGeom prst="ellipse">
            <a:avLst/>
          </a:prstGeom>
          <a:solidFill>
            <a:srgbClr val="0B4DA2"/>
          </a:solidFill>
          <a:ln w="12700">
            <a:solidFill>
              <a:srgbClr val="0B4DA2"/>
            </a:solidFill>
            <a:prstDash val="solid"/>
          </a:ln>
        </p:spPr>
      </p:sp>
      <p:pic>
        <p:nvPicPr>
          <p:cNvPr id="21" name="Image 2" descr="preencoded.png"/>
          <p:cNvPicPr>
            <a:picLocks noChangeAspect="1"/>
          </p:cNvPicPr>
          <p:nvPr/>
        </p:nvPicPr>
        <p:blipFill>
          <a:blip r:embed="rId5"/>
          <a:stretch>
            <a:fillRect/>
          </a:stretch>
        </p:blipFill>
        <p:spPr>
          <a:xfrm>
            <a:off x="4440326" y="1815998"/>
            <a:ext cx="263347" cy="263347"/>
          </a:xfrm>
          <a:prstGeom prst="rect">
            <a:avLst/>
          </a:prstGeom>
        </p:spPr>
      </p:pic>
      <p:sp>
        <p:nvSpPr>
          <p:cNvPr id="22" name="Text 17"/>
          <p:cNvSpPr txBox="1"/>
          <p:nvPr/>
        </p:nvSpPr>
        <p:spPr>
          <a:xfrm>
            <a:off x="397764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Nodos SL</a:t>
            </a:r>
            <a:endParaRPr lang="en-US" sz="1150" dirty="0"/>
          </a:p>
        </p:txBody>
      </p:sp>
      <p:sp>
        <p:nvSpPr>
          <p:cNvPr id="23" name="Text 18"/>
          <p:cNvSpPr txBox="1"/>
          <p:nvPr/>
        </p:nvSpPr>
        <p:spPr>
          <a:xfrm>
            <a:off x="397764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Procesos de trabajo</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1…N por servidor</a:t>
            </a:r>
            <a:endParaRPr lang="en-US" sz="900" dirty="0"/>
          </a:p>
        </p:txBody>
      </p:sp>
      <p:sp>
        <p:nvSpPr>
          <p:cNvPr id="24" name="Shape 19"/>
          <p:cNvSpPr/>
          <p:nvPr/>
        </p:nvSpPr>
        <p:spPr>
          <a:xfrm>
            <a:off x="5257800" y="2308860"/>
            <a:ext cx="365760" cy="0"/>
          </a:xfrm>
          <a:prstGeom prst="line">
            <a:avLst/>
          </a:prstGeom>
          <a:noFill/>
          <a:ln w="22225">
            <a:solidFill>
              <a:srgbClr val="0B4DA2"/>
            </a:solidFill>
            <a:prstDash val="solid"/>
            <a:tailEnd type="triangle"/>
          </a:ln>
        </p:spPr>
      </p:sp>
      <p:sp>
        <p:nvSpPr>
          <p:cNvPr id="25" name="Shape 20"/>
          <p:cNvSpPr/>
          <p:nvPr/>
        </p:nvSpPr>
        <p:spPr>
          <a:xfrm>
            <a:off x="566928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6" name="Shape 21"/>
          <p:cNvSpPr/>
          <p:nvPr/>
        </p:nvSpPr>
        <p:spPr>
          <a:xfrm>
            <a:off x="6035040" y="1673352"/>
            <a:ext cx="548640" cy="548640"/>
          </a:xfrm>
          <a:prstGeom prst="ellipse">
            <a:avLst/>
          </a:prstGeom>
          <a:solidFill>
            <a:srgbClr val="0B4DA2"/>
          </a:solidFill>
          <a:ln w="12700">
            <a:solidFill>
              <a:srgbClr val="0B4DA2"/>
            </a:solidFill>
            <a:prstDash val="solid"/>
          </a:ln>
        </p:spPr>
      </p:sp>
      <p:pic>
        <p:nvPicPr>
          <p:cNvPr id="27" name="Image 3" descr="preencoded.png"/>
          <p:cNvPicPr>
            <a:picLocks noChangeAspect="1"/>
          </p:cNvPicPr>
          <p:nvPr/>
        </p:nvPicPr>
        <p:blipFill>
          <a:blip r:embed="rId6"/>
          <a:stretch>
            <a:fillRect/>
          </a:stretch>
        </p:blipFill>
        <p:spPr>
          <a:xfrm>
            <a:off x="6177686" y="1815998"/>
            <a:ext cx="263347" cy="263347"/>
          </a:xfrm>
          <a:prstGeom prst="rect">
            <a:avLst/>
          </a:prstGeom>
        </p:spPr>
      </p:pic>
      <p:sp>
        <p:nvSpPr>
          <p:cNvPr id="28" name="Text 22"/>
          <p:cNvSpPr txBox="1"/>
          <p:nvPr/>
        </p:nvSpPr>
        <p:spPr>
          <a:xfrm>
            <a:off x="571500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DI Core</a:t>
            </a:r>
            <a:endParaRPr lang="en-US" sz="1150" dirty="0"/>
          </a:p>
        </p:txBody>
      </p:sp>
      <p:sp>
        <p:nvSpPr>
          <p:cNvPr id="29" name="Text 23"/>
          <p:cNvSpPr txBox="1"/>
          <p:nvPr/>
        </p:nvSpPr>
        <p:spPr>
          <a:xfrm>
            <a:off x="571500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Motor de reglas</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(el mismo de DI API)</a:t>
            </a:r>
            <a:endParaRPr lang="en-US" sz="900" dirty="0"/>
          </a:p>
        </p:txBody>
      </p:sp>
      <p:sp>
        <p:nvSpPr>
          <p:cNvPr id="30" name="Shape 24"/>
          <p:cNvSpPr/>
          <p:nvPr/>
        </p:nvSpPr>
        <p:spPr>
          <a:xfrm>
            <a:off x="6995160" y="2308860"/>
            <a:ext cx="365760" cy="0"/>
          </a:xfrm>
          <a:prstGeom prst="line">
            <a:avLst/>
          </a:prstGeom>
          <a:noFill/>
          <a:ln w="22225">
            <a:solidFill>
              <a:srgbClr val="0B4DA2"/>
            </a:solidFill>
            <a:prstDash val="solid"/>
            <a:tailEnd type="triangle"/>
          </a:ln>
        </p:spPr>
      </p:sp>
      <p:sp>
        <p:nvSpPr>
          <p:cNvPr id="31" name="Shape 25"/>
          <p:cNvSpPr/>
          <p:nvPr/>
        </p:nvSpPr>
        <p:spPr>
          <a:xfrm>
            <a:off x="7406640" y="1508760"/>
            <a:ext cx="1280160" cy="1600200"/>
          </a:xfrm>
          <a:prstGeom prst="roundRect">
            <a:avLst>
              <a:gd name="adj" fmla="val 571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2" name="Shape 26"/>
          <p:cNvSpPr/>
          <p:nvPr/>
        </p:nvSpPr>
        <p:spPr>
          <a:xfrm>
            <a:off x="7772400" y="1673352"/>
            <a:ext cx="548640" cy="548640"/>
          </a:xfrm>
          <a:prstGeom prst="ellipse">
            <a:avLst/>
          </a:prstGeom>
          <a:solidFill>
            <a:srgbClr val="071B3F"/>
          </a:solidFill>
          <a:ln w="12700">
            <a:solidFill>
              <a:srgbClr val="071B3F"/>
            </a:solidFill>
            <a:prstDash val="solid"/>
          </a:ln>
        </p:spPr>
      </p:sp>
      <p:pic>
        <p:nvPicPr>
          <p:cNvPr id="33" name="Image 4" descr="preencoded.png"/>
          <p:cNvPicPr>
            <a:picLocks noChangeAspect="1"/>
          </p:cNvPicPr>
          <p:nvPr/>
        </p:nvPicPr>
        <p:blipFill>
          <a:blip r:embed="rId7"/>
          <a:stretch>
            <a:fillRect/>
          </a:stretch>
        </p:blipFill>
        <p:spPr>
          <a:xfrm>
            <a:off x="7915046" y="1815998"/>
            <a:ext cx="263347" cy="263347"/>
          </a:xfrm>
          <a:prstGeom prst="rect">
            <a:avLst/>
          </a:prstGeom>
        </p:spPr>
      </p:pic>
      <p:sp>
        <p:nvSpPr>
          <p:cNvPr id="34" name="Text 27"/>
          <p:cNvSpPr txBox="1"/>
          <p:nvPr/>
        </p:nvSpPr>
        <p:spPr>
          <a:xfrm>
            <a:off x="7452360" y="2313432"/>
            <a:ext cx="1188720" cy="274320"/>
          </a:xfrm>
          <a:prstGeom prst="rect">
            <a:avLst/>
          </a:prstGeom>
          <a:noFill/>
          <a:ln/>
        </p:spPr>
        <p:txBody>
          <a:bodyPr wrap="square" lIns="0" tIns="0" rIns="0" bIns="0" rtlCol="0" anchor="t"/>
          <a:lstStyle/>
          <a:p>
            <a:pPr marL="0" indent="0" algn="ctr">
              <a:buNone/>
            </a:pPr>
            <a:r>
              <a:rPr lang="en-US" sz="1150" b="1" dirty="0">
                <a:solidFill>
                  <a:srgbClr val="071B3F"/>
                </a:solidFill>
                <a:latin typeface="Segoe UI" pitchFamily="34" charset="0"/>
                <a:ea typeface="Segoe UI" pitchFamily="34" charset="-122"/>
                <a:cs typeface="Segoe UI" pitchFamily="34" charset="-120"/>
              </a:rPr>
              <a:t>Base de datos</a:t>
            </a:r>
            <a:endParaRPr lang="en-US" sz="1150" dirty="0"/>
          </a:p>
        </p:txBody>
      </p:sp>
      <p:sp>
        <p:nvSpPr>
          <p:cNvPr id="35" name="Text 28"/>
          <p:cNvSpPr txBox="1"/>
          <p:nvPr/>
        </p:nvSpPr>
        <p:spPr>
          <a:xfrm>
            <a:off x="7452360" y="2587752"/>
            <a:ext cx="1188720" cy="457200"/>
          </a:xfrm>
          <a:prstGeom prst="rect">
            <a:avLst/>
          </a:prstGeom>
          <a:noFill/>
          <a:ln/>
        </p:spPr>
        <p:txBody>
          <a:bodyPr wrap="square" lIns="0" tIns="0" rIns="0" bIns="0" rtlCol="0" anchor="t"/>
          <a:lstStyle/>
          <a:p>
            <a:pPr marL="0" indent="0" algn="ctr">
              <a:buNone/>
            </a:pPr>
            <a:r>
              <a:rPr lang="en-US" sz="900" dirty="0">
                <a:solidFill>
                  <a:srgbClr val="5B6B82"/>
                </a:solidFill>
                <a:latin typeface="Calibri" pitchFamily="34" charset="0"/>
                <a:ea typeface="Calibri" pitchFamily="34" charset="-122"/>
                <a:cs typeface="Calibri" pitchFamily="34" charset="-120"/>
              </a:rPr>
              <a:t>SAP HANA /</a:t>
            </a:r>
            <a:endParaRPr lang="en-US" sz="900" dirty="0"/>
          </a:p>
          <a:p>
            <a:pPr marL="0" indent="0" algn="ctr">
              <a:buNone/>
            </a:pPr>
            <a:r>
              <a:rPr lang="en-US" sz="900" dirty="0">
                <a:solidFill>
                  <a:srgbClr val="5B6B82"/>
                </a:solidFill>
                <a:latin typeface="Calibri" pitchFamily="34" charset="0"/>
                <a:ea typeface="Calibri" pitchFamily="34" charset="-122"/>
                <a:cs typeface="Calibri" pitchFamily="34" charset="-120"/>
              </a:rPr>
              <a:t>SQL Server</a:t>
            </a:r>
            <a:endParaRPr lang="en-US" sz="900" dirty="0"/>
          </a:p>
        </p:txBody>
      </p:sp>
      <p:sp>
        <p:nvSpPr>
          <p:cNvPr id="36" name="Shape 29"/>
          <p:cNvSpPr/>
          <p:nvPr/>
        </p:nvSpPr>
        <p:spPr>
          <a:xfrm>
            <a:off x="3931920" y="3611880"/>
            <a:ext cx="1280160" cy="685800"/>
          </a:xfrm>
          <a:prstGeom prst="roundRect">
            <a:avLst>
              <a:gd name="adj" fmla="val 10667"/>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37" name="Text 30"/>
          <p:cNvSpPr txBox="1"/>
          <p:nvPr/>
        </p:nvSpPr>
        <p:spPr>
          <a:xfrm>
            <a:off x="3977640" y="3657600"/>
            <a:ext cx="1188720" cy="594360"/>
          </a:xfrm>
          <a:prstGeom prst="rect">
            <a:avLst/>
          </a:prstGeom>
          <a:noFill/>
          <a:ln/>
        </p:spPr>
        <p:txBody>
          <a:bodyPr wrap="square" lIns="0" tIns="0" rIns="0" bIns="0" rtlCol="0" anchor="ctr"/>
          <a:lstStyle/>
          <a:p>
            <a:pPr marL="0" indent="0" algn="ctr">
              <a:buNone/>
            </a:pPr>
            <a:r>
              <a:rPr lang="en-US" sz="1050" b="1" dirty="0">
                <a:solidFill>
                  <a:srgbClr val="071B3F"/>
                </a:solidFill>
                <a:latin typeface="Calibri" pitchFamily="34" charset="0"/>
                <a:ea typeface="Calibri" pitchFamily="34" charset="-122"/>
                <a:cs typeface="Calibri" pitchFamily="34" charset="-120"/>
              </a:rPr>
              <a:t>SLD + License</a:t>
            </a:r>
            <a:endParaRPr lang="en-US" sz="1050" dirty="0"/>
          </a:p>
          <a:p>
            <a:pPr marL="0" indent="0" algn="ctr">
              <a:buNone/>
            </a:pPr>
            <a:r>
              <a:rPr lang="en-US" sz="900" dirty="0">
                <a:solidFill>
                  <a:srgbClr val="5B6B82"/>
                </a:solidFill>
                <a:latin typeface="Calibri" pitchFamily="34" charset="0"/>
                <a:ea typeface="Calibri" pitchFamily="34" charset="-122"/>
                <a:cs typeface="Calibri" pitchFamily="34" charset="-120"/>
              </a:rPr>
              <a:t>Autenticación y licencias</a:t>
            </a:r>
            <a:endParaRPr lang="en-US" sz="1050" dirty="0"/>
          </a:p>
        </p:txBody>
      </p:sp>
      <p:sp>
        <p:nvSpPr>
          <p:cNvPr id="38" name="Shape 31"/>
          <p:cNvSpPr/>
          <p:nvPr/>
        </p:nvSpPr>
        <p:spPr>
          <a:xfrm>
            <a:off x="4572000" y="3127248"/>
            <a:ext cx="0" cy="457200"/>
          </a:xfrm>
          <a:prstGeom prst="line">
            <a:avLst/>
          </a:prstGeom>
          <a:noFill/>
          <a:ln w="22225">
            <a:solidFill>
              <a:srgbClr val="F5A800"/>
            </a:solidFill>
            <a:prstDash val="dash"/>
            <a:headEnd type="triangle"/>
            <a:tailEnd type="triangle"/>
          </a:ln>
        </p:spPr>
      </p:sp>
      <p:sp>
        <p:nvSpPr>
          <p:cNvPr id="39" name="Text 32"/>
          <p:cNvSpPr txBox="1"/>
          <p:nvPr/>
        </p:nvSpPr>
        <p:spPr>
          <a:xfrm>
            <a:off x="457200" y="3611880"/>
            <a:ext cx="3017520" cy="685800"/>
          </a:xfrm>
          <a:prstGeom prst="rect">
            <a:avLst/>
          </a:prstGeom>
          <a:noFill/>
          <a:ln/>
        </p:spPr>
        <p:txBody>
          <a:bodyPr wrap="square" lIns="0" tIns="0" rIns="0" bIns="0" rtlCol="0" anchor="t"/>
          <a:lstStyle/>
          <a:p>
            <a:pPr marL="0" indent="0">
              <a:buNone/>
            </a:pPr>
            <a:r>
              <a:rPr lang="en-US" sz="1050" b="1" dirty="0">
                <a:solidFill>
                  <a:srgbClr val="0B4DA2"/>
                </a:solidFill>
                <a:latin typeface="Calibri" pitchFamily="34" charset="0"/>
                <a:ea typeface="Calibri" pitchFamily="34" charset="-122"/>
                <a:cs typeface="Calibri" pitchFamily="34" charset="-120"/>
              </a:rPr>
              <a:t>Balanceador: </a:t>
            </a:r>
            <a:r>
              <a:rPr lang="en-US" sz="1050" dirty="0">
                <a:solidFill>
                  <a:srgbClr val="1B2433"/>
                </a:solidFill>
                <a:latin typeface="Calibri" pitchFamily="34" charset="0"/>
                <a:ea typeface="Calibri" pitchFamily="34" charset="-122"/>
                <a:cs typeface="Calibri" pitchFamily="34" charset="-120"/>
              </a:rPr>
              <a:t>Reparte peticiones y mantiene la afinidad de sesión (cookie ROUTEID).</a:t>
            </a:r>
            <a:endParaRPr lang="en-US" sz="1050" dirty="0"/>
          </a:p>
        </p:txBody>
      </p:sp>
      <p:sp>
        <p:nvSpPr>
          <p:cNvPr id="40" name="Text 33"/>
          <p:cNvSpPr txBox="1"/>
          <p:nvPr/>
        </p:nvSpPr>
        <p:spPr>
          <a:xfrm>
            <a:off x="5669280" y="3611880"/>
            <a:ext cx="3017520" cy="685800"/>
          </a:xfrm>
          <a:prstGeom prst="rect">
            <a:avLst/>
          </a:prstGeom>
          <a:noFill/>
          <a:ln/>
        </p:spPr>
        <p:txBody>
          <a:bodyPr wrap="square" lIns="0" tIns="0" rIns="0" bIns="0" rtlCol="0" anchor="t"/>
          <a:lstStyle/>
          <a:p>
            <a:pPr marL="0" indent="0">
              <a:buNone/>
            </a:pPr>
            <a:r>
              <a:rPr lang="en-US" sz="1050" b="1" dirty="0">
                <a:solidFill>
                  <a:srgbClr val="0B4DA2"/>
                </a:solidFill>
                <a:latin typeface="Calibri" pitchFamily="34" charset="0"/>
                <a:ea typeface="Calibri" pitchFamily="34" charset="-122"/>
                <a:cs typeface="Calibri" pitchFamily="34" charset="-120"/>
              </a:rPr>
              <a:t>Nodo: </a:t>
            </a:r>
            <a:r>
              <a:rPr lang="en-US" sz="1050" dirty="0">
                <a:solidFill>
                  <a:srgbClr val="1B2433"/>
                </a:solidFill>
                <a:latin typeface="Calibri" pitchFamily="34" charset="0"/>
                <a:ea typeface="Calibri" pitchFamily="34" charset="-122"/>
                <a:cs typeface="Calibri" pitchFamily="34" charset="-120"/>
              </a:rPr>
              <a:t>Cada nodo es un proceso independiente con sus propias sesiones y memoria.</a:t>
            </a:r>
            <a:endParaRPr lang="en-US" sz="1050" dirty="0"/>
          </a:p>
        </p:txBody>
      </p:sp>
      <p:sp>
        <p:nvSpPr>
          <p:cNvPr id="41"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02  ·  ARQUITECTURA</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Balanceador de carga y nodos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Escalar vertical u horizontalmente sin cambiar el código cliente</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3246120"/>
          </a:xfrm>
          <a:prstGeom prst="roundRect">
            <a:avLst>
              <a:gd name="adj" fmla="val 2254"/>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1417320" y="1600200"/>
            <a:ext cx="2103120" cy="548640"/>
          </a:xfrm>
          <a:prstGeom prst="roundRect">
            <a:avLst>
              <a:gd name="adj" fmla="val 13333"/>
            </a:avLst>
          </a:prstGeom>
          <a:solidFill>
            <a:srgbClr val="071B3F"/>
          </a:solidFill>
          <a:ln w="12700">
            <a:solidFill>
              <a:srgbClr val="071B3F"/>
            </a:solidFill>
            <a:prstDash val="solid"/>
          </a:ln>
        </p:spPr>
      </p:sp>
      <p:sp>
        <p:nvSpPr>
          <p:cNvPr id="9" name="Text 7"/>
          <p:cNvSpPr txBox="1"/>
          <p:nvPr/>
        </p:nvSpPr>
        <p:spPr>
          <a:xfrm>
            <a:off x="1417320" y="1600200"/>
            <a:ext cx="2103120" cy="548640"/>
          </a:xfrm>
          <a:prstGeom prst="rect">
            <a:avLst/>
          </a:prstGeom>
          <a:noFill/>
          <a:ln/>
        </p:spPr>
        <p:txBody>
          <a:bodyPr wrap="square" lIns="0" tIns="0" rIns="0" bIns="0" rtlCol="0" anchor="ctr"/>
          <a:lstStyle/>
          <a:p>
            <a:pPr marL="0" indent="0" algn="ctr">
              <a:buNone/>
            </a:pPr>
            <a:r>
              <a:rPr lang="en-US" sz="1150" b="1" dirty="0">
                <a:solidFill>
                  <a:srgbClr val="FFFFFF"/>
                </a:solidFill>
                <a:latin typeface="Segoe UI" pitchFamily="34" charset="0"/>
                <a:ea typeface="Segoe UI" pitchFamily="34" charset="-122"/>
                <a:cs typeface="Segoe UI" pitchFamily="34" charset="-120"/>
              </a:rPr>
              <a:t>Load Balancer</a:t>
            </a:r>
            <a:endParaRPr lang="en-US" sz="1150" dirty="0"/>
          </a:p>
          <a:p>
            <a:pPr marL="0" indent="0" algn="ctr">
              <a:buNone/>
            </a:pPr>
            <a:r>
              <a:rPr lang="en-US" sz="900" dirty="0">
                <a:solidFill>
                  <a:srgbClr val="F5A800"/>
                </a:solidFill>
                <a:latin typeface="Segoe UI" pitchFamily="34" charset="0"/>
                <a:ea typeface="Segoe UI" pitchFamily="34" charset="-122"/>
                <a:cs typeface="Segoe UI" pitchFamily="34" charset="-120"/>
              </a:rPr>
              <a:t>:50000 HTTPS</a:t>
            </a:r>
            <a:endParaRPr lang="en-US" sz="1150" dirty="0"/>
          </a:p>
        </p:txBody>
      </p:sp>
      <p:sp>
        <p:nvSpPr>
          <p:cNvPr id="10" name="Text 8"/>
          <p:cNvSpPr txBox="1"/>
          <p:nvPr/>
        </p:nvSpPr>
        <p:spPr>
          <a:xfrm>
            <a:off x="640080" y="2487168"/>
            <a:ext cx="1828800" cy="182880"/>
          </a:xfrm>
          <a:prstGeom prst="rect">
            <a:avLst/>
          </a:prstGeom>
          <a:noFill/>
          <a:ln/>
        </p:spPr>
        <p:txBody>
          <a:bodyPr wrap="square" lIns="0" tIns="0" rIns="0" bIns="0" rtlCol="0" anchor="t"/>
          <a:lstStyle/>
          <a:p>
            <a:pPr marL="0" indent="0">
              <a:buNone/>
            </a:pPr>
            <a:r>
              <a:rPr lang="en-US" sz="900" b="1" dirty="0">
                <a:solidFill>
                  <a:srgbClr val="5B6B82"/>
                </a:solidFill>
                <a:latin typeface="Calibri" pitchFamily="34" charset="0"/>
                <a:ea typeface="Calibri" pitchFamily="34" charset="-122"/>
                <a:cs typeface="Calibri" pitchFamily="34" charset="-120"/>
              </a:rPr>
              <a:t>Servidor A</a:t>
            </a:r>
            <a:endParaRPr lang="en-US" sz="900" dirty="0"/>
          </a:p>
        </p:txBody>
      </p:sp>
      <p:sp>
        <p:nvSpPr>
          <p:cNvPr id="11" name="Text 9"/>
          <p:cNvSpPr txBox="1"/>
          <p:nvPr/>
        </p:nvSpPr>
        <p:spPr>
          <a:xfrm>
            <a:off x="2788920" y="2487168"/>
            <a:ext cx="1645920" cy="182880"/>
          </a:xfrm>
          <a:prstGeom prst="rect">
            <a:avLst/>
          </a:prstGeom>
          <a:noFill/>
          <a:ln/>
        </p:spPr>
        <p:txBody>
          <a:bodyPr wrap="square" lIns="0" tIns="0" rIns="0" bIns="0" rtlCol="0" anchor="t"/>
          <a:lstStyle/>
          <a:p>
            <a:pPr marL="0" indent="0">
              <a:buNone/>
            </a:pPr>
            <a:r>
              <a:rPr lang="en-US" sz="900" b="1" dirty="0">
                <a:solidFill>
                  <a:srgbClr val="5B6B82"/>
                </a:solidFill>
                <a:latin typeface="Calibri" pitchFamily="34" charset="0"/>
                <a:ea typeface="Calibri" pitchFamily="34" charset="-122"/>
                <a:cs typeface="Calibri" pitchFamily="34" charset="-120"/>
              </a:rPr>
              <a:t>Servidor B (cluster)</a:t>
            </a:r>
            <a:endParaRPr lang="en-US" sz="900" dirty="0"/>
          </a:p>
        </p:txBody>
      </p:sp>
      <p:sp>
        <p:nvSpPr>
          <p:cNvPr id="12" name="Shape 10"/>
          <p:cNvSpPr/>
          <p:nvPr/>
        </p:nvSpPr>
        <p:spPr>
          <a:xfrm>
            <a:off x="594360" y="2697480"/>
            <a:ext cx="2103120" cy="1234440"/>
          </a:xfrm>
          <a:prstGeom prst="roundRect">
            <a:avLst>
              <a:gd name="adj" fmla="val 4444"/>
            </a:avLst>
          </a:prstGeom>
          <a:solidFill>
            <a:srgbClr val="F5F8FC"/>
          </a:solidFill>
          <a:ln w="12700">
            <a:solidFill>
              <a:srgbClr val="D5DFEC"/>
            </a:solidFill>
            <a:prstDash val="dash"/>
          </a:ln>
        </p:spPr>
      </p:sp>
      <p:sp>
        <p:nvSpPr>
          <p:cNvPr id="13" name="Shape 11"/>
          <p:cNvSpPr/>
          <p:nvPr/>
        </p:nvSpPr>
        <p:spPr>
          <a:xfrm>
            <a:off x="2788920" y="2697480"/>
            <a:ext cx="1554480" cy="1234440"/>
          </a:xfrm>
          <a:prstGeom prst="roundRect">
            <a:avLst>
              <a:gd name="adj" fmla="val 4444"/>
            </a:avLst>
          </a:prstGeom>
          <a:solidFill>
            <a:srgbClr val="F5F8FC"/>
          </a:solidFill>
          <a:ln w="12700">
            <a:solidFill>
              <a:srgbClr val="D5DFEC"/>
            </a:solidFill>
            <a:prstDash val="dash"/>
          </a:ln>
        </p:spPr>
      </p:sp>
      <p:sp>
        <p:nvSpPr>
          <p:cNvPr id="14" name="Shape 12"/>
          <p:cNvSpPr/>
          <p:nvPr/>
        </p:nvSpPr>
        <p:spPr>
          <a:xfrm>
            <a:off x="685800" y="2834640"/>
            <a:ext cx="566928" cy="685800"/>
          </a:xfrm>
          <a:prstGeom prst="roundRect">
            <a:avLst>
              <a:gd name="adj" fmla="val 9677"/>
            </a:avLst>
          </a:prstGeom>
          <a:solidFill>
            <a:srgbClr val="0B4DA2"/>
          </a:solidFill>
          <a:ln w="12700">
            <a:solidFill>
              <a:srgbClr val="0B4DA2"/>
            </a:solidFill>
            <a:prstDash val="solid"/>
          </a:ln>
        </p:spPr>
      </p:sp>
      <p:sp>
        <p:nvSpPr>
          <p:cNvPr id="15" name="Text 13"/>
          <p:cNvSpPr txBox="1"/>
          <p:nvPr/>
        </p:nvSpPr>
        <p:spPr>
          <a:xfrm>
            <a:off x="685800" y="2834640"/>
            <a:ext cx="566928" cy="6858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Nodo 1</a:t>
            </a:r>
            <a:endParaRPr lang="en-US" sz="850" dirty="0"/>
          </a:p>
          <a:p>
            <a:pPr marL="0" indent="0" algn="ctr">
              <a:buNone/>
            </a:pPr>
            <a:r>
              <a:rPr lang="en-US" sz="750" dirty="0">
                <a:solidFill>
                  <a:srgbClr val="FFFFFF"/>
                </a:solidFill>
                <a:latin typeface="Calibri" pitchFamily="34" charset="0"/>
                <a:ea typeface="Calibri" pitchFamily="34" charset="-122"/>
                <a:cs typeface="Calibri" pitchFamily="34" charset="-120"/>
              </a:rPr>
              <a:t>:50002</a:t>
            </a:r>
            <a:endParaRPr lang="en-US" sz="850" dirty="0"/>
          </a:p>
        </p:txBody>
      </p:sp>
      <p:sp>
        <p:nvSpPr>
          <p:cNvPr id="16" name="Shape 14"/>
          <p:cNvSpPr/>
          <p:nvPr/>
        </p:nvSpPr>
        <p:spPr>
          <a:xfrm flipH="1">
            <a:off x="969264" y="2148840"/>
            <a:ext cx="1499616" cy="685800"/>
          </a:xfrm>
          <a:prstGeom prst="line">
            <a:avLst/>
          </a:prstGeom>
          <a:noFill/>
          <a:ln w="12700">
            <a:solidFill>
              <a:srgbClr val="9FB3CC"/>
            </a:solidFill>
            <a:prstDash val="solid"/>
          </a:ln>
        </p:spPr>
      </p:sp>
      <p:sp>
        <p:nvSpPr>
          <p:cNvPr id="17" name="Shape 15"/>
          <p:cNvSpPr/>
          <p:nvPr/>
        </p:nvSpPr>
        <p:spPr>
          <a:xfrm>
            <a:off x="1371600" y="2834640"/>
            <a:ext cx="566928" cy="685800"/>
          </a:xfrm>
          <a:prstGeom prst="roundRect">
            <a:avLst>
              <a:gd name="adj" fmla="val 9677"/>
            </a:avLst>
          </a:prstGeom>
          <a:solidFill>
            <a:srgbClr val="F5A800"/>
          </a:solidFill>
          <a:ln w="12700">
            <a:solidFill>
              <a:srgbClr val="F5A800"/>
            </a:solidFill>
            <a:prstDash val="solid"/>
          </a:ln>
        </p:spPr>
      </p:sp>
      <p:sp>
        <p:nvSpPr>
          <p:cNvPr id="18" name="Text 16"/>
          <p:cNvSpPr txBox="1"/>
          <p:nvPr/>
        </p:nvSpPr>
        <p:spPr>
          <a:xfrm>
            <a:off x="1371600" y="2834640"/>
            <a:ext cx="566928" cy="685800"/>
          </a:xfrm>
          <a:prstGeom prst="rect">
            <a:avLst/>
          </a:prstGeom>
          <a:noFill/>
          <a:ln/>
        </p:spPr>
        <p:txBody>
          <a:bodyPr wrap="square" lIns="0" tIns="0" rIns="0" bIns="0" rtlCol="0" anchor="ctr"/>
          <a:lstStyle/>
          <a:p>
            <a:pPr marL="0" indent="0" algn="ctr">
              <a:buNone/>
            </a:pPr>
            <a:r>
              <a:rPr lang="en-US" sz="850" b="1" dirty="0">
                <a:solidFill>
                  <a:srgbClr val="071B3F"/>
                </a:solidFill>
                <a:latin typeface="Calibri" pitchFamily="34" charset="0"/>
                <a:ea typeface="Calibri" pitchFamily="34" charset="-122"/>
                <a:cs typeface="Calibri" pitchFamily="34" charset="-120"/>
              </a:rPr>
              <a:t>Nodo 2</a:t>
            </a:r>
            <a:endParaRPr lang="en-US" sz="850" dirty="0"/>
          </a:p>
          <a:p>
            <a:pPr marL="0" indent="0" algn="ctr">
              <a:buNone/>
            </a:pPr>
            <a:r>
              <a:rPr lang="en-US" sz="750" dirty="0">
                <a:solidFill>
                  <a:srgbClr val="071B3F"/>
                </a:solidFill>
                <a:latin typeface="Calibri" pitchFamily="34" charset="0"/>
                <a:ea typeface="Calibri" pitchFamily="34" charset="-122"/>
                <a:cs typeface="Calibri" pitchFamily="34" charset="-120"/>
              </a:rPr>
              <a:t>:50003</a:t>
            </a:r>
            <a:endParaRPr lang="en-US" sz="850" dirty="0"/>
          </a:p>
        </p:txBody>
      </p:sp>
      <p:sp>
        <p:nvSpPr>
          <p:cNvPr id="19" name="Shape 17"/>
          <p:cNvSpPr/>
          <p:nvPr/>
        </p:nvSpPr>
        <p:spPr>
          <a:xfrm flipH="1">
            <a:off x="1655064" y="2148840"/>
            <a:ext cx="813816" cy="685800"/>
          </a:xfrm>
          <a:prstGeom prst="line">
            <a:avLst/>
          </a:prstGeom>
          <a:noFill/>
          <a:ln w="12700">
            <a:solidFill>
              <a:srgbClr val="9FB3CC"/>
            </a:solidFill>
            <a:prstDash val="solid"/>
          </a:ln>
        </p:spPr>
      </p:sp>
      <p:sp>
        <p:nvSpPr>
          <p:cNvPr id="20" name="Shape 18"/>
          <p:cNvSpPr/>
          <p:nvPr/>
        </p:nvSpPr>
        <p:spPr>
          <a:xfrm>
            <a:off x="2057400" y="2834640"/>
            <a:ext cx="566928" cy="685800"/>
          </a:xfrm>
          <a:prstGeom prst="roundRect">
            <a:avLst>
              <a:gd name="adj" fmla="val 9677"/>
            </a:avLst>
          </a:prstGeom>
          <a:solidFill>
            <a:srgbClr val="0B4DA2"/>
          </a:solidFill>
          <a:ln w="12700">
            <a:solidFill>
              <a:srgbClr val="0B4DA2"/>
            </a:solidFill>
            <a:prstDash val="solid"/>
          </a:ln>
        </p:spPr>
      </p:sp>
      <p:sp>
        <p:nvSpPr>
          <p:cNvPr id="21" name="Text 19"/>
          <p:cNvSpPr txBox="1"/>
          <p:nvPr/>
        </p:nvSpPr>
        <p:spPr>
          <a:xfrm>
            <a:off x="2057400" y="2834640"/>
            <a:ext cx="566928" cy="6858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Nodo 3</a:t>
            </a:r>
            <a:endParaRPr lang="en-US" sz="850" dirty="0"/>
          </a:p>
          <a:p>
            <a:pPr marL="0" indent="0" algn="ctr">
              <a:buNone/>
            </a:pPr>
            <a:r>
              <a:rPr lang="en-US" sz="750" dirty="0">
                <a:solidFill>
                  <a:srgbClr val="FFFFFF"/>
                </a:solidFill>
                <a:latin typeface="Calibri" pitchFamily="34" charset="0"/>
                <a:ea typeface="Calibri" pitchFamily="34" charset="-122"/>
                <a:cs typeface="Calibri" pitchFamily="34" charset="-120"/>
              </a:rPr>
              <a:t>:50004</a:t>
            </a:r>
            <a:endParaRPr lang="en-US" sz="850" dirty="0"/>
          </a:p>
        </p:txBody>
      </p:sp>
      <p:sp>
        <p:nvSpPr>
          <p:cNvPr id="22" name="Shape 20"/>
          <p:cNvSpPr/>
          <p:nvPr/>
        </p:nvSpPr>
        <p:spPr>
          <a:xfrm flipH="1">
            <a:off x="2340864" y="2148840"/>
            <a:ext cx="128016" cy="685800"/>
          </a:xfrm>
          <a:prstGeom prst="line">
            <a:avLst/>
          </a:prstGeom>
          <a:noFill/>
          <a:ln w="12700">
            <a:solidFill>
              <a:srgbClr val="9FB3CC"/>
            </a:solidFill>
            <a:prstDash val="solid"/>
          </a:ln>
        </p:spPr>
      </p:sp>
      <p:sp>
        <p:nvSpPr>
          <p:cNvPr id="23" name="Shape 21"/>
          <p:cNvSpPr/>
          <p:nvPr/>
        </p:nvSpPr>
        <p:spPr>
          <a:xfrm>
            <a:off x="2880360" y="2834640"/>
            <a:ext cx="566928" cy="685800"/>
          </a:xfrm>
          <a:prstGeom prst="roundRect">
            <a:avLst>
              <a:gd name="adj" fmla="val 9677"/>
            </a:avLst>
          </a:prstGeom>
          <a:solidFill>
            <a:srgbClr val="0B4DA2"/>
          </a:solidFill>
          <a:ln w="12700">
            <a:solidFill>
              <a:srgbClr val="0B4DA2"/>
            </a:solidFill>
            <a:prstDash val="solid"/>
          </a:ln>
        </p:spPr>
      </p:sp>
      <p:sp>
        <p:nvSpPr>
          <p:cNvPr id="24" name="Text 22"/>
          <p:cNvSpPr txBox="1"/>
          <p:nvPr/>
        </p:nvSpPr>
        <p:spPr>
          <a:xfrm>
            <a:off x="2880360" y="2834640"/>
            <a:ext cx="566928" cy="6858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Nodo 4</a:t>
            </a:r>
            <a:endParaRPr lang="en-US" sz="850" dirty="0"/>
          </a:p>
          <a:p>
            <a:pPr marL="0" indent="0" algn="ctr">
              <a:buNone/>
            </a:pPr>
            <a:r>
              <a:rPr lang="en-US" sz="750" dirty="0">
                <a:solidFill>
                  <a:srgbClr val="FFFFFF"/>
                </a:solidFill>
                <a:latin typeface="Calibri" pitchFamily="34" charset="0"/>
                <a:ea typeface="Calibri" pitchFamily="34" charset="-122"/>
                <a:cs typeface="Calibri" pitchFamily="34" charset="-120"/>
              </a:rPr>
              <a:t>:50002</a:t>
            </a:r>
            <a:endParaRPr lang="en-US" sz="850" dirty="0"/>
          </a:p>
        </p:txBody>
      </p:sp>
      <p:sp>
        <p:nvSpPr>
          <p:cNvPr id="25" name="Shape 23"/>
          <p:cNvSpPr/>
          <p:nvPr/>
        </p:nvSpPr>
        <p:spPr>
          <a:xfrm>
            <a:off x="2468880" y="2148840"/>
            <a:ext cx="694944" cy="685800"/>
          </a:xfrm>
          <a:prstGeom prst="line">
            <a:avLst/>
          </a:prstGeom>
          <a:noFill/>
          <a:ln w="12700">
            <a:solidFill>
              <a:srgbClr val="9FB3CC"/>
            </a:solidFill>
            <a:prstDash val="solid"/>
          </a:ln>
        </p:spPr>
      </p:sp>
      <p:sp>
        <p:nvSpPr>
          <p:cNvPr id="26" name="Shape 24"/>
          <p:cNvSpPr/>
          <p:nvPr/>
        </p:nvSpPr>
        <p:spPr>
          <a:xfrm>
            <a:off x="3566160" y="2834640"/>
            <a:ext cx="566928" cy="685800"/>
          </a:xfrm>
          <a:prstGeom prst="roundRect">
            <a:avLst>
              <a:gd name="adj" fmla="val 9677"/>
            </a:avLst>
          </a:prstGeom>
          <a:solidFill>
            <a:srgbClr val="0B4DA2"/>
          </a:solidFill>
          <a:ln w="12700">
            <a:solidFill>
              <a:srgbClr val="0B4DA2"/>
            </a:solidFill>
            <a:prstDash val="solid"/>
          </a:ln>
        </p:spPr>
      </p:sp>
      <p:sp>
        <p:nvSpPr>
          <p:cNvPr id="27" name="Text 25"/>
          <p:cNvSpPr txBox="1"/>
          <p:nvPr/>
        </p:nvSpPr>
        <p:spPr>
          <a:xfrm>
            <a:off x="3566160" y="2834640"/>
            <a:ext cx="566928" cy="6858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Nodo 5</a:t>
            </a:r>
            <a:endParaRPr lang="en-US" sz="850" dirty="0"/>
          </a:p>
          <a:p>
            <a:pPr marL="0" indent="0" algn="ctr">
              <a:buNone/>
            </a:pPr>
            <a:r>
              <a:rPr lang="en-US" sz="750" dirty="0">
                <a:solidFill>
                  <a:srgbClr val="FFFFFF"/>
                </a:solidFill>
                <a:latin typeface="Calibri" pitchFamily="34" charset="0"/>
                <a:ea typeface="Calibri" pitchFamily="34" charset="-122"/>
                <a:cs typeface="Calibri" pitchFamily="34" charset="-120"/>
              </a:rPr>
              <a:t>:50003</a:t>
            </a:r>
            <a:endParaRPr lang="en-US" sz="850" dirty="0"/>
          </a:p>
        </p:txBody>
      </p:sp>
      <p:sp>
        <p:nvSpPr>
          <p:cNvPr id="28" name="Shape 26"/>
          <p:cNvSpPr/>
          <p:nvPr/>
        </p:nvSpPr>
        <p:spPr>
          <a:xfrm>
            <a:off x="2468880" y="2148840"/>
            <a:ext cx="1380744" cy="685800"/>
          </a:xfrm>
          <a:prstGeom prst="line">
            <a:avLst/>
          </a:prstGeom>
          <a:noFill/>
          <a:ln w="12700">
            <a:solidFill>
              <a:srgbClr val="9FB3CC"/>
            </a:solidFill>
            <a:prstDash val="solid"/>
          </a:ln>
        </p:spPr>
      </p:sp>
      <p:sp>
        <p:nvSpPr>
          <p:cNvPr id="29" name="Text 27"/>
          <p:cNvSpPr txBox="1"/>
          <p:nvPr/>
        </p:nvSpPr>
        <p:spPr>
          <a:xfrm>
            <a:off x="640080" y="4041648"/>
            <a:ext cx="3749040" cy="228600"/>
          </a:xfrm>
          <a:prstGeom prst="rect">
            <a:avLst/>
          </a:prstGeom>
          <a:noFill/>
          <a:ln/>
        </p:spPr>
        <p:txBody>
          <a:bodyPr wrap="square" lIns="0" tIns="0" rIns="0" bIns="0" rtlCol="0" anchor="t"/>
          <a:lstStyle/>
          <a:p>
            <a:pPr marL="0" indent="0">
              <a:buNone/>
            </a:pPr>
            <a:r>
              <a:rPr lang="en-US" sz="900" dirty="0">
                <a:solidFill>
                  <a:srgbClr val="B07A00"/>
                </a:solidFill>
                <a:latin typeface="Consolas" pitchFamily="34" charset="0"/>
                <a:ea typeface="Consolas" pitchFamily="34" charset="-122"/>
                <a:cs typeface="Consolas" pitchFamily="34" charset="-120"/>
              </a:rPr>
              <a:t>ROUTEID=.node2  →  siempre al Nodo 2</a:t>
            </a:r>
            <a:endParaRPr lang="en-US" sz="900" dirty="0"/>
          </a:p>
        </p:txBody>
      </p:sp>
      <p:sp>
        <p:nvSpPr>
          <p:cNvPr id="30" name="Text 28"/>
          <p:cNvSpPr txBox="1"/>
          <p:nvPr/>
        </p:nvSpPr>
        <p:spPr>
          <a:xfrm>
            <a:off x="640080" y="4297680"/>
            <a:ext cx="3749040" cy="228600"/>
          </a:xfrm>
          <a:prstGeom prst="rect">
            <a:avLst/>
          </a:prstGeom>
          <a:noFill/>
          <a:ln/>
        </p:spPr>
        <p:txBody>
          <a:bodyPr wrap="square" lIns="0" tIns="0" rIns="0" bIns="0" rtlCol="0" anchor="t"/>
          <a:lstStyle/>
          <a:p>
            <a:pPr marL="0" indent="0">
              <a:buNone/>
            </a:pPr>
            <a:r>
              <a:rPr lang="en-US" sz="900" i="1" dirty="0">
                <a:solidFill>
                  <a:srgbClr val="5B6B82"/>
                </a:solidFill>
                <a:latin typeface="Calibri" pitchFamily="34" charset="0"/>
                <a:ea typeface="Calibri" pitchFamily="34" charset="-122"/>
                <a:cs typeface="Calibri" pitchFamily="34" charset="-120"/>
              </a:rPr>
              <a:t>Puertos de nodos referenciales: se definen en la instalación.</a:t>
            </a:r>
            <a:endParaRPr lang="en-US" sz="900" dirty="0"/>
          </a:p>
        </p:txBody>
      </p:sp>
      <p:sp>
        <p:nvSpPr>
          <p:cNvPr id="31" name="Shape 29"/>
          <p:cNvSpPr/>
          <p:nvPr/>
        </p:nvSpPr>
        <p:spPr>
          <a:xfrm>
            <a:off x="4754880" y="1463040"/>
            <a:ext cx="420624" cy="420624"/>
          </a:xfrm>
          <a:prstGeom prst="ellipse">
            <a:avLst/>
          </a:prstGeom>
          <a:solidFill>
            <a:srgbClr val="E8F1FC"/>
          </a:solidFill>
          <a:ln w="12700">
            <a:solidFill>
              <a:srgbClr val="E8F1FC"/>
            </a:solidFill>
            <a:prstDash val="solid"/>
          </a:ln>
        </p:spPr>
      </p:sp>
      <p:pic>
        <p:nvPicPr>
          <p:cNvPr id="32" name="Image 0" descr="preencoded.png"/>
          <p:cNvPicPr>
            <a:picLocks noChangeAspect="1"/>
          </p:cNvPicPr>
          <p:nvPr/>
        </p:nvPicPr>
        <p:blipFill>
          <a:blip r:embed="rId3"/>
          <a:stretch>
            <a:fillRect/>
          </a:stretch>
        </p:blipFill>
        <p:spPr>
          <a:xfrm>
            <a:off x="4864242" y="1572402"/>
            <a:ext cx="201900" cy="201900"/>
          </a:xfrm>
          <a:prstGeom prst="rect">
            <a:avLst/>
          </a:prstGeom>
        </p:spPr>
      </p:pic>
      <p:sp>
        <p:nvSpPr>
          <p:cNvPr id="33" name="Text 30"/>
          <p:cNvSpPr txBox="1"/>
          <p:nvPr/>
        </p:nvSpPr>
        <p:spPr>
          <a:xfrm>
            <a:off x="5303520" y="1417320"/>
            <a:ext cx="33832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Entrada única</a:t>
            </a:r>
            <a:endParaRPr lang="en-US" sz="1200" dirty="0"/>
          </a:p>
        </p:txBody>
      </p:sp>
      <p:sp>
        <p:nvSpPr>
          <p:cNvPr id="34" name="Text 31"/>
          <p:cNvSpPr txBox="1"/>
          <p:nvPr/>
        </p:nvSpPr>
        <p:spPr>
          <a:xfrm>
            <a:off x="5303520" y="1673352"/>
            <a:ext cx="3383280" cy="50292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Apache (mod_proxy_balancer) recibe todo en :50000 y reparte entre nodos miembros.</a:t>
            </a:r>
            <a:endParaRPr lang="en-US" sz="1050" dirty="0"/>
          </a:p>
        </p:txBody>
      </p:sp>
      <p:sp>
        <p:nvSpPr>
          <p:cNvPr id="35" name="Shape 32"/>
          <p:cNvSpPr/>
          <p:nvPr/>
        </p:nvSpPr>
        <p:spPr>
          <a:xfrm>
            <a:off x="4754880" y="2286000"/>
            <a:ext cx="420624" cy="420624"/>
          </a:xfrm>
          <a:prstGeom prst="ellipse">
            <a:avLst/>
          </a:prstGeom>
          <a:solidFill>
            <a:srgbClr val="E8F1FC"/>
          </a:solidFill>
          <a:ln w="12700">
            <a:solidFill>
              <a:srgbClr val="E8F1FC"/>
            </a:solidFill>
            <a:prstDash val="solid"/>
          </a:ln>
        </p:spPr>
      </p:sp>
      <p:pic>
        <p:nvPicPr>
          <p:cNvPr id="36" name="Image 1" descr="preencoded.png"/>
          <p:cNvPicPr>
            <a:picLocks noChangeAspect="1"/>
          </p:cNvPicPr>
          <p:nvPr/>
        </p:nvPicPr>
        <p:blipFill>
          <a:blip r:embed="rId4"/>
          <a:stretch>
            <a:fillRect/>
          </a:stretch>
        </p:blipFill>
        <p:spPr>
          <a:xfrm>
            <a:off x="4864242" y="2395362"/>
            <a:ext cx="201900" cy="201900"/>
          </a:xfrm>
          <a:prstGeom prst="rect">
            <a:avLst/>
          </a:prstGeom>
        </p:spPr>
      </p:pic>
      <p:sp>
        <p:nvSpPr>
          <p:cNvPr id="37" name="Text 33"/>
          <p:cNvSpPr txBox="1"/>
          <p:nvPr/>
        </p:nvSpPr>
        <p:spPr>
          <a:xfrm>
            <a:off x="5303520" y="2240280"/>
            <a:ext cx="33832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Afinidad de sesión</a:t>
            </a:r>
            <a:endParaRPr lang="en-US" sz="1200" dirty="0"/>
          </a:p>
        </p:txBody>
      </p:sp>
      <p:sp>
        <p:nvSpPr>
          <p:cNvPr id="38" name="Text 34"/>
          <p:cNvSpPr txBox="1"/>
          <p:nvPr/>
        </p:nvSpPr>
        <p:spPr>
          <a:xfrm>
            <a:off x="5303520" y="2496312"/>
            <a:ext cx="3383280" cy="50292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La sesión vive en el nodo del login; la cookie ROUTEID dirige las siguientes peticiones a ese nodo.</a:t>
            </a:r>
            <a:endParaRPr lang="en-US" sz="1050" dirty="0"/>
          </a:p>
        </p:txBody>
      </p:sp>
      <p:sp>
        <p:nvSpPr>
          <p:cNvPr id="39" name="Shape 35"/>
          <p:cNvSpPr/>
          <p:nvPr/>
        </p:nvSpPr>
        <p:spPr>
          <a:xfrm>
            <a:off x="4754880" y="3108960"/>
            <a:ext cx="420624" cy="420624"/>
          </a:xfrm>
          <a:prstGeom prst="ellipse">
            <a:avLst/>
          </a:prstGeom>
          <a:solidFill>
            <a:srgbClr val="E8F1FC"/>
          </a:solidFill>
          <a:ln w="12700">
            <a:solidFill>
              <a:srgbClr val="E8F1FC"/>
            </a:solidFill>
            <a:prstDash val="solid"/>
          </a:ln>
        </p:spPr>
      </p:sp>
      <p:pic>
        <p:nvPicPr>
          <p:cNvPr id="40" name="Image 2" descr="preencoded.png"/>
          <p:cNvPicPr>
            <a:picLocks noChangeAspect="1"/>
          </p:cNvPicPr>
          <p:nvPr/>
        </p:nvPicPr>
        <p:blipFill>
          <a:blip r:embed="rId5"/>
          <a:stretch>
            <a:fillRect/>
          </a:stretch>
        </p:blipFill>
        <p:spPr>
          <a:xfrm>
            <a:off x="4864242" y="3218322"/>
            <a:ext cx="201900" cy="201900"/>
          </a:xfrm>
          <a:prstGeom prst="rect">
            <a:avLst/>
          </a:prstGeom>
        </p:spPr>
      </p:pic>
      <p:sp>
        <p:nvSpPr>
          <p:cNvPr id="41" name="Text 36"/>
          <p:cNvSpPr txBox="1"/>
          <p:nvPr/>
        </p:nvSpPr>
        <p:spPr>
          <a:xfrm>
            <a:off x="5303520" y="3063240"/>
            <a:ext cx="33832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Escalado</a:t>
            </a:r>
            <a:endParaRPr lang="en-US" sz="1200" dirty="0"/>
          </a:p>
        </p:txBody>
      </p:sp>
      <p:sp>
        <p:nvSpPr>
          <p:cNvPr id="42" name="Text 37"/>
          <p:cNvSpPr txBox="1"/>
          <p:nvPr/>
        </p:nvSpPr>
        <p:spPr>
          <a:xfrm>
            <a:off x="5303520" y="3319272"/>
            <a:ext cx="3383280" cy="50292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Vertical: más nodos en el mismo servidor. Horizontal: nodos en otros servidores (cluster).</a:t>
            </a:r>
            <a:endParaRPr lang="en-US" sz="1050" dirty="0"/>
          </a:p>
        </p:txBody>
      </p:sp>
      <p:sp>
        <p:nvSpPr>
          <p:cNvPr id="43" name="Shape 38"/>
          <p:cNvSpPr/>
          <p:nvPr/>
        </p:nvSpPr>
        <p:spPr>
          <a:xfrm>
            <a:off x="4754880" y="3931920"/>
            <a:ext cx="420624" cy="420624"/>
          </a:xfrm>
          <a:prstGeom prst="ellipse">
            <a:avLst/>
          </a:prstGeom>
          <a:solidFill>
            <a:srgbClr val="E8F1FC"/>
          </a:solidFill>
          <a:ln w="12700">
            <a:solidFill>
              <a:srgbClr val="E8F1FC"/>
            </a:solidFill>
            <a:prstDash val="solid"/>
          </a:ln>
        </p:spPr>
      </p:sp>
      <p:pic>
        <p:nvPicPr>
          <p:cNvPr id="44" name="Image 3" descr="preencoded.png"/>
          <p:cNvPicPr>
            <a:picLocks noChangeAspect="1"/>
          </p:cNvPicPr>
          <p:nvPr/>
        </p:nvPicPr>
        <p:blipFill>
          <a:blip r:embed="rId6"/>
          <a:stretch>
            <a:fillRect/>
          </a:stretch>
        </p:blipFill>
        <p:spPr>
          <a:xfrm>
            <a:off x="4864242" y="4041282"/>
            <a:ext cx="201900" cy="201900"/>
          </a:xfrm>
          <a:prstGeom prst="rect">
            <a:avLst/>
          </a:prstGeom>
        </p:spPr>
      </p:pic>
      <p:sp>
        <p:nvSpPr>
          <p:cNvPr id="45" name="Text 39"/>
          <p:cNvSpPr txBox="1"/>
          <p:nvPr/>
        </p:nvSpPr>
        <p:spPr>
          <a:xfrm>
            <a:off x="5303520" y="3886200"/>
            <a:ext cx="33832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Si un nodo cae</a:t>
            </a:r>
            <a:endParaRPr lang="en-US" sz="1200" dirty="0"/>
          </a:p>
        </p:txBody>
      </p:sp>
      <p:sp>
        <p:nvSpPr>
          <p:cNvPr id="46" name="Text 40"/>
          <p:cNvSpPr txBox="1"/>
          <p:nvPr/>
        </p:nvSpPr>
        <p:spPr>
          <a:xfrm>
            <a:off x="5303520" y="4142232"/>
            <a:ext cx="3383280" cy="502920"/>
          </a:xfrm>
          <a:prstGeom prst="rect">
            <a:avLst/>
          </a:prstGeom>
          <a:noFill/>
          <a:ln/>
        </p:spPr>
        <p:txBody>
          <a:bodyPr wrap="square" lIns="0" tIns="0" rIns="0" bIns="0" rtlCol="0" anchor="t"/>
          <a:lstStyle/>
          <a:p>
            <a:pPr marL="0" indent="0">
              <a:buNone/>
            </a:pPr>
            <a:r>
              <a:rPr lang="en-US" sz="1050" dirty="0">
                <a:solidFill>
                  <a:srgbClr val="5B6B82"/>
                </a:solidFill>
                <a:latin typeface="Calibri" pitchFamily="34" charset="0"/>
                <a:ea typeface="Calibri" pitchFamily="34" charset="-122"/>
                <a:cs typeface="Calibri" pitchFamily="34" charset="-120"/>
              </a:rPr>
              <a:t>Sus sesiones se pierden: el cliente debe detectar 401 y volver a hacer login.</a:t>
            </a:r>
            <a:endParaRPr lang="en-US" sz="1050" dirty="0"/>
          </a:p>
        </p:txBody>
      </p:sp>
      <p:sp>
        <p:nvSpPr>
          <p:cNvPr id="47"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02  ·  ARQUITECTURA</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Sugerencias de configuración según utilidad</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Valores orientativos: valida siempre con pruebas de carga en tu infraestructura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2377440"/>
        </p:xfrm>
        <a:graphic>
          <a:graphicData uri="http://schemas.openxmlformats.org/drawingml/2006/table">
            <a:tbl>
              <a:tblPr/>
              <a:tblGrid>
                <a:gridCol w="16459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606040">
                  <a:extLst>
                    <a:ext uri="{9D8B030D-6E8A-4147-A177-3AD203B41FA5}">
                      <a16:colId xmlns:a16="http://schemas.microsoft.com/office/drawing/2014/main" val="20004"/>
                    </a:ext>
                  </a:extLst>
                </a:gridCol>
              </a:tblGrid>
              <a:tr h="475488">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Escenario</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Nodos</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SessionTimeout</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Tamaño de página</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Recomendación clave</a:t>
                      </a:r>
                      <a:endParaRPr lang="en-US" sz="1050" dirty="0">
                        <a:latin typeface="Segoe UI" charset="0"/>
                        <a:ea typeface="Segoe UI" charset="0"/>
                        <a:cs typeface="Segoe U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extLst>
                  <a:ext uri="{0D108BD9-81ED-4DB2-BD59-A6C34878D82A}">
                    <a16:rowId xmlns:a16="http://schemas.microsoft.com/office/drawing/2014/main" val="10000"/>
                  </a:ext>
                </a:extLst>
              </a:tr>
              <a:tr h="475488">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Desarrollo / QA</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1 – 2</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30 min (defecto)</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20 (defecto)</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Log detallado para depurar; un solo servidor.</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475488">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Integración masiva nocturna</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 – 4</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60+ min</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100 – 500 con Prefer</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Reutilizar una sesión por proceso; $batch en lotes de 50–100.</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E-commerce / apps concurrentes</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Según núcleos de CPU (ej. 4 – 8)</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15 – 30 min</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20 – 50</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Pool de sesiones, cluster con 2+ servidores, monitoreo.</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475488">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Add-ons con SSO</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 – 4</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Igual al cliente B1</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20 – 50</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Una sesión por usuario; respeta autorizaciones.</a:t>
                      </a:r>
                      <a:endParaRPr lang="en-US" sz="1050" dirty="0">
                        <a:latin typeface="Calibri" charset="0"/>
                        <a:ea typeface="Calibri" charset="0"/>
                        <a:cs typeface="Calibri" charset="0"/>
                      </a:endParaRPr>
                    </a:p>
                  </a:txBody>
                  <a:tcPr marL="76200" marR="76200" marT="50800" marB="508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hape 5"/>
          <p:cNvSpPr/>
          <p:nvPr/>
        </p:nvSpPr>
        <p:spPr>
          <a:xfrm>
            <a:off x="457200" y="3977640"/>
            <a:ext cx="8229600" cy="731520"/>
          </a:xfrm>
          <a:prstGeom prst="roundRect">
            <a:avLst>
              <a:gd name="adj" fmla="val 10000"/>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9" name="Shape 6"/>
          <p:cNvSpPr/>
          <p:nvPr/>
        </p:nvSpPr>
        <p:spPr>
          <a:xfrm>
            <a:off x="621792" y="4105656"/>
            <a:ext cx="457200" cy="457200"/>
          </a:xfrm>
          <a:prstGeom prst="ellipse">
            <a:avLst/>
          </a:prstGeom>
          <a:solidFill>
            <a:srgbClr val="F5A800"/>
          </a:solidFill>
          <a:ln w="12700">
            <a:solidFill>
              <a:srgbClr val="F5A800"/>
            </a:solidFill>
            <a:prstDash val="solid"/>
          </a:ln>
        </p:spPr>
      </p:sp>
      <p:pic>
        <p:nvPicPr>
          <p:cNvPr id="10" name="Image 0" descr="preencoded.png"/>
          <p:cNvPicPr>
            <a:picLocks noChangeAspect="1"/>
          </p:cNvPicPr>
          <p:nvPr/>
        </p:nvPicPr>
        <p:blipFill>
          <a:blip r:embed="rId3"/>
          <a:stretch>
            <a:fillRect/>
          </a:stretch>
        </p:blipFill>
        <p:spPr>
          <a:xfrm>
            <a:off x="740664" y="4224528"/>
            <a:ext cx="219456" cy="219456"/>
          </a:xfrm>
          <a:prstGeom prst="rect">
            <a:avLst/>
          </a:prstGeom>
        </p:spPr>
      </p:pic>
      <p:sp>
        <p:nvSpPr>
          <p:cNvPr id="11" name="Text 7"/>
          <p:cNvSpPr txBox="1"/>
          <p:nvPr/>
        </p:nvSpPr>
        <p:spPr>
          <a:xfrm>
            <a:off x="1234440" y="4023360"/>
            <a:ext cx="7315200" cy="640080"/>
          </a:xfrm>
          <a:prstGeom prst="rect">
            <a:avLst/>
          </a:prstGeom>
          <a:noFill/>
          <a:ln/>
        </p:spPr>
        <p:txBody>
          <a:bodyPr wrap="square" lIns="0" tIns="0" rIns="0" bIns="0" rtlCol="0" anchor="ctr"/>
          <a:lstStyle/>
          <a:p>
            <a:pPr marL="0" indent="0">
              <a:buNone/>
            </a:pPr>
            <a:r>
              <a:rPr lang="en-US" sz="1050" b="1" dirty="0">
                <a:solidFill>
                  <a:srgbClr val="071B3F"/>
                </a:solidFill>
                <a:latin typeface="Calibri" pitchFamily="34" charset="0"/>
                <a:ea typeface="Calibri" pitchFamily="34" charset="-122"/>
                <a:cs typeface="Calibri" pitchFamily="34" charset="-120"/>
              </a:rPr>
              <a:t>¿Dónde se ajusta? </a:t>
            </a:r>
            <a:r>
              <a:rPr lang="en-US" sz="1050" dirty="0">
                <a:solidFill>
                  <a:srgbClr val="1B2433"/>
                </a:solidFill>
                <a:latin typeface="Calibri" pitchFamily="34" charset="0"/>
                <a:ea typeface="Calibri" pitchFamily="34" charset="-122"/>
                <a:cs typeface="Calibri" pitchFamily="34" charset="-120"/>
              </a:rPr>
              <a:t>Service Layer Control Center / archivo </a:t>
            </a:r>
            <a:r>
              <a:rPr lang="en-US" sz="1050" dirty="0">
                <a:solidFill>
                  <a:srgbClr val="0B4DA2"/>
                </a:solidFill>
                <a:latin typeface="Consolas" pitchFamily="34" charset="0"/>
                <a:ea typeface="Consolas" pitchFamily="34" charset="-122"/>
                <a:cs typeface="Consolas" pitchFamily="34" charset="-120"/>
              </a:rPr>
              <a:t>b1s.conf</a:t>
            </a:r>
            <a:r>
              <a:rPr lang="en-US" sz="1050" dirty="0">
                <a:solidFill>
                  <a:srgbClr val="1B2433"/>
                </a:solidFill>
                <a:latin typeface="Calibri" pitchFamily="34" charset="0"/>
                <a:ea typeface="Calibri" pitchFamily="34" charset="-122"/>
                <a:cs typeface="Calibri" pitchFamily="34" charset="-120"/>
              </a:rPr>
              <a:t> (SessionTimeout, PageSize, CORS, LogLevel) y la configuración del balanceador para los nodos. Por petición: header </a:t>
            </a:r>
            <a:r>
              <a:rPr lang="en-US" sz="1050" dirty="0">
                <a:solidFill>
                  <a:srgbClr val="0B4DA2"/>
                </a:solidFill>
                <a:latin typeface="Consolas" pitchFamily="34" charset="0"/>
                <a:ea typeface="Consolas" pitchFamily="34" charset="-122"/>
                <a:cs typeface="Consolas" pitchFamily="34" charset="-120"/>
              </a:rPr>
              <a:t>Prefer: odata.maxpagesize=100</a:t>
            </a:r>
            <a:r>
              <a:rPr lang="en-US" sz="1050" dirty="0">
                <a:solidFill>
                  <a:srgbClr val="1B2433"/>
                </a:solidFill>
                <a:latin typeface="Calibri" pitchFamily="34" charset="0"/>
                <a:ea typeface="Calibri" pitchFamily="34" charset="-122"/>
                <a:cs typeface="Calibri" pitchFamily="34" charset="-120"/>
              </a:rPr>
              <a:t>.</a:t>
            </a:r>
            <a:endParaRPr lang="en-US" sz="105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02  ·  ARQUITECTURA</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Tips para mejorar el performance</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Pequeños hábitos en el cliente que se notan en el servidor</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594360" y="1554480"/>
            <a:ext cx="438912" cy="438912"/>
          </a:xfrm>
          <a:prstGeom prst="ellipse">
            <a:avLst/>
          </a:prstGeom>
          <a:solidFill>
            <a:srgbClr val="F5A800"/>
          </a:solidFill>
          <a:ln w="12700">
            <a:solidFill>
              <a:srgbClr val="F5A800"/>
            </a:solidFill>
            <a:prstDash val="solid"/>
          </a:ln>
        </p:spPr>
      </p:sp>
      <p:pic>
        <p:nvPicPr>
          <p:cNvPr id="9" name="Image 0" descr="preencoded.png"/>
          <p:cNvPicPr>
            <a:picLocks noChangeAspect="1"/>
          </p:cNvPicPr>
          <p:nvPr/>
        </p:nvPicPr>
        <p:blipFill>
          <a:blip r:embed="rId3"/>
          <a:stretch>
            <a:fillRect/>
          </a:stretch>
        </p:blipFill>
        <p:spPr>
          <a:xfrm>
            <a:off x="708477" y="1668597"/>
            <a:ext cx="210678" cy="210678"/>
          </a:xfrm>
          <a:prstGeom prst="rect">
            <a:avLst/>
          </a:prstGeom>
        </p:spPr>
      </p:pic>
      <p:sp>
        <p:nvSpPr>
          <p:cNvPr id="10" name="Text 7"/>
          <p:cNvSpPr txBox="1"/>
          <p:nvPr/>
        </p:nvSpPr>
        <p:spPr>
          <a:xfrm>
            <a:off x="1170432" y="149047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$select siempre</a:t>
            </a:r>
            <a:endParaRPr lang="en-US" sz="1150" dirty="0"/>
          </a:p>
        </p:txBody>
      </p:sp>
      <p:sp>
        <p:nvSpPr>
          <p:cNvPr id="11" name="Text 8"/>
          <p:cNvSpPr txBox="1"/>
          <p:nvPr/>
        </p:nvSpPr>
        <p:spPr>
          <a:xfrm>
            <a:off x="1170432" y="172821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Pide solo los campos que usas; un documento completo puede pesar decenas de KB.</a:t>
            </a:r>
            <a:endParaRPr lang="en-US" sz="980" dirty="0"/>
          </a:p>
        </p:txBody>
      </p:sp>
      <p:sp>
        <p:nvSpPr>
          <p:cNvPr id="12" name="Shape 9"/>
          <p:cNvSpPr/>
          <p:nvPr/>
        </p:nvSpPr>
        <p:spPr>
          <a:xfrm>
            <a:off x="4617720" y="141732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3" name="Shape 10"/>
          <p:cNvSpPr/>
          <p:nvPr/>
        </p:nvSpPr>
        <p:spPr>
          <a:xfrm>
            <a:off x="4754880" y="1554480"/>
            <a:ext cx="438912" cy="438912"/>
          </a:xfrm>
          <a:prstGeom prst="ellipse">
            <a:avLst/>
          </a:prstGeom>
          <a:solidFill>
            <a:srgbClr val="0B4DA2"/>
          </a:solidFill>
          <a:ln w="12700">
            <a:solidFill>
              <a:srgbClr val="0B4DA2"/>
            </a:solidFill>
            <a:prstDash val="solid"/>
          </a:ln>
        </p:spPr>
      </p:sp>
      <p:pic>
        <p:nvPicPr>
          <p:cNvPr id="14" name="Image 1" descr="preencoded.png"/>
          <p:cNvPicPr>
            <a:picLocks noChangeAspect="1"/>
          </p:cNvPicPr>
          <p:nvPr/>
        </p:nvPicPr>
        <p:blipFill>
          <a:blip r:embed="rId4"/>
          <a:stretch>
            <a:fillRect/>
          </a:stretch>
        </p:blipFill>
        <p:spPr>
          <a:xfrm>
            <a:off x="4868997" y="1668597"/>
            <a:ext cx="210678" cy="210678"/>
          </a:xfrm>
          <a:prstGeom prst="rect">
            <a:avLst/>
          </a:prstGeom>
        </p:spPr>
      </p:pic>
      <p:sp>
        <p:nvSpPr>
          <p:cNvPr id="15" name="Text 11"/>
          <p:cNvSpPr txBox="1"/>
          <p:nvPr/>
        </p:nvSpPr>
        <p:spPr>
          <a:xfrm>
            <a:off x="5330952" y="149047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Paginación controlada</a:t>
            </a:r>
            <a:endParaRPr lang="en-US" sz="1150" dirty="0"/>
          </a:p>
        </p:txBody>
      </p:sp>
      <p:sp>
        <p:nvSpPr>
          <p:cNvPr id="16" name="Text 12"/>
          <p:cNvSpPr txBox="1"/>
          <p:nvPr/>
        </p:nvSpPr>
        <p:spPr>
          <a:xfrm>
            <a:off x="5330952" y="172821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Prefer: odata.maxpagesize=N y sigue odata.nextLink en lugar de traer todo.</a:t>
            </a:r>
            <a:endParaRPr lang="en-US" sz="980" dirty="0"/>
          </a:p>
        </p:txBody>
      </p:sp>
      <p:sp>
        <p:nvSpPr>
          <p:cNvPr id="17" name="Shape 13"/>
          <p:cNvSpPr/>
          <p:nvPr/>
        </p:nvSpPr>
        <p:spPr>
          <a:xfrm>
            <a:off x="457200" y="224028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8" name="Shape 14"/>
          <p:cNvSpPr/>
          <p:nvPr/>
        </p:nvSpPr>
        <p:spPr>
          <a:xfrm>
            <a:off x="594360" y="2377440"/>
            <a:ext cx="438912" cy="438912"/>
          </a:xfrm>
          <a:prstGeom prst="ellipse">
            <a:avLst/>
          </a:prstGeom>
          <a:solidFill>
            <a:srgbClr val="0B4DA2"/>
          </a:solidFill>
          <a:ln w="12700">
            <a:solidFill>
              <a:srgbClr val="0B4DA2"/>
            </a:solidFill>
            <a:prstDash val="solid"/>
          </a:ln>
        </p:spPr>
      </p:sp>
      <p:pic>
        <p:nvPicPr>
          <p:cNvPr id="19" name="Image 2" descr="preencoded.png"/>
          <p:cNvPicPr>
            <a:picLocks noChangeAspect="1"/>
          </p:cNvPicPr>
          <p:nvPr/>
        </p:nvPicPr>
        <p:blipFill>
          <a:blip r:embed="rId5"/>
          <a:stretch>
            <a:fillRect/>
          </a:stretch>
        </p:blipFill>
        <p:spPr>
          <a:xfrm>
            <a:off x="708477" y="2491557"/>
            <a:ext cx="210678" cy="210678"/>
          </a:xfrm>
          <a:prstGeom prst="rect">
            <a:avLst/>
          </a:prstGeom>
        </p:spPr>
      </p:pic>
      <p:sp>
        <p:nvSpPr>
          <p:cNvPr id="20" name="Text 15"/>
          <p:cNvSpPr txBox="1"/>
          <p:nvPr/>
        </p:nvSpPr>
        <p:spPr>
          <a:xfrm>
            <a:off x="1170432" y="231343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Reutiliza la sesión</a:t>
            </a:r>
            <a:endParaRPr lang="en-US" sz="1150" dirty="0"/>
          </a:p>
        </p:txBody>
      </p:sp>
      <p:sp>
        <p:nvSpPr>
          <p:cNvPr id="21" name="Text 16"/>
          <p:cNvSpPr txBox="1"/>
          <p:nvPr/>
        </p:nvSpPr>
        <p:spPr>
          <a:xfrm>
            <a:off x="1170432" y="255117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Un login por proceso/usuario, no por petición: cada login cuesta tiempo y licencia.</a:t>
            </a:r>
            <a:endParaRPr lang="en-US" sz="980" dirty="0"/>
          </a:p>
        </p:txBody>
      </p:sp>
      <p:sp>
        <p:nvSpPr>
          <p:cNvPr id="22" name="Shape 17"/>
          <p:cNvSpPr/>
          <p:nvPr/>
        </p:nvSpPr>
        <p:spPr>
          <a:xfrm>
            <a:off x="4617720" y="224028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3" name="Shape 18"/>
          <p:cNvSpPr/>
          <p:nvPr/>
        </p:nvSpPr>
        <p:spPr>
          <a:xfrm>
            <a:off x="4754880" y="2377440"/>
            <a:ext cx="438912" cy="438912"/>
          </a:xfrm>
          <a:prstGeom prst="ellipse">
            <a:avLst/>
          </a:prstGeom>
          <a:solidFill>
            <a:srgbClr val="F5A800"/>
          </a:solidFill>
          <a:ln w="12700">
            <a:solidFill>
              <a:srgbClr val="F5A800"/>
            </a:solidFill>
            <a:prstDash val="solid"/>
          </a:ln>
        </p:spPr>
      </p:sp>
      <p:pic>
        <p:nvPicPr>
          <p:cNvPr id="24" name="Image 3" descr="preencoded.png"/>
          <p:cNvPicPr>
            <a:picLocks noChangeAspect="1"/>
          </p:cNvPicPr>
          <p:nvPr/>
        </p:nvPicPr>
        <p:blipFill>
          <a:blip r:embed="rId6"/>
          <a:stretch>
            <a:fillRect/>
          </a:stretch>
        </p:blipFill>
        <p:spPr>
          <a:xfrm>
            <a:off x="4868997" y="2491557"/>
            <a:ext cx="210678" cy="210678"/>
          </a:xfrm>
          <a:prstGeom prst="rect">
            <a:avLst/>
          </a:prstGeom>
        </p:spPr>
      </p:pic>
      <p:sp>
        <p:nvSpPr>
          <p:cNvPr id="25" name="Text 19"/>
          <p:cNvSpPr txBox="1"/>
          <p:nvPr/>
        </p:nvSpPr>
        <p:spPr>
          <a:xfrm>
            <a:off x="5330952" y="231343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HttpClient único</a:t>
            </a:r>
            <a:endParaRPr lang="en-US" sz="1150" dirty="0"/>
          </a:p>
        </p:txBody>
      </p:sp>
      <p:sp>
        <p:nvSpPr>
          <p:cNvPr id="26" name="Text 20"/>
          <p:cNvSpPr txBox="1"/>
          <p:nvPr/>
        </p:nvSpPr>
        <p:spPr>
          <a:xfrm>
            <a:off x="5330952" y="255117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Conexiones keep-alive y cookies B1SESSION/ROUTEID persistentes.</a:t>
            </a:r>
            <a:endParaRPr lang="en-US" sz="980" dirty="0"/>
          </a:p>
        </p:txBody>
      </p:sp>
      <p:sp>
        <p:nvSpPr>
          <p:cNvPr id="27" name="Shape 21"/>
          <p:cNvSpPr/>
          <p:nvPr/>
        </p:nvSpPr>
        <p:spPr>
          <a:xfrm>
            <a:off x="457200" y="306324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8" name="Shape 22"/>
          <p:cNvSpPr/>
          <p:nvPr/>
        </p:nvSpPr>
        <p:spPr>
          <a:xfrm>
            <a:off x="594360" y="3200400"/>
            <a:ext cx="438912" cy="438912"/>
          </a:xfrm>
          <a:prstGeom prst="ellipse">
            <a:avLst/>
          </a:prstGeom>
          <a:solidFill>
            <a:srgbClr val="0B4DA2"/>
          </a:solidFill>
          <a:ln w="12700">
            <a:solidFill>
              <a:srgbClr val="0B4DA2"/>
            </a:solidFill>
            <a:prstDash val="solid"/>
          </a:ln>
        </p:spPr>
      </p:sp>
      <p:pic>
        <p:nvPicPr>
          <p:cNvPr id="29" name="Image 4" descr="preencoded.png"/>
          <p:cNvPicPr>
            <a:picLocks noChangeAspect="1"/>
          </p:cNvPicPr>
          <p:nvPr/>
        </p:nvPicPr>
        <p:blipFill>
          <a:blip r:embed="rId7"/>
          <a:stretch>
            <a:fillRect/>
          </a:stretch>
        </p:blipFill>
        <p:spPr>
          <a:xfrm>
            <a:off x="708477" y="3314517"/>
            <a:ext cx="210678" cy="210678"/>
          </a:xfrm>
          <a:prstGeom prst="rect">
            <a:avLst/>
          </a:prstGeom>
        </p:spPr>
      </p:pic>
      <p:sp>
        <p:nvSpPr>
          <p:cNvPr id="30" name="Text 23"/>
          <p:cNvSpPr txBox="1"/>
          <p:nvPr/>
        </p:nvSpPr>
        <p:spPr>
          <a:xfrm>
            <a:off x="1170432" y="313639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Lecturas complejas</a:t>
            </a:r>
            <a:endParaRPr lang="en-US" sz="1150" dirty="0"/>
          </a:p>
        </p:txBody>
      </p:sp>
      <p:sp>
        <p:nvSpPr>
          <p:cNvPr id="31" name="Text 24"/>
          <p:cNvSpPr txBox="1"/>
          <p:nvPr/>
        </p:nvSpPr>
        <p:spPr>
          <a:xfrm>
            <a:off x="1170432" y="337413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SQLQueries o vistas semánticas en lugar de $expand anidados sobre documentos.</a:t>
            </a:r>
            <a:endParaRPr lang="en-US" sz="980" dirty="0"/>
          </a:p>
        </p:txBody>
      </p:sp>
      <p:sp>
        <p:nvSpPr>
          <p:cNvPr id="32" name="Shape 25"/>
          <p:cNvSpPr/>
          <p:nvPr/>
        </p:nvSpPr>
        <p:spPr>
          <a:xfrm>
            <a:off x="4617720" y="306324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3" name="Shape 26"/>
          <p:cNvSpPr/>
          <p:nvPr/>
        </p:nvSpPr>
        <p:spPr>
          <a:xfrm>
            <a:off x="4754880" y="3200400"/>
            <a:ext cx="438912" cy="438912"/>
          </a:xfrm>
          <a:prstGeom prst="ellipse">
            <a:avLst/>
          </a:prstGeom>
          <a:solidFill>
            <a:srgbClr val="0B4DA2"/>
          </a:solidFill>
          <a:ln w="12700">
            <a:solidFill>
              <a:srgbClr val="0B4DA2"/>
            </a:solidFill>
            <a:prstDash val="solid"/>
          </a:ln>
        </p:spPr>
      </p:sp>
      <p:pic>
        <p:nvPicPr>
          <p:cNvPr id="34" name="Image 5" descr="preencoded.png"/>
          <p:cNvPicPr>
            <a:picLocks noChangeAspect="1"/>
          </p:cNvPicPr>
          <p:nvPr/>
        </p:nvPicPr>
        <p:blipFill>
          <a:blip r:embed="rId8"/>
          <a:stretch>
            <a:fillRect/>
          </a:stretch>
        </p:blipFill>
        <p:spPr>
          <a:xfrm>
            <a:off x="4868997" y="3314517"/>
            <a:ext cx="210678" cy="210678"/>
          </a:xfrm>
          <a:prstGeom prst="rect">
            <a:avLst/>
          </a:prstGeom>
        </p:spPr>
      </p:pic>
      <p:sp>
        <p:nvSpPr>
          <p:cNvPr id="35" name="Text 27"/>
          <p:cNvSpPr txBox="1"/>
          <p:nvPr/>
        </p:nvSpPr>
        <p:spPr>
          <a:xfrm>
            <a:off x="5330952" y="313639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return-no-content</a:t>
            </a:r>
            <a:endParaRPr lang="en-US" sz="1150" dirty="0"/>
          </a:p>
        </p:txBody>
      </p:sp>
      <p:sp>
        <p:nvSpPr>
          <p:cNvPr id="36" name="Text 28"/>
          <p:cNvSpPr txBox="1"/>
          <p:nvPr/>
        </p:nvSpPr>
        <p:spPr>
          <a:xfrm>
            <a:off x="5330952" y="337413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Prefer: return-no-content en POST/PATCH si no necesitas el objeto devuelto.</a:t>
            </a:r>
            <a:endParaRPr lang="en-US" sz="980" dirty="0"/>
          </a:p>
        </p:txBody>
      </p:sp>
      <p:sp>
        <p:nvSpPr>
          <p:cNvPr id="37" name="Shape 29"/>
          <p:cNvSpPr/>
          <p:nvPr/>
        </p:nvSpPr>
        <p:spPr>
          <a:xfrm>
            <a:off x="457200" y="388620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8" name="Shape 30"/>
          <p:cNvSpPr/>
          <p:nvPr/>
        </p:nvSpPr>
        <p:spPr>
          <a:xfrm>
            <a:off x="594360" y="4023360"/>
            <a:ext cx="438912" cy="438912"/>
          </a:xfrm>
          <a:prstGeom prst="ellipse">
            <a:avLst/>
          </a:prstGeom>
          <a:solidFill>
            <a:srgbClr val="F5A800"/>
          </a:solidFill>
          <a:ln w="12700">
            <a:solidFill>
              <a:srgbClr val="F5A800"/>
            </a:solidFill>
            <a:prstDash val="solid"/>
          </a:ln>
        </p:spPr>
      </p:sp>
      <p:pic>
        <p:nvPicPr>
          <p:cNvPr id="39" name="Image 6" descr="preencoded.png"/>
          <p:cNvPicPr>
            <a:picLocks noChangeAspect="1"/>
          </p:cNvPicPr>
          <p:nvPr/>
        </p:nvPicPr>
        <p:blipFill>
          <a:blip r:embed="rId9"/>
          <a:stretch>
            <a:fillRect/>
          </a:stretch>
        </p:blipFill>
        <p:spPr>
          <a:xfrm>
            <a:off x="708477" y="4137477"/>
            <a:ext cx="210678" cy="210678"/>
          </a:xfrm>
          <a:prstGeom prst="rect">
            <a:avLst/>
          </a:prstGeom>
        </p:spPr>
      </p:pic>
      <p:sp>
        <p:nvSpPr>
          <p:cNvPr id="40" name="Text 31"/>
          <p:cNvSpPr txBox="1"/>
          <p:nvPr/>
        </p:nvSpPr>
        <p:spPr>
          <a:xfrm>
            <a:off x="1170432" y="395935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Agrupa con $batch</a:t>
            </a:r>
            <a:endParaRPr lang="en-US" sz="1150" dirty="0"/>
          </a:p>
        </p:txBody>
      </p:sp>
      <p:sp>
        <p:nvSpPr>
          <p:cNvPr id="41" name="Text 32"/>
          <p:cNvSpPr txBox="1"/>
          <p:nvPr/>
        </p:nvSpPr>
        <p:spPr>
          <a:xfrm>
            <a:off x="1170432" y="419709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Menos round-trips y transacciones consistentes para operaciones relacionadas.</a:t>
            </a:r>
            <a:endParaRPr lang="en-US" sz="980" dirty="0"/>
          </a:p>
        </p:txBody>
      </p:sp>
      <p:sp>
        <p:nvSpPr>
          <p:cNvPr id="42" name="Shape 33"/>
          <p:cNvSpPr/>
          <p:nvPr/>
        </p:nvSpPr>
        <p:spPr>
          <a:xfrm>
            <a:off x="4617720" y="3886200"/>
            <a:ext cx="4069080" cy="713232"/>
          </a:xfrm>
          <a:prstGeom prst="roundRect">
            <a:avLst>
              <a:gd name="adj" fmla="val 1025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43" name="Shape 34"/>
          <p:cNvSpPr/>
          <p:nvPr/>
        </p:nvSpPr>
        <p:spPr>
          <a:xfrm>
            <a:off x="4754880" y="4023360"/>
            <a:ext cx="438912" cy="438912"/>
          </a:xfrm>
          <a:prstGeom prst="ellipse">
            <a:avLst/>
          </a:prstGeom>
          <a:solidFill>
            <a:srgbClr val="0B4DA2"/>
          </a:solidFill>
          <a:ln w="12700">
            <a:solidFill>
              <a:srgbClr val="0B4DA2"/>
            </a:solidFill>
            <a:prstDash val="solid"/>
          </a:ln>
        </p:spPr>
      </p:sp>
      <p:pic>
        <p:nvPicPr>
          <p:cNvPr id="44" name="Image 7" descr="preencoded.png"/>
          <p:cNvPicPr>
            <a:picLocks noChangeAspect="1"/>
          </p:cNvPicPr>
          <p:nvPr/>
        </p:nvPicPr>
        <p:blipFill>
          <a:blip r:embed="rId10"/>
          <a:stretch>
            <a:fillRect/>
          </a:stretch>
        </p:blipFill>
        <p:spPr>
          <a:xfrm>
            <a:off x="4868997" y="4137477"/>
            <a:ext cx="210678" cy="210678"/>
          </a:xfrm>
          <a:prstGeom prst="rect">
            <a:avLst/>
          </a:prstGeom>
        </p:spPr>
      </p:pic>
      <p:sp>
        <p:nvSpPr>
          <p:cNvPr id="45" name="Text 35"/>
          <p:cNvSpPr txBox="1"/>
          <p:nvPr/>
        </p:nvSpPr>
        <p:spPr>
          <a:xfrm>
            <a:off x="5330952" y="3959352"/>
            <a:ext cx="324612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Operación del servidor</a:t>
            </a:r>
            <a:endParaRPr lang="en-US" sz="1150" dirty="0"/>
          </a:p>
        </p:txBody>
      </p:sp>
      <p:sp>
        <p:nvSpPr>
          <p:cNvPr id="46" name="Text 36"/>
          <p:cNvSpPr txBox="1"/>
          <p:nvPr/>
        </p:nvSpPr>
        <p:spPr>
          <a:xfrm>
            <a:off x="5330952" y="4197096"/>
            <a:ext cx="329184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Log mínimo en producción, monitoreo de memoria por nodo y reinicios planificados.</a:t>
            </a:r>
            <a:endParaRPr lang="en-US" sz="980" dirty="0"/>
          </a:p>
        </p:txBody>
      </p:sp>
      <p:sp>
        <p:nvSpPr>
          <p:cNvPr id="47"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03</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Flujos de operación I</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Login   •   Autenticación con SLD   •   Token de sesión   •   Consumo de endpoints</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362810"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362810"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03  ·  FLUJOS DE OPERACIÓN 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Flujo base de una transacción</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365760" y="1188720"/>
            <a:ext cx="8412480" cy="3584448"/>
          </a:xfrm>
          <a:prstGeom prst="roundRect">
            <a:avLst>
              <a:gd name="adj" fmla="val 204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pic>
        <p:nvPicPr>
          <p:cNvPr id="7" name="Image 0" descr="seq.png"/>
          <p:cNvPicPr>
            <a:picLocks noChangeAspect="1"/>
          </p:cNvPicPr>
          <p:nvPr/>
        </p:nvPicPr>
        <p:blipFill>
          <a:blip r:embed="rId3"/>
          <a:stretch>
            <a:fillRect/>
          </a:stretch>
        </p:blipFill>
        <p:spPr>
          <a:xfrm>
            <a:off x="457200" y="1243584"/>
            <a:ext cx="8229600" cy="3534474"/>
          </a:xfrm>
          <a:prstGeom prst="rect">
            <a:avLst/>
          </a:prstGeom>
        </p:spPr>
      </p:pic>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362810"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362810"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03  ·  FLUJOS DE OPERACIÓN 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Login y token de sesión</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234440"/>
            <a:ext cx="4114800" cy="1874520"/>
          </a:xfrm>
          <a:prstGeom prst="roundRect">
            <a:avLst>
              <a:gd name="adj" fmla="val 341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7" name="Shape 5"/>
          <p:cNvSpPr/>
          <p:nvPr/>
        </p:nvSpPr>
        <p:spPr>
          <a:xfrm>
            <a:off x="594360" y="1344168"/>
            <a:ext cx="73152" cy="73152"/>
          </a:xfrm>
          <a:prstGeom prst="ellipse">
            <a:avLst/>
          </a:prstGeom>
          <a:solidFill>
            <a:srgbClr val="FF5F56"/>
          </a:solidFill>
          <a:ln w="12700">
            <a:solidFill>
              <a:srgbClr val="FF5F56"/>
            </a:solidFill>
            <a:prstDash val="solid"/>
          </a:ln>
        </p:spPr>
      </p:sp>
      <p:sp>
        <p:nvSpPr>
          <p:cNvPr id="8" name="Shape 6"/>
          <p:cNvSpPr/>
          <p:nvPr/>
        </p:nvSpPr>
        <p:spPr>
          <a:xfrm>
            <a:off x="722376" y="1344168"/>
            <a:ext cx="73152" cy="73152"/>
          </a:xfrm>
          <a:prstGeom prst="ellipse">
            <a:avLst/>
          </a:prstGeom>
          <a:solidFill>
            <a:srgbClr val="FFBD2E"/>
          </a:solidFill>
          <a:ln w="12700">
            <a:solidFill>
              <a:srgbClr val="FFBD2E"/>
            </a:solidFill>
            <a:prstDash val="solid"/>
          </a:ln>
        </p:spPr>
      </p:sp>
      <p:sp>
        <p:nvSpPr>
          <p:cNvPr id="9" name="Shape 7"/>
          <p:cNvSpPr/>
          <p:nvPr/>
        </p:nvSpPr>
        <p:spPr>
          <a:xfrm>
            <a:off x="850392" y="1344168"/>
            <a:ext cx="73152" cy="73152"/>
          </a:xfrm>
          <a:prstGeom prst="ellipse">
            <a:avLst/>
          </a:prstGeom>
          <a:solidFill>
            <a:srgbClr val="27C93F"/>
          </a:solidFill>
          <a:ln w="12700">
            <a:solidFill>
              <a:srgbClr val="27C93F"/>
            </a:solidFill>
            <a:prstDash val="solid"/>
          </a:ln>
        </p:spPr>
      </p:sp>
      <p:sp>
        <p:nvSpPr>
          <p:cNvPr id="10" name="Text 8"/>
          <p:cNvSpPr txBox="1"/>
          <p:nvPr/>
        </p:nvSpPr>
        <p:spPr>
          <a:xfrm>
            <a:off x="1024128" y="1289304"/>
            <a:ext cx="342900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REQUEST · POST /Login</a:t>
            </a:r>
            <a:endParaRPr lang="en-US" sz="850" dirty="0"/>
          </a:p>
        </p:txBody>
      </p:sp>
      <p:sp>
        <p:nvSpPr>
          <p:cNvPr id="11" name="Text 9"/>
          <p:cNvSpPr txBox="1"/>
          <p:nvPr/>
        </p:nvSpPr>
        <p:spPr>
          <a:xfrm>
            <a:off x="594360" y="1527048"/>
            <a:ext cx="3840480" cy="1508760"/>
          </a:xfrm>
          <a:prstGeom prst="rect">
            <a:avLst/>
          </a:prstGeom>
          <a:noFill/>
          <a:ln/>
        </p:spPr>
        <p:txBody>
          <a:bodyPr wrap="square" lIns="0" tIns="0" rIns="0" bIns="0" rtlCol="0" anchor="t"/>
          <a:lstStyle/>
          <a:p>
            <a:pPr marL="0" indent="0">
              <a:lnSpc>
                <a:spcPct val="100000"/>
              </a:lnSpc>
              <a:buNone/>
            </a:pPr>
            <a:r>
              <a:rPr lang="en-US" sz="900" b="1" dirty="0">
                <a:solidFill>
                  <a:srgbClr val="F5A800"/>
                </a:solidFill>
                <a:latin typeface="Consolas" pitchFamily="34" charset="0"/>
                <a:ea typeface="Consolas" pitchFamily="34" charset="-122"/>
                <a:cs typeface="Consolas" pitchFamily="34" charset="-120"/>
              </a:rPr>
              <a:t>curl</a:t>
            </a:r>
            <a:r>
              <a:rPr lang="en-US" sz="900" dirty="0">
                <a:solidFill>
                  <a:srgbClr val="DCE6F2"/>
                </a:solidFill>
                <a:latin typeface="Consolas" pitchFamily="34" charset="0"/>
                <a:ea typeface="Consolas" pitchFamily="34" charset="-122"/>
                <a:cs typeface="Consolas" pitchFamily="34" charset="-120"/>
              </a:rPr>
              <a:t> -k -c cookies.txt -X </a:t>
            </a:r>
            <a:r>
              <a:rPr lang="en-US" sz="900" b="1" dirty="0">
                <a:solidFill>
                  <a:srgbClr val="F5A800"/>
                </a:solidFill>
                <a:latin typeface="Consolas" pitchFamily="34" charset="0"/>
                <a:ea typeface="Consolas" pitchFamily="34" charset="-122"/>
                <a:cs typeface="Consolas" pitchFamily="34" charset="-120"/>
              </a:rPr>
              <a:t>POST</a:t>
            </a:r>
            <a:r>
              <a:rPr lang="en-US" sz="900" dirty="0">
                <a:solidFill>
                  <a:srgbClr val="DCE6F2"/>
                </a:solidFill>
                <a:latin typeface="Consolas" pitchFamily="34" charset="0"/>
                <a:ea typeface="Consolas" pitchFamily="34" charset="-122"/>
                <a:cs typeface="Consolas" pitchFamily="34" charset="-120"/>
              </a:rPr>
              <a:t> \</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"https://sapserver:50000/b1s/v1/Login"</a:t>
            </a:r>
            <a:r>
              <a:rPr lang="en-US" sz="900" dirty="0">
                <a:solidFill>
                  <a:srgbClr val="DCE6F2"/>
                </a:solidFill>
                <a:latin typeface="Consolas" pitchFamily="34" charset="0"/>
                <a:ea typeface="Consolas" pitchFamily="34" charset="-122"/>
                <a:cs typeface="Consolas" pitchFamily="34" charset="-120"/>
              </a:rPr>
              <a:t> \</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-H </a:t>
            </a:r>
            <a:r>
              <a:rPr lang="en-US" sz="900" dirty="0">
                <a:solidFill>
                  <a:srgbClr val="B5E48C"/>
                </a:solidFill>
                <a:latin typeface="Consolas" pitchFamily="34" charset="0"/>
                <a:ea typeface="Consolas" pitchFamily="34" charset="-122"/>
                <a:cs typeface="Consolas" pitchFamily="34" charset="-120"/>
              </a:rPr>
              <a:t>"Content-Type: application/json"</a:t>
            </a:r>
            <a:r>
              <a:rPr lang="en-US" sz="900" dirty="0">
                <a:solidFill>
                  <a:srgbClr val="DCE6F2"/>
                </a:solidFill>
                <a:latin typeface="Consolas" pitchFamily="34" charset="0"/>
                <a:ea typeface="Consolas" pitchFamily="34" charset="-122"/>
                <a:cs typeface="Consolas" pitchFamily="34" charset="-120"/>
              </a:rPr>
              <a:t> \</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-d '{</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"CompanyDB"</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"SBO_VENTURA_PRD"</a:t>
            </a: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"UserName"</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"manager"</a:t>
            </a: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"Password"</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endParaRPr lang="en-US" sz="900" dirty="0"/>
          </a:p>
        </p:txBody>
      </p:sp>
      <p:sp>
        <p:nvSpPr>
          <p:cNvPr id="12" name="Shape 10"/>
          <p:cNvSpPr/>
          <p:nvPr/>
        </p:nvSpPr>
        <p:spPr>
          <a:xfrm>
            <a:off x="457200" y="3200400"/>
            <a:ext cx="4114800" cy="1554480"/>
          </a:xfrm>
          <a:prstGeom prst="roundRect">
            <a:avLst>
              <a:gd name="adj" fmla="val 4118"/>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3" name="Shape 11"/>
          <p:cNvSpPr/>
          <p:nvPr/>
        </p:nvSpPr>
        <p:spPr>
          <a:xfrm>
            <a:off x="594360" y="3310128"/>
            <a:ext cx="73152" cy="73152"/>
          </a:xfrm>
          <a:prstGeom prst="ellipse">
            <a:avLst/>
          </a:prstGeom>
          <a:solidFill>
            <a:srgbClr val="FF5F56"/>
          </a:solidFill>
          <a:ln w="12700">
            <a:solidFill>
              <a:srgbClr val="FF5F56"/>
            </a:solidFill>
            <a:prstDash val="solid"/>
          </a:ln>
        </p:spPr>
      </p:sp>
      <p:sp>
        <p:nvSpPr>
          <p:cNvPr id="14" name="Shape 12"/>
          <p:cNvSpPr/>
          <p:nvPr/>
        </p:nvSpPr>
        <p:spPr>
          <a:xfrm>
            <a:off x="722376" y="3310128"/>
            <a:ext cx="73152" cy="73152"/>
          </a:xfrm>
          <a:prstGeom prst="ellipse">
            <a:avLst/>
          </a:prstGeom>
          <a:solidFill>
            <a:srgbClr val="FFBD2E"/>
          </a:solidFill>
          <a:ln w="12700">
            <a:solidFill>
              <a:srgbClr val="FFBD2E"/>
            </a:solidFill>
            <a:prstDash val="solid"/>
          </a:ln>
        </p:spPr>
      </p:sp>
      <p:sp>
        <p:nvSpPr>
          <p:cNvPr id="15" name="Shape 13"/>
          <p:cNvSpPr/>
          <p:nvPr/>
        </p:nvSpPr>
        <p:spPr>
          <a:xfrm>
            <a:off x="850392" y="3310128"/>
            <a:ext cx="73152" cy="73152"/>
          </a:xfrm>
          <a:prstGeom prst="ellipse">
            <a:avLst/>
          </a:prstGeom>
          <a:solidFill>
            <a:srgbClr val="27C93F"/>
          </a:solidFill>
          <a:ln w="12700">
            <a:solidFill>
              <a:srgbClr val="27C93F"/>
            </a:solidFill>
            <a:prstDash val="solid"/>
          </a:ln>
        </p:spPr>
      </p:sp>
      <p:sp>
        <p:nvSpPr>
          <p:cNvPr id="16" name="Text 14"/>
          <p:cNvSpPr txBox="1"/>
          <p:nvPr/>
        </p:nvSpPr>
        <p:spPr>
          <a:xfrm>
            <a:off x="1024128" y="3255264"/>
            <a:ext cx="342900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RESPONSE</a:t>
            </a:r>
            <a:endParaRPr lang="en-US" sz="850" dirty="0"/>
          </a:p>
        </p:txBody>
      </p:sp>
      <p:sp>
        <p:nvSpPr>
          <p:cNvPr id="17" name="Text 15"/>
          <p:cNvSpPr txBox="1"/>
          <p:nvPr/>
        </p:nvSpPr>
        <p:spPr>
          <a:xfrm>
            <a:off x="594360" y="3493008"/>
            <a:ext cx="3840480" cy="1188720"/>
          </a:xfrm>
          <a:prstGeom prst="rect">
            <a:avLst/>
          </a:prstGeom>
          <a:noFill/>
          <a:ln/>
        </p:spPr>
        <p:txBody>
          <a:bodyPr wrap="square" lIns="0" tIns="0" rIns="0" bIns="0" rtlCol="0" anchor="t"/>
          <a:lstStyle/>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HTTP/1.1 200 OK</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Set-Cookie: B1SESSION=6f4c1a2e-...; HttpOnly</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Set-Cookie: ROUTEID=.node2; path=/b1s</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"SessionId"</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"6f4c1a2e-..."</a:t>
            </a: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"Version"</a:t>
            </a:r>
            <a:r>
              <a:rPr lang="en-US" sz="900" dirty="0">
                <a:solidFill>
                  <a:srgbClr val="DCE6F2"/>
                </a:solidFill>
                <a:latin typeface="Consolas" pitchFamily="34" charset="0"/>
                <a:ea typeface="Consolas" pitchFamily="34" charset="-122"/>
                <a:cs typeface="Consolas" pitchFamily="34" charset="-120"/>
              </a:rPr>
              <a:t>: </a:t>
            </a:r>
            <a:r>
              <a:rPr lang="en-US" sz="900" dirty="0">
                <a:solidFill>
                  <a:srgbClr val="B5E48C"/>
                </a:solidFill>
                <a:latin typeface="Consolas" pitchFamily="34" charset="0"/>
                <a:ea typeface="Consolas" pitchFamily="34" charset="-122"/>
                <a:cs typeface="Consolas" pitchFamily="34" charset="-120"/>
              </a:rPr>
              <a:t>"1000xxx"</a:t>
            </a:r>
            <a:r>
              <a:rPr lang="en-US" sz="900" dirty="0">
                <a:solidFill>
                  <a:srgbClr val="DCE6F2"/>
                </a:solidFill>
                <a:latin typeface="Consolas" pitchFamily="34" charset="0"/>
                <a:ea typeface="Consolas" pitchFamily="34" charset="-122"/>
                <a:cs typeface="Consolas" pitchFamily="34" charset="-120"/>
              </a:rPr>
              <a:t>,</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  </a:t>
            </a:r>
            <a:r>
              <a:rPr lang="en-US" sz="900" dirty="0">
                <a:solidFill>
                  <a:srgbClr val="7FD1FF"/>
                </a:solidFill>
                <a:latin typeface="Consolas" pitchFamily="34" charset="0"/>
                <a:ea typeface="Consolas" pitchFamily="34" charset="-122"/>
                <a:cs typeface="Consolas" pitchFamily="34" charset="-120"/>
              </a:rPr>
              <a:t>"SessionTimeout"</a:t>
            </a:r>
            <a:r>
              <a:rPr lang="en-US" sz="900" dirty="0">
                <a:solidFill>
                  <a:srgbClr val="DCE6F2"/>
                </a:solidFill>
                <a:latin typeface="Consolas" pitchFamily="34" charset="0"/>
                <a:ea typeface="Consolas" pitchFamily="34" charset="-122"/>
                <a:cs typeface="Consolas" pitchFamily="34" charset="-120"/>
              </a:rPr>
              <a:t>: 30</a:t>
            </a:r>
            <a:endParaRPr lang="en-US" sz="900" dirty="0"/>
          </a:p>
          <a:p>
            <a:pPr marL="0" indent="0">
              <a:lnSpc>
                <a:spcPct val="100000"/>
              </a:lnSpc>
              <a:buNone/>
            </a:pPr>
            <a:r>
              <a:rPr lang="en-US" sz="900" dirty="0">
                <a:solidFill>
                  <a:srgbClr val="DCE6F2"/>
                </a:solidFill>
                <a:latin typeface="Consolas" pitchFamily="34" charset="0"/>
                <a:ea typeface="Consolas" pitchFamily="34" charset="-122"/>
                <a:cs typeface="Consolas" pitchFamily="34" charset="-120"/>
              </a:rPr>
              <a:t>}</a:t>
            </a:r>
            <a:endParaRPr lang="en-US" sz="900" dirty="0"/>
          </a:p>
        </p:txBody>
      </p:sp>
      <p:sp>
        <p:nvSpPr>
          <p:cNvPr id="18" name="Shape 16"/>
          <p:cNvSpPr/>
          <p:nvPr/>
        </p:nvSpPr>
        <p:spPr>
          <a:xfrm>
            <a:off x="4800600" y="1234440"/>
            <a:ext cx="3886200" cy="777240"/>
          </a:xfrm>
          <a:prstGeom prst="roundRect">
            <a:avLst>
              <a:gd name="adj" fmla="val 941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9" name="Shape 17"/>
          <p:cNvSpPr/>
          <p:nvPr/>
        </p:nvSpPr>
        <p:spPr>
          <a:xfrm>
            <a:off x="4937760" y="1389888"/>
            <a:ext cx="457200" cy="457200"/>
          </a:xfrm>
          <a:prstGeom prst="ellipse">
            <a:avLst/>
          </a:prstGeom>
          <a:solidFill>
            <a:srgbClr val="E8F1FC"/>
          </a:solidFill>
          <a:ln w="12700">
            <a:solidFill>
              <a:srgbClr val="E8F1FC"/>
            </a:solidFill>
            <a:prstDash val="solid"/>
          </a:ln>
        </p:spPr>
      </p:sp>
      <p:pic>
        <p:nvPicPr>
          <p:cNvPr id="20" name="Image 0" descr="preencoded.png"/>
          <p:cNvPicPr>
            <a:picLocks noChangeAspect="1"/>
          </p:cNvPicPr>
          <p:nvPr/>
        </p:nvPicPr>
        <p:blipFill>
          <a:blip r:embed="rId3"/>
          <a:stretch>
            <a:fillRect/>
          </a:stretch>
        </p:blipFill>
        <p:spPr>
          <a:xfrm>
            <a:off x="5056632" y="1508760"/>
            <a:ext cx="219456" cy="219456"/>
          </a:xfrm>
          <a:prstGeom prst="rect">
            <a:avLst/>
          </a:prstGeom>
        </p:spPr>
      </p:pic>
      <p:sp>
        <p:nvSpPr>
          <p:cNvPr id="21" name="Text 18"/>
          <p:cNvSpPr txBox="1"/>
          <p:nvPr/>
        </p:nvSpPr>
        <p:spPr>
          <a:xfrm>
            <a:off x="5532120" y="1325880"/>
            <a:ext cx="3017520" cy="256032"/>
          </a:xfrm>
          <a:prstGeom prst="rect">
            <a:avLst/>
          </a:prstGeom>
          <a:noFill/>
          <a:ln/>
        </p:spPr>
        <p:txBody>
          <a:bodyPr wrap="square" lIns="0" tIns="0" rIns="0" bIns="0" rtlCol="0" anchor="t"/>
          <a:lstStyle/>
          <a:p>
            <a:pPr marL="0" indent="0">
              <a:buNone/>
            </a:pPr>
            <a:r>
              <a:rPr lang="en-US" sz="1150" b="1" dirty="0">
                <a:solidFill>
                  <a:srgbClr val="071B3F"/>
                </a:solidFill>
                <a:latin typeface="Consolas" pitchFamily="34" charset="0"/>
                <a:ea typeface="Consolas" pitchFamily="34" charset="-122"/>
                <a:cs typeface="Consolas" pitchFamily="34" charset="-120"/>
              </a:rPr>
              <a:t>B1SESSION</a:t>
            </a:r>
            <a:endParaRPr lang="en-US" sz="1150" dirty="0"/>
          </a:p>
        </p:txBody>
      </p:sp>
      <p:sp>
        <p:nvSpPr>
          <p:cNvPr id="22" name="Text 19"/>
          <p:cNvSpPr txBox="1"/>
          <p:nvPr/>
        </p:nvSpPr>
        <p:spPr>
          <a:xfrm>
            <a:off x="5532120" y="1581912"/>
            <a:ext cx="3063240" cy="41148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Token de sesión. Se envía como cookie en cada petición posterior.</a:t>
            </a:r>
            <a:endParaRPr lang="en-US" sz="1000" dirty="0"/>
          </a:p>
        </p:txBody>
      </p:sp>
      <p:sp>
        <p:nvSpPr>
          <p:cNvPr id="23" name="Shape 20"/>
          <p:cNvSpPr/>
          <p:nvPr/>
        </p:nvSpPr>
        <p:spPr>
          <a:xfrm>
            <a:off x="4800600" y="2121408"/>
            <a:ext cx="3886200" cy="777240"/>
          </a:xfrm>
          <a:prstGeom prst="roundRect">
            <a:avLst>
              <a:gd name="adj" fmla="val 941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4" name="Shape 21"/>
          <p:cNvSpPr/>
          <p:nvPr/>
        </p:nvSpPr>
        <p:spPr>
          <a:xfrm>
            <a:off x="4937760" y="2276856"/>
            <a:ext cx="457200" cy="457200"/>
          </a:xfrm>
          <a:prstGeom prst="ellipse">
            <a:avLst/>
          </a:prstGeom>
          <a:solidFill>
            <a:srgbClr val="E8F1FC"/>
          </a:solidFill>
          <a:ln w="12700">
            <a:solidFill>
              <a:srgbClr val="E8F1FC"/>
            </a:solidFill>
            <a:prstDash val="solid"/>
          </a:ln>
        </p:spPr>
      </p:sp>
      <p:pic>
        <p:nvPicPr>
          <p:cNvPr id="25" name="Image 1" descr="preencoded.png"/>
          <p:cNvPicPr>
            <a:picLocks noChangeAspect="1"/>
          </p:cNvPicPr>
          <p:nvPr/>
        </p:nvPicPr>
        <p:blipFill>
          <a:blip r:embed="rId4"/>
          <a:stretch>
            <a:fillRect/>
          </a:stretch>
        </p:blipFill>
        <p:spPr>
          <a:xfrm>
            <a:off x="5056632" y="2395728"/>
            <a:ext cx="219456" cy="219456"/>
          </a:xfrm>
          <a:prstGeom prst="rect">
            <a:avLst/>
          </a:prstGeom>
        </p:spPr>
      </p:pic>
      <p:sp>
        <p:nvSpPr>
          <p:cNvPr id="26" name="Text 22"/>
          <p:cNvSpPr txBox="1"/>
          <p:nvPr/>
        </p:nvSpPr>
        <p:spPr>
          <a:xfrm>
            <a:off x="5532120" y="2212848"/>
            <a:ext cx="3017520" cy="256032"/>
          </a:xfrm>
          <a:prstGeom prst="rect">
            <a:avLst/>
          </a:prstGeom>
          <a:noFill/>
          <a:ln/>
        </p:spPr>
        <p:txBody>
          <a:bodyPr wrap="square" lIns="0" tIns="0" rIns="0" bIns="0" rtlCol="0" anchor="t"/>
          <a:lstStyle/>
          <a:p>
            <a:pPr marL="0" indent="0">
              <a:buNone/>
            </a:pPr>
            <a:r>
              <a:rPr lang="en-US" sz="1150" b="1" dirty="0">
                <a:solidFill>
                  <a:srgbClr val="071B3F"/>
                </a:solidFill>
                <a:latin typeface="Consolas" pitchFamily="34" charset="0"/>
                <a:ea typeface="Consolas" pitchFamily="34" charset="-122"/>
                <a:cs typeface="Consolas" pitchFamily="34" charset="-120"/>
              </a:rPr>
              <a:t>ROUTEID</a:t>
            </a:r>
            <a:endParaRPr lang="en-US" sz="1150" dirty="0"/>
          </a:p>
        </p:txBody>
      </p:sp>
      <p:sp>
        <p:nvSpPr>
          <p:cNvPr id="27" name="Text 23"/>
          <p:cNvSpPr txBox="1"/>
          <p:nvPr/>
        </p:nvSpPr>
        <p:spPr>
          <a:xfrm>
            <a:off x="5532120" y="2468880"/>
            <a:ext cx="3063240" cy="41148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Identifica el nodo que creó la sesión (afinidad en el balanceador).</a:t>
            </a:r>
            <a:endParaRPr lang="en-US" sz="1000" dirty="0"/>
          </a:p>
        </p:txBody>
      </p:sp>
      <p:sp>
        <p:nvSpPr>
          <p:cNvPr id="28" name="Shape 24"/>
          <p:cNvSpPr/>
          <p:nvPr/>
        </p:nvSpPr>
        <p:spPr>
          <a:xfrm>
            <a:off x="4800600" y="3008376"/>
            <a:ext cx="3886200" cy="777240"/>
          </a:xfrm>
          <a:prstGeom prst="roundRect">
            <a:avLst>
              <a:gd name="adj" fmla="val 941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9" name="Shape 25"/>
          <p:cNvSpPr/>
          <p:nvPr/>
        </p:nvSpPr>
        <p:spPr>
          <a:xfrm>
            <a:off x="4937760" y="3163824"/>
            <a:ext cx="457200" cy="457200"/>
          </a:xfrm>
          <a:prstGeom prst="ellipse">
            <a:avLst/>
          </a:prstGeom>
          <a:solidFill>
            <a:srgbClr val="E8F1FC"/>
          </a:solidFill>
          <a:ln w="12700">
            <a:solidFill>
              <a:srgbClr val="E8F1FC"/>
            </a:solidFill>
            <a:prstDash val="solid"/>
          </a:ln>
        </p:spPr>
      </p:sp>
      <p:pic>
        <p:nvPicPr>
          <p:cNvPr id="30" name="Image 2" descr="preencoded.png"/>
          <p:cNvPicPr>
            <a:picLocks noChangeAspect="1"/>
          </p:cNvPicPr>
          <p:nvPr/>
        </p:nvPicPr>
        <p:blipFill>
          <a:blip r:embed="rId5"/>
          <a:stretch>
            <a:fillRect/>
          </a:stretch>
        </p:blipFill>
        <p:spPr>
          <a:xfrm>
            <a:off x="5056632" y="3282696"/>
            <a:ext cx="219456" cy="219456"/>
          </a:xfrm>
          <a:prstGeom prst="rect">
            <a:avLst/>
          </a:prstGeom>
        </p:spPr>
      </p:pic>
      <p:sp>
        <p:nvSpPr>
          <p:cNvPr id="31" name="Text 26"/>
          <p:cNvSpPr txBox="1"/>
          <p:nvPr/>
        </p:nvSpPr>
        <p:spPr>
          <a:xfrm>
            <a:off x="5532120" y="3099816"/>
            <a:ext cx="3017520" cy="256032"/>
          </a:xfrm>
          <a:prstGeom prst="rect">
            <a:avLst/>
          </a:prstGeom>
          <a:noFill/>
          <a:ln/>
        </p:spPr>
        <p:txBody>
          <a:bodyPr wrap="square" lIns="0" tIns="0" rIns="0" bIns="0" rtlCol="0" anchor="t"/>
          <a:lstStyle/>
          <a:p>
            <a:pPr marL="0" indent="0">
              <a:buNone/>
            </a:pPr>
            <a:r>
              <a:rPr lang="en-US" sz="1150" b="1" dirty="0">
                <a:solidFill>
                  <a:srgbClr val="071B3F"/>
                </a:solidFill>
                <a:latin typeface="Consolas" pitchFamily="34" charset="0"/>
                <a:ea typeface="Consolas" pitchFamily="34" charset="-122"/>
                <a:cs typeface="Consolas" pitchFamily="34" charset="-120"/>
              </a:rPr>
              <a:t>SessionTimeout</a:t>
            </a:r>
            <a:endParaRPr lang="en-US" sz="1150" dirty="0"/>
          </a:p>
        </p:txBody>
      </p:sp>
      <p:sp>
        <p:nvSpPr>
          <p:cNvPr id="32" name="Text 27"/>
          <p:cNvSpPr txBox="1"/>
          <p:nvPr/>
        </p:nvSpPr>
        <p:spPr>
          <a:xfrm>
            <a:off x="5532120" y="3355848"/>
            <a:ext cx="3063240" cy="41148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Minutos de inactividad antes de expirar. Luego: 401 → re-login.</a:t>
            </a:r>
            <a:endParaRPr lang="en-US" sz="1000" dirty="0"/>
          </a:p>
        </p:txBody>
      </p:sp>
      <p:sp>
        <p:nvSpPr>
          <p:cNvPr id="33" name="Shape 28"/>
          <p:cNvSpPr/>
          <p:nvPr/>
        </p:nvSpPr>
        <p:spPr>
          <a:xfrm>
            <a:off x="4800600" y="3895344"/>
            <a:ext cx="3886200" cy="777240"/>
          </a:xfrm>
          <a:prstGeom prst="roundRect">
            <a:avLst>
              <a:gd name="adj" fmla="val 941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4" name="Shape 29"/>
          <p:cNvSpPr/>
          <p:nvPr/>
        </p:nvSpPr>
        <p:spPr>
          <a:xfrm>
            <a:off x="4937760" y="4050792"/>
            <a:ext cx="457200" cy="457200"/>
          </a:xfrm>
          <a:prstGeom prst="ellipse">
            <a:avLst/>
          </a:prstGeom>
          <a:solidFill>
            <a:srgbClr val="E8F1FC"/>
          </a:solidFill>
          <a:ln w="12700">
            <a:solidFill>
              <a:srgbClr val="E8F1FC"/>
            </a:solidFill>
            <a:prstDash val="solid"/>
          </a:ln>
        </p:spPr>
      </p:sp>
      <p:pic>
        <p:nvPicPr>
          <p:cNvPr id="35" name="Image 3" descr="preencoded.png"/>
          <p:cNvPicPr>
            <a:picLocks noChangeAspect="1"/>
          </p:cNvPicPr>
          <p:nvPr/>
        </p:nvPicPr>
        <p:blipFill>
          <a:blip r:embed="rId6"/>
          <a:stretch>
            <a:fillRect/>
          </a:stretch>
        </p:blipFill>
        <p:spPr>
          <a:xfrm>
            <a:off x="5056632" y="4169664"/>
            <a:ext cx="219456" cy="219456"/>
          </a:xfrm>
          <a:prstGeom prst="rect">
            <a:avLst/>
          </a:prstGeom>
        </p:spPr>
      </p:pic>
      <p:sp>
        <p:nvSpPr>
          <p:cNvPr id="36" name="Text 30"/>
          <p:cNvSpPr txBox="1"/>
          <p:nvPr/>
        </p:nvSpPr>
        <p:spPr>
          <a:xfrm>
            <a:off x="5532120" y="3986784"/>
            <a:ext cx="3017520" cy="256032"/>
          </a:xfrm>
          <a:prstGeom prst="rect">
            <a:avLst/>
          </a:prstGeom>
          <a:noFill/>
          <a:ln/>
        </p:spPr>
        <p:txBody>
          <a:bodyPr wrap="square" lIns="0" tIns="0" rIns="0" bIns="0" rtlCol="0" anchor="t"/>
          <a:lstStyle/>
          <a:p>
            <a:pPr marL="0" indent="0">
              <a:buNone/>
            </a:pPr>
            <a:r>
              <a:rPr lang="en-US" sz="1150" b="1" dirty="0">
                <a:solidFill>
                  <a:srgbClr val="071B3F"/>
                </a:solidFill>
                <a:latin typeface="Consolas" pitchFamily="34" charset="0"/>
                <a:ea typeface="Consolas" pitchFamily="34" charset="-122"/>
                <a:cs typeface="Consolas" pitchFamily="34" charset="-120"/>
              </a:rPr>
              <a:t>POST /Logout</a:t>
            </a:r>
            <a:endParaRPr lang="en-US" sz="1150" dirty="0"/>
          </a:p>
        </p:txBody>
      </p:sp>
      <p:sp>
        <p:nvSpPr>
          <p:cNvPr id="37" name="Text 31"/>
          <p:cNvSpPr txBox="1"/>
          <p:nvPr/>
        </p:nvSpPr>
        <p:spPr>
          <a:xfrm>
            <a:off x="5532120" y="4242816"/>
            <a:ext cx="3063240" cy="41148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Cierra la sesión y libera la licencia. Respuesta 204 No Content.</a:t>
            </a:r>
            <a:endParaRPr lang="en-US" sz="1000" dirty="0"/>
          </a:p>
        </p:txBody>
      </p:sp>
      <p:sp>
        <p:nvSpPr>
          <p:cNvPr id="38"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362810"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362810"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03  ·  FLUJOS DE OPERACIÓN 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Consumo de endpoints: anatomía de una URL</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234440"/>
            <a:ext cx="8229600" cy="1234440"/>
          </a:xfrm>
          <a:prstGeom prst="roundRect">
            <a:avLst>
              <a:gd name="adj" fmla="val 5926"/>
            </a:avLst>
          </a:prstGeom>
          <a:solidFill>
            <a:srgbClr val="071B3F"/>
          </a:solidFill>
          <a:ln w="9525">
            <a:solidFill>
              <a:srgbClr val="D5DFEC"/>
            </a:solidFill>
            <a:prstDash val="solid"/>
          </a:ln>
          <a:effectLst>
            <a:outerShdw blurRad="101600" dist="25400" dir="5400000" algn="bl" rotWithShape="0">
              <a:srgbClr val="0B2A55">
                <a:alpha val="12000"/>
              </a:srgbClr>
            </a:outerShdw>
          </a:effectLst>
        </p:spPr>
      </p:sp>
      <p:sp>
        <p:nvSpPr>
          <p:cNvPr id="7" name="Text 5"/>
          <p:cNvSpPr txBox="1"/>
          <p:nvPr/>
        </p:nvSpPr>
        <p:spPr>
          <a:xfrm>
            <a:off x="731520" y="1417320"/>
            <a:ext cx="2406701" cy="365760"/>
          </a:xfrm>
          <a:prstGeom prst="rect">
            <a:avLst/>
          </a:prstGeom>
          <a:noFill/>
          <a:ln/>
        </p:spPr>
        <p:txBody>
          <a:bodyPr wrap="square" lIns="0" tIns="0" rIns="0" bIns="0" rtlCol="0" anchor="ctr"/>
          <a:lstStyle/>
          <a:p>
            <a:pPr marL="0" indent="0">
              <a:buNone/>
            </a:pPr>
            <a:r>
              <a:rPr lang="en-US" sz="1300" b="1" dirty="0">
                <a:solidFill>
                  <a:srgbClr val="FFFFFF"/>
                </a:solidFill>
                <a:latin typeface="Consolas" pitchFamily="34" charset="0"/>
                <a:ea typeface="Consolas" pitchFamily="34" charset="-122"/>
                <a:cs typeface="Consolas" pitchFamily="34" charset="-120"/>
              </a:rPr>
              <a:t>https://sapserver:50000</a:t>
            </a:r>
            <a:endParaRPr lang="en-US" sz="1300" dirty="0"/>
          </a:p>
        </p:txBody>
      </p:sp>
      <p:sp>
        <p:nvSpPr>
          <p:cNvPr id="8" name="Shape 6"/>
          <p:cNvSpPr/>
          <p:nvPr/>
        </p:nvSpPr>
        <p:spPr>
          <a:xfrm>
            <a:off x="749808" y="1847088"/>
            <a:ext cx="2296973" cy="0"/>
          </a:xfrm>
          <a:prstGeom prst="line">
            <a:avLst/>
          </a:prstGeom>
          <a:noFill/>
          <a:ln w="19050">
            <a:solidFill>
              <a:srgbClr val="FFFFFF"/>
            </a:solidFill>
            <a:prstDash val="solid"/>
          </a:ln>
        </p:spPr>
      </p:sp>
      <p:sp>
        <p:nvSpPr>
          <p:cNvPr id="9" name="Text 7"/>
          <p:cNvSpPr txBox="1"/>
          <p:nvPr/>
        </p:nvSpPr>
        <p:spPr>
          <a:xfrm>
            <a:off x="731520" y="1920240"/>
            <a:ext cx="2406701" cy="365760"/>
          </a:xfrm>
          <a:prstGeom prst="rect">
            <a:avLst/>
          </a:prstGeom>
          <a:noFill/>
          <a:ln/>
        </p:spPr>
        <p:txBody>
          <a:bodyPr wrap="square" lIns="0" tIns="0" rIns="0" bIns="0" rtlCol="0" anchor="t"/>
          <a:lstStyle/>
          <a:p>
            <a:pPr marL="0" indent="0">
              <a:buNone/>
            </a:pPr>
            <a:r>
              <a:rPr lang="en-US" sz="950" dirty="0">
                <a:solidFill>
                  <a:srgbClr val="B9D3F0"/>
                </a:solidFill>
                <a:latin typeface="Calibri" pitchFamily="34" charset="0"/>
                <a:ea typeface="Calibri" pitchFamily="34" charset="-122"/>
                <a:cs typeface="Calibri" pitchFamily="34" charset="-120"/>
              </a:rPr>
              <a:t>Host + puerto del balanceador</a:t>
            </a:r>
            <a:endParaRPr lang="en-US" sz="950" dirty="0"/>
          </a:p>
        </p:txBody>
      </p:sp>
      <p:sp>
        <p:nvSpPr>
          <p:cNvPr id="10" name="Text 8"/>
          <p:cNvSpPr txBox="1"/>
          <p:nvPr/>
        </p:nvSpPr>
        <p:spPr>
          <a:xfrm>
            <a:off x="3138221" y="1417320"/>
            <a:ext cx="819302" cy="365760"/>
          </a:xfrm>
          <a:prstGeom prst="rect">
            <a:avLst/>
          </a:prstGeom>
          <a:noFill/>
          <a:ln/>
        </p:spPr>
        <p:txBody>
          <a:bodyPr wrap="square" lIns="0" tIns="0" rIns="0" bIns="0" rtlCol="0" anchor="ctr"/>
          <a:lstStyle/>
          <a:p>
            <a:pPr marL="0" indent="0">
              <a:buNone/>
            </a:pPr>
            <a:r>
              <a:rPr lang="en-US" sz="1300" b="1" dirty="0">
                <a:solidFill>
                  <a:srgbClr val="29B6F6"/>
                </a:solidFill>
                <a:latin typeface="Consolas" pitchFamily="34" charset="0"/>
                <a:ea typeface="Consolas" pitchFamily="34" charset="-122"/>
                <a:cs typeface="Consolas" pitchFamily="34" charset="-120"/>
              </a:rPr>
              <a:t>/b1s/v1</a:t>
            </a:r>
            <a:endParaRPr lang="en-US" sz="1300" dirty="0"/>
          </a:p>
        </p:txBody>
      </p:sp>
      <p:sp>
        <p:nvSpPr>
          <p:cNvPr id="11" name="Shape 9"/>
          <p:cNvSpPr/>
          <p:nvPr/>
        </p:nvSpPr>
        <p:spPr>
          <a:xfrm>
            <a:off x="3156509" y="1847088"/>
            <a:ext cx="709574" cy="0"/>
          </a:xfrm>
          <a:prstGeom prst="line">
            <a:avLst/>
          </a:prstGeom>
          <a:noFill/>
          <a:ln w="19050">
            <a:solidFill>
              <a:srgbClr val="29B6F6"/>
            </a:solidFill>
            <a:prstDash val="solid"/>
          </a:ln>
        </p:spPr>
      </p:sp>
      <p:sp>
        <p:nvSpPr>
          <p:cNvPr id="12" name="Text 10"/>
          <p:cNvSpPr txBox="1"/>
          <p:nvPr/>
        </p:nvSpPr>
        <p:spPr>
          <a:xfrm>
            <a:off x="3138221" y="1920240"/>
            <a:ext cx="819302" cy="365760"/>
          </a:xfrm>
          <a:prstGeom prst="rect">
            <a:avLst/>
          </a:prstGeom>
          <a:noFill/>
          <a:ln/>
        </p:spPr>
        <p:txBody>
          <a:bodyPr wrap="square" lIns="0" tIns="0" rIns="0" bIns="0" rtlCol="0" anchor="t"/>
          <a:lstStyle/>
          <a:p>
            <a:pPr marL="0" indent="0">
              <a:buNone/>
            </a:pPr>
            <a:r>
              <a:rPr lang="en-US" sz="950" dirty="0">
                <a:solidFill>
                  <a:srgbClr val="B9D3F0"/>
                </a:solidFill>
                <a:latin typeface="Calibri" pitchFamily="34" charset="0"/>
                <a:ea typeface="Calibri" pitchFamily="34" charset="-122"/>
                <a:cs typeface="Calibri" pitchFamily="34" charset="-120"/>
              </a:rPr>
              <a:t>Versión (OData v3)</a:t>
            </a:r>
            <a:endParaRPr lang="en-US" sz="950" dirty="0"/>
          </a:p>
        </p:txBody>
      </p:sp>
      <p:sp>
        <p:nvSpPr>
          <p:cNvPr id="13" name="Text 11"/>
          <p:cNvSpPr txBox="1"/>
          <p:nvPr/>
        </p:nvSpPr>
        <p:spPr>
          <a:xfrm>
            <a:off x="3957523" y="1417320"/>
            <a:ext cx="1331366" cy="365760"/>
          </a:xfrm>
          <a:prstGeom prst="rect">
            <a:avLst/>
          </a:prstGeom>
          <a:noFill/>
          <a:ln/>
        </p:spPr>
        <p:txBody>
          <a:bodyPr wrap="square" lIns="0" tIns="0" rIns="0" bIns="0" rtlCol="0" anchor="ctr"/>
          <a:lstStyle/>
          <a:p>
            <a:pPr marL="0" indent="0">
              <a:buNone/>
            </a:pPr>
            <a:r>
              <a:rPr lang="en-US" sz="1300" b="1" dirty="0">
                <a:solidFill>
                  <a:srgbClr val="F5A800"/>
                </a:solidFill>
                <a:latin typeface="Consolas" pitchFamily="34" charset="0"/>
                <a:ea typeface="Consolas" pitchFamily="34" charset="-122"/>
                <a:cs typeface="Consolas" pitchFamily="34" charset="-120"/>
              </a:rPr>
              <a:t>/Orders(125)</a:t>
            </a:r>
            <a:endParaRPr lang="en-US" sz="1300" dirty="0"/>
          </a:p>
        </p:txBody>
      </p:sp>
      <p:sp>
        <p:nvSpPr>
          <p:cNvPr id="14" name="Shape 12"/>
          <p:cNvSpPr/>
          <p:nvPr/>
        </p:nvSpPr>
        <p:spPr>
          <a:xfrm>
            <a:off x="3975811" y="1847088"/>
            <a:ext cx="1221638" cy="0"/>
          </a:xfrm>
          <a:prstGeom prst="line">
            <a:avLst/>
          </a:prstGeom>
          <a:noFill/>
          <a:ln w="19050">
            <a:solidFill>
              <a:srgbClr val="F5A800"/>
            </a:solidFill>
            <a:prstDash val="solid"/>
          </a:ln>
        </p:spPr>
      </p:sp>
      <p:sp>
        <p:nvSpPr>
          <p:cNvPr id="15" name="Text 13"/>
          <p:cNvSpPr txBox="1"/>
          <p:nvPr/>
        </p:nvSpPr>
        <p:spPr>
          <a:xfrm>
            <a:off x="3957523" y="1920240"/>
            <a:ext cx="1331366" cy="365760"/>
          </a:xfrm>
          <a:prstGeom prst="rect">
            <a:avLst/>
          </a:prstGeom>
          <a:noFill/>
          <a:ln/>
        </p:spPr>
        <p:txBody>
          <a:bodyPr wrap="square" lIns="0" tIns="0" rIns="0" bIns="0" rtlCol="0" anchor="t"/>
          <a:lstStyle/>
          <a:p>
            <a:pPr marL="0" indent="0">
              <a:buNone/>
            </a:pPr>
            <a:r>
              <a:rPr lang="en-US" sz="950" dirty="0">
                <a:solidFill>
                  <a:srgbClr val="B9D3F0"/>
                </a:solidFill>
                <a:latin typeface="Calibri" pitchFamily="34" charset="0"/>
                <a:ea typeface="Calibri" pitchFamily="34" charset="-122"/>
                <a:cs typeface="Calibri" pitchFamily="34" charset="-120"/>
              </a:rPr>
              <a:t>Entidad + clave</a:t>
            </a:r>
            <a:endParaRPr lang="en-US" sz="950" dirty="0"/>
          </a:p>
        </p:txBody>
      </p:sp>
      <p:sp>
        <p:nvSpPr>
          <p:cNvPr id="16" name="Text 14"/>
          <p:cNvSpPr txBox="1"/>
          <p:nvPr/>
        </p:nvSpPr>
        <p:spPr>
          <a:xfrm>
            <a:off x="5288890" y="1417320"/>
            <a:ext cx="2611526" cy="365760"/>
          </a:xfrm>
          <a:prstGeom prst="rect">
            <a:avLst/>
          </a:prstGeom>
          <a:noFill/>
          <a:ln/>
        </p:spPr>
        <p:txBody>
          <a:bodyPr wrap="square" lIns="0" tIns="0" rIns="0" bIns="0" rtlCol="0" anchor="ctr"/>
          <a:lstStyle/>
          <a:p>
            <a:pPr marL="0" indent="0">
              <a:buNone/>
            </a:pPr>
            <a:r>
              <a:rPr lang="en-US" sz="1300" b="1" dirty="0">
                <a:solidFill>
                  <a:srgbClr val="B5E48C"/>
                </a:solidFill>
                <a:latin typeface="Consolas" pitchFamily="34" charset="0"/>
                <a:ea typeface="Consolas" pitchFamily="34" charset="-122"/>
                <a:cs typeface="Consolas" pitchFamily="34" charset="-120"/>
              </a:rPr>
              <a:t>?$select=DocNum,CardCode</a:t>
            </a:r>
            <a:endParaRPr lang="en-US" sz="1300" dirty="0"/>
          </a:p>
        </p:txBody>
      </p:sp>
      <p:sp>
        <p:nvSpPr>
          <p:cNvPr id="17" name="Shape 15"/>
          <p:cNvSpPr/>
          <p:nvPr/>
        </p:nvSpPr>
        <p:spPr>
          <a:xfrm>
            <a:off x="5307178" y="1847088"/>
            <a:ext cx="2501798" cy="0"/>
          </a:xfrm>
          <a:prstGeom prst="line">
            <a:avLst/>
          </a:prstGeom>
          <a:noFill/>
          <a:ln w="19050">
            <a:solidFill>
              <a:srgbClr val="B5E48C"/>
            </a:solidFill>
            <a:prstDash val="solid"/>
          </a:ln>
        </p:spPr>
      </p:sp>
      <p:sp>
        <p:nvSpPr>
          <p:cNvPr id="18" name="Text 16"/>
          <p:cNvSpPr txBox="1"/>
          <p:nvPr/>
        </p:nvSpPr>
        <p:spPr>
          <a:xfrm>
            <a:off x="5288890" y="1920240"/>
            <a:ext cx="2611526" cy="365760"/>
          </a:xfrm>
          <a:prstGeom prst="rect">
            <a:avLst/>
          </a:prstGeom>
          <a:noFill/>
          <a:ln/>
        </p:spPr>
        <p:txBody>
          <a:bodyPr wrap="square" lIns="0" tIns="0" rIns="0" bIns="0" rtlCol="0" anchor="t"/>
          <a:lstStyle/>
          <a:p>
            <a:pPr marL="0" indent="0">
              <a:buNone/>
            </a:pPr>
            <a:r>
              <a:rPr lang="en-US" sz="950" dirty="0">
                <a:solidFill>
                  <a:srgbClr val="B9D3F0"/>
                </a:solidFill>
                <a:latin typeface="Calibri" pitchFamily="34" charset="0"/>
                <a:ea typeface="Calibri" pitchFamily="34" charset="-122"/>
                <a:cs typeface="Calibri" pitchFamily="34" charset="-120"/>
              </a:rPr>
              <a:t>Opciones de consulta</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2651760"/>
          <a:ext cx="8229600" cy="1920240"/>
        </p:xfrm>
        <a:graphic>
          <a:graphicData uri="http://schemas.openxmlformats.org/drawingml/2006/table">
            <a:tbl>
              <a:tblPr/>
              <a:tblGrid>
                <a:gridCol w="11887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274320">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Opción</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Ejemplo</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Uso</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extLst>
                  <a:ext uri="{0D108BD9-81ED-4DB2-BD59-A6C34878D82A}">
                    <a16:rowId xmlns:a16="http://schemas.microsoft.com/office/drawing/2014/main" val="10000"/>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$select</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$select=CardCode,CardName</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Limita los campos devueltos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$filter</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$filter=DocTotal gt 1000 and DocumentStatus eq 'bost_Open'</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Filtra registros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$orderby</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$orderby=DocDate desc</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Ordena el resultado</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$top / $skip</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$top=20&amp;$skip=40</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Paginación manual</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$expand</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Orders(125)?$expand=BusinessPartner</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Incluye entidades relacionadas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r h="274320">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$count</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00" dirty="0">
                          <a:solidFill>
                            <a:srgbClr val="0B4DA2"/>
                          </a:solidFill>
                          <a:latin typeface="Consolas" pitchFamily="34" charset="0"/>
                          <a:ea typeface="Consolas" pitchFamily="34" charset="-122"/>
                          <a:cs typeface="Consolas" pitchFamily="34" charset="-120"/>
                        </a:rPr>
                        <a:t>Orders/$count?$filter=CardCode eq 'C001'</a:t>
                      </a:r>
                      <a:endParaRPr lang="en-US" sz="9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Devuelve solo el total</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04</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Flujos de operación II</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Métodos HTTP   •   PATCH vs PUT   •   Maestros   •   Compras   •   Ventas   •   Bancos   •   Finanzas</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Métodos HTTP en Service Layer</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El verbo define la operación; la URL define el objeto</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594360" y="1645920"/>
            <a:ext cx="1280160" cy="457200"/>
          </a:xfrm>
          <a:prstGeom prst="roundRect">
            <a:avLst>
              <a:gd name="adj" fmla="val 16000"/>
            </a:avLst>
          </a:prstGeom>
          <a:solidFill>
            <a:srgbClr val="2E9E6A"/>
          </a:solidFill>
          <a:ln w="12700">
            <a:solidFill>
              <a:srgbClr val="2E9E6A"/>
            </a:solidFill>
            <a:prstDash val="solid"/>
          </a:ln>
        </p:spPr>
      </p:sp>
      <p:sp>
        <p:nvSpPr>
          <p:cNvPr id="9" name="Text 7"/>
          <p:cNvSpPr txBox="1"/>
          <p:nvPr/>
        </p:nvSpPr>
        <p:spPr>
          <a:xfrm>
            <a:off x="594360"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GET</a:t>
            </a:r>
            <a:endParaRPr lang="en-US" sz="1600" dirty="0"/>
          </a:p>
        </p:txBody>
      </p:sp>
      <p:sp>
        <p:nvSpPr>
          <p:cNvPr id="10" name="Text 8"/>
          <p:cNvSpPr txBox="1"/>
          <p:nvPr/>
        </p:nvSpPr>
        <p:spPr>
          <a:xfrm>
            <a:off x="594360"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Leer</a:t>
            </a:r>
            <a:endParaRPr lang="en-US" sz="1200" dirty="0"/>
          </a:p>
        </p:txBody>
      </p:sp>
      <p:sp>
        <p:nvSpPr>
          <p:cNvPr id="11" name="Text 9"/>
          <p:cNvSpPr txBox="1"/>
          <p:nvPr/>
        </p:nvSpPr>
        <p:spPr>
          <a:xfrm>
            <a:off x="594360"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Obtiene una entidad por clave o una colección con filtros.</a:t>
            </a:r>
            <a:endParaRPr lang="en-US" sz="1000" dirty="0"/>
          </a:p>
        </p:txBody>
      </p:sp>
      <p:sp>
        <p:nvSpPr>
          <p:cNvPr id="12" name="Text 10"/>
          <p:cNvSpPr txBox="1"/>
          <p:nvPr/>
        </p:nvSpPr>
        <p:spPr>
          <a:xfrm>
            <a:off x="594360"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GET /Items('A001')</a:t>
            </a:r>
            <a:endParaRPr lang="en-US" sz="850" dirty="0"/>
          </a:p>
        </p:txBody>
      </p:sp>
      <p:sp>
        <p:nvSpPr>
          <p:cNvPr id="13" name="Text 11"/>
          <p:cNvSpPr txBox="1"/>
          <p:nvPr/>
        </p:nvSpPr>
        <p:spPr>
          <a:xfrm>
            <a:off x="594360" y="4160520"/>
            <a:ext cx="1280160" cy="274320"/>
          </a:xfrm>
          <a:prstGeom prst="rect">
            <a:avLst/>
          </a:prstGeom>
          <a:noFill/>
          <a:ln/>
        </p:spPr>
        <p:txBody>
          <a:bodyPr wrap="square" lIns="0" tIns="0" rIns="0" bIns="0" rtlCol="0" anchor="t"/>
          <a:lstStyle/>
          <a:p>
            <a:pPr marL="0" indent="0">
              <a:buNone/>
            </a:pPr>
            <a:r>
              <a:rPr lang="en-US" sz="900" b="1" dirty="0">
                <a:solidFill>
                  <a:srgbClr val="2E9E6A"/>
                </a:solidFill>
                <a:latin typeface="Consolas" pitchFamily="34" charset="0"/>
                <a:ea typeface="Consolas" pitchFamily="34" charset="-122"/>
                <a:cs typeface="Consolas" pitchFamily="34" charset="-120"/>
              </a:rPr>
              <a:t>200 OK</a:t>
            </a:r>
            <a:endParaRPr lang="en-US" sz="900" dirty="0"/>
          </a:p>
        </p:txBody>
      </p:sp>
      <p:sp>
        <p:nvSpPr>
          <p:cNvPr id="14" name="Shape 12"/>
          <p:cNvSpPr/>
          <p:nvPr/>
        </p:nvSpPr>
        <p:spPr>
          <a:xfrm>
            <a:off x="2130552"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5" name="Shape 13"/>
          <p:cNvSpPr/>
          <p:nvPr/>
        </p:nvSpPr>
        <p:spPr>
          <a:xfrm>
            <a:off x="2267712" y="1645920"/>
            <a:ext cx="1280160" cy="457200"/>
          </a:xfrm>
          <a:prstGeom prst="roundRect">
            <a:avLst>
              <a:gd name="adj" fmla="val 16000"/>
            </a:avLst>
          </a:prstGeom>
          <a:solidFill>
            <a:srgbClr val="0B4DA2"/>
          </a:solidFill>
          <a:ln w="12700">
            <a:solidFill>
              <a:srgbClr val="0B4DA2"/>
            </a:solidFill>
            <a:prstDash val="solid"/>
          </a:ln>
        </p:spPr>
      </p:sp>
      <p:sp>
        <p:nvSpPr>
          <p:cNvPr id="16" name="Text 14"/>
          <p:cNvSpPr txBox="1"/>
          <p:nvPr/>
        </p:nvSpPr>
        <p:spPr>
          <a:xfrm>
            <a:off x="2267712"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POST</a:t>
            </a:r>
            <a:endParaRPr lang="en-US" sz="1600" dirty="0"/>
          </a:p>
        </p:txBody>
      </p:sp>
      <p:sp>
        <p:nvSpPr>
          <p:cNvPr id="17" name="Text 15"/>
          <p:cNvSpPr txBox="1"/>
          <p:nvPr/>
        </p:nvSpPr>
        <p:spPr>
          <a:xfrm>
            <a:off x="2267712"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Crear / Acción</a:t>
            </a:r>
            <a:endParaRPr lang="en-US" sz="1200" dirty="0"/>
          </a:p>
        </p:txBody>
      </p:sp>
      <p:sp>
        <p:nvSpPr>
          <p:cNvPr id="18" name="Text 16"/>
          <p:cNvSpPr txBox="1"/>
          <p:nvPr/>
        </p:nvSpPr>
        <p:spPr>
          <a:xfrm>
            <a:off x="2267712"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Crea un registro o ejecuta acciones como Cancel o Close.</a:t>
            </a:r>
            <a:endParaRPr lang="en-US" sz="1000" dirty="0"/>
          </a:p>
        </p:txBody>
      </p:sp>
      <p:sp>
        <p:nvSpPr>
          <p:cNvPr id="19" name="Text 17"/>
          <p:cNvSpPr txBox="1"/>
          <p:nvPr/>
        </p:nvSpPr>
        <p:spPr>
          <a:xfrm>
            <a:off x="2267712"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POST /Orders</a:t>
            </a:r>
            <a:endParaRPr lang="en-US" sz="850" dirty="0"/>
          </a:p>
        </p:txBody>
      </p:sp>
      <p:sp>
        <p:nvSpPr>
          <p:cNvPr id="20" name="Text 18"/>
          <p:cNvSpPr txBox="1"/>
          <p:nvPr/>
        </p:nvSpPr>
        <p:spPr>
          <a:xfrm>
            <a:off x="2267712" y="4160520"/>
            <a:ext cx="1280160" cy="274320"/>
          </a:xfrm>
          <a:prstGeom prst="rect">
            <a:avLst/>
          </a:prstGeom>
          <a:noFill/>
          <a:ln/>
        </p:spPr>
        <p:txBody>
          <a:bodyPr wrap="square" lIns="0" tIns="0" rIns="0" bIns="0" rtlCol="0" anchor="t"/>
          <a:lstStyle/>
          <a:p>
            <a:pPr marL="0" indent="0">
              <a:buNone/>
            </a:pPr>
            <a:r>
              <a:rPr lang="en-US" sz="900" b="1" dirty="0">
                <a:solidFill>
                  <a:srgbClr val="0B4DA2"/>
                </a:solidFill>
                <a:latin typeface="Consolas" pitchFamily="34" charset="0"/>
                <a:ea typeface="Consolas" pitchFamily="34" charset="-122"/>
                <a:cs typeface="Consolas" pitchFamily="34" charset="-120"/>
              </a:rPr>
              <a:t>201 Created</a:t>
            </a:r>
            <a:endParaRPr lang="en-US" sz="900" dirty="0"/>
          </a:p>
        </p:txBody>
      </p:sp>
      <p:sp>
        <p:nvSpPr>
          <p:cNvPr id="21" name="Shape 19"/>
          <p:cNvSpPr/>
          <p:nvPr/>
        </p:nvSpPr>
        <p:spPr>
          <a:xfrm>
            <a:off x="3803904"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2" name="Shape 20"/>
          <p:cNvSpPr/>
          <p:nvPr/>
        </p:nvSpPr>
        <p:spPr>
          <a:xfrm>
            <a:off x="3941064" y="1645920"/>
            <a:ext cx="1280160" cy="457200"/>
          </a:xfrm>
          <a:prstGeom prst="roundRect">
            <a:avLst>
              <a:gd name="adj" fmla="val 16000"/>
            </a:avLst>
          </a:prstGeom>
          <a:solidFill>
            <a:srgbClr val="E08600"/>
          </a:solidFill>
          <a:ln w="12700">
            <a:solidFill>
              <a:srgbClr val="E08600"/>
            </a:solidFill>
            <a:prstDash val="solid"/>
          </a:ln>
        </p:spPr>
      </p:sp>
      <p:sp>
        <p:nvSpPr>
          <p:cNvPr id="23" name="Text 21"/>
          <p:cNvSpPr txBox="1"/>
          <p:nvPr/>
        </p:nvSpPr>
        <p:spPr>
          <a:xfrm>
            <a:off x="3941064"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PATCH</a:t>
            </a:r>
            <a:endParaRPr lang="en-US" sz="1600" dirty="0"/>
          </a:p>
        </p:txBody>
      </p:sp>
      <p:sp>
        <p:nvSpPr>
          <p:cNvPr id="24" name="Text 22"/>
          <p:cNvSpPr txBox="1"/>
          <p:nvPr/>
        </p:nvSpPr>
        <p:spPr>
          <a:xfrm>
            <a:off x="3941064"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Actualizar</a:t>
            </a:r>
            <a:endParaRPr lang="en-US" sz="1200" dirty="0"/>
          </a:p>
        </p:txBody>
      </p:sp>
      <p:sp>
        <p:nvSpPr>
          <p:cNvPr id="25" name="Text 23"/>
          <p:cNvSpPr txBox="1"/>
          <p:nvPr/>
        </p:nvSpPr>
        <p:spPr>
          <a:xfrm>
            <a:off x="3941064"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Modifica solo las propiedades enviadas. Opción recomendada.</a:t>
            </a:r>
            <a:endParaRPr lang="en-US" sz="1000" dirty="0"/>
          </a:p>
        </p:txBody>
      </p:sp>
      <p:sp>
        <p:nvSpPr>
          <p:cNvPr id="26" name="Text 24"/>
          <p:cNvSpPr txBox="1"/>
          <p:nvPr/>
        </p:nvSpPr>
        <p:spPr>
          <a:xfrm>
            <a:off x="3941064"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PATCH /Items('A001')</a:t>
            </a:r>
            <a:endParaRPr lang="en-US" sz="850" dirty="0"/>
          </a:p>
        </p:txBody>
      </p:sp>
      <p:sp>
        <p:nvSpPr>
          <p:cNvPr id="27" name="Text 25"/>
          <p:cNvSpPr txBox="1"/>
          <p:nvPr/>
        </p:nvSpPr>
        <p:spPr>
          <a:xfrm>
            <a:off x="3941064" y="4160520"/>
            <a:ext cx="1280160" cy="274320"/>
          </a:xfrm>
          <a:prstGeom prst="rect">
            <a:avLst/>
          </a:prstGeom>
          <a:noFill/>
          <a:ln/>
        </p:spPr>
        <p:txBody>
          <a:bodyPr wrap="square" lIns="0" tIns="0" rIns="0" bIns="0" rtlCol="0" anchor="t"/>
          <a:lstStyle/>
          <a:p>
            <a:pPr marL="0" indent="0">
              <a:buNone/>
            </a:pPr>
            <a:r>
              <a:rPr lang="en-US" sz="900" b="1" dirty="0">
                <a:solidFill>
                  <a:srgbClr val="E08600"/>
                </a:solidFill>
                <a:latin typeface="Consolas" pitchFamily="34" charset="0"/>
                <a:ea typeface="Consolas" pitchFamily="34" charset="-122"/>
                <a:cs typeface="Consolas" pitchFamily="34" charset="-120"/>
              </a:rPr>
              <a:t>204 No Content</a:t>
            </a:r>
            <a:endParaRPr lang="en-US" sz="900" dirty="0"/>
          </a:p>
        </p:txBody>
      </p:sp>
      <p:sp>
        <p:nvSpPr>
          <p:cNvPr id="28" name="Shape 26"/>
          <p:cNvSpPr/>
          <p:nvPr/>
        </p:nvSpPr>
        <p:spPr>
          <a:xfrm>
            <a:off x="5477256"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9" name="Shape 27"/>
          <p:cNvSpPr/>
          <p:nvPr/>
        </p:nvSpPr>
        <p:spPr>
          <a:xfrm>
            <a:off x="5614416" y="1645920"/>
            <a:ext cx="1280160" cy="457200"/>
          </a:xfrm>
          <a:prstGeom prst="roundRect">
            <a:avLst>
              <a:gd name="adj" fmla="val 16000"/>
            </a:avLst>
          </a:prstGeom>
          <a:solidFill>
            <a:srgbClr val="7E57C2"/>
          </a:solidFill>
          <a:ln w="12700">
            <a:solidFill>
              <a:srgbClr val="7E57C2"/>
            </a:solidFill>
            <a:prstDash val="solid"/>
          </a:ln>
        </p:spPr>
      </p:sp>
      <p:sp>
        <p:nvSpPr>
          <p:cNvPr id="30" name="Text 28"/>
          <p:cNvSpPr txBox="1"/>
          <p:nvPr/>
        </p:nvSpPr>
        <p:spPr>
          <a:xfrm>
            <a:off x="5614416"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PUT</a:t>
            </a:r>
            <a:endParaRPr lang="en-US" sz="1600" dirty="0"/>
          </a:p>
        </p:txBody>
      </p:sp>
      <p:sp>
        <p:nvSpPr>
          <p:cNvPr id="31" name="Text 29"/>
          <p:cNvSpPr txBox="1"/>
          <p:nvPr/>
        </p:nvSpPr>
        <p:spPr>
          <a:xfrm>
            <a:off x="5614416"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Reemplazar</a:t>
            </a:r>
            <a:endParaRPr lang="en-US" sz="1200" dirty="0"/>
          </a:p>
        </p:txBody>
      </p:sp>
      <p:sp>
        <p:nvSpPr>
          <p:cNvPr id="32" name="Text 30"/>
          <p:cNvSpPr txBox="1"/>
          <p:nvPr/>
        </p:nvSpPr>
        <p:spPr>
          <a:xfrm>
            <a:off x="5614416"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Sustituye la entidad completa; lo no enviado vuelve a su valor por defecto.</a:t>
            </a:r>
            <a:endParaRPr lang="en-US" sz="1000" dirty="0"/>
          </a:p>
        </p:txBody>
      </p:sp>
      <p:sp>
        <p:nvSpPr>
          <p:cNvPr id="33" name="Text 31"/>
          <p:cNvSpPr txBox="1"/>
          <p:nvPr/>
        </p:nvSpPr>
        <p:spPr>
          <a:xfrm>
            <a:off x="5614416"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PUT /U_TABLA('01')</a:t>
            </a:r>
            <a:endParaRPr lang="en-US" sz="850" dirty="0"/>
          </a:p>
        </p:txBody>
      </p:sp>
      <p:sp>
        <p:nvSpPr>
          <p:cNvPr id="34" name="Text 32"/>
          <p:cNvSpPr txBox="1"/>
          <p:nvPr/>
        </p:nvSpPr>
        <p:spPr>
          <a:xfrm>
            <a:off x="5614416" y="4160520"/>
            <a:ext cx="1280160" cy="274320"/>
          </a:xfrm>
          <a:prstGeom prst="rect">
            <a:avLst/>
          </a:prstGeom>
          <a:noFill/>
          <a:ln/>
        </p:spPr>
        <p:txBody>
          <a:bodyPr wrap="square" lIns="0" tIns="0" rIns="0" bIns="0" rtlCol="0" anchor="t"/>
          <a:lstStyle/>
          <a:p>
            <a:pPr marL="0" indent="0">
              <a:buNone/>
            </a:pPr>
            <a:r>
              <a:rPr lang="en-US" sz="900" b="1" dirty="0">
                <a:solidFill>
                  <a:srgbClr val="7E57C2"/>
                </a:solidFill>
                <a:latin typeface="Consolas" pitchFamily="34" charset="0"/>
                <a:ea typeface="Consolas" pitchFamily="34" charset="-122"/>
                <a:cs typeface="Consolas" pitchFamily="34" charset="-120"/>
              </a:rPr>
              <a:t>204 No Content</a:t>
            </a:r>
            <a:endParaRPr lang="en-US" sz="900" dirty="0"/>
          </a:p>
        </p:txBody>
      </p:sp>
      <p:sp>
        <p:nvSpPr>
          <p:cNvPr id="35" name="Shape 33"/>
          <p:cNvSpPr/>
          <p:nvPr/>
        </p:nvSpPr>
        <p:spPr>
          <a:xfrm>
            <a:off x="7150608" y="1463040"/>
            <a:ext cx="1554480" cy="3200400"/>
          </a:xfrm>
          <a:prstGeom prst="roundRect">
            <a:avLst>
              <a:gd name="adj" fmla="val 470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6" name="Shape 34"/>
          <p:cNvSpPr/>
          <p:nvPr/>
        </p:nvSpPr>
        <p:spPr>
          <a:xfrm>
            <a:off x="7287768" y="1645920"/>
            <a:ext cx="1280160" cy="457200"/>
          </a:xfrm>
          <a:prstGeom prst="roundRect">
            <a:avLst>
              <a:gd name="adj" fmla="val 16000"/>
            </a:avLst>
          </a:prstGeom>
          <a:solidFill>
            <a:srgbClr val="D64545"/>
          </a:solidFill>
          <a:ln w="12700">
            <a:solidFill>
              <a:srgbClr val="D64545"/>
            </a:solidFill>
            <a:prstDash val="solid"/>
          </a:ln>
        </p:spPr>
      </p:sp>
      <p:sp>
        <p:nvSpPr>
          <p:cNvPr id="37" name="Text 35"/>
          <p:cNvSpPr txBox="1"/>
          <p:nvPr/>
        </p:nvSpPr>
        <p:spPr>
          <a:xfrm>
            <a:off x="7287768" y="1645920"/>
            <a:ext cx="128016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onsolas" pitchFamily="34" charset="0"/>
                <a:ea typeface="Consolas" pitchFamily="34" charset="-122"/>
                <a:cs typeface="Consolas" pitchFamily="34" charset="-120"/>
              </a:rPr>
              <a:t>DELETE</a:t>
            </a:r>
            <a:endParaRPr lang="en-US" sz="1600" dirty="0"/>
          </a:p>
        </p:txBody>
      </p:sp>
      <p:sp>
        <p:nvSpPr>
          <p:cNvPr id="38" name="Text 36"/>
          <p:cNvSpPr txBox="1"/>
          <p:nvPr/>
        </p:nvSpPr>
        <p:spPr>
          <a:xfrm>
            <a:off x="7287768" y="2240280"/>
            <a:ext cx="1280160" cy="274320"/>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Eliminar</a:t>
            </a:r>
            <a:endParaRPr lang="en-US" sz="1200" dirty="0"/>
          </a:p>
        </p:txBody>
      </p:sp>
      <p:sp>
        <p:nvSpPr>
          <p:cNvPr id="39" name="Text 37"/>
          <p:cNvSpPr txBox="1"/>
          <p:nvPr/>
        </p:nvSpPr>
        <p:spPr>
          <a:xfrm>
            <a:off x="7287768" y="2532888"/>
            <a:ext cx="1280160" cy="100584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Borra el registro si el objeto lo permite. Documentos: Cancel/Close.</a:t>
            </a:r>
            <a:endParaRPr lang="en-US" sz="1000" dirty="0"/>
          </a:p>
        </p:txBody>
      </p:sp>
      <p:sp>
        <p:nvSpPr>
          <p:cNvPr id="40" name="Text 38"/>
          <p:cNvSpPr txBox="1"/>
          <p:nvPr/>
        </p:nvSpPr>
        <p:spPr>
          <a:xfrm>
            <a:off x="7287768" y="3657600"/>
            <a:ext cx="1325880" cy="411480"/>
          </a:xfrm>
          <a:prstGeom prst="rect">
            <a:avLst/>
          </a:prstGeom>
          <a:noFill/>
          <a:ln/>
        </p:spPr>
        <p:txBody>
          <a:bodyPr wrap="square" lIns="0" tIns="0" rIns="0" bIns="0" rtlCol="0" anchor="t"/>
          <a:lstStyle/>
          <a:p>
            <a:pPr marL="0" indent="0">
              <a:buNone/>
            </a:pPr>
            <a:r>
              <a:rPr lang="en-US" sz="850" dirty="0">
                <a:solidFill>
                  <a:srgbClr val="0B4DA2"/>
                </a:solidFill>
                <a:latin typeface="Consolas" pitchFamily="34" charset="0"/>
                <a:ea typeface="Consolas" pitchFamily="34" charset="-122"/>
                <a:cs typeface="Consolas" pitchFamily="34" charset="-120"/>
              </a:rPr>
              <a:t>DELETE /Items('A001')</a:t>
            </a:r>
            <a:endParaRPr lang="en-US" sz="850" dirty="0"/>
          </a:p>
        </p:txBody>
      </p:sp>
      <p:sp>
        <p:nvSpPr>
          <p:cNvPr id="41" name="Text 39"/>
          <p:cNvSpPr txBox="1"/>
          <p:nvPr/>
        </p:nvSpPr>
        <p:spPr>
          <a:xfrm>
            <a:off x="7287768" y="4160520"/>
            <a:ext cx="1280160" cy="274320"/>
          </a:xfrm>
          <a:prstGeom prst="rect">
            <a:avLst/>
          </a:prstGeom>
          <a:noFill/>
          <a:ln/>
        </p:spPr>
        <p:txBody>
          <a:bodyPr wrap="square" lIns="0" tIns="0" rIns="0" bIns="0" rtlCol="0" anchor="t"/>
          <a:lstStyle/>
          <a:p>
            <a:pPr marL="0" indent="0">
              <a:buNone/>
            </a:pPr>
            <a:r>
              <a:rPr lang="en-US" sz="900" b="1" dirty="0">
                <a:solidFill>
                  <a:srgbClr val="D64545"/>
                </a:solidFill>
                <a:latin typeface="Consolas" pitchFamily="34" charset="0"/>
                <a:ea typeface="Consolas" pitchFamily="34" charset="-122"/>
                <a:cs typeface="Consolas" pitchFamily="34" charset="-120"/>
              </a:rPr>
              <a:t>204 No Content</a:t>
            </a:r>
            <a:endParaRPr lang="en-US" sz="900" dirty="0"/>
          </a:p>
        </p:txBody>
      </p:sp>
      <p:sp>
        <p:nvSpPr>
          <p:cNvPr id="42"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PATCH vs PUT: evita perder datos</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234440"/>
            <a:ext cx="8229600" cy="566928"/>
          </a:xfrm>
          <a:prstGeom prst="roundRect">
            <a:avLst>
              <a:gd name="adj" fmla="val 12903"/>
            </a:avLst>
          </a:prstGeom>
          <a:solidFill>
            <a:srgbClr val="E8F1FC"/>
          </a:solidFill>
          <a:ln w="9525">
            <a:solidFill>
              <a:srgbClr val="D5DFEC"/>
            </a:solidFill>
            <a:prstDash val="solid"/>
          </a:ln>
          <a:effectLst>
            <a:outerShdw blurRad="101600" dist="25400" dir="5400000" algn="bl" rotWithShape="0">
              <a:srgbClr val="0B2A55">
                <a:alpha val="12000"/>
              </a:srgbClr>
            </a:outerShdw>
          </a:effectLst>
        </p:spPr>
      </p:sp>
      <p:sp>
        <p:nvSpPr>
          <p:cNvPr id="7" name="Text 5"/>
          <p:cNvSpPr txBox="1"/>
          <p:nvPr/>
        </p:nvSpPr>
        <p:spPr>
          <a:xfrm>
            <a:off x="640080" y="1234440"/>
            <a:ext cx="7955280" cy="566928"/>
          </a:xfrm>
          <a:prstGeom prst="rect">
            <a:avLst/>
          </a:prstGeom>
          <a:noFill/>
          <a:ln/>
        </p:spPr>
        <p:txBody>
          <a:bodyPr wrap="square" lIns="0" tIns="0" rIns="0" bIns="0" rtlCol="0" anchor="ctr"/>
          <a:lstStyle/>
          <a:p>
            <a:pPr marL="0" indent="0">
              <a:buNone/>
            </a:pPr>
            <a:r>
              <a:rPr lang="en-US" sz="1100" b="1" dirty="0">
                <a:solidFill>
                  <a:srgbClr val="071B3F"/>
                </a:solidFill>
                <a:latin typeface="Segoe UI" pitchFamily="34" charset="0"/>
                <a:ea typeface="Segoe UI" pitchFamily="34" charset="-122"/>
                <a:cs typeface="Segoe UI" pitchFamily="34" charset="-120"/>
              </a:rPr>
              <a:t>Registro actual  </a:t>
            </a:r>
            <a:r>
              <a:rPr lang="en-US" sz="950" dirty="0">
                <a:solidFill>
                  <a:srgbClr val="0B4DA2"/>
                </a:solidFill>
                <a:latin typeface="Consolas" pitchFamily="34" charset="0"/>
                <a:ea typeface="Consolas" pitchFamily="34" charset="-122"/>
                <a:cs typeface="Consolas" pitchFamily="34" charset="-120"/>
              </a:rPr>
              <a:t>BusinessPartners('C001') → CardName: "Andina SAC" · Phone1: "014567890" · EmailAddress: "compras@andina.pe"</a:t>
            </a:r>
            <a:endParaRPr lang="en-US" sz="1100" dirty="0"/>
          </a:p>
        </p:txBody>
      </p:sp>
      <p:sp>
        <p:nvSpPr>
          <p:cNvPr id="8" name="Shape 6"/>
          <p:cNvSpPr/>
          <p:nvPr/>
        </p:nvSpPr>
        <p:spPr>
          <a:xfrm>
            <a:off x="457200" y="1938528"/>
            <a:ext cx="1005840" cy="329184"/>
          </a:xfrm>
          <a:prstGeom prst="roundRect">
            <a:avLst>
              <a:gd name="adj" fmla="val 22222"/>
            </a:avLst>
          </a:prstGeom>
          <a:solidFill>
            <a:srgbClr val="E08600"/>
          </a:solidFill>
          <a:ln w="12700">
            <a:solidFill>
              <a:srgbClr val="E08600"/>
            </a:solidFill>
            <a:prstDash val="solid"/>
          </a:ln>
        </p:spPr>
      </p:sp>
      <p:sp>
        <p:nvSpPr>
          <p:cNvPr id="9" name="Text 7"/>
          <p:cNvSpPr txBox="1"/>
          <p:nvPr/>
        </p:nvSpPr>
        <p:spPr>
          <a:xfrm>
            <a:off x="457200" y="1938528"/>
            <a:ext cx="100584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PATCH</a:t>
            </a:r>
            <a:endParaRPr lang="en-US" sz="1300" dirty="0"/>
          </a:p>
        </p:txBody>
      </p:sp>
      <p:sp>
        <p:nvSpPr>
          <p:cNvPr id="10" name="Text 8"/>
          <p:cNvSpPr txBox="1"/>
          <p:nvPr/>
        </p:nvSpPr>
        <p:spPr>
          <a:xfrm>
            <a:off x="1600200" y="1938528"/>
            <a:ext cx="2926080" cy="329184"/>
          </a:xfrm>
          <a:prstGeom prst="rect">
            <a:avLst/>
          </a:prstGeom>
          <a:noFill/>
          <a:ln/>
        </p:spPr>
        <p:txBody>
          <a:bodyPr wrap="square" lIns="0" tIns="0" rIns="0" bIns="0" rtlCol="0" anchor="ctr"/>
          <a:lstStyle/>
          <a:p>
            <a:pPr marL="0" indent="0">
              <a:buNone/>
            </a:pPr>
            <a:r>
              <a:rPr lang="en-US" sz="1100" b="1" dirty="0">
                <a:solidFill>
                  <a:srgbClr val="071B3F"/>
                </a:solidFill>
                <a:latin typeface="Calibri" pitchFamily="34" charset="0"/>
                <a:ea typeface="Calibri" pitchFamily="34" charset="-122"/>
                <a:cs typeface="Calibri" pitchFamily="34" charset="-120"/>
              </a:rPr>
              <a:t>Solo cambia lo enviado. Lo demás se conserva.</a:t>
            </a:r>
            <a:endParaRPr lang="en-US" sz="1100" dirty="0"/>
          </a:p>
        </p:txBody>
      </p:sp>
      <p:sp>
        <p:nvSpPr>
          <p:cNvPr id="11" name="Shape 9"/>
          <p:cNvSpPr/>
          <p:nvPr/>
        </p:nvSpPr>
        <p:spPr>
          <a:xfrm>
            <a:off x="457200" y="2377440"/>
            <a:ext cx="2103120" cy="1417320"/>
          </a:xfrm>
          <a:prstGeom prst="roundRect">
            <a:avLst>
              <a:gd name="adj" fmla="val 4516"/>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2" name="Text 10"/>
          <p:cNvSpPr txBox="1"/>
          <p:nvPr/>
        </p:nvSpPr>
        <p:spPr>
          <a:xfrm>
            <a:off x="594360" y="2487168"/>
            <a:ext cx="1828800" cy="123444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PATCH</a:t>
            </a:r>
            <a:r>
              <a:rPr lang="en-US" sz="850" dirty="0">
                <a:solidFill>
                  <a:srgbClr val="DCE6F2"/>
                </a:solidFill>
                <a:latin typeface="Consolas" pitchFamily="34" charset="0"/>
                <a:ea typeface="Consolas" pitchFamily="34" charset="-122"/>
                <a:cs typeface="Consolas" pitchFamily="34" charset="-120"/>
              </a:rPr>
              <a:t> /BusinessPartners('C001')</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"Phone1"</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"987654321"</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13" name="Shape 11"/>
          <p:cNvSpPr/>
          <p:nvPr/>
        </p:nvSpPr>
        <p:spPr>
          <a:xfrm>
            <a:off x="2697480" y="2377440"/>
            <a:ext cx="1783080" cy="1417320"/>
          </a:xfrm>
          <a:prstGeom prst="roundRect">
            <a:avLst>
              <a:gd name="adj" fmla="val 516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Text 12"/>
          <p:cNvSpPr txBox="1"/>
          <p:nvPr/>
        </p:nvSpPr>
        <p:spPr>
          <a:xfrm>
            <a:off x="2816352" y="2432304"/>
            <a:ext cx="1554480" cy="228600"/>
          </a:xfrm>
          <a:prstGeom prst="rect">
            <a:avLst/>
          </a:prstGeom>
          <a:noFill/>
          <a:ln/>
        </p:spPr>
        <p:txBody>
          <a:bodyPr wrap="square" lIns="0" tIns="0" rIns="0" bIns="0" rtlCol="0" anchor="t"/>
          <a:lstStyle/>
          <a:p>
            <a:pPr marL="0" indent="0">
              <a:buNone/>
            </a:pPr>
            <a:r>
              <a:rPr lang="en-US" sz="1000" b="1" dirty="0">
                <a:solidFill>
                  <a:srgbClr val="5B6B82"/>
                </a:solidFill>
                <a:latin typeface="Segoe UI" pitchFamily="34" charset="0"/>
                <a:ea typeface="Segoe UI" pitchFamily="34" charset="-122"/>
                <a:cs typeface="Segoe UI" pitchFamily="34" charset="-120"/>
              </a:rPr>
              <a:t>Resultado</a:t>
            </a:r>
            <a:endParaRPr lang="en-US" sz="1000" dirty="0"/>
          </a:p>
        </p:txBody>
      </p:sp>
      <p:sp>
        <p:nvSpPr>
          <p:cNvPr id="15" name="Text 13"/>
          <p:cNvSpPr txBox="1"/>
          <p:nvPr/>
        </p:nvSpPr>
        <p:spPr>
          <a:xfrm>
            <a:off x="2816352" y="267004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CardName</a:t>
            </a:r>
            <a:endParaRPr lang="en-US" sz="1300" dirty="0"/>
          </a:p>
          <a:p>
            <a:pPr marL="0" indent="0">
              <a:buNone/>
            </a:pPr>
            <a:r>
              <a:rPr lang="en-US" sz="950" dirty="0">
                <a:solidFill>
                  <a:srgbClr val="1B2433"/>
                </a:solidFill>
                <a:latin typeface="Calibri" pitchFamily="34" charset="0"/>
                <a:ea typeface="Calibri" pitchFamily="34" charset="-122"/>
                <a:cs typeface="Calibri" pitchFamily="34" charset="-120"/>
              </a:rPr>
              <a:t>Andina SAC</a:t>
            </a:r>
            <a:endParaRPr lang="en-US" sz="1300" dirty="0"/>
          </a:p>
        </p:txBody>
      </p:sp>
      <p:sp>
        <p:nvSpPr>
          <p:cNvPr id="16" name="Text 14"/>
          <p:cNvSpPr txBox="1"/>
          <p:nvPr/>
        </p:nvSpPr>
        <p:spPr>
          <a:xfrm>
            <a:off x="2816352" y="303580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Phone1</a:t>
            </a:r>
            <a:endParaRPr lang="en-US" sz="1300" dirty="0"/>
          </a:p>
          <a:p>
            <a:pPr marL="0" indent="0">
              <a:buNone/>
            </a:pPr>
            <a:r>
              <a:rPr lang="en-US" sz="950" b="1" dirty="0">
                <a:solidFill>
                  <a:srgbClr val="2E9E6A"/>
                </a:solidFill>
                <a:latin typeface="Calibri" pitchFamily="34" charset="0"/>
                <a:ea typeface="Calibri" pitchFamily="34" charset="-122"/>
                <a:cs typeface="Calibri" pitchFamily="34" charset="-120"/>
              </a:rPr>
              <a:t>987654321</a:t>
            </a:r>
            <a:endParaRPr lang="en-US" sz="1300" dirty="0"/>
          </a:p>
        </p:txBody>
      </p:sp>
      <p:sp>
        <p:nvSpPr>
          <p:cNvPr id="17" name="Text 15"/>
          <p:cNvSpPr txBox="1"/>
          <p:nvPr/>
        </p:nvSpPr>
        <p:spPr>
          <a:xfrm>
            <a:off x="2816352" y="340156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EmailAddress</a:t>
            </a:r>
            <a:endParaRPr lang="en-US" sz="1300" dirty="0"/>
          </a:p>
          <a:p>
            <a:pPr marL="0" indent="0">
              <a:buNone/>
            </a:pPr>
            <a:r>
              <a:rPr lang="en-US" sz="950" dirty="0">
                <a:solidFill>
                  <a:srgbClr val="1B2433"/>
                </a:solidFill>
                <a:latin typeface="Calibri" pitchFamily="34" charset="0"/>
                <a:ea typeface="Calibri" pitchFamily="34" charset="-122"/>
                <a:cs typeface="Calibri" pitchFamily="34" charset="-120"/>
              </a:rPr>
              <a:t>compras@andina.pe</a:t>
            </a:r>
            <a:endParaRPr lang="en-US" sz="1300" dirty="0"/>
          </a:p>
        </p:txBody>
      </p:sp>
      <p:sp>
        <p:nvSpPr>
          <p:cNvPr id="18" name="Shape 16"/>
          <p:cNvSpPr/>
          <p:nvPr/>
        </p:nvSpPr>
        <p:spPr>
          <a:xfrm>
            <a:off x="4663440" y="1938528"/>
            <a:ext cx="1005840" cy="329184"/>
          </a:xfrm>
          <a:prstGeom prst="roundRect">
            <a:avLst>
              <a:gd name="adj" fmla="val 22222"/>
            </a:avLst>
          </a:prstGeom>
          <a:solidFill>
            <a:srgbClr val="7E57C2"/>
          </a:solidFill>
          <a:ln w="12700">
            <a:solidFill>
              <a:srgbClr val="7E57C2"/>
            </a:solidFill>
            <a:prstDash val="solid"/>
          </a:ln>
        </p:spPr>
      </p:sp>
      <p:sp>
        <p:nvSpPr>
          <p:cNvPr id="19" name="Text 17"/>
          <p:cNvSpPr txBox="1"/>
          <p:nvPr/>
        </p:nvSpPr>
        <p:spPr>
          <a:xfrm>
            <a:off x="4663440" y="1938528"/>
            <a:ext cx="100584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PUT</a:t>
            </a:r>
            <a:endParaRPr lang="en-US" sz="1300" dirty="0"/>
          </a:p>
        </p:txBody>
      </p:sp>
      <p:sp>
        <p:nvSpPr>
          <p:cNvPr id="20" name="Text 18"/>
          <p:cNvSpPr txBox="1"/>
          <p:nvPr/>
        </p:nvSpPr>
        <p:spPr>
          <a:xfrm>
            <a:off x="5806440" y="1938528"/>
            <a:ext cx="2926080" cy="329184"/>
          </a:xfrm>
          <a:prstGeom prst="rect">
            <a:avLst/>
          </a:prstGeom>
          <a:noFill/>
          <a:ln/>
        </p:spPr>
        <p:txBody>
          <a:bodyPr wrap="square" lIns="0" tIns="0" rIns="0" bIns="0" rtlCol="0" anchor="ctr"/>
          <a:lstStyle/>
          <a:p>
            <a:pPr marL="0" indent="0">
              <a:buNone/>
            </a:pPr>
            <a:r>
              <a:rPr lang="en-US" sz="1100" b="1" dirty="0">
                <a:solidFill>
                  <a:srgbClr val="071B3F"/>
                </a:solidFill>
                <a:latin typeface="Calibri" pitchFamily="34" charset="0"/>
                <a:ea typeface="Calibri" pitchFamily="34" charset="-122"/>
                <a:cs typeface="Calibri" pitchFamily="34" charset="-120"/>
              </a:rPr>
              <a:t>Reemplaza todo: lo no enviado se pierde.</a:t>
            </a:r>
            <a:endParaRPr lang="en-US" sz="1100" dirty="0"/>
          </a:p>
        </p:txBody>
      </p:sp>
      <p:sp>
        <p:nvSpPr>
          <p:cNvPr id="21" name="Shape 19"/>
          <p:cNvSpPr/>
          <p:nvPr/>
        </p:nvSpPr>
        <p:spPr>
          <a:xfrm>
            <a:off x="4663440" y="2377440"/>
            <a:ext cx="2103120" cy="1417320"/>
          </a:xfrm>
          <a:prstGeom prst="roundRect">
            <a:avLst>
              <a:gd name="adj" fmla="val 4516"/>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2" name="Text 20"/>
          <p:cNvSpPr txBox="1"/>
          <p:nvPr/>
        </p:nvSpPr>
        <p:spPr>
          <a:xfrm>
            <a:off x="4800600" y="2487168"/>
            <a:ext cx="1828800" cy="123444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PUT</a:t>
            </a:r>
            <a:r>
              <a:rPr lang="en-US" sz="850" dirty="0">
                <a:solidFill>
                  <a:srgbClr val="DCE6F2"/>
                </a:solidFill>
                <a:latin typeface="Consolas" pitchFamily="34" charset="0"/>
                <a:ea typeface="Consolas" pitchFamily="34" charset="-122"/>
                <a:cs typeface="Consolas" pitchFamily="34" charset="-120"/>
              </a:rPr>
              <a:t> /BusinessPartners('C001')</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"C001"</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"CardName"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"Andina SAC"</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"Phone1"</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"987654321"</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23" name="Shape 21"/>
          <p:cNvSpPr/>
          <p:nvPr/>
        </p:nvSpPr>
        <p:spPr>
          <a:xfrm>
            <a:off x="6903720" y="2377440"/>
            <a:ext cx="1783080" cy="1417320"/>
          </a:xfrm>
          <a:prstGeom prst="roundRect">
            <a:avLst>
              <a:gd name="adj" fmla="val 516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4" name="Text 22"/>
          <p:cNvSpPr txBox="1"/>
          <p:nvPr/>
        </p:nvSpPr>
        <p:spPr>
          <a:xfrm>
            <a:off x="7022592" y="2432304"/>
            <a:ext cx="1554480" cy="228600"/>
          </a:xfrm>
          <a:prstGeom prst="rect">
            <a:avLst/>
          </a:prstGeom>
          <a:noFill/>
          <a:ln/>
        </p:spPr>
        <p:txBody>
          <a:bodyPr wrap="square" lIns="0" tIns="0" rIns="0" bIns="0" rtlCol="0" anchor="t"/>
          <a:lstStyle/>
          <a:p>
            <a:pPr marL="0" indent="0">
              <a:buNone/>
            </a:pPr>
            <a:r>
              <a:rPr lang="en-US" sz="1000" b="1" dirty="0">
                <a:solidFill>
                  <a:srgbClr val="5B6B82"/>
                </a:solidFill>
                <a:latin typeface="Segoe UI" pitchFamily="34" charset="0"/>
                <a:ea typeface="Segoe UI" pitchFamily="34" charset="-122"/>
                <a:cs typeface="Segoe UI" pitchFamily="34" charset="-120"/>
              </a:rPr>
              <a:t>Resultado</a:t>
            </a:r>
            <a:endParaRPr lang="en-US" sz="1000" dirty="0"/>
          </a:p>
        </p:txBody>
      </p:sp>
      <p:sp>
        <p:nvSpPr>
          <p:cNvPr id="25" name="Text 23"/>
          <p:cNvSpPr txBox="1"/>
          <p:nvPr/>
        </p:nvSpPr>
        <p:spPr>
          <a:xfrm>
            <a:off x="7022592" y="267004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CardName</a:t>
            </a:r>
            <a:endParaRPr lang="en-US" sz="1300" dirty="0"/>
          </a:p>
          <a:p>
            <a:pPr marL="0" indent="0">
              <a:buNone/>
            </a:pPr>
            <a:r>
              <a:rPr lang="en-US" sz="950" dirty="0">
                <a:solidFill>
                  <a:srgbClr val="1B2433"/>
                </a:solidFill>
                <a:latin typeface="Calibri" pitchFamily="34" charset="0"/>
                <a:ea typeface="Calibri" pitchFamily="34" charset="-122"/>
                <a:cs typeface="Calibri" pitchFamily="34" charset="-120"/>
              </a:rPr>
              <a:t>Andina SAC</a:t>
            </a:r>
            <a:endParaRPr lang="en-US" sz="1300" dirty="0"/>
          </a:p>
        </p:txBody>
      </p:sp>
      <p:sp>
        <p:nvSpPr>
          <p:cNvPr id="26" name="Text 24"/>
          <p:cNvSpPr txBox="1"/>
          <p:nvPr/>
        </p:nvSpPr>
        <p:spPr>
          <a:xfrm>
            <a:off x="7022592" y="303580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Phone1</a:t>
            </a:r>
            <a:endParaRPr lang="en-US" sz="1300" dirty="0"/>
          </a:p>
          <a:p>
            <a:pPr marL="0" indent="0">
              <a:buNone/>
            </a:pPr>
            <a:r>
              <a:rPr lang="en-US" sz="950" b="1" dirty="0">
                <a:solidFill>
                  <a:srgbClr val="2E9E6A"/>
                </a:solidFill>
                <a:latin typeface="Calibri" pitchFamily="34" charset="0"/>
                <a:ea typeface="Calibri" pitchFamily="34" charset="-122"/>
                <a:cs typeface="Calibri" pitchFamily="34" charset="-120"/>
              </a:rPr>
              <a:t>987654321</a:t>
            </a:r>
            <a:endParaRPr lang="en-US" sz="1300" dirty="0"/>
          </a:p>
        </p:txBody>
      </p:sp>
      <p:sp>
        <p:nvSpPr>
          <p:cNvPr id="27" name="Text 25"/>
          <p:cNvSpPr txBox="1"/>
          <p:nvPr/>
        </p:nvSpPr>
        <p:spPr>
          <a:xfrm>
            <a:off x="7022592" y="3401568"/>
            <a:ext cx="1600200" cy="365760"/>
          </a:xfrm>
          <a:prstGeom prst="rect">
            <a:avLst/>
          </a:prstGeom>
          <a:noFill/>
          <a:ln/>
        </p:spPr>
        <p:txBody>
          <a:bodyPr wrap="square" lIns="0" tIns="0" rIns="0" bIns="0" rtlCol="0" anchor="t"/>
          <a:lstStyle/>
          <a:p>
            <a:pPr marL="0" indent="0">
              <a:buNone/>
            </a:pPr>
            <a:r>
              <a:rPr lang="en-US" sz="900" b="1" dirty="0">
                <a:solidFill>
                  <a:srgbClr val="071B3F"/>
                </a:solidFill>
                <a:latin typeface="Calibri" pitchFamily="34" charset="0"/>
                <a:ea typeface="Calibri" pitchFamily="34" charset="-122"/>
                <a:cs typeface="Calibri" pitchFamily="34" charset="-120"/>
              </a:rPr>
              <a:t>EmailAddress</a:t>
            </a:r>
            <a:endParaRPr lang="en-US" sz="1300" dirty="0"/>
          </a:p>
          <a:p>
            <a:pPr marL="0" indent="0">
              <a:buNone/>
            </a:pPr>
            <a:r>
              <a:rPr lang="en-US" sz="950" b="1" dirty="0">
                <a:solidFill>
                  <a:srgbClr val="D64545"/>
                </a:solidFill>
                <a:latin typeface="Calibri" pitchFamily="34" charset="0"/>
                <a:ea typeface="Calibri" pitchFamily="34" charset="-122"/>
                <a:cs typeface="Calibri" pitchFamily="34" charset="-120"/>
              </a:rPr>
              <a:t>(vacío)</a:t>
            </a:r>
            <a:endParaRPr lang="en-US" sz="1300" dirty="0"/>
          </a:p>
        </p:txBody>
      </p:sp>
      <p:sp>
        <p:nvSpPr>
          <p:cNvPr id="28" name="Shape 26"/>
          <p:cNvSpPr/>
          <p:nvPr/>
        </p:nvSpPr>
        <p:spPr>
          <a:xfrm>
            <a:off x="457200" y="3977640"/>
            <a:ext cx="8229600" cy="749808"/>
          </a:xfrm>
          <a:prstGeom prst="roundRect">
            <a:avLst>
              <a:gd name="adj" fmla="val 9756"/>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29" name="Text 27"/>
          <p:cNvSpPr txBox="1"/>
          <p:nvPr/>
        </p:nvSpPr>
        <p:spPr>
          <a:xfrm>
            <a:off x="640080" y="4023360"/>
            <a:ext cx="7863840" cy="658368"/>
          </a:xfrm>
          <a:prstGeom prst="rect">
            <a:avLst/>
          </a:prstGeom>
          <a:noFill/>
          <a:ln/>
        </p:spPr>
        <p:txBody>
          <a:bodyPr wrap="square" lIns="0" tIns="0" rIns="0" bIns="0" rtlCol="0" anchor="ctr"/>
          <a:lstStyle/>
          <a:p>
            <a:pPr marL="0" indent="0">
              <a:buNone/>
            </a:pPr>
            <a:r>
              <a:rPr lang="en-US" sz="1050" b="1" dirty="0">
                <a:solidFill>
                  <a:srgbClr val="071B3F"/>
                </a:solidFill>
                <a:latin typeface="Calibri" pitchFamily="34" charset="0"/>
                <a:ea typeface="Calibri" pitchFamily="34" charset="-122"/>
                <a:cs typeface="Calibri" pitchFamily="34" charset="-120"/>
              </a:rPr>
              <a:t>Colecciones (DocumentLines, UDO hijas): </a:t>
            </a:r>
            <a:r>
              <a:rPr lang="en-US" sz="1050" dirty="0">
                <a:solidFill>
                  <a:srgbClr val="1B2433"/>
                </a:solidFill>
                <a:latin typeface="Calibri" pitchFamily="34" charset="0"/>
                <a:ea typeface="Calibri" pitchFamily="34" charset="-122"/>
                <a:cs typeface="Calibri" pitchFamily="34" charset="-120"/>
              </a:rPr>
              <a:t>con PATCH las líneas enviadas se actualizan (por LineNum/LineId) o se agregan, y las no enviadas se mantienen. Para reemplazar la colección completa usa el header </a:t>
            </a:r>
            <a:r>
              <a:rPr lang="en-US" sz="1050" dirty="0">
                <a:solidFill>
                  <a:srgbClr val="0B4DA2"/>
                </a:solidFill>
                <a:latin typeface="Consolas" pitchFamily="34" charset="0"/>
                <a:ea typeface="Consolas" pitchFamily="34" charset="-122"/>
                <a:cs typeface="Consolas" pitchFamily="34" charset="-120"/>
              </a:rPr>
              <a:t>B1S-ReplaceCollectionsOnPatch: true</a:t>
            </a:r>
            <a:r>
              <a:rPr lang="en-US" sz="1050" b="1" dirty="0">
                <a:solidFill>
                  <a:srgbClr val="1B2433"/>
                </a:solidFill>
                <a:latin typeface="Calibri" pitchFamily="34" charset="0"/>
                <a:ea typeface="Calibri" pitchFamily="34" charset="-122"/>
                <a:cs typeface="Calibri" pitchFamily="34" charset="-120"/>
              </a:rPr>
              <a:t>.  Regla práctica: usa PATCH por defecto.</a:t>
            </a:r>
            <a:endParaRPr lang="en-US" sz="1050" dirty="0"/>
          </a:p>
        </p:txBody>
      </p:sp>
      <p:sp>
        <p:nvSpPr>
          <p:cNvPr id="30"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Mapa de endpoints por módulo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Nombre de la entidad en Service Layer y su tipo de objeto (ObjType)</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585216" y="1591056"/>
            <a:ext cx="384048" cy="384048"/>
          </a:xfrm>
          <a:prstGeom prst="ellipse">
            <a:avLst/>
          </a:prstGeom>
          <a:solidFill>
            <a:srgbClr val="071B3F"/>
          </a:solidFill>
          <a:ln w="12700">
            <a:solidFill>
              <a:srgbClr val="071B3F"/>
            </a:solidFill>
            <a:prstDash val="solid"/>
          </a:ln>
        </p:spPr>
      </p:sp>
      <p:pic>
        <p:nvPicPr>
          <p:cNvPr id="9" name="Image 0" descr="preencoded.png"/>
          <p:cNvPicPr>
            <a:picLocks noChangeAspect="1"/>
          </p:cNvPicPr>
          <p:nvPr/>
        </p:nvPicPr>
        <p:blipFill>
          <a:blip r:embed="rId3"/>
          <a:stretch>
            <a:fillRect/>
          </a:stretch>
        </p:blipFill>
        <p:spPr>
          <a:xfrm>
            <a:off x="685068" y="1690908"/>
            <a:ext cx="184343" cy="184343"/>
          </a:xfrm>
          <a:prstGeom prst="rect">
            <a:avLst/>
          </a:prstGeom>
        </p:spPr>
      </p:pic>
      <p:sp>
        <p:nvSpPr>
          <p:cNvPr id="10" name="Text 7"/>
          <p:cNvSpPr txBox="1"/>
          <p:nvPr/>
        </p:nvSpPr>
        <p:spPr>
          <a:xfrm>
            <a:off x="1024128"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Maestros</a:t>
            </a:r>
            <a:endParaRPr lang="en-US" sz="1250" dirty="0"/>
          </a:p>
        </p:txBody>
      </p:sp>
      <p:sp>
        <p:nvSpPr>
          <p:cNvPr id="11" name="Text 8"/>
          <p:cNvSpPr txBox="1"/>
          <p:nvPr/>
        </p:nvSpPr>
        <p:spPr>
          <a:xfrm>
            <a:off x="566928"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Socios de negocio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BusinessPartners</a:t>
            </a:r>
            <a:endParaRPr lang="en-US" sz="1300" dirty="0"/>
          </a:p>
        </p:txBody>
      </p:sp>
      <p:sp>
        <p:nvSpPr>
          <p:cNvPr id="12" name="Text 9"/>
          <p:cNvSpPr txBox="1"/>
          <p:nvPr/>
        </p:nvSpPr>
        <p:spPr>
          <a:xfrm>
            <a:off x="1755648"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2</a:t>
            </a:r>
            <a:endParaRPr lang="en-US" sz="850" dirty="0"/>
          </a:p>
        </p:txBody>
      </p:sp>
      <p:sp>
        <p:nvSpPr>
          <p:cNvPr id="13" name="Text 10"/>
          <p:cNvSpPr txBox="1"/>
          <p:nvPr/>
        </p:nvSpPr>
        <p:spPr>
          <a:xfrm>
            <a:off x="566928" y="25603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Artículos</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Items</a:t>
            </a:r>
            <a:endParaRPr lang="en-US" sz="1300" dirty="0"/>
          </a:p>
        </p:txBody>
      </p:sp>
      <p:sp>
        <p:nvSpPr>
          <p:cNvPr id="14" name="Text 11"/>
          <p:cNvSpPr txBox="1"/>
          <p:nvPr/>
        </p:nvSpPr>
        <p:spPr>
          <a:xfrm>
            <a:off x="1755648" y="26700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4</a:t>
            </a:r>
            <a:endParaRPr lang="en-US" sz="850" dirty="0"/>
          </a:p>
        </p:txBody>
      </p:sp>
      <p:sp>
        <p:nvSpPr>
          <p:cNvPr id="15" name="Shape 12"/>
          <p:cNvSpPr/>
          <p:nvPr/>
        </p:nvSpPr>
        <p:spPr>
          <a:xfrm>
            <a:off x="2130552"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6" name="Shape 13"/>
          <p:cNvSpPr/>
          <p:nvPr/>
        </p:nvSpPr>
        <p:spPr>
          <a:xfrm>
            <a:off x="2258568" y="1591056"/>
            <a:ext cx="384048" cy="384048"/>
          </a:xfrm>
          <a:prstGeom prst="ellipse">
            <a:avLst/>
          </a:prstGeom>
          <a:solidFill>
            <a:srgbClr val="071B3F"/>
          </a:solidFill>
          <a:ln w="12700">
            <a:solidFill>
              <a:srgbClr val="071B3F"/>
            </a:solidFill>
            <a:prstDash val="solid"/>
          </a:ln>
        </p:spPr>
      </p:sp>
      <p:pic>
        <p:nvPicPr>
          <p:cNvPr id="17" name="Image 1" descr="preencoded.png"/>
          <p:cNvPicPr>
            <a:picLocks noChangeAspect="1"/>
          </p:cNvPicPr>
          <p:nvPr/>
        </p:nvPicPr>
        <p:blipFill>
          <a:blip r:embed="rId4"/>
          <a:stretch>
            <a:fillRect/>
          </a:stretch>
        </p:blipFill>
        <p:spPr>
          <a:xfrm>
            <a:off x="2358420" y="1690908"/>
            <a:ext cx="184343" cy="184343"/>
          </a:xfrm>
          <a:prstGeom prst="rect">
            <a:avLst/>
          </a:prstGeom>
        </p:spPr>
      </p:pic>
      <p:sp>
        <p:nvSpPr>
          <p:cNvPr id="18" name="Text 14"/>
          <p:cNvSpPr txBox="1"/>
          <p:nvPr/>
        </p:nvSpPr>
        <p:spPr>
          <a:xfrm>
            <a:off x="2697480"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Compras</a:t>
            </a:r>
            <a:endParaRPr lang="en-US" sz="1250" dirty="0"/>
          </a:p>
        </p:txBody>
      </p:sp>
      <p:sp>
        <p:nvSpPr>
          <p:cNvPr id="19" name="Text 15"/>
          <p:cNvSpPr txBox="1"/>
          <p:nvPr/>
        </p:nvSpPr>
        <p:spPr>
          <a:xfrm>
            <a:off x="2240280"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Orden de compra</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PurchaseOrders</a:t>
            </a:r>
            <a:endParaRPr lang="en-US" sz="1300" dirty="0"/>
          </a:p>
        </p:txBody>
      </p:sp>
      <p:sp>
        <p:nvSpPr>
          <p:cNvPr id="20" name="Text 16"/>
          <p:cNvSpPr txBox="1"/>
          <p:nvPr/>
        </p:nvSpPr>
        <p:spPr>
          <a:xfrm>
            <a:off x="3429000"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22</a:t>
            </a:r>
            <a:endParaRPr lang="en-US" sz="850" dirty="0"/>
          </a:p>
        </p:txBody>
      </p:sp>
      <p:sp>
        <p:nvSpPr>
          <p:cNvPr id="21" name="Text 17"/>
          <p:cNvSpPr txBox="1"/>
          <p:nvPr/>
        </p:nvSpPr>
        <p:spPr>
          <a:xfrm>
            <a:off x="2240280" y="25603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Entrada de mercancía</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PurchaseDeliveryNotes</a:t>
            </a:r>
            <a:endParaRPr lang="en-US" sz="1300" dirty="0"/>
          </a:p>
        </p:txBody>
      </p:sp>
      <p:sp>
        <p:nvSpPr>
          <p:cNvPr id="22" name="Text 18"/>
          <p:cNvSpPr txBox="1"/>
          <p:nvPr/>
        </p:nvSpPr>
        <p:spPr>
          <a:xfrm>
            <a:off x="3429000" y="26700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20</a:t>
            </a:r>
            <a:endParaRPr lang="en-US" sz="850" dirty="0"/>
          </a:p>
        </p:txBody>
      </p:sp>
      <p:sp>
        <p:nvSpPr>
          <p:cNvPr id="23" name="Text 19"/>
          <p:cNvSpPr txBox="1"/>
          <p:nvPr/>
        </p:nvSpPr>
        <p:spPr>
          <a:xfrm>
            <a:off x="2240280" y="30175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Factura proveedor</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PurchaseInvoices</a:t>
            </a:r>
            <a:endParaRPr lang="en-US" sz="1300" dirty="0"/>
          </a:p>
        </p:txBody>
      </p:sp>
      <p:sp>
        <p:nvSpPr>
          <p:cNvPr id="24" name="Text 20"/>
          <p:cNvSpPr txBox="1"/>
          <p:nvPr/>
        </p:nvSpPr>
        <p:spPr>
          <a:xfrm>
            <a:off x="3429000" y="31272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18</a:t>
            </a:r>
            <a:endParaRPr lang="en-US" sz="850" dirty="0"/>
          </a:p>
        </p:txBody>
      </p:sp>
      <p:sp>
        <p:nvSpPr>
          <p:cNvPr id="25" name="Text 21"/>
          <p:cNvSpPr txBox="1"/>
          <p:nvPr/>
        </p:nvSpPr>
        <p:spPr>
          <a:xfrm>
            <a:off x="2240280" y="34747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Nota de crédito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PurchaseCreditNotes</a:t>
            </a:r>
            <a:endParaRPr lang="en-US" sz="1300" dirty="0"/>
          </a:p>
        </p:txBody>
      </p:sp>
      <p:sp>
        <p:nvSpPr>
          <p:cNvPr id="26" name="Text 22"/>
          <p:cNvSpPr txBox="1"/>
          <p:nvPr/>
        </p:nvSpPr>
        <p:spPr>
          <a:xfrm>
            <a:off x="3429000" y="35844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19</a:t>
            </a:r>
            <a:endParaRPr lang="en-US" sz="850" dirty="0"/>
          </a:p>
        </p:txBody>
      </p:sp>
      <p:sp>
        <p:nvSpPr>
          <p:cNvPr id="27" name="Text 23"/>
          <p:cNvSpPr txBox="1"/>
          <p:nvPr/>
        </p:nvSpPr>
        <p:spPr>
          <a:xfrm>
            <a:off x="2240280" y="39319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Nota de débito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PurchaseInvoices*</a:t>
            </a:r>
            <a:endParaRPr lang="en-US" sz="1300" dirty="0"/>
          </a:p>
        </p:txBody>
      </p:sp>
      <p:sp>
        <p:nvSpPr>
          <p:cNvPr id="28" name="Text 24"/>
          <p:cNvSpPr txBox="1"/>
          <p:nvPr/>
        </p:nvSpPr>
        <p:spPr>
          <a:xfrm>
            <a:off x="3429000" y="40416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18</a:t>
            </a:r>
            <a:endParaRPr lang="en-US" sz="850" dirty="0"/>
          </a:p>
        </p:txBody>
      </p:sp>
      <p:sp>
        <p:nvSpPr>
          <p:cNvPr id="29" name="Shape 25"/>
          <p:cNvSpPr/>
          <p:nvPr/>
        </p:nvSpPr>
        <p:spPr>
          <a:xfrm>
            <a:off x="3803904"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0" name="Shape 26"/>
          <p:cNvSpPr/>
          <p:nvPr/>
        </p:nvSpPr>
        <p:spPr>
          <a:xfrm>
            <a:off x="3931920" y="1591056"/>
            <a:ext cx="384048" cy="384048"/>
          </a:xfrm>
          <a:prstGeom prst="ellipse">
            <a:avLst/>
          </a:prstGeom>
          <a:solidFill>
            <a:srgbClr val="071B3F"/>
          </a:solidFill>
          <a:ln w="12700">
            <a:solidFill>
              <a:srgbClr val="071B3F"/>
            </a:solidFill>
            <a:prstDash val="solid"/>
          </a:ln>
        </p:spPr>
      </p:sp>
      <p:pic>
        <p:nvPicPr>
          <p:cNvPr id="31" name="Image 2" descr="preencoded.png"/>
          <p:cNvPicPr>
            <a:picLocks noChangeAspect="1"/>
          </p:cNvPicPr>
          <p:nvPr/>
        </p:nvPicPr>
        <p:blipFill>
          <a:blip r:embed="rId5"/>
          <a:stretch>
            <a:fillRect/>
          </a:stretch>
        </p:blipFill>
        <p:spPr>
          <a:xfrm>
            <a:off x="4031772" y="1690908"/>
            <a:ext cx="184343" cy="184343"/>
          </a:xfrm>
          <a:prstGeom prst="rect">
            <a:avLst/>
          </a:prstGeom>
        </p:spPr>
      </p:pic>
      <p:sp>
        <p:nvSpPr>
          <p:cNvPr id="32" name="Text 27"/>
          <p:cNvSpPr txBox="1"/>
          <p:nvPr/>
        </p:nvSpPr>
        <p:spPr>
          <a:xfrm>
            <a:off x="4370832"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Ventas</a:t>
            </a:r>
            <a:endParaRPr lang="en-US" sz="1250" dirty="0"/>
          </a:p>
        </p:txBody>
      </p:sp>
      <p:sp>
        <p:nvSpPr>
          <p:cNvPr id="33" name="Text 28"/>
          <p:cNvSpPr txBox="1"/>
          <p:nvPr/>
        </p:nvSpPr>
        <p:spPr>
          <a:xfrm>
            <a:off x="3913632"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Pedido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Orders</a:t>
            </a:r>
            <a:endParaRPr lang="en-US" sz="1300" dirty="0"/>
          </a:p>
        </p:txBody>
      </p:sp>
      <p:sp>
        <p:nvSpPr>
          <p:cNvPr id="34" name="Text 29"/>
          <p:cNvSpPr txBox="1"/>
          <p:nvPr/>
        </p:nvSpPr>
        <p:spPr>
          <a:xfrm>
            <a:off x="5102352"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17</a:t>
            </a:r>
            <a:endParaRPr lang="en-US" sz="850" dirty="0"/>
          </a:p>
        </p:txBody>
      </p:sp>
      <p:sp>
        <p:nvSpPr>
          <p:cNvPr id="35" name="Text 30"/>
          <p:cNvSpPr txBox="1"/>
          <p:nvPr/>
        </p:nvSpPr>
        <p:spPr>
          <a:xfrm>
            <a:off x="3913632" y="25603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Entrega</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DeliveryNotes</a:t>
            </a:r>
            <a:endParaRPr lang="en-US" sz="1300" dirty="0"/>
          </a:p>
        </p:txBody>
      </p:sp>
      <p:sp>
        <p:nvSpPr>
          <p:cNvPr id="36" name="Text 31"/>
          <p:cNvSpPr txBox="1"/>
          <p:nvPr/>
        </p:nvSpPr>
        <p:spPr>
          <a:xfrm>
            <a:off x="5102352" y="26700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15</a:t>
            </a:r>
            <a:endParaRPr lang="en-US" sz="850" dirty="0"/>
          </a:p>
        </p:txBody>
      </p:sp>
      <p:sp>
        <p:nvSpPr>
          <p:cNvPr id="37" name="Text 32"/>
          <p:cNvSpPr txBox="1"/>
          <p:nvPr/>
        </p:nvSpPr>
        <p:spPr>
          <a:xfrm>
            <a:off x="3913632" y="30175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Factura</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Invoices</a:t>
            </a:r>
            <a:endParaRPr lang="en-US" sz="1300" dirty="0"/>
          </a:p>
        </p:txBody>
      </p:sp>
      <p:sp>
        <p:nvSpPr>
          <p:cNvPr id="38" name="Text 33"/>
          <p:cNvSpPr txBox="1"/>
          <p:nvPr/>
        </p:nvSpPr>
        <p:spPr>
          <a:xfrm>
            <a:off x="5102352" y="31272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13</a:t>
            </a:r>
            <a:endParaRPr lang="en-US" sz="850" dirty="0"/>
          </a:p>
        </p:txBody>
      </p:sp>
      <p:sp>
        <p:nvSpPr>
          <p:cNvPr id="39" name="Text 34"/>
          <p:cNvSpPr txBox="1"/>
          <p:nvPr/>
        </p:nvSpPr>
        <p:spPr>
          <a:xfrm>
            <a:off x="3913632" y="34747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Nota de crédito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CreditNotes</a:t>
            </a:r>
            <a:endParaRPr lang="en-US" sz="1300" dirty="0"/>
          </a:p>
        </p:txBody>
      </p:sp>
      <p:sp>
        <p:nvSpPr>
          <p:cNvPr id="40" name="Text 35"/>
          <p:cNvSpPr txBox="1"/>
          <p:nvPr/>
        </p:nvSpPr>
        <p:spPr>
          <a:xfrm>
            <a:off x="5102352" y="35844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14</a:t>
            </a:r>
            <a:endParaRPr lang="en-US" sz="850" dirty="0"/>
          </a:p>
        </p:txBody>
      </p:sp>
      <p:sp>
        <p:nvSpPr>
          <p:cNvPr id="41" name="Text 36"/>
          <p:cNvSpPr txBox="1"/>
          <p:nvPr/>
        </p:nvSpPr>
        <p:spPr>
          <a:xfrm>
            <a:off x="3913632" y="39319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Nota de débito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Invoices*</a:t>
            </a:r>
            <a:endParaRPr lang="en-US" sz="1300" dirty="0"/>
          </a:p>
        </p:txBody>
      </p:sp>
      <p:sp>
        <p:nvSpPr>
          <p:cNvPr id="42" name="Text 37"/>
          <p:cNvSpPr txBox="1"/>
          <p:nvPr/>
        </p:nvSpPr>
        <p:spPr>
          <a:xfrm>
            <a:off x="5102352" y="40416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13</a:t>
            </a:r>
            <a:endParaRPr lang="en-US" sz="850" dirty="0"/>
          </a:p>
        </p:txBody>
      </p:sp>
      <p:sp>
        <p:nvSpPr>
          <p:cNvPr id="43" name="Shape 38"/>
          <p:cNvSpPr/>
          <p:nvPr/>
        </p:nvSpPr>
        <p:spPr>
          <a:xfrm>
            <a:off x="5477256"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44" name="Shape 39"/>
          <p:cNvSpPr/>
          <p:nvPr/>
        </p:nvSpPr>
        <p:spPr>
          <a:xfrm>
            <a:off x="5605272" y="1591056"/>
            <a:ext cx="384048" cy="384048"/>
          </a:xfrm>
          <a:prstGeom prst="ellipse">
            <a:avLst/>
          </a:prstGeom>
          <a:solidFill>
            <a:srgbClr val="071B3F"/>
          </a:solidFill>
          <a:ln w="12700">
            <a:solidFill>
              <a:srgbClr val="071B3F"/>
            </a:solidFill>
            <a:prstDash val="solid"/>
          </a:ln>
        </p:spPr>
      </p:sp>
      <p:pic>
        <p:nvPicPr>
          <p:cNvPr id="45" name="Image 3" descr="preencoded.png"/>
          <p:cNvPicPr>
            <a:picLocks noChangeAspect="1"/>
          </p:cNvPicPr>
          <p:nvPr/>
        </p:nvPicPr>
        <p:blipFill>
          <a:blip r:embed="rId6"/>
          <a:stretch>
            <a:fillRect/>
          </a:stretch>
        </p:blipFill>
        <p:spPr>
          <a:xfrm>
            <a:off x="5705124" y="1690908"/>
            <a:ext cx="184343" cy="184343"/>
          </a:xfrm>
          <a:prstGeom prst="rect">
            <a:avLst/>
          </a:prstGeom>
        </p:spPr>
      </p:pic>
      <p:sp>
        <p:nvSpPr>
          <p:cNvPr id="46" name="Text 40"/>
          <p:cNvSpPr txBox="1"/>
          <p:nvPr/>
        </p:nvSpPr>
        <p:spPr>
          <a:xfrm>
            <a:off x="6044184"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Bancos</a:t>
            </a:r>
            <a:endParaRPr lang="en-US" sz="1250" dirty="0"/>
          </a:p>
        </p:txBody>
      </p:sp>
      <p:sp>
        <p:nvSpPr>
          <p:cNvPr id="47" name="Text 41"/>
          <p:cNvSpPr txBox="1"/>
          <p:nvPr/>
        </p:nvSpPr>
        <p:spPr>
          <a:xfrm>
            <a:off x="5586984"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Pago recibido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IncomingPayments</a:t>
            </a:r>
            <a:endParaRPr lang="en-US" sz="1300" dirty="0"/>
          </a:p>
        </p:txBody>
      </p:sp>
      <p:sp>
        <p:nvSpPr>
          <p:cNvPr id="48" name="Text 42"/>
          <p:cNvSpPr txBox="1"/>
          <p:nvPr/>
        </p:nvSpPr>
        <p:spPr>
          <a:xfrm>
            <a:off x="6775704"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24</a:t>
            </a:r>
            <a:endParaRPr lang="en-US" sz="850" dirty="0"/>
          </a:p>
        </p:txBody>
      </p:sp>
      <p:sp>
        <p:nvSpPr>
          <p:cNvPr id="49" name="Text 43"/>
          <p:cNvSpPr txBox="1"/>
          <p:nvPr/>
        </p:nvSpPr>
        <p:spPr>
          <a:xfrm>
            <a:off x="5586984" y="25603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Pago efectuado</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VendorPayments</a:t>
            </a:r>
            <a:endParaRPr lang="en-US" sz="1300" dirty="0"/>
          </a:p>
        </p:txBody>
      </p:sp>
      <p:sp>
        <p:nvSpPr>
          <p:cNvPr id="50" name="Text 44"/>
          <p:cNvSpPr txBox="1"/>
          <p:nvPr/>
        </p:nvSpPr>
        <p:spPr>
          <a:xfrm>
            <a:off x="6775704" y="26700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46</a:t>
            </a:r>
            <a:endParaRPr lang="en-US" sz="850" dirty="0"/>
          </a:p>
        </p:txBody>
      </p:sp>
      <p:sp>
        <p:nvSpPr>
          <p:cNvPr id="51" name="Shape 45"/>
          <p:cNvSpPr/>
          <p:nvPr/>
        </p:nvSpPr>
        <p:spPr>
          <a:xfrm>
            <a:off x="7150608" y="1463040"/>
            <a:ext cx="1572768" cy="2971800"/>
          </a:xfrm>
          <a:prstGeom prst="roundRect">
            <a:avLst>
              <a:gd name="adj" fmla="val 4651"/>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52" name="Shape 46"/>
          <p:cNvSpPr/>
          <p:nvPr/>
        </p:nvSpPr>
        <p:spPr>
          <a:xfrm>
            <a:off x="7278624" y="1591056"/>
            <a:ext cx="384048" cy="384048"/>
          </a:xfrm>
          <a:prstGeom prst="ellipse">
            <a:avLst/>
          </a:prstGeom>
          <a:solidFill>
            <a:srgbClr val="071B3F"/>
          </a:solidFill>
          <a:ln w="12700">
            <a:solidFill>
              <a:srgbClr val="071B3F"/>
            </a:solidFill>
            <a:prstDash val="solid"/>
          </a:ln>
        </p:spPr>
      </p:sp>
      <p:pic>
        <p:nvPicPr>
          <p:cNvPr id="53" name="Image 4" descr="preencoded.png"/>
          <p:cNvPicPr>
            <a:picLocks noChangeAspect="1"/>
          </p:cNvPicPr>
          <p:nvPr/>
        </p:nvPicPr>
        <p:blipFill>
          <a:blip r:embed="rId7"/>
          <a:stretch>
            <a:fillRect/>
          </a:stretch>
        </p:blipFill>
        <p:spPr>
          <a:xfrm>
            <a:off x="7378476" y="1690908"/>
            <a:ext cx="184343" cy="184343"/>
          </a:xfrm>
          <a:prstGeom prst="rect">
            <a:avLst/>
          </a:prstGeom>
        </p:spPr>
      </p:pic>
      <p:sp>
        <p:nvSpPr>
          <p:cNvPr id="54" name="Text 47"/>
          <p:cNvSpPr txBox="1"/>
          <p:nvPr/>
        </p:nvSpPr>
        <p:spPr>
          <a:xfrm>
            <a:off x="7717536" y="1591056"/>
            <a:ext cx="960120" cy="384048"/>
          </a:xfrm>
          <a:prstGeom prst="rect">
            <a:avLst/>
          </a:prstGeom>
          <a:noFill/>
          <a:ln/>
        </p:spPr>
        <p:txBody>
          <a:bodyPr wrap="square" lIns="0" tIns="0" rIns="0" bIns="0" rtlCol="0" anchor="ctr"/>
          <a:lstStyle/>
          <a:p>
            <a:pPr marL="0" indent="0">
              <a:buNone/>
            </a:pPr>
            <a:r>
              <a:rPr lang="en-US" sz="1250" b="1" dirty="0">
                <a:solidFill>
                  <a:srgbClr val="071B3F"/>
                </a:solidFill>
                <a:latin typeface="Segoe UI" pitchFamily="34" charset="0"/>
                <a:ea typeface="Segoe UI" pitchFamily="34" charset="-122"/>
                <a:cs typeface="Segoe UI" pitchFamily="34" charset="-120"/>
              </a:rPr>
              <a:t>Finanzas</a:t>
            </a:r>
            <a:endParaRPr lang="en-US" sz="1250" dirty="0"/>
          </a:p>
        </p:txBody>
      </p:sp>
      <p:sp>
        <p:nvSpPr>
          <p:cNvPr id="55" name="Text 48"/>
          <p:cNvSpPr txBox="1"/>
          <p:nvPr/>
        </p:nvSpPr>
        <p:spPr>
          <a:xfrm>
            <a:off x="7260336" y="2103120"/>
            <a:ext cx="1207008" cy="420624"/>
          </a:xfrm>
          <a:prstGeom prst="rect">
            <a:avLst/>
          </a:prstGeom>
          <a:noFill/>
          <a:ln/>
        </p:spPr>
        <p:txBody>
          <a:bodyPr wrap="square" lIns="0" tIns="0" rIns="0" bIns="0" rtlCol="0" anchor="t"/>
          <a:lstStyle/>
          <a:p>
            <a:pPr marL="0" indent="0">
              <a:buNone/>
            </a:pPr>
            <a:r>
              <a:rPr lang="en-US" sz="900" dirty="0">
                <a:solidFill>
                  <a:srgbClr val="5B6B82"/>
                </a:solidFill>
                <a:latin typeface="Calibri" pitchFamily="34" charset="0"/>
                <a:ea typeface="Calibri" pitchFamily="34" charset="-122"/>
                <a:cs typeface="Calibri" pitchFamily="34" charset="-120"/>
              </a:rPr>
              <a:t>Asiento contable</a:t>
            </a:r>
            <a:endParaRPr lang="en-US" sz="1300" dirty="0"/>
          </a:p>
          <a:p>
            <a:pPr marL="0" indent="0">
              <a:buNone/>
            </a:pPr>
            <a:r>
              <a:rPr lang="en-US" sz="750" b="1" dirty="0">
                <a:solidFill>
                  <a:srgbClr val="0B4DA2"/>
                </a:solidFill>
                <a:latin typeface="Consolas" pitchFamily="34" charset="0"/>
                <a:ea typeface="Consolas" pitchFamily="34" charset="-122"/>
                <a:cs typeface="Consolas" pitchFamily="34" charset="-120"/>
              </a:rPr>
              <a:t>JournalEntries</a:t>
            </a:r>
            <a:endParaRPr lang="en-US" sz="1300" dirty="0"/>
          </a:p>
        </p:txBody>
      </p:sp>
      <p:sp>
        <p:nvSpPr>
          <p:cNvPr id="56" name="Text 49"/>
          <p:cNvSpPr txBox="1"/>
          <p:nvPr/>
        </p:nvSpPr>
        <p:spPr>
          <a:xfrm>
            <a:off x="8449056" y="2212848"/>
            <a:ext cx="201168" cy="237744"/>
          </a:xfrm>
          <a:prstGeom prst="rect">
            <a:avLst/>
          </a:prstGeom>
          <a:noFill/>
          <a:ln/>
        </p:spPr>
        <p:txBody>
          <a:bodyPr wrap="square" lIns="0" tIns="0" rIns="0" bIns="0" rtlCol="0" anchor="ctr"/>
          <a:lstStyle/>
          <a:p>
            <a:pPr marL="0" indent="0" algn="r">
              <a:buNone/>
            </a:pPr>
            <a:r>
              <a:rPr lang="en-US" sz="850" b="1" dirty="0">
                <a:solidFill>
                  <a:srgbClr val="B07A00"/>
                </a:solidFill>
                <a:latin typeface="Consolas" pitchFamily="34" charset="0"/>
                <a:ea typeface="Consolas" pitchFamily="34" charset="-122"/>
                <a:cs typeface="Consolas" pitchFamily="34" charset="-120"/>
              </a:rPr>
              <a:t>30</a:t>
            </a:r>
            <a:endParaRPr lang="en-US" sz="850" dirty="0"/>
          </a:p>
        </p:txBody>
      </p:sp>
      <p:sp>
        <p:nvSpPr>
          <p:cNvPr id="57" name="Text 50"/>
          <p:cNvSpPr txBox="1"/>
          <p:nvPr/>
        </p:nvSpPr>
        <p:spPr>
          <a:xfrm>
            <a:off x="457200" y="4507992"/>
            <a:ext cx="8229600" cy="274320"/>
          </a:xfrm>
          <a:prstGeom prst="rect">
            <a:avLst/>
          </a:prstGeom>
          <a:noFill/>
          <a:ln/>
        </p:spPr>
        <p:txBody>
          <a:bodyPr wrap="square" lIns="0" tIns="0" rIns="0" bIns="0" rtlCol="0" anchor="t"/>
          <a:lstStyle/>
          <a:p>
            <a:pPr marL="0" indent="0">
              <a:buNone/>
            </a:pPr>
            <a:r>
              <a:rPr lang="en-US" sz="1000" b="1" dirty="0">
                <a:solidFill>
                  <a:srgbClr val="071B3F"/>
                </a:solidFill>
                <a:latin typeface="Calibri" pitchFamily="34" charset="0"/>
                <a:ea typeface="Calibri" pitchFamily="34" charset="-122"/>
                <a:cs typeface="Calibri" pitchFamily="34" charset="-120"/>
              </a:rPr>
              <a:t>* Nota de débito: </a:t>
            </a:r>
            <a:r>
              <a:rPr lang="en-US" sz="1000" dirty="0">
                <a:solidFill>
                  <a:srgbClr val="1B2433"/>
                </a:solidFill>
                <a:latin typeface="Calibri" pitchFamily="34" charset="0"/>
                <a:ea typeface="Calibri" pitchFamily="34" charset="-122"/>
                <a:cs typeface="Calibri" pitchFamily="34" charset="-120"/>
              </a:rPr>
              <a:t>se registra sobre la entidad de factura con DocumentSubType.   </a:t>
            </a:r>
            <a:r>
              <a:rPr lang="en-US" sz="1000" b="1" dirty="0">
                <a:solidFill>
                  <a:srgbClr val="071B3F"/>
                </a:solidFill>
                <a:latin typeface="Calibri" pitchFamily="34" charset="0"/>
                <a:ea typeface="Calibri" pitchFamily="34" charset="-122"/>
                <a:cs typeface="Calibri" pitchFamily="34" charset="-120"/>
              </a:rPr>
              <a:t>Copiar documentos: </a:t>
            </a:r>
            <a:r>
              <a:rPr lang="en-US" sz="1000" dirty="0">
                <a:solidFill>
                  <a:srgbClr val="1B2433"/>
                </a:solidFill>
                <a:latin typeface="Calibri" pitchFamily="34" charset="0"/>
                <a:ea typeface="Calibri" pitchFamily="34" charset="-122"/>
                <a:cs typeface="Calibri" pitchFamily="34" charset="-120"/>
              </a:rPr>
              <a:t>cada línea referencia al origen con BaseType + BaseEntry + BaseLine.</a:t>
            </a:r>
            <a:endParaRPr lang="en-US" sz="1000" dirty="0"/>
          </a:p>
        </p:txBody>
      </p:sp>
      <p:sp>
        <p:nvSpPr>
          <p:cNvPr id="58"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Maestros: socios de negocio y artículos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Datos base que todos los documentos referencian</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BusinessPartners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curl</a:t>
            </a:r>
            <a:r>
              <a:rPr lang="en-US" sz="850" dirty="0">
                <a:solidFill>
                  <a:srgbClr val="DCE6F2"/>
                </a:solidFill>
                <a:latin typeface="Consolas" pitchFamily="34" charset="0"/>
                <a:ea typeface="Consolas" pitchFamily="34" charset="-122"/>
                <a:cs typeface="Consolas" pitchFamily="34" charset="-120"/>
              </a:rPr>
              <a:t> -k -X </a:t>
            </a:r>
            <a:r>
              <a:rPr lang="en-US" sz="850" b="1" dirty="0">
                <a:solidFill>
                  <a:srgbClr val="F5A800"/>
                </a:solidFill>
                <a:latin typeface="Consolas" pitchFamily="34" charset="0"/>
                <a:ea typeface="Consolas" pitchFamily="34" charset="-122"/>
                <a:cs typeface="Consolas" pitchFamily="34" charset="-120"/>
              </a:rPr>
              <a:t>POST</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"$SL/BusinessPartners"</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-H </a:t>
            </a:r>
            <a:r>
              <a:rPr lang="en-US" sz="850" dirty="0">
                <a:solidFill>
                  <a:srgbClr val="B5E48C"/>
                </a:solidFill>
                <a:latin typeface="Consolas" pitchFamily="34" charset="0"/>
                <a:ea typeface="Consolas" pitchFamily="34" charset="-122"/>
                <a:cs typeface="Consolas" pitchFamily="34" charset="-120"/>
              </a:rPr>
              <a:t>"Content-Type: application/json"</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-b cookies.txt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-d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"C20601234567"</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"CardName"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"Comercial Andina SAC"</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"CardType"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"cCustomer"</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"FederalTaxID"</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"20601234567"</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"GroupCode"</a:t>
            </a:r>
            <a:r>
              <a:rPr lang="en-US" sz="850" dirty="0">
                <a:solidFill>
                  <a:srgbClr val="DCE6F2"/>
                </a:solidFill>
                <a:latin typeface="Consolas" pitchFamily="34" charset="0"/>
                <a:ea typeface="Consolas" pitchFamily="34" charset="-122"/>
                <a:cs typeface="Consolas" pitchFamily="34" charset="-120"/>
              </a:rPr>
              <a:t>: 100,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"Currency"</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"Phone1"</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"014567890"</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"EmailAddress"</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"compras@andina.pe"</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CardType: cCustomer (cliente) · cSupplier (proveedor) · cLid (lead). Currency "##" = todas las monedas.</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Items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curl</a:t>
            </a:r>
            <a:r>
              <a:rPr lang="en-US" sz="850" dirty="0">
                <a:solidFill>
                  <a:srgbClr val="DCE6F2"/>
                </a:solidFill>
                <a:latin typeface="Consolas" pitchFamily="34" charset="0"/>
                <a:ea typeface="Consolas" pitchFamily="34" charset="-122"/>
                <a:cs typeface="Consolas" pitchFamily="34" charset="-120"/>
              </a:rPr>
              <a:t> -k -X </a:t>
            </a:r>
            <a:r>
              <a:rPr lang="en-US" sz="850" b="1" dirty="0">
                <a:solidFill>
                  <a:srgbClr val="F5A800"/>
                </a:solidFill>
                <a:latin typeface="Consolas" pitchFamily="34" charset="0"/>
                <a:ea typeface="Consolas" pitchFamily="34" charset="-122"/>
                <a:cs typeface="Consolas" pitchFamily="34" charset="-120"/>
              </a:rPr>
              <a:t>POST</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"$SL/Items"</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-H </a:t>
            </a:r>
            <a:r>
              <a:rPr lang="en-US" sz="850" dirty="0">
                <a:solidFill>
                  <a:srgbClr val="B5E48C"/>
                </a:solidFill>
                <a:latin typeface="Consolas" pitchFamily="34" charset="0"/>
                <a:ea typeface="Consolas" pitchFamily="34" charset="-122"/>
                <a:cs typeface="Consolas" pitchFamily="34" charset="-120"/>
              </a:rPr>
              <a:t>"Content-Type: application/json"</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-b cookies.txt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-d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"ItemCode"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"PT-0001"</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"ItemName"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"Laptop Core i7 14 pulg"</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"ItemsGroupCode"</a:t>
            </a:r>
            <a:r>
              <a:rPr lang="en-US" sz="850" dirty="0">
                <a:solidFill>
                  <a:srgbClr val="DCE6F2"/>
                </a:solidFill>
                <a:latin typeface="Consolas" pitchFamily="34" charset="0"/>
                <a:ea typeface="Consolas" pitchFamily="34" charset="-122"/>
                <a:cs typeface="Consolas" pitchFamily="34" charset="-120"/>
              </a:rPr>
              <a:t>: 100,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"InventoryItem"</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"tYES"</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"SalesItem"</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"tYES"</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"PurchaseItem"</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"tYES"</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"ManageBatchNumbers"</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"tNO"</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"InventoryUOM"</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"UND"</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tYES / tNO: enumeración booleana de SAP. ItemsGroupCode es el código del grupo de artículos.</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Compras I: orden de compra y entrada</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La entrada se copia desde la orden usando BaseType / BaseEntry / BaseLine</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PurchaseOrders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"$SL/PurchaseOrders"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"2026-09-23"</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"DocDueDate"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"Comments"</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"OC generada vía Service Layer"</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"ItemCode"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"PT-0001"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10,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"UnitPrice"</a:t>
            </a:r>
            <a:r>
              <a:rPr lang="en-US" sz="800" dirty="0">
                <a:solidFill>
                  <a:srgbClr val="DCE6F2"/>
                </a:solidFill>
                <a:latin typeface="Consolas" pitchFamily="34" charset="0"/>
                <a:ea typeface="Consolas" pitchFamily="34" charset="-122"/>
                <a:cs typeface="Consolas" pitchFamily="34" charset="-120"/>
              </a:rPr>
              <a:t>: 2500,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"TaxCode"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"IGV"</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"WarehouseCode"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"01"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DocDueDate: fecha de entrega. TaxCode y WarehouseCode según la configuración de la compañía.</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PurchaseDeliveryNotes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"$SL/PurchaseDeliveryNotes"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"2026-09-25"</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22,</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1045,</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10,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"WarehouseCode"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"01"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22 = orden de compra · BaseEntry = DocEntry de la OC · BaseLine = LineNum de la línea origen.</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22</a:t>
            </a:fld>
            <a:endParaRPr lang="en-US"/>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Compras II: factura y nota de crédito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Continuamos la cadena documental desde la entrada y la factura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PurchaseInvoices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"2026-09-26"</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"NumAtCard"</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"F001-000123"</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20,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877,</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20 = entrada de mercancía. NumAtCard: número del documento del proveedor.</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PurchaseCreditNotes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"$SL/PurchaseCreditNotes"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"2026-09-28"</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"Comments"</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"Devolución parcial"</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18,</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912,</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2</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18 = factura de proveedor. Si no envías Quantity se toma la cantidad abierta completa.</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23</a:t>
            </a:fld>
            <a:endParaRPr lang="en-US"/>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Ventas I: pedido y entrega</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Mismo patrón que compras, con las entidades de venta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Orders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"$SL/Orders"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"2026-09-23"</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"DocDueDate"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"SalesPersonCode"</a:t>
            </a:r>
            <a:r>
              <a:rPr lang="en-US" sz="800" dirty="0">
                <a:solidFill>
                  <a:srgbClr val="DCE6F2"/>
                </a:solidFill>
                <a:latin typeface="Consolas" pitchFamily="34" charset="0"/>
                <a:ea typeface="Consolas" pitchFamily="34" charset="-122"/>
                <a:cs typeface="Consolas" pitchFamily="34" charset="-120"/>
              </a:rPr>
              <a:t>: 3,</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"ItemCode"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"PT-0001"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5,</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"UnitPrice"</a:t>
            </a:r>
            <a:r>
              <a:rPr lang="en-US" sz="800" dirty="0">
                <a:solidFill>
                  <a:srgbClr val="DCE6F2"/>
                </a:solidFill>
                <a:latin typeface="Consolas" pitchFamily="34" charset="0"/>
                <a:ea typeface="Consolas" pitchFamily="34" charset="-122"/>
                <a:cs typeface="Consolas" pitchFamily="34" charset="-120"/>
              </a:rPr>
              <a:t>: 3200,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"TaxCode"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"IGV"</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"WarehouseCode"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"01"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SalesPersonCode: código del empleado de ventas. DocumentLines es obligatorio con al menos una línea.</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DeliveryNotes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"$SL/DeliveryNotes"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"2026-09-24"</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17,</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2310,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5</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17 = pedido de cliente. La entrega descuenta el stock del almacén de la línea.</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24</a:t>
            </a:fld>
            <a:endParaRPr lang="en-US"/>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Ventas II: factura y nota de crédito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Cierre del ciclo de venta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Invoices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"2026-09-24"</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"DocDueDate"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"2026-10-24"</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15,</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1988,</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15 = entrega. DocDueDate define el vencimiento de la cuenta por cobrar.</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CreditNotes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"$SL/CreditNotes"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"2026-09-29"</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"Comments"</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"NC por descuento comercial"</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"BaseType"</a:t>
            </a:r>
            <a:r>
              <a:rPr lang="en-US" sz="800" dirty="0">
                <a:solidFill>
                  <a:srgbClr val="DCE6F2"/>
                </a:solidFill>
                <a:latin typeface="Consolas" pitchFamily="34" charset="0"/>
                <a:ea typeface="Consolas" pitchFamily="34" charset="-122"/>
                <a:cs typeface="Consolas" pitchFamily="34" charset="-120"/>
              </a:rPr>
              <a:t>: 13,</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"BaseEntry"</a:t>
            </a:r>
            <a:r>
              <a:rPr lang="en-US" sz="800" dirty="0">
                <a:solidFill>
                  <a:srgbClr val="DCE6F2"/>
                </a:solidFill>
                <a:latin typeface="Consolas" pitchFamily="34" charset="0"/>
                <a:ea typeface="Consolas" pitchFamily="34" charset="-122"/>
                <a:cs typeface="Consolas" pitchFamily="34" charset="-120"/>
              </a:rPr>
              <a:t>: 3321,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"BaseLine"</a:t>
            </a:r>
            <a:r>
              <a:rPr lang="en-US" sz="800" dirty="0">
                <a:solidFill>
                  <a:srgbClr val="DCE6F2"/>
                </a:solidFill>
                <a:latin typeface="Consolas" pitchFamily="34" charset="0"/>
                <a:ea typeface="Consolas" pitchFamily="34" charset="-122"/>
                <a:cs typeface="Consolas" pitchFamily="34" charset="-120"/>
              </a:rPr>
              <a:t>: 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"Quantity"</a:t>
            </a:r>
            <a:r>
              <a:rPr lang="en-US" sz="800" dirty="0">
                <a:solidFill>
                  <a:srgbClr val="DCE6F2"/>
                </a:solidFill>
                <a:latin typeface="Consolas" pitchFamily="34" charset="0"/>
                <a:ea typeface="Consolas" pitchFamily="34" charset="-122"/>
                <a:cs typeface="Consolas" pitchFamily="34" charset="-120"/>
              </a:rPr>
              <a:t>: 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BaseType 13 = factura de cliente. La NC referenciada queda vinculada a la factura origen.</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25</a:t>
            </a:fld>
            <a:endParaRPr lang="en-US"/>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Notas de débito (compras y ventas)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No existe una entidad propia: se usa la factura con DocumentSubType</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Invoices (ND de venta)</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"dDocument_Service"</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"DocumentSubType"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"bod_DebitMemo"</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"ItemDescription"</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"Intereses moratorios"</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"AccountCode"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"7721001"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"LineTotal"</a:t>
            </a:r>
            <a:r>
              <a:rPr lang="en-US" sz="800" dirty="0">
                <a:solidFill>
                  <a:srgbClr val="DCE6F2"/>
                </a:solidFill>
                <a:latin typeface="Consolas" pitchFamily="34" charset="0"/>
                <a:ea typeface="Consolas" pitchFamily="34" charset="-122"/>
                <a:cs typeface="Consolas" pitchFamily="34" charset="-120"/>
              </a:rPr>
              <a:t>: 150,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"TaxCode"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"IGV"</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DocType dDocument_Service: líneas por cuenta contable (AccountCode + LineTotal) en lugar de artículos.</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PurchaseInvoices (ND de compra)</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"$SL/PurchaseInvoices"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"dDocument_Service"</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"DocumentSubType"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"bod_PurchaseDebitMemo"</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"DocumentLines"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"ItemDescription"</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"Flete adicional"</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"AccountCode"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"6311001"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"LineTotal"</a:t>
            </a:r>
            <a:r>
              <a:rPr lang="en-US" sz="800" dirty="0">
                <a:solidFill>
                  <a:srgbClr val="DCE6F2"/>
                </a:solidFill>
                <a:latin typeface="Consolas" pitchFamily="34" charset="0"/>
                <a:ea typeface="Consolas" pitchFamily="34" charset="-122"/>
                <a:cs typeface="Consolas" pitchFamily="34" charset="-120"/>
              </a:rPr>
              <a:t>: 80,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"TaxCode"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"IGV"</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Considera además los campos de tu localización (serie, tipo SUNAT, documento de referencia).</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26</a:t>
            </a:fld>
            <a:endParaRPr lang="en-US"/>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Bancos: pago recibido y pago efectuado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Aplicación de pagos a facturas abiertas</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IncomingPayments</a:t>
            </a:r>
            <a:endParaRPr lang="en-US" sz="850" dirty="0"/>
          </a:p>
        </p:txBody>
      </p:sp>
      <p:sp>
        <p:nvSpPr>
          <p:cNvPr id="12" name="Text 10"/>
          <p:cNvSpPr txBox="1"/>
          <p:nvPr/>
        </p:nvSpPr>
        <p:spPr>
          <a:xfrm>
            <a:off x="59436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"$SL/IncomingPayments"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"C20601234567"</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"TransferAccount"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"1041101"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"TransferSum"</a:t>
            </a:r>
            <a:r>
              <a:rPr lang="en-US" sz="800" dirty="0">
                <a:solidFill>
                  <a:srgbClr val="DCE6F2"/>
                </a:solidFill>
                <a:latin typeface="Consolas" pitchFamily="34" charset="0"/>
                <a:ea typeface="Consolas" pitchFamily="34" charset="-122"/>
                <a:cs typeface="Consolas" pitchFamily="34" charset="-120"/>
              </a:rPr>
              <a:t>: 2950,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"TransferReference"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"OP-778812"</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"PaymentInvoices"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"DocEntry"</a:t>
            </a:r>
            <a:r>
              <a:rPr lang="en-US" sz="800" dirty="0">
                <a:solidFill>
                  <a:srgbClr val="DCE6F2"/>
                </a:solidFill>
                <a:latin typeface="Consolas" pitchFamily="34" charset="0"/>
                <a:ea typeface="Consolas" pitchFamily="34" charset="-122"/>
                <a:cs typeface="Consolas" pitchFamily="34" charset="-120"/>
              </a:rPr>
              <a:t>: 3321,</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"InvoiceType"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"it_Invoice"</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"SumApplied"</a:t>
            </a:r>
            <a:r>
              <a:rPr lang="en-US" sz="800" dirty="0">
                <a:solidFill>
                  <a:srgbClr val="DCE6F2"/>
                </a:solidFill>
                <a:latin typeface="Consolas" pitchFamily="34" charset="0"/>
                <a:ea typeface="Consolas" pitchFamily="34" charset="-122"/>
                <a:cs typeface="Consolas" pitchFamily="34" charset="-120"/>
              </a:rPr>
              <a:t>: 2950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13" name="Text 11"/>
          <p:cNvSpPr txBox="1"/>
          <p:nvPr/>
        </p:nvSpPr>
        <p:spPr>
          <a:xfrm>
            <a:off x="45720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Medios: CashSum/CashAccount, TransferSum/TransferAccount, PaymentChecks, PaymentCreditCards.</a:t>
            </a:r>
            <a:endParaRPr lang="en-US" sz="1000" dirty="0"/>
          </a:p>
        </p:txBody>
      </p:sp>
      <p:sp>
        <p:nvSpPr>
          <p:cNvPr id="14" name="Shape 12"/>
          <p:cNvSpPr/>
          <p:nvPr/>
        </p:nvSpPr>
        <p:spPr>
          <a:xfrm>
            <a:off x="4663440" y="1417320"/>
            <a:ext cx="4023360" cy="2788920"/>
          </a:xfrm>
          <a:prstGeom prst="roundRect">
            <a:avLst>
              <a:gd name="adj" fmla="val 22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5" name="Shape 13"/>
          <p:cNvSpPr/>
          <p:nvPr/>
        </p:nvSpPr>
        <p:spPr>
          <a:xfrm>
            <a:off x="4800600" y="1527048"/>
            <a:ext cx="73152" cy="73152"/>
          </a:xfrm>
          <a:prstGeom prst="ellipse">
            <a:avLst/>
          </a:prstGeom>
          <a:solidFill>
            <a:srgbClr val="FF5F56"/>
          </a:solidFill>
          <a:ln w="12700">
            <a:solidFill>
              <a:srgbClr val="FF5F56"/>
            </a:solidFill>
            <a:prstDash val="solid"/>
          </a:ln>
        </p:spPr>
      </p:sp>
      <p:sp>
        <p:nvSpPr>
          <p:cNvPr id="16" name="Shape 14"/>
          <p:cNvSpPr/>
          <p:nvPr/>
        </p:nvSpPr>
        <p:spPr>
          <a:xfrm>
            <a:off x="4928616" y="1527048"/>
            <a:ext cx="73152" cy="73152"/>
          </a:xfrm>
          <a:prstGeom prst="ellipse">
            <a:avLst/>
          </a:prstGeom>
          <a:solidFill>
            <a:srgbClr val="FFBD2E"/>
          </a:solidFill>
          <a:ln w="12700">
            <a:solidFill>
              <a:srgbClr val="FFBD2E"/>
            </a:solidFill>
            <a:prstDash val="solid"/>
          </a:ln>
        </p:spPr>
      </p:sp>
      <p:sp>
        <p:nvSpPr>
          <p:cNvPr id="17" name="Shape 15"/>
          <p:cNvSpPr/>
          <p:nvPr/>
        </p:nvSpPr>
        <p:spPr>
          <a:xfrm>
            <a:off x="5056632" y="1527048"/>
            <a:ext cx="73152" cy="73152"/>
          </a:xfrm>
          <a:prstGeom prst="ellipse">
            <a:avLst/>
          </a:prstGeom>
          <a:solidFill>
            <a:srgbClr val="27C93F"/>
          </a:solidFill>
          <a:ln w="12700">
            <a:solidFill>
              <a:srgbClr val="27C93F"/>
            </a:solidFill>
            <a:prstDash val="solid"/>
          </a:ln>
        </p:spPr>
      </p:sp>
      <p:sp>
        <p:nvSpPr>
          <p:cNvPr id="18" name="Text 16"/>
          <p:cNvSpPr txBox="1"/>
          <p:nvPr/>
        </p:nvSpPr>
        <p:spPr>
          <a:xfrm>
            <a:off x="5230368" y="147218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VendorPayments</a:t>
            </a:r>
            <a:endParaRPr lang="en-US" sz="850" dirty="0"/>
          </a:p>
        </p:txBody>
      </p:sp>
      <p:sp>
        <p:nvSpPr>
          <p:cNvPr id="19" name="Text 17"/>
          <p:cNvSpPr txBox="1"/>
          <p:nvPr/>
        </p:nvSpPr>
        <p:spPr>
          <a:xfrm>
            <a:off x="4800600" y="1709928"/>
            <a:ext cx="3749040" cy="2423160"/>
          </a:xfrm>
          <a:prstGeom prst="rect">
            <a:avLst/>
          </a:prstGeom>
          <a:noFill/>
          <a:ln/>
        </p:spPr>
        <p:txBody>
          <a:bodyPr wrap="square" lIns="0" tIns="0" rIns="0" bIns="0" rtlCol="0" anchor="t"/>
          <a:lstStyle/>
          <a:p>
            <a:pPr marL="0" indent="0">
              <a:lnSpc>
                <a:spcPct val="100000"/>
              </a:lnSpc>
              <a:buNone/>
            </a:pPr>
            <a:r>
              <a:rPr lang="en-US" sz="800" b="1" dirty="0">
                <a:solidFill>
                  <a:srgbClr val="F5A800"/>
                </a:solidFill>
                <a:latin typeface="Consolas" pitchFamily="34" charset="0"/>
                <a:ea typeface="Consolas" pitchFamily="34" charset="-122"/>
                <a:cs typeface="Consolas" pitchFamily="34" charset="-120"/>
              </a:rPr>
              <a:t>curl</a:t>
            </a:r>
            <a:r>
              <a:rPr lang="en-US" sz="800" dirty="0">
                <a:solidFill>
                  <a:srgbClr val="DCE6F2"/>
                </a:solidFill>
                <a:latin typeface="Consolas" pitchFamily="34" charset="0"/>
                <a:ea typeface="Consolas" pitchFamily="34" charset="-122"/>
                <a:cs typeface="Consolas" pitchFamily="34" charset="-120"/>
              </a:rPr>
              <a:t> -k -X </a:t>
            </a:r>
            <a:r>
              <a:rPr lang="en-US" sz="800" b="1" dirty="0">
                <a:solidFill>
                  <a:srgbClr val="F5A800"/>
                </a:solidFill>
                <a:latin typeface="Consolas" pitchFamily="34" charset="0"/>
                <a:ea typeface="Consolas" pitchFamily="34" charset="-122"/>
                <a:cs typeface="Consolas" pitchFamily="34" charset="-120"/>
              </a:rPr>
              <a:t>POST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"$SL/VendorPayments"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-H </a:t>
            </a:r>
            <a:r>
              <a:rPr lang="en-US" sz="800" dirty="0">
                <a:solidFill>
                  <a:srgbClr val="B5E48C"/>
                </a:solidFill>
                <a:latin typeface="Consolas" pitchFamily="34" charset="0"/>
                <a:ea typeface="Consolas" pitchFamily="34" charset="-122"/>
                <a:cs typeface="Consolas" pitchFamily="34" charset="-120"/>
              </a:rPr>
              <a:t>"Content-Type: application/json"</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-b cookies.txt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-d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"CardCode"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"P20100070970"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"TransferAccount"</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"1041101"</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"TransferSum"</a:t>
            </a:r>
            <a:r>
              <a:rPr lang="en-US" sz="800" dirty="0">
                <a:solidFill>
                  <a:srgbClr val="DCE6F2"/>
                </a:solidFill>
                <a:latin typeface="Consolas" pitchFamily="34" charset="0"/>
                <a:ea typeface="Consolas" pitchFamily="34" charset="-122"/>
                <a:cs typeface="Consolas" pitchFamily="34" charset="-120"/>
              </a:rPr>
              <a:t>: 29500,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"TransferDate"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"2026-09-30"</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"PaymentInvoices"</a:t>
            </a: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"DocEntry"</a:t>
            </a:r>
            <a:r>
              <a:rPr lang="en-US" sz="800" dirty="0">
                <a:solidFill>
                  <a:srgbClr val="DCE6F2"/>
                </a:solidFill>
                <a:latin typeface="Consolas" pitchFamily="34" charset="0"/>
                <a:ea typeface="Consolas" pitchFamily="34" charset="-122"/>
                <a:cs typeface="Consolas" pitchFamily="34" charset="-120"/>
              </a:rPr>
              <a:t>: 912,</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"InvoiceType"</a:t>
            </a:r>
            <a:r>
              <a:rPr lang="en-US" sz="800" dirty="0">
                <a:solidFill>
                  <a:srgbClr val="DCE6F2"/>
                </a:solidFill>
                <a:latin typeface="Consolas" pitchFamily="34" charset="0"/>
                <a:ea typeface="Consolas" pitchFamily="34" charset="-122"/>
                <a:cs typeface="Consolas" pitchFamily="34" charset="-120"/>
              </a:rPr>
              <a:t>: </a:t>
            </a:r>
            <a:r>
              <a:rPr lang="en-US" sz="800" dirty="0">
                <a:solidFill>
                  <a:srgbClr val="B5E48C"/>
                </a:solidFill>
                <a:latin typeface="Consolas" pitchFamily="34" charset="0"/>
                <a:ea typeface="Consolas" pitchFamily="34" charset="-122"/>
                <a:cs typeface="Consolas" pitchFamily="34" charset="-120"/>
              </a:rPr>
              <a:t>"it_PurchaseInvoice"</a:t>
            </a:r>
            <a:r>
              <a:rPr lang="en-US" sz="800" dirty="0">
                <a:solidFill>
                  <a:srgbClr val="DCE6F2"/>
                </a:solidFill>
                <a:latin typeface="Consolas" pitchFamily="34" charset="0"/>
                <a:ea typeface="Consolas" pitchFamily="34" charset="-122"/>
                <a:cs typeface="Consolas" pitchFamily="34" charset="-120"/>
              </a:rPr>
              <a:t>,</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r>
              <a:rPr lang="en-US" sz="800" dirty="0">
                <a:solidFill>
                  <a:srgbClr val="7FD1FF"/>
                </a:solidFill>
                <a:latin typeface="Consolas" pitchFamily="34" charset="0"/>
                <a:ea typeface="Consolas" pitchFamily="34" charset="-122"/>
                <a:cs typeface="Consolas" pitchFamily="34" charset="-120"/>
              </a:rPr>
              <a:t>"SumApplied"</a:t>
            </a:r>
            <a:r>
              <a:rPr lang="en-US" sz="800" dirty="0">
                <a:solidFill>
                  <a:srgbClr val="DCE6F2"/>
                </a:solidFill>
                <a:latin typeface="Consolas" pitchFamily="34" charset="0"/>
                <a:ea typeface="Consolas" pitchFamily="34" charset="-122"/>
                <a:cs typeface="Consolas" pitchFamily="34" charset="-120"/>
              </a:rPr>
              <a:t>: 29500</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  ]</a:t>
            </a:r>
            <a:endParaRPr lang="en-US" sz="800" dirty="0"/>
          </a:p>
          <a:p>
            <a:pPr marL="0" indent="0">
              <a:lnSpc>
                <a:spcPct val="100000"/>
              </a:lnSpc>
              <a:buNone/>
            </a:pPr>
            <a:r>
              <a:rPr lang="en-US" sz="800" dirty="0">
                <a:solidFill>
                  <a:srgbClr val="DCE6F2"/>
                </a:solidFill>
                <a:latin typeface="Consolas" pitchFamily="34" charset="0"/>
                <a:ea typeface="Consolas" pitchFamily="34" charset="-122"/>
                <a:cs typeface="Consolas" pitchFamily="34" charset="-120"/>
              </a:rPr>
              <a:t>}'</a:t>
            </a:r>
            <a:endParaRPr lang="en-US" sz="800" dirty="0"/>
          </a:p>
        </p:txBody>
      </p:sp>
      <p:sp>
        <p:nvSpPr>
          <p:cNvPr id="20" name="Text 18"/>
          <p:cNvSpPr txBox="1"/>
          <p:nvPr/>
        </p:nvSpPr>
        <p:spPr>
          <a:xfrm>
            <a:off x="4663440" y="4297680"/>
            <a:ext cx="4023360" cy="4572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InvoiceType indica el tipo del documento pagado: it_PurchaseInvoice, it_PurchaseCreditNote, etc.</a:t>
            </a:r>
            <a:endParaRPr lang="en-US" sz="1000" dirty="0"/>
          </a:p>
        </p:txBody>
      </p:sp>
      <p:sp>
        <p:nvSpPr>
          <p:cNvPr id="21" name="Text 19"/>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27</a:t>
            </a:fld>
            <a:endParaRPr lang="en-US"/>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434133"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434133"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04  ·  FLUJOS DE OPERACIÓN 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Finanzas: asientos contables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Registro manual de asientos vía JournalEntries</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4754880" cy="3291840"/>
          </a:xfrm>
          <a:prstGeom prst="roundRect">
            <a:avLst>
              <a:gd name="adj" fmla="val 1944"/>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527048"/>
            <a:ext cx="73152" cy="73152"/>
          </a:xfrm>
          <a:prstGeom prst="ellipse">
            <a:avLst/>
          </a:prstGeom>
          <a:solidFill>
            <a:srgbClr val="FF5F56"/>
          </a:solidFill>
          <a:ln w="12700">
            <a:solidFill>
              <a:srgbClr val="FF5F56"/>
            </a:solidFill>
            <a:prstDash val="solid"/>
          </a:ln>
        </p:spPr>
      </p:sp>
      <p:sp>
        <p:nvSpPr>
          <p:cNvPr id="9" name="Shape 7"/>
          <p:cNvSpPr/>
          <p:nvPr/>
        </p:nvSpPr>
        <p:spPr>
          <a:xfrm>
            <a:off x="722376" y="152704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52704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72184"/>
            <a:ext cx="406908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JournalEntries</a:t>
            </a:r>
            <a:endParaRPr lang="en-US" sz="850" dirty="0"/>
          </a:p>
        </p:txBody>
      </p:sp>
      <p:sp>
        <p:nvSpPr>
          <p:cNvPr id="12" name="Text 10"/>
          <p:cNvSpPr txBox="1"/>
          <p:nvPr/>
        </p:nvSpPr>
        <p:spPr>
          <a:xfrm>
            <a:off x="594360" y="1709928"/>
            <a:ext cx="4480560" cy="2926080"/>
          </a:xfrm>
          <a:prstGeom prst="rect">
            <a:avLst/>
          </a:prstGeom>
          <a:noFill/>
          <a:ln/>
        </p:spPr>
        <p:txBody>
          <a:bodyPr wrap="square" lIns="0" tIns="0" rIns="0" bIns="0" rtlCol="0" anchor="t"/>
          <a:lstStyle/>
          <a:p>
            <a:pPr marL="0" indent="0">
              <a:lnSpc>
                <a:spcPct val="100000"/>
              </a:lnSpc>
              <a:buNone/>
            </a:pPr>
            <a:r>
              <a:rPr lang="en-US" sz="850" b="1" dirty="0">
                <a:solidFill>
                  <a:srgbClr val="F5A800"/>
                </a:solidFill>
                <a:latin typeface="Consolas" pitchFamily="34" charset="0"/>
                <a:ea typeface="Consolas" pitchFamily="34" charset="-122"/>
                <a:cs typeface="Consolas" pitchFamily="34" charset="-120"/>
              </a:rPr>
              <a:t>curl</a:t>
            </a:r>
            <a:r>
              <a:rPr lang="en-US" sz="850" dirty="0">
                <a:solidFill>
                  <a:srgbClr val="DCE6F2"/>
                </a:solidFill>
                <a:latin typeface="Consolas" pitchFamily="34" charset="0"/>
                <a:ea typeface="Consolas" pitchFamily="34" charset="-122"/>
                <a:cs typeface="Consolas" pitchFamily="34" charset="-120"/>
              </a:rPr>
              <a:t> -k -X </a:t>
            </a:r>
            <a:r>
              <a:rPr lang="en-US" sz="850" b="1" dirty="0">
                <a:solidFill>
                  <a:srgbClr val="F5A800"/>
                </a:solidFill>
                <a:latin typeface="Consolas" pitchFamily="34" charset="0"/>
                <a:ea typeface="Consolas" pitchFamily="34" charset="-122"/>
                <a:cs typeface="Consolas" pitchFamily="34" charset="-120"/>
              </a:rPr>
              <a:t>POST</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"$SL/JournalEntries"</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-H </a:t>
            </a:r>
            <a:r>
              <a:rPr lang="en-US" sz="850" dirty="0">
                <a:solidFill>
                  <a:srgbClr val="B5E48C"/>
                </a:solidFill>
                <a:latin typeface="Consolas" pitchFamily="34" charset="0"/>
                <a:ea typeface="Consolas" pitchFamily="34" charset="-122"/>
                <a:cs typeface="Consolas" pitchFamily="34" charset="-120"/>
              </a:rPr>
              <a:t>"Content-Type: application/json"</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-b cookies.txt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-d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"ReferenceDate"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"2026-09-30"</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"TaxDate"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"2026-09-30"</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"Memo"</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"Provisión servicios setiembre"</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"JournalEntryLines"</a:t>
            </a: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"AccountCode"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"6311001"</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"Debit"</a:t>
            </a:r>
            <a:r>
              <a:rPr lang="en-US" sz="850" dirty="0">
                <a:solidFill>
                  <a:srgbClr val="DCE6F2"/>
                </a:solidFill>
                <a:latin typeface="Consolas" pitchFamily="34" charset="0"/>
                <a:ea typeface="Consolas" pitchFamily="34" charset="-122"/>
                <a:cs typeface="Consolas" pitchFamily="34" charset="-120"/>
              </a:rPr>
              <a:t>: 1000,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"CostingCode"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"ADM"</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"AccountCode"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"4212001"</a:t>
            </a:r>
            <a:r>
              <a:rPr lang="en-US" sz="850" dirty="0">
                <a:solidFill>
                  <a:srgbClr val="DCE6F2"/>
                </a:solidFill>
                <a:latin typeface="Consolas" pitchFamily="34" charset="0"/>
                <a:ea typeface="Consolas" pitchFamily="34" charset="-122"/>
                <a:cs typeface="Consolas" pitchFamily="34" charset="-120"/>
              </a:rPr>
              <a:t>,</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"Credit"</a:t>
            </a:r>
            <a:r>
              <a:rPr lang="en-US" sz="850" dirty="0">
                <a:solidFill>
                  <a:srgbClr val="DCE6F2"/>
                </a:solidFill>
                <a:latin typeface="Consolas" pitchFamily="34" charset="0"/>
                <a:ea typeface="Consolas" pitchFamily="34" charset="-122"/>
                <a:cs typeface="Consolas" pitchFamily="34" charset="-120"/>
              </a:rPr>
              <a:t>: 1000,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r>
              <a:rPr lang="en-US" sz="850" dirty="0">
                <a:solidFill>
                  <a:srgbClr val="7FD1FF"/>
                </a:solidFill>
                <a:latin typeface="Consolas" pitchFamily="34" charset="0"/>
                <a:ea typeface="Consolas" pitchFamily="34" charset="-122"/>
                <a:cs typeface="Consolas" pitchFamily="34" charset="-120"/>
              </a:rPr>
              <a:t>"ShortName"</a:t>
            </a:r>
            <a:r>
              <a:rPr lang="en-US" sz="850" dirty="0">
                <a:solidFill>
                  <a:srgbClr val="DCE6F2"/>
                </a:solidFill>
                <a:latin typeface="Consolas" pitchFamily="34" charset="0"/>
                <a:ea typeface="Consolas" pitchFamily="34" charset="-122"/>
                <a:cs typeface="Consolas" pitchFamily="34" charset="-120"/>
              </a:rPr>
              <a:t>: </a:t>
            </a:r>
            <a:r>
              <a:rPr lang="en-US" sz="850" dirty="0">
                <a:solidFill>
                  <a:srgbClr val="B5E48C"/>
                </a:solidFill>
                <a:latin typeface="Consolas" pitchFamily="34" charset="0"/>
                <a:ea typeface="Consolas" pitchFamily="34" charset="-122"/>
                <a:cs typeface="Consolas" pitchFamily="34" charset="-120"/>
              </a:rPr>
              <a:t>"P20100070970"</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  ]</a:t>
            </a:r>
            <a:endParaRPr lang="en-US" sz="850" dirty="0"/>
          </a:p>
          <a:p>
            <a:pPr marL="0" indent="0">
              <a:lnSpc>
                <a:spcPct val="100000"/>
              </a:lnSpc>
              <a:buNone/>
            </a:pPr>
            <a:r>
              <a:rPr lang="en-US" sz="850" dirty="0">
                <a:solidFill>
                  <a:srgbClr val="DCE6F2"/>
                </a:solidFill>
                <a:latin typeface="Consolas" pitchFamily="34" charset="0"/>
                <a:ea typeface="Consolas" pitchFamily="34" charset="-122"/>
                <a:cs typeface="Consolas" pitchFamily="34" charset="-120"/>
              </a:rPr>
              <a:t>}'</a:t>
            </a:r>
            <a:endParaRPr lang="en-US" sz="850" dirty="0"/>
          </a:p>
        </p:txBody>
      </p:sp>
      <p:sp>
        <p:nvSpPr>
          <p:cNvPr id="13" name="Shape 11"/>
          <p:cNvSpPr/>
          <p:nvPr/>
        </p:nvSpPr>
        <p:spPr>
          <a:xfrm>
            <a:off x="5394960" y="1417320"/>
            <a:ext cx="3291840" cy="731520"/>
          </a:xfrm>
          <a:prstGeom prst="roundRect">
            <a:avLst>
              <a:gd name="adj" fmla="val 10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Shape 12"/>
          <p:cNvSpPr/>
          <p:nvPr/>
        </p:nvSpPr>
        <p:spPr>
          <a:xfrm>
            <a:off x="5513832" y="1563624"/>
            <a:ext cx="438912" cy="438912"/>
          </a:xfrm>
          <a:prstGeom prst="ellipse">
            <a:avLst/>
          </a:prstGeom>
          <a:solidFill>
            <a:srgbClr val="E8F1FC"/>
          </a:solidFill>
          <a:ln w="12700">
            <a:solidFill>
              <a:srgbClr val="E8F1FC"/>
            </a:solidFill>
            <a:prstDash val="solid"/>
          </a:ln>
        </p:spPr>
      </p:sp>
      <p:pic>
        <p:nvPicPr>
          <p:cNvPr id="15" name="Image 0" descr="preencoded.png"/>
          <p:cNvPicPr>
            <a:picLocks noChangeAspect="1"/>
          </p:cNvPicPr>
          <p:nvPr/>
        </p:nvPicPr>
        <p:blipFill>
          <a:blip r:embed="rId3"/>
          <a:stretch>
            <a:fillRect/>
          </a:stretch>
        </p:blipFill>
        <p:spPr>
          <a:xfrm>
            <a:off x="5627949" y="1677741"/>
            <a:ext cx="210678" cy="210678"/>
          </a:xfrm>
          <a:prstGeom prst="rect">
            <a:avLst/>
          </a:prstGeom>
        </p:spPr>
      </p:pic>
      <p:sp>
        <p:nvSpPr>
          <p:cNvPr id="16" name="Text 13"/>
          <p:cNvSpPr txBox="1"/>
          <p:nvPr/>
        </p:nvSpPr>
        <p:spPr>
          <a:xfrm>
            <a:off x="6053328" y="1490472"/>
            <a:ext cx="2560320" cy="256032"/>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Cuadre obligatorio</a:t>
            </a:r>
            <a:endParaRPr lang="en-US" sz="1150" dirty="0"/>
          </a:p>
        </p:txBody>
      </p:sp>
      <p:sp>
        <p:nvSpPr>
          <p:cNvPr id="17" name="Text 14"/>
          <p:cNvSpPr txBox="1"/>
          <p:nvPr/>
        </p:nvSpPr>
        <p:spPr>
          <a:xfrm>
            <a:off x="6053328" y="1746504"/>
            <a:ext cx="256032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La suma de Debit debe ser igual a la suma de Credit.</a:t>
            </a:r>
            <a:endParaRPr lang="en-US" sz="980" dirty="0"/>
          </a:p>
        </p:txBody>
      </p:sp>
      <p:sp>
        <p:nvSpPr>
          <p:cNvPr id="18" name="Shape 15"/>
          <p:cNvSpPr/>
          <p:nvPr/>
        </p:nvSpPr>
        <p:spPr>
          <a:xfrm>
            <a:off x="5394960" y="2258568"/>
            <a:ext cx="3291840" cy="731520"/>
          </a:xfrm>
          <a:prstGeom prst="roundRect">
            <a:avLst>
              <a:gd name="adj" fmla="val 10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9" name="Shape 16"/>
          <p:cNvSpPr/>
          <p:nvPr/>
        </p:nvSpPr>
        <p:spPr>
          <a:xfrm>
            <a:off x="5513832" y="2404872"/>
            <a:ext cx="438912" cy="438912"/>
          </a:xfrm>
          <a:prstGeom prst="ellipse">
            <a:avLst/>
          </a:prstGeom>
          <a:solidFill>
            <a:srgbClr val="E8F1FC"/>
          </a:solidFill>
          <a:ln w="12700">
            <a:solidFill>
              <a:srgbClr val="E8F1FC"/>
            </a:solidFill>
            <a:prstDash val="solid"/>
          </a:ln>
        </p:spPr>
      </p:sp>
      <p:pic>
        <p:nvPicPr>
          <p:cNvPr id="20" name="Image 1" descr="preencoded.png"/>
          <p:cNvPicPr>
            <a:picLocks noChangeAspect="1"/>
          </p:cNvPicPr>
          <p:nvPr/>
        </p:nvPicPr>
        <p:blipFill>
          <a:blip r:embed="rId4"/>
          <a:stretch>
            <a:fillRect/>
          </a:stretch>
        </p:blipFill>
        <p:spPr>
          <a:xfrm>
            <a:off x="5627949" y="2518989"/>
            <a:ext cx="210678" cy="210678"/>
          </a:xfrm>
          <a:prstGeom prst="rect">
            <a:avLst/>
          </a:prstGeom>
        </p:spPr>
      </p:pic>
      <p:sp>
        <p:nvSpPr>
          <p:cNvPr id="21" name="Text 17"/>
          <p:cNvSpPr txBox="1"/>
          <p:nvPr/>
        </p:nvSpPr>
        <p:spPr>
          <a:xfrm>
            <a:off x="6053328" y="2331720"/>
            <a:ext cx="2560320" cy="256032"/>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AccountCode</a:t>
            </a:r>
            <a:endParaRPr lang="en-US" sz="1150" dirty="0"/>
          </a:p>
        </p:txBody>
      </p:sp>
      <p:sp>
        <p:nvSpPr>
          <p:cNvPr id="22" name="Text 18"/>
          <p:cNvSpPr txBox="1"/>
          <p:nvPr/>
        </p:nvSpPr>
        <p:spPr>
          <a:xfrm>
            <a:off x="6053328" y="2587752"/>
            <a:ext cx="256032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Código interno de la cuenta (AcctCode), no el formato segmentado.</a:t>
            </a:r>
            <a:endParaRPr lang="en-US" sz="980" dirty="0"/>
          </a:p>
        </p:txBody>
      </p:sp>
      <p:sp>
        <p:nvSpPr>
          <p:cNvPr id="23" name="Shape 19"/>
          <p:cNvSpPr/>
          <p:nvPr/>
        </p:nvSpPr>
        <p:spPr>
          <a:xfrm>
            <a:off x="5394960" y="3099816"/>
            <a:ext cx="3291840" cy="731520"/>
          </a:xfrm>
          <a:prstGeom prst="roundRect">
            <a:avLst>
              <a:gd name="adj" fmla="val 10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4" name="Shape 20"/>
          <p:cNvSpPr/>
          <p:nvPr/>
        </p:nvSpPr>
        <p:spPr>
          <a:xfrm>
            <a:off x="5513832" y="3246120"/>
            <a:ext cx="438912" cy="438912"/>
          </a:xfrm>
          <a:prstGeom prst="ellipse">
            <a:avLst/>
          </a:prstGeom>
          <a:solidFill>
            <a:srgbClr val="E8F1FC"/>
          </a:solidFill>
          <a:ln w="12700">
            <a:solidFill>
              <a:srgbClr val="E8F1FC"/>
            </a:solidFill>
            <a:prstDash val="solid"/>
          </a:ln>
        </p:spPr>
      </p:sp>
      <p:pic>
        <p:nvPicPr>
          <p:cNvPr id="25" name="Image 2" descr="preencoded.png"/>
          <p:cNvPicPr>
            <a:picLocks noChangeAspect="1"/>
          </p:cNvPicPr>
          <p:nvPr/>
        </p:nvPicPr>
        <p:blipFill>
          <a:blip r:embed="rId5"/>
          <a:stretch>
            <a:fillRect/>
          </a:stretch>
        </p:blipFill>
        <p:spPr>
          <a:xfrm>
            <a:off x="5627949" y="3360237"/>
            <a:ext cx="210678" cy="210678"/>
          </a:xfrm>
          <a:prstGeom prst="rect">
            <a:avLst/>
          </a:prstGeom>
        </p:spPr>
      </p:pic>
      <p:sp>
        <p:nvSpPr>
          <p:cNvPr id="26" name="Text 21"/>
          <p:cNvSpPr txBox="1"/>
          <p:nvPr/>
        </p:nvSpPr>
        <p:spPr>
          <a:xfrm>
            <a:off x="6053328" y="3172968"/>
            <a:ext cx="2560320" cy="256032"/>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ShortName</a:t>
            </a:r>
            <a:endParaRPr lang="en-US" sz="1150" dirty="0"/>
          </a:p>
        </p:txBody>
      </p:sp>
      <p:sp>
        <p:nvSpPr>
          <p:cNvPr id="27" name="Text 22"/>
          <p:cNvSpPr txBox="1"/>
          <p:nvPr/>
        </p:nvSpPr>
        <p:spPr>
          <a:xfrm>
            <a:off x="6053328" y="3429000"/>
            <a:ext cx="256032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CardCode del socio en líneas con cuenta asociada a un socio de negocio.</a:t>
            </a:r>
            <a:endParaRPr lang="en-US" sz="980" dirty="0"/>
          </a:p>
        </p:txBody>
      </p:sp>
      <p:sp>
        <p:nvSpPr>
          <p:cNvPr id="28" name="Shape 23"/>
          <p:cNvSpPr/>
          <p:nvPr/>
        </p:nvSpPr>
        <p:spPr>
          <a:xfrm>
            <a:off x="5394960" y="3941064"/>
            <a:ext cx="3291840" cy="731520"/>
          </a:xfrm>
          <a:prstGeom prst="roundRect">
            <a:avLst>
              <a:gd name="adj" fmla="val 10000"/>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9" name="Shape 24"/>
          <p:cNvSpPr/>
          <p:nvPr/>
        </p:nvSpPr>
        <p:spPr>
          <a:xfrm>
            <a:off x="5513832" y="4087368"/>
            <a:ext cx="438912" cy="438912"/>
          </a:xfrm>
          <a:prstGeom prst="ellipse">
            <a:avLst/>
          </a:prstGeom>
          <a:solidFill>
            <a:srgbClr val="E8F1FC"/>
          </a:solidFill>
          <a:ln w="12700">
            <a:solidFill>
              <a:srgbClr val="E8F1FC"/>
            </a:solidFill>
            <a:prstDash val="solid"/>
          </a:ln>
        </p:spPr>
      </p:sp>
      <p:pic>
        <p:nvPicPr>
          <p:cNvPr id="30" name="Image 3" descr="preencoded.png"/>
          <p:cNvPicPr>
            <a:picLocks noChangeAspect="1"/>
          </p:cNvPicPr>
          <p:nvPr/>
        </p:nvPicPr>
        <p:blipFill>
          <a:blip r:embed="rId6"/>
          <a:stretch>
            <a:fillRect/>
          </a:stretch>
        </p:blipFill>
        <p:spPr>
          <a:xfrm>
            <a:off x="5627949" y="4201485"/>
            <a:ext cx="210678" cy="210678"/>
          </a:xfrm>
          <a:prstGeom prst="rect">
            <a:avLst/>
          </a:prstGeom>
        </p:spPr>
      </p:pic>
      <p:sp>
        <p:nvSpPr>
          <p:cNvPr id="31" name="Text 25"/>
          <p:cNvSpPr txBox="1"/>
          <p:nvPr/>
        </p:nvSpPr>
        <p:spPr>
          <a:xfrm>
            <a:off x="6053328" y="4014216"/>
            <a:ext cx="2560320" cy="256032"/>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Revertir</a:t>
            </a:r>
            <a:endParaRPr lang="en-US" sz="1150" dirty="0"/>
          </a:p>
        </p:txBody>
      </p:sp>
      <p:sp>
        <p:nvSpPr>
          <p:cNvPr id="32" name="Text 26"/>
          <p:cNvSpPr txBox="1"/>
          <p:nvPr/>
        </p:nvSpPr>
        <p:spPr>
          <a:xfrm>
            <a:off x="6053328" y="4270248"/>
            <a:ext cx="2560320" cy="384048"/>
          </a:xfrm>
          <a:prstGeom prst="rect">
            <a:avLst/>
          </a:prstGeom>
          <a:noFill/>
          <a:ln/>
        </p:spPr>
        <p:txBody>
          <a:bodyPr wrap="square" lIns="0" tIns="0" rIns="0" bIns="0" rtlCol="0" anchor="t"/>
          <a:lstStyle/>
          <a:p>
            <a:pPr marL="0" indent="0">
              <a:buNone/>
            </a:pPr>
            <a:r>
              <a:rPr lang="en-US" sz="980" dirty="0">
                <a:solidFill>
                  <a:srgbClr val="5B6B82"/>
                </a:solidFill>
                <a:latin typeface="Calibri" pitchFamily="34" charset="0"/>
                <a:ea typeface="Calibri" pitchFamily="34" charset="-122"/>
                <a:cs typeface="Calibri" pitchFamily="34" charset="-120"/>
              </a:rPr>
              <a:t>POST /JournalEntries(n)/Cancel genera el asiento de reversión.</a:t>
            </a:r>
            <a:endParaRPr lang="en-US" sz="980" dirty="0"/>
          </a:p>
        </p:txBody>
      </p:sp>
      <p:sp>
        <p:nvSpPr>
          <p:cNvPr id="33" name="Text 27"/>
          <p:cNvSpPr txBox="1"/>
          <p:nvPr/>
        </p:nvSpPr>
        <p:spPr>
          <a:xfrm>
            <a:off x="4663440" y="4828032"/>
            <a:ext cx="3474720" cy="182880"/>
          </a:xfrm>
          <a:prstGeom prst="rect">
            <a:avLst/>
          </a:prstGeom>
          <a:noFill/>
          <a:ln/>
        </p:spPr>
        <p:txBody>
          <a:bodyPr wrap="square" lIns="0" tIns="0" rIns="0" bIns="0" rtlCol="0" anchor="t"/>
          <a:lstStyle/>
          <a:p>
            <a:pPr marL="0" indent="0" algn="r">
              <a:buNone/>
            </a:pPr>
            <a:r>
              <a:rPr lang="en-US" sz="800" b="1" dirty="0">
                <a:solidFill>
                  <a:srgbClr val="0B4DA2"/>
                </a:solidFill>
                <a:latin typeface="Consolas" pitchFamily="34" charset="0"/>
                <a:ea typeface="Consolas" pitchFamily="34" charset="-122"/>
                <a:cs typeface="Consolas" pitchFamily="34" charset="-120"/>
              </a:rPr>
              <a:t>$SL</a:t>
            </a:r>
            <a:r>
              <a:rPr lang="en-US" sz="800" dirty="0">
                <a:solidFill>
                  <a:srgbClr val="8A9AB0"/>
                </a:solidFill>
                <a:latin typeface="Calibri" pitchFamily="34" charset="0"/>
                <a:ea typeface="Calibri" pitchFamily="34" charset="-122"/>
                <a:cs typeface="Calibri" pitchFamily="34" charset="-120"/>
              </a:rPr>
              <a:t> = https://sapserver:50000/b1s/v1   ·   cookies.txt obtenido en el Login</a:t>
            </a:r>
            <a:endParaRPr lang="en-US" sz="800" dirty="0"/>
          </a:p>
        </p:txBody>
      </p:sp>
      <p:sp>
        <p:nvSpPr>
          <p:cNvPr id="34"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28</a:t>
            </a:fld>
            <a:endParaRPr lang="en-US"/>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05</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Flujos de operación III</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Query options   •   Tablas de usuario vs UDO   •   CRUD completo   •   Batch y rollback</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Query options: referencia rápida</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Parámetros OData que se agregan a la URL de un GET para leer solo lo necesario</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2769616"/>
        </p:xfrm>
        <a:graphic>
          <a:graphicData uri="http://schemas.openxmlformats.org/drawingml/2006/table">
            <a:tbl>
              <a:tblPr/>
              <a:tblGrid>
                <a:gridCol w="114300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301752">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Opción</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Qué hace</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00" b="1" dirty="0">
                          <a:solidFill>
                            <a:srgbClr val="FFFFFF"/>
                          </a:solidFill>
                          <a:latin typeface="Segoe UI" pitchFamily="34" charset="0"/>
                          <a:ea typeface="Segoe UI" pitchFamily="34" charset="-122"/>
                          <a:cs typeface="Segoe UI" pitchFamily="34" charset="-120"/>
                        </a:rPr>
                        <a:t>Ejemplo</a:t>
                      </a:r>
                      <a:endParaRPr lang="en-US" sz="1000" dirty="0">
                        <a:latin typeface="Segoe UI" charset="0"/>
                        <a:ea typeface="Segoe UI" charset="0"/>
                        <a:cs typeface="Segoe U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extLst>
                  <a:ext uri="{0D108BD9-81ED-4DB2-BD59-A6C34878D82A}">
                    <a16:rowId xmlns:a16="http://schemas.microsoft.com/office/drawing/2014/main" val="10000"/>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$select</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Elige las propiedades a devolver</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Items?$select=ItemCode,ItemName,QuantityOnStock</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$filter</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Filtra con operadores y funciones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Orders?$filter=DocTotal gt 1000 and CardCode eq 'C001'</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$orderby</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Ordena asc / desc por una o más propiedades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Invoices?$orderby=DocDate desc,DocNum asc</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$top / $skip</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Limita y desplaza resultados (paginación manual)</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BusinessPartners?$top=20&amp;$skip=40</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$expand</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Incluye entidades relacionadas en la respuesta</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Orders(125)?$expand=BusinessPartner</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$count</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Devuelve el total de registros</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Orders/$count?$filter=DocumentStatus eq 'bost_Open'</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$apply</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Agrupa y agrega: groupby, aggregate (según versión)</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Invoices?$apply=groupby((CardCode),aggregate(DocTotal with sum as Total))</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7"/>
                  </a:ext>
                </a:extLst>
              </a:tr>
              <a:tr h="301752">
                <a:tc>
                  <a:txBody>
                    <a:bodyPr/>
                    <a:lstStyle/>
                    <a:p>
                      <a:pPr marL="0" indent="0">
                        <a:buNone/>
                      </a:pPr>
                      <a:r>
                        <a:rPr lang="en-US" sz="1000" b="1" dirty="0">
                          <a:solidFill>
                            <a:srgbClr val="071B3F"/>
                          </a:solidFill>
                          <a:latin typeface="Consolas" pitchFamily="34" charset="0"/>
                          <a:ea typeface="Consolas" pitchFamily="34" charset="-122"/>
                          <a:cs typeface="Consolas" pitchFamily="34" charset="-120"/>
                        </a:rPr>
                        <a:t>$crossjoin</a:t>
                      </a:r>
                      <a:endParaRPr lang="en-US" sz="100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00" dirty="0">
                          <a:solidFill>
                            <a:srgbClr val="1B2433"/>
                          </a:solidFill>
                          <a:latin typeface="Calibri" pitchFamily="34" charset="0"/>
                          <a:ea typeface="Calibri" pitchFamily="34" charset="-122"/>
                          <a:cs typeface="Calibri" pitchFamily="34" charset="-120"/>
                        </a:rPr>
                        <a:t>Cruza dos o más entidades (tipo JOIN)</a:t>
                      </a:r>
                      <a:endParaRPr lang="en-US" sz="1000" dirty="0">
                        <a:latin typeface="Calibri" charset="0"/>
                        <a:ea typeface="Calibri" charset="0"/>
                        <a:cs typeface="Calibri"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50" dirty="0">
                          <a:solidFill>
                            <a:srgbClr val="0B4DA2"/>
                          </a:solidFill>
                          <a:latin typeface="Consolas" pitchFamily="34" charset="0"/>
                          <a:ea typeface="Consolas" pitchFamily="34" charset="-122"/>
                          <a:cs typeface="Consolas" pitchFamily="34" charset="-120"/>
                        </a:rPr>
                        <a:t>$crossjoin(Orders,BusinessPartners)?$filter=...</a:t>
                      </a:r>
                      <a:endParaRPr lang="en-US" sz="850" dirty="0">
                        <a:latin typeface="Consolas" charset="0"/>
                        <a:ea typeface="Consolas" charset="0"/>
                        <a:cs typeface="Consolas" charset="0"/>
                      </a:endParaRPr>
                    </a:p>
                  </a:txBody>
                  <a:tcPr marL="76200" marR="762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Shape 5"/>
          <p:cNvSpPr/>
          <p:nvPr/>
        </p:nvSpPr>
        <p:spPr>
          <a:xfrm>
            <a:off x="457200" y="4315968"/>
            <a:ext cx="8229600" cy="411480"/>
          </a:xfrm>
          <a:prstGeom prst="roundRect">
            <a:avLst>
              <a:gd name="adj" fmla="val 17778"/>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9" name="Text 6"/>
          <p:cNvSpPr txBox="1"/>
          <p:nvPr/>
        </p:nvSpPr>
        <p:spPr>
          <a:xfrm>
            <a:off x="640080" y="4315968"/>
            <a:ext cx="7955280" cy="411480"/>
          </a:xfrm>
          <a:prstGeom prst="rect">
            <a:avLst/>
          </a:prstGeom>
          <a:noFill/>
          <a:ln/>
        </p:spPr>
        <p:txBody>
          <a:bodyPr wrap="square" lIns="0" tIns="0" rIns="0" bIns="0" rtlCol="0" anchor="ctr"/>
          <a:lstStyle/>
          <a:p>
            <a:pPr marL="0" indent="0">
              <a:buNone/>
            </a:pPr>
            <a:r>
              <a:rPr lang="en-US" sz="1050" b="1" dirty="0">
                <a:solidFill>
                  <a:srgbClr val="071B3F"/>
                </a:solidFill>
                <a:latin typeface="Calibri" pitchFamily="34" charset="0"/>
                <a:ea typeface="Calibri" pitchFamily="34" charset="-122"/>
                <a:cs typeface="Calibri" pitchFamily="34" charset="-120"/>
              </a:rPr>
              <a:t>Headers útiles: </a:t>
            </a:r>
            <a:r>
              <a:rPr lang="en-US" sz="1050" dirty="0">
                <a:solidFill>
                  <a:srgbClr val="0B4DA2"/>
                </a:solidFill>
                <a:latin typeface="Consolas" pitchFamily="34" charset="0"/>
                <a:ea typeface="Consolas" pitchFamily="34" charset="-122"/>
                <a:cs typeface="Consolas" pitchFamily="34" charset="-120"/>
              </a:rPr>
              <a:t>Prefer: odata.maxpagesize=100</a:t>
            </a:r>
            <a:r>
              <a:rPr lang="en-US" sz="1050" dirty="0">
                <a:solidFill>
                  <a:srgbClr val="1B2433"/>
                </a:solidFill>
                <a:latin typeface="Calibri" pitchFamily="34" charset="0"/>
                <a:ea typeface="Calibri" pitchFamily="34" charset="-122"/>
                <a:cs typeface="Calibri" pitchFamily="34" charset="-120"/>
              </a:rPr>
              <a:t>  (tamaño de página)   ·   </a:t>
            </a:r>
            <a:r>
              <a:rPr lang="en-US" sz="1050" dirty="0">
                <a:solidFill>
                  <a:srgbClr val="0B4DA2"/>
                </a:solidFill>
                <a:latin typeface="Consolas" pitchFamily="34" charset="0"/>
                <a:ea typeface="Consolas" pitchFamily="34" charset="-122"/>
                <a:cs typeface="Consolas" pitchFamily="34" charset="-120"/>
              </a:rPr>
              <a:t>B1S-CaseInsensitive: true</a:t>
            </a:r>
            <a:r>
              <a:rPr lang="en-US" sz="1050" dirty="0">
                <a:solidFill>
                  <a:srgbClr val="1B2433"/>
                </a:solidFill>
                <a:latin typeface="Calibri" pitchFamily="34" charset="0"/>
                <a:ea typeface="Calibri" pitchFamily="34" charset="-122"/>
                <a:cs typeface="Calibri" pitchFamily="34" charset="-120"/>
              </a:rPr>
              <a:t>  (ignora mayúsculas)</a:t>
            </a:r>
            <a:endParaRPr lang="en-US" sz="105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30</a:t>
            </a:fld>
            <a:endParaRPr lang="en-US"/>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$filter: operadores, funciones y versiones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La opción más usada, y donde más cambian v1 (OData v3) y v2 (OData v4)</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Text 5"/>
          <p:cNvSpPr txBox="1"/>
          <p:nvPr/>
        </p:nvSpPr>
        <p:spPr>
          <a:xfrm>
            <a:off x="457200" y="1371600"/>
            <a:ext cx="38404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Operadores</a:t>
            </a:r>
            <a:endParaRPr lang="en-US" sz="1200" dirty="0"/>
          </a:p>
        </p:txBody>
      </p:sp>
      <p:sp>
        <p:nvSpPr>
          <p:cNvPr id="8" name="Shape 6"/>
          <p:cNvSpPr/>
          <p:nvPr/>
        </p:nvSpPr>
        <p:spPr>
          <a:xfrm>
            <a:off x="457200" y="1691640"/>
            <a:ext cx="868680" cy="512064"/>
          </a:xfrm>
          <a:prstGeom prst="roundRect">
            <a:avLst>
              <a:gd name="adj" fmla="val 10714"/>
            </a:avLst>
          </a:prstGeom>
          <a:solidFill>
            <a:srgbClr val="FFFFFF"/>
          </a:solidFill>
          <a:ln w="9525">
            <a:solidFill>
              <a:srgbClr val="D5DFEC"/>
            </a:solidFill>
            <a:prstDash val="solid"/>
          </a:ln>
        </p:spPr>
      </p:sp>
      <p:sp>
        <p:nvSpPr>
          <p:cNvPr id="9" name="Text 7"/>
          <p:cNvSpPr txBox="1"/>
          <p:nvPr/>
        </p:nvSpPr>
        <p:spPr>
          <a:xfrm>
            <a:off x="457200" y="1728216"/>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eq</a:t>
            </a:r>
            <a:endParaRPr lang="en-US" sz="950" dirty="0"/>
          </a:p>
        </p:txBody>
      </p:sp>
      <p:sp>
        <p:nvSpPr>
          <p:cNvPr id="10" name="Text 8"/>
          <p:cNvSpPr txBox="1"/>
          <p:nvPr/>
        </p:nvSpPr>
        <p:spPr>
          <a:xfrm>
            <a:off x="457200" y="196596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igual</a:t>
            </a:r>
            <a:endParaRPr lang="en-US" sz="850" dirty="0"/>
          </a:p>
        </p:txBody>
      </p:sp>
      <p:sp>
        <p:nvSpPr>
          <p:cNvPr id="11" name="Shape 9"/>
          <p:cNvSpPr/>
          <p:nvPr/>
        </p:nvSpPr>
        <p:spPr>
          <a:xfrm>
            <a:off x="1399032" y="1691640"/>
            <a:ext cx="868680" cy="512064"/>
          </a:xfrm>
          <a:prstGeom prst="roundRect">
            <a:avLst>
              <a:gd name="adj" fmla="val 10714"/>
            </a:avLst>
          </a:prstGeom>
          <a:solidFill>
            <a:srgbClr val="FFFFFF"/>
          </a:solidFill>
          <a:ln w="9525">
            <a:solidFill>
              <a:srgbClr val="D5DFEC"/>
            </a:solidFill>
            <a:prstDash val="solid"/>
          </a:ln>
        </p:spPr>
      </p:sp>
      <p:sp>
        <p:nvSpPr>
          <p:cNvPr id="12" name="Text 10"/>
          <p:cNvSpPr txBox="1"/>
          <p:nvPr/>
        </p:nvSpPr>
        <p:spPr>
          <a:xfrm>
            <a:off x="1399032" y="1728216"/>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ne</a:t>
            </a:r>
            <a:endParaRPr lang="en-US" sz="950" dirty="0"/>
          </a:p>
        </p:txBody>
      </p:sp>
      <p:sp>
        <p:nvSpPr>
          <p:cNvPr id="13" name="Text 11"/>
          <p:cNvSpPr txBox="1"/>
          <p:nvPr/>
        </p:nvSpPr>
        <p:spPr>
          <a:xfrm>
            <a:off x="1399032" y="196596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distinto</a:t>
            </a:r>
            <a:endParaRPr lang="en-US" sz="850" dirty="0"/>
          </a:p>
        </p:txBody>
      </p:sp>
      <p:sp>
        <p:nvSpPr>
          <p:cNvPr id="14" name="Shape 12"/>
          <p:cNvSpPr/>
          <p:nvPr/>
        </p:nvSpPr>
        <p:spPr>
          <a:xfrm>
            <a:off x="2340864" y="1691640"/>
            <a:ext cx="868680" cy="512064"/>
          </a:xfrm>
          <a:prstGeom prst="roundRect">
            <a:avLst>
              <a:gd name="adj" fmla="val 10714"/>
            </a:avLst>
          </a:prstGeom>
          <a:solidFill>
            <a:srgbClr val="FFFFFF"/>
          </a:solidFill>
          <a:ln w="9525">
            <a:solidFill>
              <a:srgbClr val="D5DFEC"/>
            </a:solidFill>
            <a:prstDash val="solid"/>
          </a:ln>
        </p:spPr>
      </p:sp>
      <p:sp>
        <p:nvSpPr>
          <p:cNvPr id="15" name="Text 13"/>
          <p:cNvSpPr txBox="1"/>
          <p:nvPr/>
        </p:nvSpPr>
        <p:spPr>
          <a:xfrm>
            <a:off x="2340864" y="1728216"/>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gt</a:t>
            </a:r>
            <a:endParaRPr lang="en-US" sz="950" dirty="0"/>
          </a:p>
        </p:txBody>
      </p:sp>
      <p:sp>
        <p:nvSpPr>
          <p:cNvPr id="16" name="Text 14"/>
          <p:cNvSpPr txBox="1"/>
          <p:nvPr/>
        </p:nvSpPr>
        <p:spPr>
          <a:xfrm>
            <a:off x="2340864" y="196596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mayor</a:t>
            </a:r>
            <a:endParaRPr lang="en-US" sz="850" dirty="0"/>
          </a:p>
        </p:txBody>
      </p:sp>
      <p:sp>
        <p:nvSpPr>
          <p:cNvPr id="17" name="Shape 15"/>
          <p:cNvSpPr/>
          <p:nvPr/>
        </p:nvSpPr>
        <p:spPr>
          <a:xfrm>
            <a:off x="3282696" y="1691640"/>
            <a:ext cx="868680" cy="512064"/>
          </a:xfrm>
          <a:prstGeom prst="roundRect">
            <a:avLst>
              <a:gd name="adj" fmla="val 10714"/>
            </a:avLst>
          </a:prstGeom>
          <a:solidFill>
            <a:srgbClr val="FFFFFF"/>
          </a:solidFill>
          <a:ln w="9525">
            <a:solidFill>
              <a:srgbClr val="D5DFEC"/>
            </a:solidFill>
            <a:prstDash val="solid"/>
          </a:ln>
        </p:spPr>
      </p:sp>
      <p:sp>
        <p:nvSpPr>
          <p:cNvPr id="18" name="Text 16"/>
          <p:cNvSpPr txBox="1"/>
          <p:nvPr/>
        </p:nvSpPr>
        <p:spPr>
          <a:xfrm>
            <a:off x="3282696" y="1728216"/>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ge</a:t>
            </a:r>
            <a:endParaRPr lang="en-US" sz="950" dirty="0"/>
          </a:p>
        </p:txBody>
      </p:sp>
      <p:sp>
        <p:nvSpPr>
          <p:cNvPr id="19" name="Text 17"/>
          <p:cNvSpPr txBox="1"/>
          <p:nvPr/>
        </p:nvSpPr>
        <p:spPr>
          <a:xfrm>
            <a:off x="3282696" y="196596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mayor o igual</a:t>
            </a:r>
            <a:endParaRPr lang="en-US" sz="850" dirty="0"/>
          </a:p>
        </p:txBody>
      </p:sp>
      <p:sp>
        <p:nvSpPr>
          <p:cNvPr id="20" name="Shape 18"/>
          <p:cNvSpPr/>
          <p:nvPr/>
        </p:nvSpPr>
        <p:spPr>
          <a:xfrm>
            <a:off x="457200" y="2295144"/>
            <a:ext cx="868680" cy="512064"/>
          </a:xfrm>
          <a:prstGeom prst="roundRect">
            <a:avLst>
              <a:gd name="adj" fmla="val 10714"/>
            </a:avLst>
          </a:prstGeom>
          <a:solidFill>
            <a:srgbClr val="FFFFFF"/>
          </a:solidFill>
          <a:ln w="9525">
            <a:solidFill>
              <a:srgbClr val="D5DFEC"/>
            </a:solidFill>
            <a:prstDash val="solid"/>
          </a:ln>
        </p:spPr>
      </p:sp>
      <p:sp>
        <p:nvSpPr>
          <p:cNvPr id="21" name="Text 19"/>
          <p:cNvSpPr txBox="1"/>
          <p:nvPr/>
        </p:nvSpPr>
        <p:spPr>
          <a:xfrm>
            <a:off x="457200" y="2331720"/>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lt</a:t>
            </a:r>
            <a:endParaRPr lang="en-US" sz="950" dirty="0"/>
          </a:p>
        </p:txBody>
      </p:sp>
      <p:sp>
        <p:nvSpPr>
          <p:cNvPr id="22" name="Text 20"/>
          <p:cNvSpPr txBox="1"/>
          <p:nvPr/>
        </p:nvSpPr>
        <p:spPr>
          <a:xfrm>
            <a:off x="457200" y="2569464"/>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menor</a:t>
            </a:r>
            <a:endParaRPr lang="en-US" sz="850" dirty="0"/>
          </a:p>
        </p:txBody>
      </p:sp>
      <p:sp>
        <p:nvSpPr>
          <p:cNvPr id="23" name="Shape 21"/>
          <p:cNvSpPr/>
          <p:nvPr/>
        </p:nvSpPr>
        <p:spPr>
          <a:xfrm>
            <a:off x="1399032" y="2295144"/>
            <a:ext cx="868680" cy="512064"/>
          </a:xfrm>
          <a:prstGeom prst="roundRect">
            <a:avLst>
              <a:gd name="adj" fmla="val 10714"/>
            </a:avLst>
          </a:prstGeom>
          <a:solidFill>
            <a:srgbClr val="FFFFFF"/>
          </a:solidFill>
          <a:ln w="9525">
            <a:solidFill>
              <a:srgbClr val="D5DFEC"/>
            </a:solidFill>
            <a:prstDash val="solid"/>
          </a:ln>
        </p:spPr>
      </p:sp>
      <p:sp>
        <p:nvSpPr>
          <p:cNvPr id="24" name="Text 22"/>
          <p:cNvSpPr txBox="1"/>
          <p:nvPr/>
        </p:nvSpPr>
        <p:spPr>
          <a:xfrm>
            <a:off x="1399032" y="2331720"/>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le</a:t>
            </a:r>
            <a:endParaRPr lang="en-US" sz="950" dirty="0"/>
          </a:p>
        </p:txBody>
      </p:sp>
      <p:sp>
        <p:nvSpPr>
          <p:cNvPr id="25" name="Text 23"/>
          <p:cNvSpPr txBox="1"/>
          <p:nvPr/>
        </p:nvSpPr>
        <p:spPr>
          <a:xfrm>
            <a:off x="1399032" y="2569464"/>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menor o igual</a:t>
            </a:r>
            <a:endParaRPr lang="en-US" sz="850" dirty="0"/>
          </a:p>
        </p:txBody>
      </p:sp>
      <p:sp>
        <p:nvSpPr>
          <p:cNvPr id="26" name="Shape 24"/>
          <p:cNvSpPr/>
          <p:nvPr/>
        </p:nvSpPr>
        <p:spPr>
          <a:xfrm>
            <a:off x="2340864" y="2295144"/>
            <a:ext cx="868680" cy="512064"/>
          </a:xfrm>
          <a:prstGeom prst="roundRect">
            <a:avLst>
              <a:gd name="adj" fmla="val 10714"/>
            </a:avLst>
          </a:prstGeom>
          <a:solidFill>
            <a:srgbClr val="FFFFFF"/>
          </a:solidFill>
          <a:ln w="9525">
            <a:solidFill>
              <a:srgbClr val="D5DFEC"/>
            </a:solidFill>
            <a:prstDash val="solid"/>
          </a:ln>
        </p:spPr>
      </p:sp>
      <p:sp>
        <p:nvSpPr>
          <p:cNvPr id="27" name="Text 25"/>
          <p:cNvSpPr txBox="1"/>
          <p:nvPr/>
        </p:nvSpPr>
        <p:spPr>
          <a:xfrm>
            <a:off x="2340864" y="2331720"/>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and</a:t>
            </a:r>
            <a:endParaRPr lang="en-US" sz="950" dirty="0"/>
          </a:p>
        </p:txBody>
      </p:sp>
      <p:sp>
        <p:nvSpPr>
          <p:cNvPr id="28" name="Text 26"/>
          <p:cNvSpPr txBox="1"/>
          <p:nvPr/>
        </p:nvSpPr>
        <p:spPr>
          <a:xfrm>
            <a:off x="2340864" y="2569464"/>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y lógico</a:t>
            </a:r>
            <a:endParaRPr lang="en-US" sz="850" dirty="0"/>
          </a:p>
        </p:txBody>
      </p:sp>
      <p:sp>
        <p:nvSpPr>
          <p:cNvPr id="29" name="Shape 27"/>
          <p:cNvSpPr/>
          <p:nvPr/>
        </p:nvSpPr>
        <p:spPr>
          <a:xfrm>
            <a:off x="3282696" y="2295144"/>
            <a:ext cx="868680" cy="512064"/>
          </a:xfrm>
          <a:prstGeom prst="roundRect">
            <a:avLst>
              <a:gd name="adj" fmla="val 10714"/>
            </a:avLst>
          </a:prstGeom>
          <a:solidFill>
            <a:srgbClr val="FFFFFF"/>
          </a:solidFill>
          <a:ln w="9525">
            <a:solidFill>
              <a:srgbClr val="D5DFEC"/>
            </a:solidFill>
            <a:prstDash val="solid"/>
          </a:ln>
        </p:spPr>
      </p:sp>
      <p:sp>
        <p:nvSpPr>
          <p:cNvPr id="30" name="Text 28"/>
          <p:cNvSpPr txBox="1"/>
          <p:nvPr/>
        </p:nvSpPr>
        <p:spPr>
          <a:xfrm>
            <a:off x="3282696" y="2331720"/>
            <a:ext cx="868680" cy="237744"/>
          </a:xfrm>
          <a:prstGeom prst="rect">
            <a:avLst/>
          </a:prstGeom>
          <a:noFill/>
          <a:ln/>
        </p:spPr>
        <p:txBody>
          <a:bodyPr wrap="square" lIns="0" tIns="0" rIns="0" bIns="0" rtlCol="0" anchor="ctr"/>
          <a:lstStyle/>
          <a:p>
            <a:pPr marL="0" indent="0" algn="ctr">
              <a:buNone/>
            </a:pPr>
            <a:r>
              <a:rPr lang="en-US" sz="950" b="1" dirty="0">
                <a:solidFill>
                  <a:srgbClr val="0B4DA2"/>
                </a:solidFill>
                <a:latin typeface="Consolas" pitchFamily="34" charset="0"/>
                <a:ea typeface="Consolas" pitchFamily="34" charset="-122"/>
                <a:cs typeface="Consolas" pitchFamily="34" charset="-120"/>
              </a:rPr>
              <a:t>or</a:t>
            </a:r>
            <a:endParaRPr lang="en-US" sz="950" dirty="0"/>
          </a:p>
        </p:txBody>
      </p:sp>
      <p:sp>
        <p:nvSpPr>
          <p:cNvPr id="31" name="Text 29"/>
          <p:cNvSpPr txBox="1"/>
          <p:nvPr/>
        </p:nvSpPr>
        <p:spPr>
          <a:xfrm>
            <a:off x="3282696" y="2569464"/>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o lógico</a:t>
            </a:r>
            <a:endParaRPr lang="en-US" sz="850" dirty="0"/>
          </a:p>
        </p:txBody>
      </p:sp>
      <p:sp>
        <p:nvSpPr>
          <p:cNvPr id="32" name="Text 30"/>
          <p:cNvSpPr txBox="1"/>
          <p:nvPr/>
        </p:nvSpPr>
        <p:spPr>
          <a:xfrm>
            <a:off x="457200" y="3017520"/>
            <a:ext cx="3840480" cy="256032"/>
          </a:xfrm>
          <a:prstGeom prst="rect">
            <a:avLst/>
          </a:prstGeom>
          <a:noFill/>
          <a:ln/>
        </p:spPr>
        <p:txBody>
          <a:bodyPr wrap="square" lIns="0" tIns="0" rIns="0" bIns="0" rtlCol="0" anchor="t"/>
          <a:lstStyle/>
          <a:p>
            <a:pPr marL="0" indent="0">
              <a:buNone/>
            </a:pPr>
            <a:r>
              <a:rPr lang="en-US" sz="1200" b="1" dirty="0">
                <a:solidFill>
                  <a:srgbClr val="071B3F"/>
                </a:solidFill>
                <a:latin typeface="Segoe UI" pitchFamily="34" charset="0"/>
                <a:ea typeface="Segoe UI" pitchFamily="34" charset="-122"/>
                <a:cs typeface="Segoe UI" pitchFamily="34" charset="-120"/>
              </a:rPr>
              <a:t>Funciones de texto</a:t>
            </a:r>
            <a:endParaRPr lang="en-US" sz="1200" dirty="0"/>
          </a:p>
        </p:txBody>
      </p:sp>
      <p:sp>
        <p:nvSpPr>
          <p:cNvPr id="33" name="Shape 31"/>
          <p:cNvSpPr/>
          <p:nvPr/>
        </p:nvSpPr>
        <p:spPr>
          <a:xfrm>
            <a:off x="457200" y="3337560"/>
            <a:ext cx="868680" cy="512064"/>
          </a:xfrm>
          <a:prstGeom prst="roundRect">
            <a:avLst>
              <a:gd name="adj" fmla="val 10714"/>
            </a:avLst>
          </a:prstGeom>
          <a:solidFill>
            <a:srgbClr val="FFFFFF"/>
          </a:solidFill>
          <a:ln w="9525">
            <a:solidFill>
              <a:srgbClr val="D5DFEC"/>
            </a:solidFill>
            <a:prstDash val="solid"/>
          </a:ln>
        </p:spPr>
      </p:sp>
      <p:sp>
        <p:nvSpPr>
          <p:cNvPr id="34" name="Text 32"/>
          <p:cNvSpPr txBox="1"/>
          <p:nvPr/>
        </p:nvSpPr>
        <p:spPr>
          <a:xfrm>
            <a:off x="457200" y="3374136"/>
            <a:ext cx="868680" cy="237744"/>
          </a:xfrm>
          <a:prstGeom prst="rect">
            <a:avLst/>
          </a:prstGeom>
          <a:noFill/>
          <a:ln/>
        </p:spPr>
        <p:txBody>
          <a:bodyPr wrap="square" lIns="0" tIns="0" rIns="0" bIns="0" rtlCol="0" anchor="ctr"/>
          <a:lstStyle/>
          <a:p>
            <a:pPr marL="0" indent="0" algn="ctr">
              <a:buNone/>
            </a:pPr>
            <a:r>
              <a:rPr lang="en-US" sz="950" b="1" dirty="0">
                <a:solidFill>
                  <a:srgbClr val="B07A00"/>
                </a:solidFill>
                <a:latin typeface="Consolas" pitchFamily="34" charset="0"/>
                <a:ea typeface="Consolas" pitchFamily="34" charset="-122"/>
                <a:cs typeface="Consolas" pitchFamily="34" charset="-120"/>
              </a:rPr>
              <a:t>startswith</a:t>
            </a:r>
            <a:endParaRPr lang="en-US" sz="950" dirty="0"/>
          </a:p>
        </p:txBody>
      </p:sp>
      <p:sp>
        <p:nvSpPr>
          <p:cNvPr id="35" name="Text 33"/>
          <p:cNvSpPr txBox="1"/>
          <p:nvPr/>
        </p:nvSpPr>
        <p:spPr>
          <a:xfrm>
            <a:off x="457200" y="361188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empieza con</a:t>
            </a:r>
            <a:endParaRPr lang="en-US" sz="850" dirty="0"/>
          </a:p>
        </p:txBody>
      </p:sp>
      <p:sp>
        <p:nvSpPr>
          <p:cNvPr id="36" name="Shape 34"/>
          <p:cNvSpPr/>
          <p:nvPr/>
        </p:nvSpPr>
        <p:spPr>
          <a:xfrm>
            <a:off x="1399032" y="3337560"/>
            <a:ext cx="868680" cy="512064"/>
          </a:xfrm>
          <a:prstGeom prst="roundRect">
            <a:avLst>
              <a:gd name="adj" fmla="val 10714"/>
            </a:avLst>
          </a:prstGeom>
          <a:solidFill>
            <a:srgbClr val="FFFFFF"/>
          </a:solidFill>
          <a:ln w="9525">
            <a:solidFill>
              <a:srgbClr val="D5DFEC"/>
            </a:solidFill>
            <a:prstDash val="solid"/>
          </a:ln>
        </p:spPr>
      </p:sp>
      <p:sp>
        <p:nvSpPr>
          <p:cNvPr id="37" name="Text 35"/>
          <p:cNvSpPr txBox="1"/>
          <p:nvPr/>
        </p:nvSpPr>
        <p:spPr>
          <a:xfrm>
            <a:off x="1399032" y="3374136"/>
            <a:ext cx="868680" cy="237744"/>
          </a:xfrm>
          <a:prstGeom prst="rect">
            <a:avLst/>
          </a:prstGeom>
          <a:noFill/>
          <a:ln/>
        </p:spPr>
        <p:txBody>
          <a:bodyPr wrap="square" lIns="0" tIns="0" rIns="0" bIns="0" rtlCol="0" anchor="ctr"/>
          <a:lstStyle/>
          <a:p>
            <a:pPr marL="0" indent="0" algn="ctr">
              <a:buNone/>
            </a:pPr>
            <a:r>
              <a:rPr lang="en-US" sz="950" b="1" dirty="0">
                <a:solidFill>
                  <a:srgbClr val="B07A00"/>
                </a:solidFill>
                <a:latin typeface="Consolas" pitchFamily="34" charset="0"/>
                <a:ea typeface="Consolas" pitchFamily="34" charset="-122"/>
                <a:cs typeface="Consolas" pitchFamily="34" charset="-120"/>
              </a:rPr>
              <a:t>endswith</a:t>
            </a:r>
            <a:endParaRPr lang="en-US" sz="950" dirty="0"/>
          </a:p>
        </p:txBody>
      </p:sp>
      <p:sp>
        <p:nvSpPr>
          <p:cNvPr id="38" name="Text 36"/>
          <p:cNvSpPr txBox="1"/>
          <p:nvPr/>
        </p:nvSpPr>
        <p:spPr>
          <a:xfrm>
            <a:off x="1399032" y="361188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termina con</a:t>
            </a:r>
            <a:endParaRPr lang="en-US" sz="850" dirty="0"/>
          </a:p>
        </p:txBody>
      </p:sp>
      <p:sp>
        <p:nvSpPr>
          <p:cNvPr id="39" name="Shape 37"/>
          <p:cNvSpPr/>
          <p:nvPr/>
        </p:nvSpPr>
        <p:spPr>
          <a:xfrm>
            <a:off x="2340864" y="3337560"/>
            <a:ext cx="868680" cy="512064"/>
          </a:xfrm>
          <a:prstGeom prst="roundRect">
            <a:avLst>
              <a:gd name="adj" fmla="val 10714"/>
            </a:avLst>
          </a:prstGeom>
          <a:solidFill>
            <a:srgbClr val="FFFFFF"/>
          </a:solidFill>
          <a:ln w="9525">
            <a:solidFill>
              <a:srgbClr val="D5DFEC"/>
            </a:solidFill>
            <a:prstDash val="solid"/>
          </a:ln>
        </p:spPr>
      </p:sp>
      <p:sp>
        <p:nvSpPr>
          <p:cNvPr id="40" name="Text 38"/>
          <p:cNvSpPr txBox="1"/>
          <p:nvPr/>
        </p:nvSpPr>
        <p:spPr>
          <a:xfrm>
            <a:off x="2340864" y="3374136"/>
            <a:ext cx="868680" cy="237744"/>
          </a:xfrm>
          <a:prstGeom prst="rect">
            <a:avLst/>
          </a:prstGeom>
          <a:noFill/>
          <a:ln/>
        </p:spPr>
        <p:txBody>
          <a:bodyPr wrap="square" lIns="0" tIns="0" rIns="0" bIns="0" rtlCol="0" anchor="ctr"/>
          <a:lstStyle/>
          <a:p>
            <a:pPr marL="0" indent="0" algn="ctr">
              <a:buNone/>
            </a:pPr>
            <a:r>
              <a:rPr lang="en-US" sz="950" b="1" dirty="0">
                <a:solidFill>
                  <a:srgbClr val="B07A00"/>
                </a:solidFill>
                <a:latin typeface="Consolas" pitchFamily="34" charset="0"/>
                <a:ea typeface="Consolas" pitchFamily="34" charset="-122"/>
                <a:cs typeface="Consolas" pitchFamily="34" charset="-120"/>
              </a:rPr>
              <a:t>contains</a:t>
            </a:r>
            <a:endParaRPr lang="en-US" sz="950" dirty="0"/>
          </a:p>
        </p:txBody>
      </p:sp>
      <p:sp>
        <p:nvSpPr>
          <p:cNvPr id="41" name="Text 39"/>
          <p:cNvSpPr txBox="1"/>
          <p:nvPr/>
        </p:nvSpPr>
        <p:spPr>
          <a:xfrm>
            <a:off x="2340864" y="361188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contiene (v2)</a:t>
            </a:r>
            <a:endParaRPr lang="en-US" sz="850" dirty="0"/>
          </a:p>
        </p:txBody>
      </p:sp>
      <p:sp>
        <p:nvSpPr>
          <p:cNvPr id="42" name="Shape 40"/>
          <p:cNvSpPr/>
          <p:nvPr/>
        </p:nvSpPr>
        <p:spPr>
          <a:xfrm>
            <a:off x="3282696" y="3337560"/>
            <a:ext cx="868680" cy="512064"/>
          </a:xfrm>
          <a:prstGeom prst="roundRect">
            <a:avLst>
              <a:gd name="adj" fmla="val 10714"/>
            </a:avLst>
          </a:prstGeom>
          <a:solidFill>
            <a:srgbClr val="FFFFFF"/>
          </a:solidFill>
          <a:ln w="9525">
            <a:solidFill>
              <a:srgbClr val="D5DFEC"/>
            </a:solidFill>
            <a:prstDash val="solid"/>
          </a:ln>
        </p:spPr>
      </p:sp>
      <p:sp>
        <p:nvSpPr>
          <p:cNvPr id="43" name="Text 41"/>
          <p:cNvSpPr txBox="1"/>
          <p:nvPr/>
        </p:nvSpPr>
        <p:spPr>
          <a:xfrm>
            <a:off x="3282696" y="3374136"/>
            <a:ext cx="868680" cy="237744"/>
          </a:xfrm>
          <a:prstGeom prst="rect">
            <a:avLst/>
          </a:prstGeom>
          <a:noFill/>
          <a:ln/>
        </p:spPr>
        <p:txBody>
          <a:bodyPr wrap="square" lIns="0" tIns="0" rIns="0" bIns="0" rtlCol="0" anchor="ctr"/>
          <a:lstStyle/>
          <a:p>
            <a:pPr marL="0" indent="0" algn="ctr">
              <a:buNone/>
            </a:pPr>
            <a:r>
              <a:rPr lang="en-US" sz="950" b="1" dirty="0">
                <a:solidFill>
                  <a:srgbClr val="B07A00"/>
                </a:solidFill>
                <a:latin typeface="Consolas" pitchFamily="34" charset="0"/>
                <a:ea typeface="Consolas" pitchFamily="34" charset="-122"/>
                <a:cs typeface="Consolas" pitchFamily="34" charset="-120"/>
              </a:rPr>
              <a:t>substringof</a:t>
            </a:r>
            <a:endParaRPr lang="en-US" sz="950" dirty="0"/>
          </a:p>
        </p:txBody>
      </p:sp>
      <p:sp>
        <p:nvSpPr>
          <p:cNvPr id="44" name="Text 42"/>
          <p:cNvSpPr txBox="1"/>
          <p:nvPr/>
        </p:nvSpPr>
        <p:spPr>
          <a:xfrm>
            <a:off x="3282696" y="3611880"/>
            <a:ext cx="868680" cy="201168"/>
          </a:xfrm>
          <a:prstGeom prst="rect">
            <a:avLst/>
          </a:prstGeom>
          <a:noFill/>
          <a:ln/>
        </p:spPr>
        <p:txBody>
          <a:bodyPr wrap="square" lIns="0" tIns="0" rIns="0" bIns="0" rtlCol="0" anchor="ctr"/>
          <a:lstStyle/>
          <a:p>
            <a:pPr marL="0" indent="0" algn="ctr">
              <a:buNone/>
            </a:pPr>
            <a:r>
              <a:rPr lang="en-US" sz="850" dirty="0">
                <a:solidFill>
                  <a:srgbClr val="5B6B82"/>
                </a:solidFill>
                <a:latin typeface="Calibri" pitchFamily="34" charset="0"/>
                <a:ea typeface="Calibri" pitchFamily="34" charset="-122"/>
                <a:cs typeface="Calibri" pitchFamily="34" charset="-120"/>
              </a:rPr>
              <a:t>contiene (v1)</a:t>
            </a:r>
            <a:endParaRPr lang="en-US" sz="8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389120" y="1371600"/>
          <a:ext cx="4297680" cy="2743200"/>
        </p:xfrm>
        <a:graphic>
          <a:graphicData uri="http://schemas.openxmlformats.org/drawingml/2006/table">
            <a:tbl>
              <a:tblPr/>
              <a:tblGrid>
                <a:gridCol w="10058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457200">
                <a:tc>
                  <a:txBody>
                    <a:bodyPr/>
                    <a:lstStyle/>
                    <a:p>
                      <a:pPr marL="0" indent="0">
                        <a:buNone/>
                      </a:pPr>
                      <a:r>
                        <a:rPr lang="en-US" sz="1200" b="1" dirty="0">
                          <a:solidFill>
                            <a:srgbClr val="FFFFFF"/>
                          </a:solidFill>
                          <a:latin typeface="Segoe UI" pitchFamily="34" charset="0"/>
                          <a:ea typeface="Segoe UI" pitchFamily="34" charset="-122"/>
                          <a:cs typeface="Segoe UI" pitchFamily="34" charset="-120"/>
                        </a:rPr>
                        <a:t>Caso</a:t>
                      </a:r>
                      <a:endParaRPr lang="en-US" sz="1200" dirty="0">
                        <a:latin typeface="Segoe UI" charset="0"/>
                        <a:ea typeface="Segoe UI" charset="0"/>
                        <a:cs typeface="Segoe U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200" b="1" dirty="0">
                          <a:solidFill>
                            <a:srgbClr val="FFFFFF"/>
                          </a:solidFill>
                          <a:latin typeface="Segoe UI" pitchFamily="34" charset="0"/>
                          <a:ea typeface="Segoe UI" pitchFamily="34" charset="-122"/>
                          <a:cs typeface="Segoe UI" pitchFamily="34" charset="-120"/>
                        </a:rPr>
                        <a:t>v1 · OData v3</a:t>
                      </a:r>
                      <a:endParaRPr lang="en-US" sz="1200" dirty="0">
                        <a:latin typeface="Segoe UI" charset="0"/>
                        <a:ea typeface="Segoe UI" charset="0"/>
                        <a:cs typeface="Segoe U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tc>
                  <a:txBody>
                    <a:bodyPr/>
                    <a:lstStyle/>
                    <a:p>
                      <a:pPr marL="0" indent="0">
                        <a:buNone/>
                      </a:pPr>
                      <a:r>
                        <a:rPr lang="en-US" sz="1200" b="1" dirty="0">
                          <a:solidFill>
                            <a:srgbClr val="071B3F"/>
                          </a:solidFill>
                          <a:latin typeface="Segoe UI" pitchFamily="34" charset="0"/>
                          <a:ea typeface="Segoe UI" pitchFamily="34" charset="-122"/>
                          <a:cs typeface="Segoe UI" pitchFamily="34" charset="-120"/>
                        </a:rPr>
                        <a:t>v2 · OData v4</a:t>
                      </a:r>
                      <a:endParaRPr lang="en-US" sz="1200" dirty="0">
                        <a:latin typeface="Segoe UI" charset="0"/>
                        <a:ea typeface="Segoe UI" charset="0"/>
                        <a:cs typeface="Segoe U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5A800"/>
                    </a:solidFill>
                  </a:tcPr>
                </a:tc>
                <a:extLst>
                  <a:ext uri="{0D108BD9-81ED-4DB2-BD59-A6C34878D82A}">
                    <a16:rowId xmlns:a16="http://schemas.microsoft.com/office/drawing/2014/main" val="10000"/>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Contiene texto</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substringof('X',ItemName)</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contains(ItemName,'X')</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Fechas</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DocDate ge '2026-09-01'</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DocDate ge 2026-09-01</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Total en la respuesta</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$inlinecount=allpages</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$count=true</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Solo el total</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Orders/$count</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Orders/$count</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950" b="1" dirty="0">
                          <a:solidFill>
                            <a:srgbClr val="071B3F"/>
                          </a:solidFill>
                          <a:latin typeface="Calibri" pitchFamily="34" charset="0"/>
                          <a:ea typeface="Calibri" pitchFamily="34" charset="-122"/>
                          <a:cs typeface="Calibri" pitchFamily="34" charset="-120"/>
                        </a:rPr>
                        <a:t>Campos de usuario</a:t>
                      </a:r>
                      <a:endParaRPr lang="en-US" sz="950" dirty="0">
                        <a:latin typeface="Calibri" charset="0"/>
                        <a:ea typeface="Calibri" charset="0"/>
                        <a:cs typeface="Calibri"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U_VS_Estado eq 'A'</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800" dirty="0">
                          <a:solidFill>
                            <a:srgbClr val="0B4DA2"/>
                          </a:solidFill>
                          <a:latin typeface="Consolas" pitchFamily="34" charset="0"/>
                          <a:ea typeface="Consolas" pitchFamily="34" charset="-122"/>
                          <a:cs typeface="Consolas" pitchFamily="34" charset="-120"/>
                        </a:rPr>
                        <a:t>U_VS_Estado eq 'A'</a:t>
                      </a:r>
                      <a:endParaRPr lang="en-US" sz="800" dirty="0">
                        <a:latin typeface="Consolas" charset="0"/>
                        <a:ea typeface="Consolas" charset="0"/>
                        <a:cs typeface="Consolas" charset="0"/>
                      </a:endParaRPr>
                    </a:p>
                  </a:txBody>
                  <a:tcPr marL="63500" marR="63500" marT="25400" marB="254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bl>
          </a:graphicData>
        </a:graphic>
      </p:graphicFrame>
      <p:sp>
        <p:nvSpPr>
          <p:cNvPr id="46" name="Shape 43"/>
          <p:cNvSpPr/>
          <p:nvPr/>
        </p:nvSpPr>
        <p:spPr>
          <a:xfrm>
            <a:off x="4389120" y="4224528"/>
            <a:ext cx="4297680" cy="502920"/>
          </a:xfrm>
          <a:prstGeom prst="roundRect">
            <a:avLst>
              <a:gd name="adj" fmla="val 14545"/>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47" name="Text 44"/>
          <p:cNvSpPr txBox="1"/>
          <p:nvPr/>
        </p:nvSpPr>
        <p:spPr>
          <a:xfrm>
            <a:off x="4526280" y="4224528"/>
            <a:ext cx="4069080" cy="502920"/>
          </a:xfrm>
          <a:prstGeom prst="rect">
            <a:avLst/>
          </a:prstGeom>
          <a:noFill/>
          <a:ln/>
        </p:spPr>
        <p:txBody>
          <a:bodyPr wrap="square" lIns="0" tIns="0" rIns="0" bIns="0" rtlCol="0" anchor="ctr"/>
          <a:lstStyle/>
          <a:p>
            <a:pPr marL="0" indent="0">
              <a:buNone/>
            </a:pPr>
            <a:r>
              <a:rPr lang="en-US" sz="1000" b="1" dirty="0">
                <a:solidFill>
                  <a:srgbClr val="071B3F"/>
                </a:solidFill>
                <a:latin typeface="Calibri" pitchFamily="34" charset="0"/>
                <a:ea typeface="Calibri" pitchFamily="34" charset="-122"/>
                <a:cs typeface="Calibri" pitchFamily="34" charset="-120"/>
              </a:rPr>
              <a:t>Enumeraciones como texto: </a:t>
            </a:r>
            <a:r>
              <a:rPr lang="en-US" sz="900" dirty="0">
                <a:solidFill>
                  <a:srgbClr val="0B4DA2"/>
                </a:solidFill>
                <a:latin typeface="Consolas" pitchFamily="34" charset="0"/>
                <a:ea typeface="Consolas" pitchFamily="34" charset="-122"/>
                <a:cs typeface="Consolas" pitchFamily="34" charset="-120"/>
              </a:rPr>
              <a:t>DocumentStatus eq 'bost_Open', CardType eq 'cCustomer'</a:t>
            </a:r>
            <a:endParaRPr lang="en-US" sz="1000" dirty="0"/>
          </a:p>
        </p:txBody>
      </p:sp>
      <p:sp>
        <p:nvSpPr>
          <p:cNvPr id="48"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31</a:t>
            </a:fld>
            <a:endParaRPr lang="en-US"/>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Query options en la práctica</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Consultas típicas para probar en Postman</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371600"/>
            <a:ext cx="4023360" cy="1600200"/>
          </a:xfrm>
          <a:prstGeom prst="roundRect">
            <a:avLst>
              <a:gd name="adj" fmla="val 4000"/>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481328"/>
            <a:ext cx="73152" cy="73152"/>
          </a:xfrm>
          <a:prstGeom prst="ellipse">
            <a:avLst/>
          </a:prstGeom>
          <a:solidFill>
            <a:srgbClr val="FF5F56"/>
          </a:solidFill>
          <a:ln w="12700">
            <a:solidFill>
              <a:srgbClr val="FF5F56"/>
            </a:solidFill>
            <a:prstDash val="solid"/>
          </a:ln>
        </p:spPr>
      </p:sp>
      <p:sp>
        <p:nvSpPr>
          <p:cNvPr id="9" name="Shape 7"/>
          <p:cNvSpPr/>
          <p:nvPr/>
        </p:nvSpPr>
        <p:spPr>
          <a:xfrm>
            <a:off x="722376" y="148132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48132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2646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Pedidos abiertos de un cliente</a:t>
            </a:r>
            <a:endParaRPr lang="en-US" sz="850" dirty="0"/>
          </a:p>
        </p:txBody>
      </p:sp>
      <p:sp>
        <p:nvSpPr>
          <p:cNvPr id="12" name="Text 10"/>
          <p:cNvSpPr txBox="1"/>
          <p:nvPr/>
        </p:nvSpPr>
        <p:spPr>
          <a:xfrm>
            <a:off x="594360" y="1664208"/>
            <a:ext cx="3749040" cy="1234440"/>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/b1s/v1/Orders</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?$select=DocEntry,DocNum,DocDate,DocTotal</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&amp;$filter=CardCode eq 'C20601234567'</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and DocumentStatus eq 'bost_Open'</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&amp;$orderby=DocDate desc</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&amp;$top=10</a:t>
            </a:r>
            <a:endParaRPr lang="en-US" sz="780" dirty="0"/>
          </a:p>
        </p:txBody>
      </p:sp>
      <p:sp>
        <p:nvSpPr>
          <p:cNvPr id="13" name="Shape 11"/>
          <p:cNvSpPr/>
          <p:nvPr/>
        </p:nvSpPr>
        <p:spPr>
          <a:xfrm>
            <a:off x="4663440" y="1371600"/>
            <a:ext cx="4023360" cy="1600200"/>
          </a:xfrm>
          <a:prstGeom prst="roundRect">
            <a:avLst>
              <a:gd name="adj" fmla="val 4000"/>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4" name="Shape 12"/>
          <p:cNvSpPr/>
          <p:nvPr/>
        </p:nvSpPr>
        <p:spPr>
          <a:xfrm>
            <a:off x="4800600" y="1481328"/>
            <a:ext cx="73152" cy="73152"/>
          </a:xfrm>
          <a:prstGeom prst="ellipse">
            <a:avLst/>
          </a:prstGeom>
          <a:solidFill>
            <a:srgbClr val="FF5F56"/>
          </a:solidFill>
          <a:ln w="12700">
            <a:solidFill>
              <a:srgbClr val="FF5F56"/>
            </a:solidFill>
            <a:prstDash val="solid"/>
          </a:ln>
        </p:spPr>
      </p:sp>
      <p:sp>
        <p:nvSpPr>
          <p:cNvPr id="15" name="Shape 13"/>
          <p:cNvSpPr/>
          <p:nvPr/>
        </p:nvSpPr>
        <p:spPr>
          <a:xfrm>
            <a:off x="4928616" y="1481328"/>
            <a:ext cx="73152" cy="73152"/>
          </a:xfrm>
          <a:prstGeom prst="ellipse">
            <a:avLst/>
          </a:prstGeom>
          <a:solidFill>
            <a:srgbClr val="FFBD2E"/>
          </a:solidFill>
          <a:ln w="12700">
            <a:solidFill>
              <a:srgbClr val="FFBD2E"/>
            </a:solidFill>
            <a:prstDash val="solid"/>
          </a:ln>
        </p:spPr>
      </p:sp>
      <p:sp>
        <p:nvSpPr>
          <p:cNvPr id="16" name="Shape 14"/>
          <p:cNvSpPr/>
          <p:nvPr/>
        </p:nvSpPr>
        <p:spPr>
          <a:xfrm>
            <a:off x="5056632" y="1481328"/>
            <a:ext cx="73152" cy="73152"/>
          </a:xfrm>
          <a:prstGeom prst="ellipse">
            <a:avLst/>
          </a:prstGeom>
          <a:solidFill>
            <a:srgbClr val="27C93F"/>
          </a:solidFill>
          <a:ln w="12700">
            <a:solidFill>
              <a:srgbClr val="27C93F"/>
            </a:solidFill>
            <a:prstDash val="solid"/>
          </a:ln>
        </p:spPr>
      </p:sp>
      <p:sp>
        <p:nvSpPr>
          <p:cNvPr id="17" name="Text 15"/>
          <p:cNvSpPr txBox="1"/>
          <p:nvPr/>
        </p:nvSpPr>
        <p:spPr>
          <a:xfrm>
            <a:off x="5230368" y="1426464"/>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Búsqueda de texto + campo de usuario</a:t>
            </a:r>
            <a:endParaRPr lang="en-US" sz="850" dirty="0"/>
          </a:p>
        </p:txBody>
      </p:sp>
      <p:sp>
        <p:nvSpPr>
          <p:cNvPr id="18" name="Text 16"/>
          <p:cNvSpPr txBox="1"/>
          <p:nvPr/>
        </p:nvSpPr>
        <p:spPr>
          <a:xfrm>
            <a:off x="4800600" y="1664208"/>
            <a:ext cx="3749040" cy="1234440"/>
          </a:xfrm>
          <a:prstGeom prst="rect">
            <a:avLst/>
          </a:prstGeom>
          <a:noFill/>
          <a:ln/>
        </p:spPr>
        <p:txBody>
          <a:bodyPr wrap="square" lIns="0" tIns="0" rIns="0" bIns="0" rtlCol="0" anchor="t"/>
          <a:lstStyle/>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v1 (OData v3)</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/b1s/v1/Items?$select=ItemCode,ItemName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&amp;$filter=substringof('LAPTOP',ItemName)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and U_VS_Linea eq 'TEC'</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v2 (OData v4)</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/b1s/v2/Items?$select=ItemCode,ItemName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&amp;$filter=contains(ItemName,'LAPTOP')</a:t>
            </a:r>
            <a:endParaRPr lang="en-US" sz="780" dirty="0"/>
          </a:p>
        </p:txBody>
      </p:sp>
      <p:sp>
        <p:nvSpPr>
          <p:cNvPr id="19" name="Shape 17"/>
          <p:cNvSpPr/>
          <p:nvPr/>
        </p:nvSpPr>
        <p:spPr>
          <a:xfrm>
            <a:off x="457200" y="3081528"/>
            <a:ext cx="4023360" cy="1600200"/>
          </a:xfrm>
          <a:prstGeom prst="roundRect">
            <a:avLst>
              <a:gd name="adj" fmla="val 4000"/>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0" name="Shape 18"/>
          <p:cNvSpPr/>
          <p:nvPr/>
        </p:nvSpPr>
        <p:spPr>
          <a:xfrm>
            <a:off x="594360" y="3191256"/>
            <a:ext cx="73152" cy="73152"/>
          </a:xfrm>
          <a:prstGeom prst="ellipse">
            <a:avLst/>
          </a:prstGeom>
          <a:solidFill>
            <a:srgbClr val="FF5F56"/>
          </a:solidFill>
          <a:ln w="12700">
            <a:solidFill>
              <a:srgbClr val="FF5F56"/>
            </a:solidFill>
            <a:prstDash val="solid"/>
          </a:ln>
        </p:spPr>
      </p:sp>
      <p:sp>
        <p:nvSpPr>
          <p:cNvPr id="21" name="Shape 19"/>
          <p:cNvSpPr/>
          <p:nvPr/>
        </p:nvSpPr>
        <p:spPr>
          <a:xfrm>
            <a:off x="722376" y="3191256"/>
            <a:ext cx="73152" cy="73152"/>
          </a:xfrm>
          <a:prstGeom prst="ellipse">
            <a:avLst/>
          </a:prstGeom>
          <a:solidFill>
            <a:srgbClr val="FFBD2E"/>
          </a:solidFill>
          <a:ln w="12700">
            <a:solidFill>
              <a:srgbClr val="FFBD2E"/>
            </a:solidFill>
            <a:prstDash val="solid"/>
          </a:ln>
        </p:spPr>
      </p:sp>
      <p:sp>
        <p:nvSpPr>
          <p:cNvPr id="22" name="Shape 20"/>
          <p:cNvSpPr/>
          <p:nvPr/>
        </p:nvSpPr>
        <p:spPr>
          <a:xfrm>
            <a:off x="850392" y="3191256"/>
            <a:ext cx="73152" cy="73152"/>
          </a:xfrm>
          <a:prstGeom prst="ellipse">
            <a:avLst/>
          </a:prstGeom>
          <a:solidFill>
            <a:srgbClr val="27C93F"/>
          </a:solidFill>
          <a:ln w="12700">
            <a:solidFill>
              <a:srgbClr val="27C93F"/>
            </a:solidFill>
            <a:prstDash val="solid"/>
          </a:ln>
        </p:spPr>
      </p:sp>
      <p:sp>
        <p:nvSpPr>
          <p:cNvPr id="23" name="Text 21"/>
          <p:cNvSpPr txBox="1"/>
          <p:nvPr/>
        </p:nvSpPr>
        <p:spPr>
          <a:xfrm>
            <a:off x="1024128" y="3136392"/>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Conteo y paginación</a:t>
            </a:r>
            <a:endParaRPr lang="en-US" sz="850" dirty="0"/>
          </a:p>
        </p:txBody>
      </p:sp>
      <p:sp>
        <p:nvSpPr>
          <p:cNvPr id="24" name="Text 22"/>
          <p:cNvSpPr txBox="1"/>
          <p:nvPr/>
        </p:nvSpPr>
        <p:spPr>
          <a:xfrm>
            <a:off x="594360" y="3374136"/>
            <a:ext cx="3749040" cy="1234440"/>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/b1s/v1/BusinessPartners/$count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?$filter=CardType eq 'cCustomer'</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/b1s/v1/BusinessPartners?$select=CardCode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Prefer: odata.maxpagesize=100</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siguiente página: seguir "odata.nextLink"</a:t>
            </a:r>
            <a:endParaRPr lang="en-US" sz="780" dirty="0"/>
          </a:p>
        </p:txBody>
      </p:sp>
      <p:sp>
        <p:nvSpPr>
          <p:cNvPr id="25" name="Shape 23"/>
          <p:cNvSpPr/>
          <p:nvPr/>
        </p:nvSpPr>
        <p:spPr>
          <a:xfrm>
            <a:off x="4663440" y="3081528"/>
            <a:ext cx="4023360" cy="1600200"/>
          </a:xfrm>
          <a:prstGeom prst="roundRect">
            <a:avLst>
              <a:gd name="adj" fmla="val 4000"/>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6" name="Shape 24"/>
          <p:cNvSpPr/>
          <p:nvPr/>
        </p:nvSpPr>
        <p:spPr>
          <a:xfrm>
            <a:off x="4800600" y="3191256"/>
            <a:ext cx="73152" cy="73152"/>
          </a:xfrm>
          <a:prstGeom prst="ellipse">
            <a:avLst/>
          </a:prstGeom>
          <a:solidFill>
            <a:srgbClr val="FF5F56"/>
          </a:solidFill>
          <a:ln w="12700">
            <a:solidFill>
              <a:srgbClr val="FF5F56"/>
            </a:solidFill>
            <a:prstDash val="solid"/>
          </a:ln>
        </p:spPr>
      </p:sp>
      <p:sp>
        <p:nvSpPr>
          <p:cNvPr id="27" name="Shape 25"/>
          <p:cNvSpPr/>
          <p:nvPr/>
        </p:nvSpPr>
        <p:spPr>
          <a:xfrm>
            <a:off x="4928616" y="3191256"/>
            <a:ext cx="73152" cy="73152"/>
          </a:xfrm>
          <a:prstGeom prst="ellipse">
            <a:avLst/>
          </a:prstGeom>
          <a:solidFill>
            <a:srgbClr val="FFBD2E"/>
          </a:solidFill>
          <a:ln w="12700">
            <a:solidFill>
              <a:srgbClr val="FFBD2E"/>
            </a:solidFill>
            <a:prstDash val="solid"/>
          </a:ln>
        </p:spPr>
      </p:sp>
      <p:sp>
        <p:nvSpPr>
          <p:cNvPr id="28" name="Shape 26"/>
          <p:cNvSpPr/>
          <p:nvPr/>
        </p:nvSpPr>
        <p:spPr>
          <a:xfrm>
            <a:off x="5056632" y="3191256"/>
            <a:ext cx="73152" cy="73152"/>
          </a:xfrm>
          <a:prstGeom prst="ellipse">
            <a:avLst/>
          </a:prstGeom>
          <a:solidFill>
            <a:srgbClr val="27C93F"/>
          </a:solidFill>
          <a:ln w="12700">
            <a:solidFill>
              <a:srgbClr val="27C93F"/>
            </a:solidFill>
            <a:prstDash val="solid"/>
          </a:ln>
        </p:spPr>
      </p:sp>
      <p:sp>
        <p:nvSpPr>
          <p:cNvPr id="29" name="Text 27"/>
          <p:cNvSpPr txBox="1"/>
          <p:nvPr/>
        </p:nvSpPr>
        <p:spPr>
          <a:xfrm>
            <a:off x="5230368" y="3136392"/>
            <a:ext cx="33375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Agregación y cruce de entidades</a:t>
            </a:r>
            <a:endParaRPr lang="en-US" sz="850" dirty="0"/>
          </a:p>
        </p:txBody>
      </p:sp>
      <p:sp>
        <p:nvSpPr>
          <p:cNvPr id="30" name="Text 28"/>
          <p:cNvSpPr txBox="1"/>
          <p:nvPr/>
        </p:nvSpPr>
        <p:spPr>
          <a:xfrm>
            <a:off x="4800600" y="3374136"/>
            <a:ext cx="3749040" cy="1234440"/>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/b1s/v1/Invoices?$apply=</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groupby((CardCode),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aggregate(DocTotal with sum as Total))</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/b1s/v1/$crossjoin(Orders,BusinessPartners)</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?$expand=Orders($select=DocNum),</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BusinessPartners($select=CardName)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&amp;$filter=Orders/CardCode eq</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BusinessPartners/CardCode</a:t>
            </a:r>
            <a:endParaRPr lang="en-US" sz="780" dirty="0"/>
          </a:p>
        </p:txBody>
      </p:sp>
      <p:sp>
        <p:nvSpPr>
          <p:cNvPr id="31"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32</a:t>
            </a:fld>
            <a:endParaRPr lang="en-US"/>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Tablas de usuario (UDT) vs UDO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Cómo se exponen y operan en Service Layer</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3218688"/>
        </p:xfrm>
        <a:graphic>
          <a:graphicData uri="http://schemas.openxmlformats.org/drawingml/2006/table">
            <a:tbl>
              <a:tblPr/>
              <a:tblGrid>
                <a:gridCol w="15544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402336">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Aspecto</a:t>
                      </a:r>
                      <a:endParaRPr lang="en-US" sz="1050" dirty="0">
                        <a:latin typeface="Segoe UI" charset="0"/>
                        <a:ea typeface="Segoe UI" charset="0"/>
                        <a:cs typeface="Segoe U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71B3F"/>
                    </a:solidFill>
                  </a:tcPr>
                </a:tc>
                <a:tc>
                  <a:txBody>
                    <a:bodyPr/>
                    <a:lstStyle/>
                    <a:p>
                      <a:pPr marL="0" indent="0">
                        <a:buNone/>
                      </a:pPr>
                      <a:r>
                        <a:rPr lang="en-US" sz="1050" b="1" dirty="0">
                          <a:solidFill>
                            <a:srgbClr val="FFFFFF"/>
                          </a:solidFill>
                          <a:latin typeface="Segoe UI" pitchFamily="34" charset="0"/>
                          <a:ea typeface="Segoe UI" pitchFamily="34" charset="-122"/>
                          <a:cs typeface="Segoe UI" pitchFamily="34" charset="-120"/>
                        </a:rPr>
                        <a:t>Tabla de usuario (UDT)</a:t>
                      </a:r>
                      <a:endParaRPr lang="en-US" sz="1050" dirty="0">
                        <a:latin typeface="Segoe UI" charset="0"/>
                        <a:ea typeface="Segoe UI" charset="0"/>
                        <a:cs typeface="Segoe U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0B4DA2"/>
                    </a:solidFill>
                  </a:tcPr>
                </a:tc>
                <a:tc>
                  <a:txBody>
                    <a:bodyPr/>
                    <a:lstStyle/>
                    <a:p>
                      <a:pPr marL="0" indent="0">
                        <a:buNone/>
                      </a:pPr>
                      <a:r>
                        <a:rPr lang="en-US" sz="1050" b="1" dirty="0">
                          <a:solidFill>
                            <a:srgbClr val="071B3F"/>
                          </a:solidFill>
                          <a:latin typeface="Segoe UI" pitchFamily="34" charset="0"/>
                          <a:ea typeface="Segoe UI" pitchFamily="34" charset="-122"/>
                          <a:cs typeface="Segoe UI" pitchFamily="34" charset="-120"/>
                        </a:rPr>
                        <a:t>Objeto definido por usuario (UDO)</a:t>
                      </a:r>
                      <a:endParaRPr lang="en-US" sz="1050" dirty="0">
                        <a:latin typeface="Segoe UI" charset="0"/>
                        <a:ea typeface="Segoe UI" charset="0"/>
                        <a:cs typeface="Segoe U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5A800"/>
                    </a:solidFill>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Definición</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Tabla registrada "sin objeto"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Objeto registrado sobre una UDT cabecera + UDT hijas</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Endpoint</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50" dirty="0">
                          <a:solidFill>
                            <a:srgbClr val="1B2433"/>
                          </a:solidFill>
                          <a:latin typeface="Consolas" pitchFamily="34" charset="0"/>
                          <a:ea typeface="Consolas" pitchFamily="34" charset="-122"/>
                          <a:cs typeface="Consolas" pitchFamily="34" charset="-120"/>
                        </a:rPr>
                        <a:t>/U_&lt;TABLA&gt;   ej. /U_VS_CONFIG</a:t>
                      </a:r>
                      <a:endParaRPr lang="en-US" sz="950" dirty="0">
                        <a:latin typeface="Consolas" charset="0"/>
                        <a:ea typeface="Consolas" charset="0"/>
                        <a:cs typeface="Consolas"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950" dirty="0">
                          <a:solidFill>
                            <a:srgbClr val="1B2433"/>
                          </a:solidFill>
                          <a:latin typeface="Consolas" pitchFamily="34" charset="0"/>
                          <a:ea typeface="Consolas" pitchFamily="34" charset="-122"/>
                          <a:cs typeface="Consolas" pitchFamily="34" charset="-120"/>
                        </a:rPr>
                        <a:t>/&lt;CódigoUDO&gt;   ej. /VSVEHICULO</a:t>
                      </a:r>
                      <a:endParaRPr lang="en-US" sz="950" dirty="0">
                        <a:latin typeface="Consolas" charset="0"/>
                        <a:ea typeface="Consolas" charset="0"/>
                        <a:cs typeface="Consolas"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Clave</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Code (texto)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Code (tipo Maestro)  ·  DocEntry (tipo Documento)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Tablas hijas</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No aplica</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Sí, como colección &lt;TablaHija&gt;Collection</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Lógica de negocio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Ninguna: solo persistencia</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Series, log de cambios, autorizaciones, Cancel / Close</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5"/>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DELETE</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Permitido</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Maestro: si "Can Delete" · Documento: Cancel / Close</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050" b="1" dirty="0">
                          <a:solidFill>
                            <a:srgbClr val="071B3F"/>
                          </a:solidFill>
                          <a:latin typeface="Calibri" pitchFamily="34" charset="0"/>
                          <a:ea typeface="Calibri" pitchFamily="34" charset="-122"/>
                          <a:cs typeface="Calibri" pitchFamily="34" charset="-120"/>
                        </a:rPr>
                        <a:t>Cuándo usarla</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Parámetros, catálogos simples, logs</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tc>
                  <a:txBody>
                    <a:bodyPr/>
                    <a:lstStyle/>
                    <a:p>
                      <a:pPr marL="0" indent="0">
                        <a:buNone/>
                      </a:pPr>
                      <a:r>
                        <a:rPr lang="en-US" sz="1050" dirty="0">
                          <a:solidFill>
                            <a:srgbClr val="1B2433"/>
                          </a:solidFill>
                          <a:latin typeface="Calibri" pitchFamily="34" charset="0"/>
                          <a:ea typeface="Calibri" pitchFamily="34" charset="-122"/>
                          <a:cs typeface="Calibri" pitchFamily="34" charset="-120"/>
                        </a:rPr>
                        <a:t>Entidades de negocio con cabecera-detalle y trazabilidad</a:t>
                      </a:r>
                      <a:endParaRPr lang="en-US" sz="1050" dirty="0">
                        <a:latin typeface="Calibri" charset="0"/>
                        <a:ea typeface="Calibri" charset="0"/>
                        <a:cs typeface="Calibri" charset="0"/>
                      </a:endParaRPr>
                    </a:p>
                  </a:txBody>
                  <a:tcPr marL="88900" marR="88900" marT="38100" marB="38100" anchor="ctr">
                    <a:lnL w="6350" cap="flat" cmpd="sng" algn="ctr">
                      <a:solidFill>
                        <a:srgbClr val="D5DFEC"/>
                      </a:solidFill>
                      <a:prstDash val="solid"/>
                      <a:round/>
                      <a:headEnd type="none" w="med" len="med"/>
                      <a:tailEnd type="none" w="med" len="med"/>
                    </a:lnL>
                    <a:lnR w="6350" cap="flat" cmpd="sng" algn="ctr">
                      <a:solidFill>
                        <a:srgbClr val="D5DFEC"/>
                      </a:solidFill>
                      <a:prstDash val="solid"/>
                      <a:round/>
                      <a:headEnd type="none" w="med" len="med"/>
                      <a:tailEnd type="none" w="med" len="med"/>
                    </a:lnR>
                    <a:lnT w="6350" cap="flat" cmpd="sng" algn="ctr">
                      <a:solidFill>
                        <a:srgbClr val="D5DFEC"/>
                      </a:solidFill>
                      <a:prstDash val="solid"/>
                      <a:round/>
                      <a:headEnd type="none" w="med" len="med"/>
                      <a:tailEnd type="none" w="med" len="med"/>
                    </a:lnT>
                    <a:lnB w="6350" cap="flat" cmpd="sng" algn="ctr">
                      <a:solidFill>
                        <a:srgbClr val="D5DFEC"/>
                      </a:solidFill>
                      <a:prstDash val="solid"/>
                      <a:round/>
                      <a:headEnd type="none" w="med" len="med"/>
                      <a:tailEnd type="none" w="med" len="med"/>
                    </a:lnB>
                    <a:solidFill>
                      <a:srgbClr val="EEF3FA"/>
                    </a:solidFill>
                  </a:tcPr>
                </a:tc>
                <a:extLst>
                  <a:ext uri="{0D108BD9-81ED-4DB2-BD59-A6C34878D82A}">
                    <a16:rowId xmlns:a16="http://schemas.microsoft.com/office/drawing/2014/main" val="10007"/>
                  </a:ext>
                </a:extLst>
              </a:tr>
            </a:tbl>
          </a:graphicData>
        </a:graphic>
      </p:graphicFrame>
      <p:sp>
        <p:nvSpPr>
          <p:cNvPr id="8" name="Text 5"/>
          <p:cNvSpPr txBox="1"/>
          <p:nvPr/>
        </p:nvSpPr>
        <p:spPr>
          <a:xfrm>
            <a:off x="457200" y="4617720"/>
            <a:ext cx="8229600" cy="228600"/>
          </a:xfrm>
          <a:prstGeom prst="rect">
            <a:avLst/>
          </a:prstGeom>
          <a:noFill/>
          <a:ln/>
        </p:spPr>
        <p:txBody>
          <a:bodyPr wrap="square" lIns="0" tIns="0" rIns="0" bIns="0" rtlCol="0" anchor="t"/>
          <a:lstStyle/>
          <a:p>
            <a:pPr marL="0" indent="0">
              <a:buNone/>
            </a:pPr>
            <a:r>
              <a:rPr lang="en-US" sz="1000" i="1" dirty="0">
                <a:solidFill>
                  <a:srgbClr val="5B6B82"/>
                </a:solidFill>
                <a:latin typeface="Calibri" pitchFamily="34" charset="0"/>
                <a:ea typeface="Calibri" pitchFamily="34" charset="-122"/>
                <a:cs typeface="Calibri" pitchFamily="34" charset="-120"/>
              </a:rPr>
              <a:t>En Service Layer la tabla se nombra sin "@" y con prefijo U_: la tabla @VS_CONFIG se consume como /U_VS_CONFIG.</a:t>
            </a:r>
            <a:endParaRPr lang="en-US" sz="1000" dirty="0"/>
          </a:p>
        </p:txBody>
      </p:sp>
      <p:sp>
        <p:nvSpPr>
          <p:cNvPr id="25"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33</a:t>
            </a:fld>
            <a:endParaRPr lang="en-US"/>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Tabla de usuario: todos los métodos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Ejemplo: tabla @VS_CONFIG con campos U_Valor y U_Activo</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481328"/>
            <a:ext cx="73152" cy="73152"/>
          </a:xfrm>
          <a:prstGeom prst="ellipse">
            <a:avLst/>
          </a:prstGeom>
          <a:solidFill>
            <a:srgbClr val="FF5F56"/>
          </a:solidFill>
          <a:ln w="12700">
            <a:solidFill>
              <a:srgbClr val="FF5F56"/>
            </a:solidFill>
            <a:prstDash val="solid"/>
          </a:ln>
        </p:spPr>
      </p:sp>
      <p:sp>
        <p:nvSpPr>
          <p:cNvPr id="9" name="Shape 7"/>
          <p:cNvSpPr/>
          <p:nvPr/>
        </p:nvSpPr>
        <p:spPr>
          <a:xfrm>
            <a:off x="722376" y="148132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48132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crear</a:t>
            </a:r>
            <a:endParaRPr lang="en-US" sz="850" dirty="0"/>
          </a:p>
        </p:txBody>
      </p:sp>
      <p:sp>
        <p:nvSpPr>
          <p:cNvPr id="12" name="Text 10"/>
          <p:cNvSpPr txBox="1"/>
          <p:nvPr/>
        </p:nvSpPr>
        <p:spPr>
          <a:xfrm>
            <a:off x="59436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POST</a:t>
            </a:r>
            <a:r>
              <a:rPr lang="en-US" sz="780" dirty="0">
                <a:solidFill>
                  <a:srgbClr val="DCE6F2"/>
                </a:solidFill>
                <a:latin typeface="Consolas" pitchFamily="34" charset="0"/>
                <a:ea typeface="Consolas" pitchFamily="34" charset="-122"/>
                <a:cs typeface="Consolas" pitchFamily="34" charset="-120"/>
              </a:rPr>
              <a:t> /b1s/v1/U_VS_CONFIG</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"Code"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"001"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"Name"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"URL_API"</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"U_Valor"</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"https://api.demo.pe"</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"U_Activo"</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"Y"</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13" name="Shape 11"/>
          <p:cNvSpPr/>
          <p:nvPr/>
        </p:nvSpPr>
        <p:spPr>
          <a:xfrm>
            <a:off x="324612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4" name="Shape 12"/>
          <p:cNvSpPr/>
          <p:nvPr/>
        </p:nvSpPr>
        <p:spPr>
          <a:xfrm>
            <a:off x="3383280" y="1481328"/>
            <a:ext cx="73152" cy="73152"/>
          </a:xfrm>
          <a:prstGeom prst="ellipse">
            <a:avLst/>
          </a:prstGeom>
          <a:solidFill>
            <a:srgbClr val="FF5F56"/>
          </a:solidFill>
          <a:ln w="12700">
            <a:solidFill>
              <a:srgbClr val="FF5F56"/>
            </a:solidFill>
            <a:prstDash val="solid"/>
          </a:ln>
        </p:spPr>
      </p:sp>
      <p:sp>
        <p:nvSpPr>
          <p:cNvPr id="15" name="Shape 13"/>
          <p:cNvSpPr/>
          <p:nvPr/>
        </p:nvSpPr>
        <p:spPr>
          <a:xfrm>
            <a:off x="3511296" y="1481328"/>
            <a:ext cx="73152" cy="73152"/>
          </a:xfrm>
          <a:prstGeom prst="ellipse">
            <a:avLst/>
          </a:prstGeom>
          <a:solidFill>
            <a:srgbClr val="FFBD2E"/>
          </a:solidFill>
          <a:ln w="12700">
            <a:solidFill>
              <a:srgbClr val="FFBD2E"/>
            </a:solidFill>
            <a:prstDash val="solid"/>
          </a:ln>
        </p:spPr>
      </p:sp>
      <p:sp>
        <p:nvSpPr>
          <p:cNvPr id="16" name="Shape 14"/>
          <p:cNvSpPr/>
          <p:nvPr/>
        </p:nvSpPr>
        <p:spPr>
          <a:xfrm>
            <a:off x="3639312" y="1481328"/>
            <a:ext cx="73152" cy="73152"/>
          </a:xfrm>
          <a:prstGeom prst="ellipse">
            <a:avLst/>
          </a:prstGeom>
          <a:solidFill>
            <a:srgbClr val="27C93F"/>
          </a:solidFill>
          <a:ln w="12700">
            <a:solidFill>
              <a:srgbClr val="27C93F"/>
            </a:solidFill>
            <a:prstDash val="solid"/>
          </a:ln>
        </p:spPr>
      </p:sp>
      <p:sp>
        <p:nvSpPr>
          <p:cNvPr id="17" name="Text 15"/>
          <p:cNvSpPr txBox="1"/>
          <p:nvPr/>
        </p:nvSpPr>
        <p:spPr>
          <a:xfrm>
            <a:off x="381304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GET · leer</a:t>
            </a:r>
            <a:endParaRPr lang="en-US" sz="850" dirty="0"/>
          </a:p>
        </p:txBody>
      </p:sp>
      <p:sp>
        <p:nvSpPr>
          <p:cNvPr id="18" name="Text 16"/>
          <p:cNvSpPr txBox="1"/>
          <p:nvPr/>
        </p:nvSpPr>
        <p:spPr>
          <a:xfrm>
            <a:off x="338328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/b1s/v1/U_VS_CONFIG('001')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/b1s/v1/U_VS_CONFIG</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?$select=Code,U_Valor</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&amp;$filter=U_Activo eq 'Y'</a:t>
            </a:r>
            <a:endParaRPr lang="en-US" sz="780" dirty="0"/>
          </a:p>
        </p:txBody>
      </p:sp>
      <p:sp>
        <p:nvSpPr>
          <p:cNvPr id="19" name="Shape 17"/>
          <p:cNvSpPr/>
          <p:nvPr/>
        </p:nvSpPr>
        <p:spPr>
          <a:xfrm>
            <a:off x="603504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0" name="Shape 18"/>
          <p:cNvSpPr/>
          <p:nvPr/>
        </p:nvSpPr>
        <p:spPr>
          <a:xfrm>
            <a:off x="6172200" y="1481328"/>
            <a:ext cx="73152" cy="73152"/>
          </a:xfrm>
          <a:prstGeom prst="ellipse">
            <a:avLst/>
          </a:prstGeom>
          <a:solidFill>
            <a:srgbClr val="FF5F56"/>
          </a:solidFill>
          <a:ln w="12700">
            <a:solidFill>
              <a:srgbClr val="FF5F56"/>
            </a:solidFill>
            <a:prstDash val="solid"/>
          </a:ln>
        </p:spPr>
      </p:sp>
      <p:sp>
        <p:nvSpPr>
          <p:cNvPr id="21" name="Shape 19"/>
          <p:cNvSpPr/>
          <p:nvPr/>
        </p:nvSpPr>
        <p:spPr>
          <a:xfrm>
            <a:off x="6300216" y="1481328"/>
            <a:ext cx="73152" cy="73152"/>
          </a:xfrm>
          <a:prstGeom prst="ellipse">
            <a:avLst/>
          </a:prstGeom>
          <a:solidFill>
            <a:srgbClr val="FFBD2E"/>
          </a:solidFill>
          <a:ln w="12700">
            <a:solidFill>
              <a:srgbClr val="FFBD2E"/>
            </a:solidFill>
            <a:prstDash val="solid"/>
          </a:ln>
        </p:spPr>
      </p:sp>
      <p:sp>
        <p:nvSpPr>
          <p:cNvPr id="22" name="Shape 20"/>
          <p:cNvSpPr/>
          <p:nvPr/>
        </p:nvSpPr>
        <p:spPr>
          <a:xfrm>
            <a:off x="6428232" y="1481328"/>
            <a:ext cx="73152" cy="73152"/>
          </a:xfrm>
          <a:prstGeom prst="ellipse">
            <a:avLst/>
          </a:prstGeom>
          <a:solidFill>
            <a:srgbClr val="27C93F"/>
          </a:solidFill>
          <a:ln w="12700">
            <a:solidFill>
              <a:srgbClr val="27C93F"/>
            </a:solidFill>
            <a:prstDash val="solid"/>
          </a:ln>
        </p:spPr>
      </p:sp>
      <p:sp>
        <p:nvSpPr>
          <p:cNvPr id="23" name="Text 21"/>
          <p:cNvSpPr txBox="1"/>
          <p:nvPr/>
        </p:nvSpPr>
        <p:spPr>
          <a:xfrm>
            <a:off x="660196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PATCH · actualizar parcial</a:t>
            </a:r>
            <a:endParaRPr lang="en-US" sz="850" dirty="0"/>
          </a:p>
        </p:txBody>
      </p:sp>
      <p:sp>
        <p:nvSpPr>
          <p:cNvPr id="24" name="Text 22"/>
          <p:cNvSpPr txBox="1"/>
          <p:nvPr/>
        </p:nvSpPr>
        <p:spPr>
          <a:xfrm>
            <a:off x="617220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PATCH</a:t>
            </a:r>
            <a:r>
              <a:rPr lang="en-US" sz="780" dirty="0">
                <a:solidFill>
                  <a:srgbClr val="DCE6F2"/>
                </a:solidFill>
                <a:latin typeface="Consolas" pitchFamily="34" charset="0"/>
                <a:ea typeface="Consolas" pitchFamily="34" charset="-122"/>
                <a:cs typeface="Consolas" pitchFamily="34" charset="-120"/>
              </a:rPr>
              <a:t> /b1s/v1/U_VS_CONFIG('001')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"U_Valor"</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"https://api.prod.pe"</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204 No Content</a:t>
            </a:r>
            <a:endParaRPr lang="en-US" sz="780" dirty="0"/>
          </a:p>
        </p:txBody>
      </p:sp>
      <p:sp>
        <p:nvSpPr>
          <p:cNvPr id="25" name="Shape 23"/>
          <p:cNvSpPr/>
          <p:nvPr/>
        </p:nvSpPr>
        <p:spPr>
          <a:xfrm>
            <a:off x="457200" y="3044952"/>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6" name="Shape 24"/>
          <p:cNvSpPr/>
          <p:nvPr/>
        </p:nvSpPr>
        <p:spPr>
          <a:xfrm>
            <a:off x="594360" y="3154680"/>
            <a:ext cx="73152" cy="73152"/>
          </a:xfrm>
          <a:prstGeom prst="ellipse">
            <a:avLst/>
          </a:prstGeom>
          <a:solidFill>
            <a:srgbClr val="FF5F56"/>
          </a:solidFill>
          <a:ln w="12700">
            <a:solidFill>
              <a:srgbClr val="FF5F56"/>
            </a:solidFill>
            <a:prstDash val="solid"/>
          </a:ln>
        </p:spPr>
      </p:sp>
      <p:sp>
        <p:nvSpPr>
          <p:cNvPr id="27" name="Shape 25"/>
          <p:cNvSpPr/>
          <p:nvPr/>
        </p:nvSpPr>
        <p:spPr>
          <a:xfrm>
            <a:off x="722376" y="3154680"/>
            <a:ext cx="73152" cy="73152"/>
          </a:xfrm>
          <a:prstGeom prst="ellipse">
            <a:avLst/>
          </a:prstGeom>
          <a:solidFill>
            <a:srgbClr val="FFBD2E"/>
          </a:solidFill>
          <a:ln w="12700">
            <a:solidFill>
              <a:srgbClr val="FFBD2E"/>
            </a:solidFill>
            <a:prstDash val="solid"/>
          </a:ln>
        </p:spPr>
      </p:sp>
      <p:sp>
        <p:nvSpPr>
          <p:cNvPr id="28" name="Shape 26"/>
          <p:cNvSpPr/>
          <p:nvPr/>
        </p:nvSpPr>
        <p:spPr>
          <a:xfrm>
            <a:off x="850392" y="3154680"/>
            <a:ext cx="73152" cy="73152"/>
          </a:xfrm>
          <a:prstGeom prst="ellipse">
            <a:avLst/>
          </a:prstGeom>
          <a:solidFill>
            <a:srgbClr val="27C93F"/>
          </a:solidFill>
          <a:ln w="12700">
            <a:solidFill>
              <a:srgbClr val="27C93F"/>
            </a:solidFill>
            <a:prstDash val="solid"/>
          </a:ln>
        </p:spPr>
      </p:sp>
      <p:sp>
        <p:nvSpPr>
          <p:cNvPr id="29" name="Text 27"/>
          <p:cNvSpPr txBox="1"/>
          <p:nvPr/>
        </p:nvSpPr>
        <p:spPr>
          <a:xfrm>
            <a:off x="1024128" y="3099816"/>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PUT · reemplazar</a:t>
            </a:r>
            <a:endParaRPr lang="en-US" sz="850" dirty="0"/>
          </a:p>
        </p:txBody>
      </p:sp>
      <p:sp>
        <p:nvSpPr>
          <p:cNvPr id="30" name="Text 28"/>
          <p:cNvSpPr txBox="1"/>
          <p:nvPr/>
        </p:nvSpPr>
        <p:spPr>
          <a:xfrm>
            <a:off x="594360" y="3337560"/>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PUT</a:t>
            </a:r>
            <a:r>
              <a:rPr lang="en-US" sz="780" dirty="0">
                <a:solidFill>
                  <a:srgbClr val="DCE6F2"/>
                </a:solidFill>
                <a:latin typeface="Consolas" pitchFamily="34" charset="0"/>
                <a:ea typeface="Consolas" pitchFamily="34" charset="-122"/>
                <a:cs typeface="Consolas" pitchFamily="34" charset="-120"/>
              </a:rPr>
              <a:t> /b1s/v1/U_VS_CONFIG('001')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"Code"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"001"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"Name"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"URL_API"</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"U_Valor"</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"https://api.prod.pe"</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"U_Activo"</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"N"</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31" name="Shape 29"/>
          <p:cNvSpPr/>
          <p:nvPr/>
        </p:nvSpPr>
        <p:spPr>
          <a:xfrm>
            <a:off x="3246120" y="3044952"/>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32" name="Shape 30"/>
          <p:cNvSpPr/>
          <p:nvPr/>
        </p:nvSpPr>
        <p:spPr>
          <a:xfrm>
            <a:off x="3383280" y="3154680"/>
            <a:ext cx="73152" cy="73152"/>
          </a:xfrm>
          <a:prstGeom prst="ellipse">
            <a:avLst/>
          </a:prstGeom>
          <a:solidFill>
            <a:srgbClr val="FF5F56"/>
          </a:solidFill>
          <a:ln w="12700">
            <a:solidFill>
              <a:srgbClr val="FF5F56"/>
            </a:solidFill>
            <a:prstDash val="solid"/>
          </a:ln>
        </p:spPr>
      </p:sp>
      <p:sp>
        <p:nvSpPr>
          <p:cNvPr id="33" name="Shape 31"/>
          <p:cNvSpPr/>
          <p:nvPr/>
        </p:nvSpPr>
        <p:spPr>
          <a:xfrm>
            <a:off x="3511296" y="3154680"/>
            <a:ext cx="73152" cy="73152"/>
          </a:xfrm>
          <a:prstGeom prst="ellipse">
            <a:avLst/>
          </a:prstGeom>
          <a:solidFill>
            <a:srgbClr val="FFBD2E"/>
          </a:solidFill>
          <a:ln w="12700">
            <a:solidFill>
              <a:srgbClr val="FFBD2E"/>
            </a:solidFill>
            <a:prstDash val="solid"/>
          </a:ln>
        </p:spPr>
      </p:sp>
      <p:sp>
        <p:nvSpPr>
          <p:cNvPr id="34" name="Shape 32"/>
          <p:cNvSpPr/>
          <p:nvPr/>
        </p:nvSpPr>
        <p:spPr>
          <a:xfrm>
            <a:off x="3639312" y="3154680"/>
            <a:ext cx="73152" cy="73152"/>
          </a:xfrm>
          <a:prstGeom prst="ellipse">
            <a:avLst/>
          </a:prstGeom>
          <a:solidFill>
            <a:srgbClr val="27C93F"/>
          </a:solidFill>
          <a:ln w="12700">
            <a:solidFill>
              <a:srgbClr val="27C93F"/>
            </a:solidFill>
            <a:prstDash val="solid"/>
          </a:ln>
        </p:spPr>
      </p:sp>
      <p:sp>
        <p:nvSpPr>
          <p:cNvPr id="35" name="Text 33"/>
          <p:cNvSpPr txBox="1"/>
          <p:nvPr/>
        </p:nvSpPr>
        <p:spPr>
          <a:xfrm>
            <a:off x="3813048" y="3099816"/>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DELETE · eliminar</a:t>
            </a:r>
            <a:endParaRPr lang="en-US" sz="850" dirty="0"/>
          </a:p>
        </p:txBody>
      </p:sp>
      <p:sp>
        <p:nvSpPr>
          <p:cNvPr id="36" name="Text 34"/>
          <p:cNvSpPr txBox="1"/>
          <p:nvPr/>
        </p:nvSpPr>
        <p:spPr>
          <a:xfrm>
            <a:off x="3383280" y="3337560"/>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DELETE</a:t>
            </a:r>
            <a:r>
              <a:rPr lang="en-US" sz="780" dirty="0">
                <a:solidFill>
                  <a:srgbClr val="DCE6F2"/>
                </a:solidFill>
                <a:latin typeface="Consolas" pitchFamily="34" charset="0"/>
                <a:ea typeface="Consolas" pitchFamily="34" charset="-122"/>
                <a:cs typeface="Consolas" pitchFamily="34" charset="-120"/>
              </a:rPr>
              <a:t> /b1s/v1/U_VS_CONFIG('001')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204 No Content</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404 si el Code no existe</a:t>
            </a:r>
            <a:endParaRPr lang="en-US" sz="780" dirty="0"/>
          </a:p>
        </p:txBody>
      </p:sp>
      <p:sp>
        <p:nvSpPr>
          <p:cNvPr id="37" name="Shape 35"/>
          <p:cNvSpPr/>
          <p:nvPr/>
        </p:nvSpPr>
        <p:spPr>
          <a:xfrm>
            <a:off x="6035040" y="3044952"/>
            <a:ext cx="2651760" cy="1536192"/>
          </a:xfrm>
          <a:prstGeom prst="roundRect">
            <a:avLst>
              <a:gd name="adj" fmla="val 4762"/>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38" name="Text 36"/>
          <p:cNvSpPr txBox="1"/>
          <p:nvPr/>
        </p:nvSpPr>
        <p:spPr>
          <a:xfrm>
            <a:off x="6172200" y="3154680"/>
            <a:ext cx="2377440" cy="1316736"/>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Claves a recordar</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Code y Name son obligatorios y Code es la clave.</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Solo tablas de tipo "sin objeto" se exponen como U_.</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Tras crear tablas o campos, reinicia SL para verlos en $metadata.</a:t>
            </a:r>
            <a:endParaRPr lang="en-US" sz="980" dirty="0"/>
          </a:p>
        </p:txBody>
      </p:sp>
      <p:sp>
        <p:nvSpPr>
          <p:cNvPr id="39"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34</a:t>
            </a:fld>
            <a:endParaRPr lang="en-US"/>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UDO: todos los métodos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Ejemplo: UDO maestro VSVEHICULO (cabecera @VS_OVEH, hija @VS_VEH1)</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8" name="Shape 6"/>
          <p:cNvSpPr/>
          <p:nvPr/>
        </p:nvSpPr>
        <p:spPr>
          <a:xfrm>
            <a:off x="594360" y="1481328"/>
            <a:ext cx="73152" cy="73152"/>
          </a:xfrm>
          <a:prstGeom prst="ellipse">
            <a:avLst/>
          </a:prstGeom>
          <a:solidFill>
            <a:srgbClr val="FF5F56"/>
          </a:solidFill>
          <a:ln w="12700">
            <a:solidFill>
              <a:srgbClr val="FF5F56"/>
            </a:solidFill>
            <a:prstDash val="solid"/>
          </a:ln>
        </p:spPr>
      </p:sp>
      <p:sp>
        <p:nvSpPr>
          <p:cNvPr id="9" name="Shape 7"/>
          <p:cNvSpPr/>
          <p:nvPr/>
        </p:nvSpPr>
        <p:spPr>
          <a:xfrm>
            <a:off x="722376" y="1481328"/>
            <a:ext cx="73152" cy="73152"/>
          </a:xfrm>
          <a:prstGeom prst="ellipse">
            <a:avLst/>
          </a:prstGeom>
          <a:solidFill>
            <a:srgbClr val="FFBD2E"/>
          </a:solidFill>
          <a:ln w="12700">
            <a:solidFill>
              <a:srgbClr val="FFBD2E"/>
            </a:solidFill>
            <a:prstDash val="solid"/>
          </a:ln>
        </p:spPr>
      </p:sp>
      <p:sp>
        <p:nvSpPr>
          <p:cNvPr id="10" name="Shape 8"/>
          <p:cNvSpPr/>
          <p:nvPr/>
        </p:nvSpPr>
        <p:spPr>
          <a:xfrm>
            <a:off x="850392" y="1481328"/>
            <a:ext cx="73152" cy="73152"/>
          </a:xfrm>
          <a:prstGeom prst="ellipse">
            <a:avLst/>
          </a:prstGeom>
          <a:solidFill>
            <a:srgbClr val="27C93F"/>
          </a:solidFill>
          <a:ln w="12700">
            <a:solidFill>
              <a:srgbClr val="27C93F"/>
            </a:solidFill>
            <a:prstDash val="solid"/>
          </a:ln>
        </p:spPr>
      </p:sp>
      <p:sp>
        <p:nvSpPr>
          <p:cNvPr id="11" name="Text 9"/>
          <p:cNvSpPr txBox="1"/>
          <p:nvPr/>
        </p:nvSpPr>
        <p:spPr>
          <a:xfrm>
            <a:off x="102412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POST · crear con hijas</a:t>
            </a:r>
            <a:endParaRPr lang="en-US" sz="850" dirty="0"/>
          </a:p>
        </p:txBody>
      </p:sp>
      <p:sp>
        <p:nvSpPr>
          <p:cNvPr id="12" name="Text 10"/>
          <p:cNvSpPr txBox="1"/>
          <p:nvPr/>
        </p:nvSpPr>
        <p:spPr>
          <a:xfrm>
            <a:off x="59436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POST</a:t>
            </a:r>
            <a:r>
              <a:rPr lang="en-US" sz="780" dirty="0">
                <a:solidFill>
                  <a:srgbClr val="DCE6F2"/>
                </a:solidFill>
                <a:latin typeface="Consolas" pitchFamily="34" charset="0"/>
                <a:ea typeface="Consolas" pitchFamily="34" charset="-122"/>
                <a:cs typeface="Consolas" pitchFamily="34" charset="-120"/>
              </a:rPr>
              <a:t> /b1s/v1/VSVEHICULO</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"Code"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"V001"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"Name"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"Camión Volvo FH"</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"U_Placa"</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"ABC-123"</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"VS_VEH1Collection"</a:t>
            </a: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"U_TipoDoc"</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"SOAT"</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"U_Vence"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"2027-01-31"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13" name="Shape 11"/>
          <p:cNvSpPr/>
          <p:nvPr/>
        </p:nvSpPr>
        <p:spPr>
          <a:xfrm>
            <a:off x="324612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14" name="Shape 12"/>
          <p:cNvSpPr/>
          <p:nvPr/>
        </p:nvSpPr>
        <p:spPr>
          <a:xfrm>
            <a:off x="3383280" y="1481328"/>
            <a:ext cx="73152" cy="73152"/>
          </a:xfrm>
          <a:prstGeom prst="ellipse">
            <a:avLst/>
          </a:prstGeom>
          <a:solidFill>
            <a:srgbClr val="FF5F56"/>
          </a:solidFill>
          <a:ln w="12700">
            <a:solidFill>
              <a:srgbClr val="FF5F56"/>
            </a:solidFill>
            <a:prstDash val="solid"/>
          </a:ln>
        </p:spPr>
      </p:sp>
      <p:sp>
        <p:nvSpPr>
          <p:cNvPr id="15" name="Shape 13"/>
          <p:cNvSpPr/>
          <p:nvPr/>
        </p:nvSpPr>
        <p:spPr>
          <a:xfrm>
            <a:off x="3511296" y="1481328"/>
            <a:ext cx="73152" cy="73152"/>
          </a:xfrm>
          <a:prstGeom prst="ellipse">
            <a:avLst/>
          </a:prstGeom>
          <a:solidFill>
            <a:srgbClr val="FFBD2E"/>
          </a:solidFill>
          <a:ln w="12700">
            <a:solidFill>
              <a:srgbClr val="FFBD2E"/>
            </a:solidFill>
            <a:prstDash val="solid"/>
          </a:ln>
        </p:spPr>
      </p:sp>
      <p:sp>
        <p:nvSpPr>
          <p:cNvPr id="16" name="Shape 14"/>
          <p:cNvSpPr/>
          <p:nvPr/>
        </p:nvSpPr>
        <p:spPr>
          <a:xfrm>
            <a:off x="3639312" y="1481328"/>
            <a:ext cx="73152" cy="73152"/>
          </a:xfrm>
          <a:prstGeom prst="ellipse">
            <a:avLst/>
          </a:prstGeom>
          <a:solidFill>
            <a:srgbClr val="27C93F"/>
          </a:solidFill>
          <a:ln w="12700">
            <a:solidFill>
              <a:srgbClr val="27C93F"/>
            </a:solidFill>
            <a:prstDash val="solid"/>
          </a:ln>
        </p:spPr>
      </p:sp>
      <p:sp>
        <p:nvSpPr>
          <p:cNvPr id="17" name="Text 15"/>
          <p:cNvSpPr txBox="1"/>
          <p:nvPr/>
        </p:nvSpPr>
        <p:spPr>
          <a:xfrm>
            <a:off x="381304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GET · leer</a:t>
            </a:r>
            <a:endParaRPr lang="en-US" sz="850" dirty="0"/>
          </a:p>
        </p:txBody>
      </p:sp>
      <p:sp>
        <p:nvSpPr>
          <p:cNvPr id="18" name="Text 16"/>
          <p:cNvSpPr txBox="1"/>
          <p:nvPr/>
        </p:nvSpPr>
        <p:spPr>
          <a:xfrm>
            <a:off x="338328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/b1s/v1/VSVEHICULO('V001')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GET</a:t>
            </a:r>
            <a:r>
              <a:rPr lang="en-US" sz="780" dirty="0">
                <a:solidFill>
                  <a:srgbClr val="DCE6F2"/>
                </a:solidFill>
                <a:latin typeface="Consolas" pitchFamily="34" charset="0"/>
                <a:ea typeface="Consolas" pitchFamily="34" charset="-122"/>
                <a:cs typeface="Consolas" pitchFamily="34" charset="-120"/>
              </a:rPr>
              <a:t> /b1s/v1/VSVEHICULO</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?$select=Code,U_Placa</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&amp;$filter=startswith(</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U_Placa,'ABC')</a:t>
            </a:r>
            <a:endParaRPr lang="en-US" sz="780" dirty="0"/>
          </a:p>
        </p:txBody>
      </p:sp>
      <p:sp>
        <p:nvSpPr>
          <p:cNvPr id="19" name="Shape 17"/>
          <p:cNvSpPr/>
          <p:nvPr/>
        </p:nvSpPr>
        <p:spPr>
          <a:xfrm>
            <a:off x="6035040" y="1371600"/>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0" name="Shape 18"/>
          <p:cNvSpPr/>
          <p:nvPr/>
        </p:nvSpPr>
        <p:spPr>
          <a:xfrm>
            <a:off x="6172200" y="1481328"/>
            <a:ext cx="73152" cy="73152"/>
          </a:xfrm>
          <a:prstGeom prst="ellipse">
            <a:avLst/>
          </a:prstGeom>
          <a:solidFill>
            <a:srgbClr val="FF5F56"/>
          </a:solidFill>
          <a:ln w="12700">
            <a:solidFill>
              <a:srgbClr val="FF5F56"/>
            </a:solidFill>
            <a:prstDash val="solid"/>
          </a:ln>
        </p:spPr>
      </p:sp>
      <p:sp>
        <p:nvSpPr>
          <p:cNvPr id="21" name="Shape 19"/>
          <p:cNvSpPr/>
          <p:nvPr/>
        </p:nvSpPr>
        <p:spPr>
          <a:xfrm>
            <a:off x="6300216" y="1481328"/>
            <a:ext cx="73152" cy="73152"/>
          </a:xfrm>
          <a:prstGeom prst="ellipse">
            <a:avLst/>
          </a:prstGeom>
          <a:solidFill>
            <a:srgbClr val="FFBD2E"/>
          </a:solidFill>
          <a:ln w="12700">
            <a:solidFill>
              <a:srgbClr val="FFBD2E"/>
            </a:solidFill>
            <a:prstDash val="solid"/>
          </a:ln>
        </p:spPr>
      </p:sp>
      <p:sp>
        <p:nvSpPr>
          <p:cNvPr id="22" name="Shape 20"/>
          <p:cNvSpPr/>
          <p:nvPr/>
        </p:nvSpPr>
        <p:spPr>
          <a:xfrm>
            <a:off x="6428232" y="1481328"/>
            <a:ext cx="73152" cy="73152"/>
          </a:xfrm>
          <a:prstGeom prst="ellipse">
            <a:avLst/>
          </a:prstGeom>
          <a:solidFill>
            <a:srgbClr val="27C93F"/>
          </a:solidFill>
          <a:ln w="12700">
            <a:solidFill>
              <a:srgbClr val="27C93F"/>
            </a:solidFill>
            <a:prstDash val="solid"/>
          </a:ln>
        </p:spPr>
      </p:sp>
      <p:sp>
        <p:nvSpPr>
          <p:cNvPr id="23" name="Text 21"/>
          <p:cNvSpPr txBox="1"/>
          <p:nvPr/>
        </p:nvSpPr>
        <p:spPr>
          <a:xfrm>
            <a:off x="6601968" y="1426464"/>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PATCH · cabecera + líneas</a:t>
            </a:r>
            <a:endParaRPr lang="en-US" sz="850" dirty="0"/>
          </a:p>
        </p:txBody>
      </p:sp>
      <p:sp>
        <p:nvSpPr>
          <p:cNvPr id="24" name="Text 22"/>
          <p:cNvSpPr txBox="1"/>
          <p:nvPr/>
        </p:nvSpPr>
        <p:spPr>
          <a:xfrm>
            <a:off x="6172200" y="1664208"/>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PATCH</a:t>
            </a:r>
            <a:r>
              <a:rPr lang="en-US" sz="780" dirty="0">
                <a:solidFill>
                  <a:srgbClr val="DCE6F2"/>
                </a:solidFill>
                <a:latin typeface="Consolas" pitchFamily="34" charset="0"/>
                <a:ea typeface="Consolas" pitchFamily="34" charset="-122"/>
                <a:cs typeface="Consolas" pitchFamily="34" charset="-120"/>
              </a:rPr>
              <a:t> /b1s/v1/VSVEHICULO('V001')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"U_Placa"</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"ABC-999"</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"VS_VEH1Collection"</a:t>
            </a: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"LineId"</a:t>
            </a:r>
            <a:r>
              <a:rPr lang="en-US" sz="780" dirty="0">
                <a:solidFill>
                  <a:srgbClr val="DCE6F2"/>
                </a:solidFill>
                <a:latin typeface="Consolas" pitchFamily="34" charset="0"/>
                <a:ea typeface="Consolas" pitchFamily="34" charset="-122"/>
                <a:cs typeface="Consolas" pitchFamily="34" charset="-120"/>
              </a:rPr>
              <a:t>: 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"U_Vence"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"2027-06-30"</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"U_TipoDoc"</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"REV_TEC"</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25" name="Shape 23"/>
          <p:cNvSpPr/>
          <p:nvPr/>
        </p:nvSpPr>
        <p:spPr>
          <a:xfrm>
            <a:off x="457200" y="3044952"/>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26" name="Shape 24"/>
          <p:cNvSpPr/>
          <p:nvPr/>
        </p:nvSpPr>
        <p:spPr>
          <a:xfrm>
            <a:off x="594360" y="3154680"/>
            <a:ext cx="73152" cy="73152"/>
          </a:xfrm>
          <a:prstGeom prst="ellipse">
            <a:avLst/>
          </a:prstGeom>
          <a:solidFill>
            <a:srgbClr val="FF5F56"/>
          </a:solidFill>
          <a:ln w="12700">
            <a:solidFill>
              <a:srgbClr val="FF5F56"/>
            </a:solidFill>
            <a:prstDash val="solid"/>
          </a:ln>
        </p:spPr>
      </p:sp>
      <p:sp>
        <p:nvSpPr>
          <p:cNvPr id="27" name="Shape 25"/>
          <p:cNvSpPr/>
          <p:nvPr/>
        </p:nvSpPr>
        <p:spPr>
          <a:xfrm>
            <a:off x="722376" y="3154680"/>
            <a:ext cx="73152" cy="73152"/>
          </a:xfrm>
          <a:prstGeom prst="ellipse">
            <a:avLst/>
          </a:prstGeom>
          <a:solidFill>
            <a:srgbClr val="FFBD2E"/>
          </a:solidFill>
          <a:ln w="12700">
            <a:solidFill>
              <a:srgbClr val="FFBD2E"/>
            </a:solidFill>
            <a:prstDash val="solid"/>
          </a:ln>
        </p:spPr>
      </p:sp>
      <p:sp>
        <p:nvSpPr>
          <p:cNvPr id="28" name="Shape 26"/>
          <p:cNvSpPr/>
          <p:nvPr/>
        </p:nvSpPr>
        <p:spPr>
          <a:xfrm>
            <a:off x="850392" y="3154680"/>
            <a:ext cx="73152" cy="73152"/>
          </a:xfrm>
          <a:prstGeom prst="ellipse">
            <a:avLst/>
          </a:prstGeom>
          <a:solidFill>
            <a:srgbClr val="27C93F"/>
          </a:solidFill>
          <a:ln w="12700">
            <a:solidFill>
              <a:srgbClr val="27C93F"/>
            </a:solidFill>
            <a:prstDash val="solid"/>
          </a:ln>
        </p:spPr>
      </p:sp>
      <p:sp>
        <p:nvSpPr>
          <p:cNvPr id="29" name="Text 27"/>
          <p:cNvSpPr txBox="1"/>
          <p:nvPr/>
        </p:nvSpPr>
        <p:spPr>
          <a:xfrm>
            <a:off x="1024128" y="3099816"/>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PUT · reemplazar</a:t>
            </a:r>
            <a:endParaRPr lang="en-US" sz="850" dirty="0"/>
          </a:p>
        </p:txBody>
      </p:sp>
      <p:sp>
        <p:nvSpPr>
          <p:cNvPr id="30" name="Text 28"/>
          <p:cNvSpPr txBox="1"/>
          <p:nvPr/>
        </p:nvSpPr>
        <p:spPr>
          <a:xfrm>
            <a:off x="594360" y="3337560"/>
            <a:ext cx="2377440" cy="1170432"/>
          </a:xfrm>
          <a:prstGeom prst="rect">
            <a:avLst/>
          </a:prstGeom>
          <a:noFill/>
          <a:ln/>
        </p:spPr>
        <p:txBody>
          <a:bodyPr wrap="square" lIns="0" tIns="0" rIns="0" bIns="0" rtlCol="0" anchor="t"/>
          <a:lstStyle/>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PUT</a:t>
            </a:r>
            <a:r>
              <a:rPr lang="en-US" sz="780" dirty="0">
                <a:solidFill>
                  <a:srgbClr val="DCE6F2"/>
                </a:solidFill>
                <a:latin typeface="Consolas" pitchFamily="34" charset="0"/>
                <a:ea typeface="Consolas" pitchFamily="34" charset="-122"/>
                <a:cs typeface="Consolas" pitchFamily="34" charset="-120"/>
              </a:rPr>
              <a:t> /b1s/v1/VSVEHICULO('V001')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"Code"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"V001"</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"Name"</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"Camión Volvo FH"</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"U_Placa"</a:t>
            </a:r>
            <a:r>
              <a:rPr lang="en-US" sz="780" dirty="0">
                <a:solidFill>
                  <a:srgbClr val="DCE6F2"/>
                </a:solidFill>
                <a:latin typeface="Consolas" pitchFamily="34" charset="0"/>
                <a:ea typeface="Consolas" pitchFamily="34" charset="-122"/>
                <a:cs typeface="Consolas" pitchFamily="34" charset="-120"/>
              </a:rPr>
              <a:t>: </a:t>
            </a:r>
            <a:r>
              <a:rPr lang="en-US" sz="780" dirty="0">
                <a:solidFill>
                  <a:srgbClr val="B5E48C"/>
                </a:solidFill>
                <a:latin typeface="Consolas" pitchFamily="34" charset="0"/>
                <a:ea typeface="Consolas" pitchFamily="34" charset="-122"/>
                <a:cs typeface="Consolas" pitchFamily="34" charset="-120"/>
              </a:rPr>
              <a:t>"ABC-999"</a:t>
            </a:r>
            <a:r>
              <a:rPr lang="en-US" sz="780" dirty="0">
                <a:solidFill>
                  <a:srgbClr val="DCE6F2"/>
                </a:solidFill>
                <a:latin typeface="Consolas" pitchFamily="34" charset="0"/>
                <a:ea typeface="Consolas" pitchFamily="34" charset="-122"/>
                <a:cs typeface="Consolas" pitchFamily="34" charset="-120"/>
              </a:rPr>
              <a:t>,</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r>
              <a:rPr lang="en-US" sz="780" dirty="0">
                <a:solidFill>
                  <a:srgbClr val="7FD1FF"/>
                </a:solidFill>
                <a:latin typeface="Consolas" pitchFamily="34" charset="0"/>
                <a:ea typeface="Consolas" pitchFamily="34" charset="-122"/>
                <a:cs typeface="Consolas" pitchFamily="34" charset="-120"/>
              </a:rPr>
              <a:t>"VS_VEH1Collection"</a:t>
            </a: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a:t>
            </a:r>
            <a:endParaRPr lang="en-US" sz="780" dirty="0"/>
          </a:p>
        </p:txBody>
      </p:sp>
      <p:sp>
        <p:nvSpPr>
          <p:cNvPr id="31" name="Shape 29"/>
          <p:cNvSpPr/>
          <p:nvPr/>
        </p:nvSpPr>
        <p:spPr>
          <a:xfrm>
            <a:off x="3246120" y="3044952"/>
            <a:ext cx="2651760" cy="1536192"/>
          </a:xfrm>
          <a:prstGeom prst="roundRect">
            <a:avLst>
              <a:gd name="adj" fmla="val 4167"/>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32" name="Shape 30"/>
          <p:cNvSpPr/>
          <p:nvPr/>
        </p:nvSpPr>
        <p:spPr>
          <a:xfrm>
            <a:off x="3383280" y="3154680"/>
            <a:ext cx="73152" cy="73152"/>
          </a:xfrm>
          <a:prstGeom prst="ellipse">
            <a:avLst/>
          </a:prstGeom>
          <a:solidFill>
            <a:srgbClr val="FF5F56"/>
          </a:solidFill>
          <a:ln w="12700">
            <a:solidFill>
              <a:srgbClr val="FF5F56"/>
            </a:solidFill>
            <a:prstDash val="solid"/>
          </a:ln>
        </p:spPr>
      </p:sp>
      <p:sp>
        <p:nvSpPr>
          <p:cNvPr id="33" name="Shape 31"/>
          <p:cNvSpPr/>
          <p:nvPr/>
        </p:nvSpPr>
        <p:spPr>
          <a:xfrm>
            <a:off x="3511296" y="3154680"/>
            <a:ext cx="73152" cy="73152"/>
          </a:xfrm>
          <a:prstGeom prst="ellipse">
            <a:avLst/>
          </a:prstGeom>
          <a:solidFill>
            <a:srgbClr val="FFBD2E"/>
          </a:solidFill>
          <a:ln w="12700">
            <a:solidFill>
              <a:srgbClr val="FFBD2E"/>
            </a:solidFill>
            <a:prstDash val="solid"/>
          </a:ln>
        </p:spPr>
      </p:sp>
      <p:sp>
        <p:nvSpPr>
          <p:cNvPr id="34" name="Shape 32"/>
          <p:cNvSpPr/>
          <p:nvPr/>
        </p:nvSpPr>
        <p:spPr>
          <a:xfrm>
            <a:off x="3639312" y="3154680"/>
            <a:ext cx="73152" cy="73152"/>
          </a:xfrm>
          <a:prstGeom prst="ellipse">
            <a:avLst/>
          </a:prstGeom>
          <a:solidFill>
            <a:srgbClr val="27C93F"/>
          </a:solidFill>
          <a:ln w="12700">
            <a:solidFill>
              <a:srgbClr val="27C93F"/>
            </a:solidFill>
            <a:prstDash val="solid"/>
          </a:ln>
        </p:spPr>
      </p:sp>
      <p:sp>
        <p:nvSpPr>
          <p:cNvPr id="35" name="Text 33"/>
          <p:cNvSpPr txBox="1"/>
          <p:nvPr/>
        </p:nvSpPr>
        <p:spPr>
          <a:xfrm>
            <a:off x="3813048" y="3099816"/>
            <a:ext cx="196596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DELETE / acciones</a:t>
            </a:r>
            <a:endParaRPr lang="en-US" sz="850" dirty="0"/>
          </a:p>
        </p:txBody>
      </p:sp>
      <p:sp>
        <p:nvSpPr>
          <p:cNvPr id="36" name="Text 34"/>
          <p:cNvSpPr txBox="1"/>
          <p:nvPr/>
        </p:nvSpPr>
        <p:spPr>
          <a:xfrm>
            <a:off x="3383280" y="3337560"/>
            <a:ext cx="2377440" cy="1170432"/>
          </a:xfrm>
          <a:prstGeom prst="rect">
            <a:avLst/>
          </a:prstGeom>
          <a:noFill/>
          <a:ln/>
        </p:spPr>
        <p:txBody>
          <a:bodyPr wrap="square" lIns="0" tIns="0" rIns="0" bIns="0" rtlCol="0" anchor="t"/>
          <a:lstStyle/>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UDO Maestro con "Can Delete"</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DELETE</a:t>
            </a:r>
            <a:r>
              <a:rPr lang="en-US" sz="780" dirty="0">
                <a:solidFill>
                  <a:srgbClr val="DCE6F2"/>
                </a:solidFill>
                <a:latin typeface="Consolas" pitchFamily="34" charset="0"/>
                <a:ea typeface="Consolas" pitchFamily="34" charset="-122"/>
                <a:cs typeface="Consolas" pitchFamily="34" charset="-120"/>
              </a:rPr>
              <a:t> /b1s/v1/VSVEHICULO('V001')</a:t>
            </a:r>
            <a:endParaRPr lang="en-US" sz="780" dirty="0"/>
          </a:p>
          <a:p>
            <a:pPr marL="0" indent="0">
              <a:lnSpc>
                <a:spcPct val="100000"/>
              </a:lnSpc>
              <a:buNone/>
            </a:pPr>
            <a:r>
              <a:rPr lang="en-US" sz="780" dirty="0">
                <a:solidFill>
                  <a:srgbClr val="DCE6F2"/>
                </a:solidFill>
                <a:latin typeface="Consolas" pitchFamily="34" charset="0"/>
                <a:ea typeface="Consolas" pitchFamily="34" charset="-122"/>
                <a:cs typeface="Consolas" pitchFamily="34" charset="-120"/>
              </a:rPr>
              <a:t> </a:t>
            </a:r>
            <a:endParaRPr lang="en-US" sz="780" dirty="0"/>
          </a:p>
          <a:p>
            <a:pPr marL="0" indent="0">
              <a:lnSpc>
                <a:spcPct val="100000"/>
              </a:lnSpc>
              <a:buNone/>
            </a:pPr>
            <a:r>
              <a:rPr lang="en-US" sz="780" i="1" dirty="0">
                <a:solidFill>
                  <a:srgbClr val="7D8FA8"/>
                </a:solidFill>
                <a:latin typeface="Consolas" pitchFamily="34" charset="0"/>
                <a:ea typeface="Consolas" pitchFamily="34" charset="-122"/>
                <a:cs typeface="Consolas" pitchFamily="34" charset="-120"/>
              </a:rPr>
              <a:t>// UDO Documento (clave DocEntry)</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POST</a:t>
            </a:r>
            <a:r>
              <a:rPr lang="en-US" sz="780" dirty="0">
                <a:solidFill>
                  <a:srgbClr val="DCE6F2"/>
                </a:solidFill>
                <a:latin typeface="Consolas" pitchFamily="34" charset="0"/>
                <a:ea typeface="Consolas" pitchFamily="34" charset="-122"/>
                <a:cs typeface="Consolas" pitchFamily="34" charset="-120"/>
              </a:rPr>
              <a:t> /b1s/v1/VSORDTRANS(15)/Cancel</a:t>
            </a:r>
            <a:endParaRPr lang="en-US" sz="780" dirty="0"/>
          </a:p>
          <a:p>
            <a:pPr marL="0" indent="0">
              <a:lnSpc>
                <a:spcPct val="100000"/>
              </a:lnSpc>
              <a:buNone/>
            </a:pPr>
            <a:r>
              <a:rPr lang="en-US" sz="780" b="1" dirty="0">
                <a:solidFill>
                  <a:srgbClr val="F5A800"/>
                </a:solidFill>
                <a:latin typeface="Consolas" pitchFamily="34" charset="0"/>
                <a:ea typeface="Consolas" pitchFamily="34" charset="-122"/>
                <a:cs typeface="Consolas" pitchFamily="34" charset="-120"/>
              </a:rPr>
              <a:t>POST</a:t>
            </a:r>
            <a:r>
              <a:rPr lang="en-US" sz="780" dirty="0">
                <a:solidFill>
                  <a:srgbClr val="DCE6F2"/>
                </a:solidFill>
                <a:latin typeface="Consolas" pitchFamily="34" charset="0"/>
                <a:ea typeface="Consolas" pitchFamily="34" charset="-122"/>
                <a:cs typeface="Consolas" pitchFamily="34" charset="-120"/>
              </a:rPr>
              <a:t> /b1s/v1/VSORDTRANS(15)/Close</a:t>
            </a:r>
            <a:endParaRPr lang="en-US" sz="780" dirty="0"/>
          </a:p>
        </p:txBody>
      </p:sp>
      <p:sp>
        <p:nvSpPr>
          <p:cNvPr id="37" name="Shape 35"/>
          <p:cNvSpPr/>
          <p:nvPr/>
        </p:nvSpPr>
        <p:spPr>
          <a:xfrm>
            <a:off x="6035040" y="3044952"/>
            <a:ext cx="2651760" cy="1536192"/>
          </a:xfrm>
          <a:prstGeom prst="roundRect">
            <a:avLst>
              <a:gd name="adj" fmla="val 4762"/>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38" name="Text 36"/>
          <p:cNvSpPr txBox="1"/>
          <p:nvPr/>
        </p:nvSpPr>
        <p:spPr>
          <a:xfrm>
            <a:off x="6172200" y="3154680"/>
            <a:ext cx="2377440" cy="1316736"/>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Claves a recordar</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El endpoint es el código del UDO, no la tabla.</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Hijas: &lt;TablaHija&gt;Collection (sin @).</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PATCH: con LineId actualiza, sin LineId agrega.</a:t>
            </a:r>
            <a:endParaRPr lang="en-US" sz="980" dirty="0"/>
          </a:p>
          <a:p>
            <a:pPr marL="342900" indent="-342900">
              <a:buSzPct val="100000"/>
              <a:buChar char="•"/>
            </a:pPr>
            <a:r>
              <a:rPr lang="en-US" sz="980" dirty="0">
                <a:solidFill>
                  <a:srgbClr val="1B2433"/>
                </a:solidFill>
                <a:latin typeface="Calibri" pitchFamily="34" charset="0"/>
                <a:ea typeface="Calibri" pitchFamily="34" charset="-122"/>
                <a:cs typeface="Calibri" pitchFamily="34" charset="-120"/>
              </a:rPr>
              <a:t>PUT reemplaza también la colección.</a:t>
            </a:r>
            <a:endParaRPr lang="en-US" sz="980" dirty="0"/>
          </a:p>
        </p:txBody>
      </p:sp>
      <p:sp>
        <p:nvSpPr>
          <p:cNvPr id="39"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35</a:t>
            </a:fld>
            <a:endParaRPr lang="en-US"/>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Operación batch: casos de uso y rollback</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Varias operaciones en una sola petición HTTP: POST /b1s/v1/$batch</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3931920" cy="3291840"/>
          </a:xfrm>
          <a:prstGeom prst="roundRect">
            <a:avLst>
              <a:gd name="adj" fmla="val 2222"/>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Text 6"/>
          <p:cNvSpPr txBox="1"/>
          <p:nvPr/>
        </p:nvSpPr>
        <p:spPr>
          <a:xfrm>
            <a:off x="640080" y="1508760"/>
            <a:ext cx="2743200" cy="274320"/>
          </a:xfrm>
          <a:prstGeom prst="rect">
            <a:avLst/>
          </a:prstGeom>
          <a:noFill/>
          <a:ln/>
        </p:spPr>
        <p:txBody>
          <a:bodyPr wrap="square" lIns="0" tIns="0" rIns="0" bIns="0" rtlCol="0" anchor="t"/>
          <a:lstStyle/>
          <a:p>
            <a:pPr marL="0" indent="0">
              <a:buNone/>
            </a:pPr>
            <a:r>
              <a:rPr lang="en-US" sz="1100" b="1" dirty="0">
                <a:solidFill>
                  <a:srgbClr val="071B3F"/>
                </a:solidFill>
                <a:latin typeface="Consolas" pitchFamily="34" charset="0"/>
                <a:ea typeface="Consolas" pitchFamily="34" charset="-122"/>
                <a:cs typeface="Consolas" pitchFamily="34" charset="-120"/>
              </a:rPr>
              <a:t>POST /$batch</a:t>
            </a:r>
            <a:endParaRPr lang="en-US" sz="1100" dirty="0"/>
          </a:p>
        </p:txBody>
      </p:sp>
      <p:sp>
        <p:nvSpPr>
          <p:cNvPr id="9" name="Shape 7"/>
          <p:cNvSpPr/>
          <p:nvPr/>
        </p:nvSpPr>
        <p:spPr>
          <a:xfrm>
            <a:off x="640080" y="1828800"/>
            <a:ext cx="3566160" cy="960120"/>
          </a:xfrm>
          <a:prstGeom prst="roundRect">
            <a:avLst>
              <a:gd name="adj" fmla="val 5714"/>
            </a:avLst>
          </a:prstGeom>
          <a:solidFill>
            <a:srgbClr val="EAF2FD"/>
          </a:solidFill>
          <a:ln w="15875">
            <a:solidFill>
              <a:srgbClr val="0B4DA2"/>
            </a:solidFill>
            <a:prstDash val="solid"/>
          </a:ln>
        </p:spPr>
      </p:sp>
      <p:sp>
        <p:nvSpPr>
          <p:cNvPr id="10" name="Text 8"/>
          <p:cNvSpPr txBox="1"/>
          <p:nvPr/>
        </p:nvSpPr>
        <p:spPr>
          <a:xfrm>
            <a:off x="749808" y="1883664"/>
            <a:ext cx="3383280" cy="228600"/>
          </a:xfrm>
          <a:prstGeom prst="rect">
            <a:avLst/>
          </a:prstGeom>
          <a:noFill/>
          <a:ln/>
        </p:spPr>
        <p:txBody>
          <a:bodyPr wrap="square" lIns="0" tIns="0" rIns="0" bIns="0" rtlCol="0" anchor="t"/>
          <a:lstStyle/>
          <a:p>
            <a:pPr marL="0" indent="0">
              <a:buNone/>
            </a:pPr>
            <a:r>
              <a:rPr lang="en-US" sz="950" b="1" dirty="0">
                <a:solidFill>
                  <a:srgbClr val="0B4DA2"/>
                </a:solidFill>
                <a:latin typeface="Segoe UI" pitchFamily="34" charset="0"/>
                <a:ea typeface="Segoe UI" pitchFamily="34" charset="-122"/>
                <a:cs typeface="Segoe UI" pitchFamily="34" charset="-120"/>
              </a:rPr>
              <a:t>Changeset 1  ·  atómico (todo o nada)</a:t>
            </a:r>
            <a:endParaRPr lang="en-US" sz="950" dirty="0"/>
          </a:p>
        </p:txBody>
      </p:sp>
      <p:sp>
        <p:nvSpPr>
          <p:cNvPr id="11" name="Text 9"/>
          <p:cNvSpPr txBox="1"/>
          <p:nvPr/>
        </p:nvSpPr>
        <p:spPr>
          <a:xfrm>
            <a:off x="822960" y="2130552"/>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POST BusinessPartners</a:t>
            </a:r>
            <a:endParaRPr lang="en-US" sz="850" dirty="0"/>
          </a:p>
        </p:txBody>
      </p:sp>
      <p:sp>
        <p:nvSpPr>
          <p:cNvPr id="12" name="Text 10"/>
          <p:cNvSpPr txBox="1"/>
          <p:nvPr/>
        </p:nvSpPr>
        <p:spPr>
          <a:xfrm>
            <a:off x="822960" y="2359152"/>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POST Orders  ✖ error → rollback de ambos</a:t>
            </a:r>
            <a:endParaRPr lang="en-US" sz="850" dirty="0"/>
          </a:p>
        </p:txBody>
      </p:sp>
      <p:sp>
        <p:nvSpPr>
          <p:cNvPr id="13" name="Shape 11"/>
          <p:cNvSpPr/>
          <p:nvPr/>
        </p:nvSpPr>
        <p:spPr>
          <a:xfrm>
            <a:off x="640080" y="2880360"/>
            <a:ext cx="3566160" cy="566928"/>
          </a:xfrm>
          <a:prstGeom prst="roundRect">
            <a:avLst>
              <a:gd name="adj" fmla="val 9677"/>
            </a:avLst>
          </a:prstGeom>
          <a:solidFill>
            <a:srgbClr val="FFFFFF"/>
          </a:solidFill>
          <a:ln w="15875">
            <a:solidFill>
              <a:srgbClr val="9FB3CC"/>
            </a:solidFill>
            <a:prstDash val="solid"/>
          </a:ln>
        </p:spPr>
      </p:sp>
      <p:sp>
        <p:nvSpPr>
          <p:cNvPr id="14" name="Text 12"/>
          <p:cNvSpPr txBox="1"/>
          <p:nvPr/>
        </p:nvSpPr>
        <p:spPr>
          <a:xfrm>
            <a:off x="749808" y="2935224"/>
            <a:ext cx="3383280" cy="228600"/>
          </a:xfrm>
          <a:prstGeom prst="rect">
            <a:avLst/>
          </a:prstGeom>
          <a:noFill/>
          <a:ln/>
        </p:spPr>
        <p:txBody>
          <a:bodyPr wrap="square" lIns="0" tIns="0" rIns="0" bIns="0" rtlCol="0" anchor="t"/>
          <a:lstStyle/>
          <a:p>
            <a:pPr marL="0" indent="0">
              <a:buNone/>
            </a:pPr>
            <a:r>
              <a:rPr lang="en-US" sz="950" b="1" dirty="0">
                <a:solidFill>
                  <a:srgbClr val="5B6B82"/>
                </a:solidFill>
                <a:latin typeface="Segoe UI" pitchFamily="34" charset="0"/>
                <a:ea typeface="Segoe UI" pitchFamily="34" charset="-122"/>
                <a:cs typeface="Segoe UI" pitchFamily="34" charset="-120"/>
              </a:rPr>
              <a:t>Petición independiente</a:t>
            </a:r>
            <a:endParaRPr lang="en-US" sz="950" dirty="0"/>
          </a:p>
        </p:txBody>
      </p:sp>
      <p:sp>
        <p:nvSpPr>
          <p:cNvPr id="15" name="Text 13"/>
          <p:cNvSpPr txBox="1"/>
          <p:nvPr/>
        </p:nvSpPr>
        <p:spPr>
          <a:xfrm>
            <a:off x="822960" y="3182112"/>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GET Items('PT-0001')</a:t>
            </a:r>
            <a:endParaRPr lang="en-US" sz="850" dirty="0"/>
          </a:p>
        </p:txBody>
      </p:sp>
      <p:sp>
        <p:nvSpPr>
          <p:cNvPr id="16" name="Shape 14"/>
          <p:cNvSpPr/>
          <p:nvPr/>
        </p:nvSpPr>
        <p:spPr>
          <a:xfrm>
            <a:off x="640080" y="3538728"/>
            <a:ext cx="3566160" cy="960120"/>
          </a:xfrm>
          <a:prstGeom prst="roundRect">
            <a:avLst>
              <a:gd name="adj" fmla="val 5714"/>
            </a:avLst>
          </a:prstGeom>
          <a:solidFill>
            <a:srgbClr val="EAF7F0"/>
          </a:solidFill>
          <a:ln w="15875">
            <a:solidFill>
              <a:srgbClr val="2E9E6A"/>
            </a:solidFill>
            <a:prstDash val="solid"/>
          </a:ln>
        </p:spPr>
      </p:sp>
      <p:sp>
        <p:nvSpPr>
          <p:cNvPr id="17" name="Text 15"/>
          <p:cNvSpPr txBox="1"/>
          <p:nvPr/>
        </p:nvSpPr>
        <p:spPr>
          <a:xfrm>
            <a:off x="749808" y="3593592"/>
            <a:ext cx="3383280" cy="228600"/>
          </a:xfrm>
          <a:prstGeom prst="rect">
            <a:avLst/>
          </a:prstGeom>
          <a:noFill/>
          <a:ln/>
        </p:spPr>
        <p:txBody>
          <a:bodyPr wrap="square" lIns="0" tIns="0" rIns="0" bIns="0" rtlCol="0" anchor="t"/>
          <a:lstStyle/>
          <a:p>
            <a:pPr marL="0" indent="0">
              <a:buNone/>
            </a:pPr>
            <a:r>
              <a:rPr lang="en-US" sz="950" b="1" dirty="0">
                <a:solidFill>
                  <a:srgbClr val="2E9E6A"/>
                </a:solidFill>
                <a:latin typeface="Segoe UI" pitchFamily="34" charset="0"/>
                <a:ea typeface="Segoe UI" pitchFamily="34" charset="-122"/>
                <a:cs typeface="Segoe UI" pitchFamily="34" charset="-120"/>
              </a:rPr>
              <a:t>Changeset 2  ·  atómico</a:t>
            </a:r>
            <a:endParaRPr lang="en-US" sz="950" dirty="0"/>
          </a:p>
        </p:txBody>
      </p:sp>
      <p:sp>
        <p:nvSpPr>
          <p:cNvPr id="18" name="Text 16"/>
          <p:cNvSpPr txBox="1"/>
          <p:nvPr/>
        </p:nvSpPr>
        <p:spPr>
          <a:xfrm>
            <a:off x="822960" y="3840480"/>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PATCH Items('PT-0001')</a:t>
            </a:r>
            <a:endParaRPr lang="en-US" sz="850" dirty="0"/>
          </a:p>
        </p:txBody>
      </p:sp>
      <p:sp>
        <p:nvSpPr>
          <p:cNvPr id="19" name="Text 17"/>
          <p:cNvSpPr txBox="1"/>
          <p:nvPr/>
        </p:nvSpPr>
        <p:spPr>
          <a:xfrm>
            <a:off x="822960" y="4069080"/>
            <a:ext cx="3291840" cy="219456"/>
          </a:xfrm>
          <a:prstGeom prst="rect">
            <a:avLst/>
          </a:prstGeom>
          <a:noFill/>
          <a:ln/>
        </p:spPr>
        <p:txBody>
          <a:bodyPr wrap="square" lIns="0" tIns="0" rIns="0" bIns="0" rtlCol="0" anchor="t"/>
          <a:lstStyle/>
          <a:p>
            <a:pPr marL="0" indent="0">
              <a:buNone/>
            </a:pPr>
            <a:r>
              <a:rPr lang="en-US" sz="850" dirty="0">
                <a:solidFill>
                  <a:srgbClr val="1B2433"/>
                </a:solidFill>
                <a:latin typeface="Consolas" pitchFamily="34" charset="0"/>
                <a:ea typeface="Consolas" pitchFamily="34" charset="-122"/>
                <a:cs typeface="Consolas" pitchFamily="34" charset="-120"/>
              </a:rPr>
              <a:t>POST JournalEntries  ✔ se confirma</a:t>
            </a:r>
            <a:endParaRPr lang="en-US" sz="850" dirty="0"/>
          </a:p>
        </p:txBody>
      </p:sp>
      <p:sp>
        <p:nvSpPr>
          <p:cNvPr id="20" name="Shape 18"/>
          <p:cNvSpPr/>
          <p:nvPr/>
        </p:nvSpPr>
        <p:spPr>
          <a:xfrm>
            <a:off x="4617720" y="1463040"/>
            <a:ext cx="402336" cy="402336"/>
          </a:xfrm>
          <a:prstGeom prst="ellipse">
            <a:avLst/>
          </a:prstGeom>
          <a:solidFill>
            <a:srgbClr val="E8F1FC"/>
          </a:solidFill>
          <a:ln w="12700">
            <a:solidFill>
              <a:srgbClr val="E8F1FC"/>
            </a:solidFill>
            <a:prstDash val="solid"/>
          </a:ln>
        </p:spPr>
      </p:sp>
      <p:pic>
        <p:nvPicPr>
          <p:cNvPr id="21" name="Image 0" descr="preencoded.png"/>
          <p:cNvPicPr>
            <a:picLocks noChangeAspect="1"/>
          </p:cNvPicPr>
          <p:nvPr/>
        </p:nvPicPr>
        <p:blipFill>
          <a:blip r:embed="rId3"/>
          <a:stretch>
            <a:fillRect/>
          </a:stretch>
        </p:blipFill>
        <p:spPr>
          <a:xfrm>
            <a:off x="4722327" y="1567647"/>
            <a:ext cx="193121" cy="193121"/>
          </a:xfrm>
          <a:prstGeom prst="rect">
            <a:avLst/>
          </a:prstGeom>
        </p:spPr>
      </p:pic>
      <p:sp>
        <p:nvSpPr>
          <p:cNvPr id="22" name="Text 19"/>
          <p:cNvSpPr txBox="1"/>
          <p:nvPr/>
        </p:nvSpPr>
        <p:spPr>
          <a:xfrm>
            <a:off x="5138928" y="1417320"/>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Changeset = transacción</a:t>
            </a:r>
            <a:endParaRPr lang="en-US" sz="1150" dirty="0"/>
          </a:p>
        </p:txBody>
      </p:sp>
      <p:sp>
        <p:nvSpPr>
          <p:cNvPr id="23" name="Text 20"/>
          <p:cNvSpPr txBox="1"/>
          <p:nvPr/>
        </p:nvSpPr>
        <p:spPr>
          <a:xfrm>
            <a:off x="5138928" y="1655064"/>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Si una operación falla, SL revierte todas las del mismo changeset.</a:t>
            </a:r>
            <a:endParaRPr lang="en-US" sz="1000" dirty="0"/>
          </a:p>
        </p:txBody>
      </p:sp>
      <p:sp>
        <p:nvSpPr>
          <p:cNvPr id="24" name="Shape 21"/>
          <p:cNvSpPr/>
          <p:nvPr/>
        </p:nvSpPr>
        <p:spPr>
          <a:xfrm>
            <a:off x="4617720" y="2130552"/>
            <a:ext cx="402336" cy="402336"/>
          </a:xfrm>
          <a:prstGeom prst="ellipse">
            <a:avLst/>
          </a:prstGeom>
          <a:solidFill>
            <a:srgbClr val="E8F1FC"/>
          </a:solidFill>
          <a:ln w="12700">
            <a:solidFill>
              <a:srgbClr val="E8F1FC"/>
            </a:solidFill>
            <a:prstDash val="solid"/>
          </a:ln>
        </p:spPr>
      </p:sp>
      <p:pic>
        <p:nvPicPr>
          <p:cNvPr id="25" name="Image 1" descr="preencoded.png"/>
          <p:cNvPicPr>
            <a:picLocks noChangeAspect="1"/>
          </p:cNvPicPr>
          <p:nvPr/>
        </p:nvPicPr>
        <p:blipFill>
          <a:blip r:embed="rId4"/>
          <a:stretch>
            <a:fillRect/>
          </a:stretch>
        </p:blipFill>
        <p:spPr>
          <a:xfrm>
            <a:off x="4722327" y="2235159"/>
            <a:ext cx="193121" cy="193121"/>
          </a:xfrm>
          <a:prstGeom prst="rect">
            <a:avLst/>
          </a:prstGeom>
        </p:spPr>
      </p:pic>
      <p:sp>
        <p:nvSpPr>
          <p:cNvPr id="26" name="Text 22"/>
          <p:cNvSpPr txBox="1"/>
          <p:nvPr/>
        </p:nvSpPr>
        <p:spPr>
          <a:xfrm>
            <a:off x="5138928" y="2084832"/>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Fuera de changeset</a:t>
            </a:r>
            <a:endParaRPr lang="en-US" sz="1150" dirty="0"/>
          </a:p>
        </p:txBody>
      </p:sp>
      <p:sp>
        <p:nvSpPr>
          <p:cNvPr id="27" name="Text 23"/>
          <p:cNvSpPr txBox="1"/>
          <p:nvPr/>
        </p:nvSpPr>
        <p:spPr>
          <a:xfrm>
            <a:off x="5138928" y="2322576"/>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Cada petición es independiente: un error no afecta a las demás.</a:t>
            </a:r>
            <a:endParaRPr lang="en-US" sz="1000" dirty="0"/>
          </a:p>
        </p:txBody>
      </p:sp>
      <p:sp>
        <p:nvSpPr>
          <p:cNvPr id="28" name="Shape 24"/>
          <p:cNvSpPr/>
          <p:nvPr/>
        </p:nvSpPr>
        <p:spPr>
          <a:xfrm>
            <a:off x="4617720" y="2798064"/>
            <a:ext cx="402336" cy="402336"/>
          </a:xfrm>
          <a:prstGeom prst="ellipse">
            <a:avLst/>
          </a:prstGeom>
          <a:solidFill>
            <a:srgbClr val="E8F1FC"/>
          </a:solidFill>
          <a:ln w="12700">
            <a:solidFill>
              <a:srgbClr val="E8F1FC"/>
            </a:solidFill>
            <a:prstDash val="solid"/>
          </a:ln>
        </p:spPr>
      </p:sp>
      <p:pic>
        <p:nvPicPr>
          <p:cNvPr id="29" name="Image 2" descr="preencoded.png"/>
          <p:cNvPicPr>
            <a:picLocks noChangeAspect="1"/>
          </p:cNvPicPr>
          <p:nvPr/>
        </p:nvPicPr>
        <p:blipFill>
          <a:blip r:embed="rId5"/>
          <a:stretch>
            <a:fillRect/>
          </a:stretch>
        </p:blipFill>
        <p:spPr>
          <a:xfrm>
            <a:off x="4722327" y="2902671"/>
            <a:ext cx="193121" cy="193121"/>
          </a:xfrm>
          <a:prstGeom prst="rect">
            <a:avLst/>
          </a:prstGeom>
        </p:spPr>
      </p:pic>
      <p:sp>
        <p:nvSpPr>
          <p:cNvPr id="30" name="Text 25"/>
          <p:cNvSpPr txBox="1"/>
          <p:nvPr/>
        </p:nvSpPr>
        <p:spPr>
          <a:xfrm>
            <a:off x="5138928" y="2752344"/>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Sin GET en changesets</a:t>
            </a:r>
            <a:endParaRPr lang="en-US" sz="1150" dirty="0"/>
          </a:p>
        </p:txBody>
      </p:sp>
      <p:sp>
        <p:nvSpPr>
          <p:cNvPr id="31" name="Text 26"/>
          <p:cNvSpPr txBox="1"/>
          <p:nvPr/>
        </p:nvSpPr>
        <p:spPr>
          <a:xfrm>
            <a:off x="5138928" y="2990088"/>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Solo POST, PATCH, PUT y DELETE; las lecturas van sueltas.</a:t>
            </a:r>
            <a:endParaRPr lang="en-US" sz="1000" dirty="0"/>
          </a:p>
        </p:txBody>
      </p:sp>
      <p:sp>
        <p:nvSpPr>
          <p:cNvPr id="32" name="Shape 27"/>
          <p:cNvSpPr/>
          <p:nvPr/>
        </p:nvSpPr>
        <p:spPr>
          <a:xfrm>
            <a:off x="4617720" y="3465576"/>
            <a:ext cx="402336" cy="402336"/>
          </a:xfrm>
          <a:prstGeom prst="ellipse">
            <a:avLst/>
          </a:prstGeom>
          <a:solidFill>
            <a:srgbClr val="E8F1FC"/>
          </a:solidFill>
          <a:ln w="12700">
            <a:solidFill>
              <a:srgbClr val="E8F1FC"/>
            </a:solidFill>
            <a:prstDash val="solid"/>
          </a:ln>
        </p:spPr>
      </p:sp>
      <p:pic>
        <p:nvPicPr>
          <p:cNvPr id="33" name="Image 3" descr="preencoded.png"/>
          <p:cNvPicPr>
            <a:picLocks noChangeAspect="1"/>
          </p:cNvPicPr>
          <p:nvPr/>
        </p:nvPicPr>
        <p:blipFill>
          <a:blip r:embed="rId6"/>
          <a:stretch>
            <a:fillRect/>
          </a:stretch>
        </p:blipFill>
        <p:spPr>
          <a:xfrm>
            <a:off x="4722327" y="3570183"/>
            <a:ext cx="193121" cy="193121"/>
          </a:xfrm>
          <a:prstGeom prst="rect">
            <a:avLst/>
          </a:prstGeom>
        </p:spPr>
      </p:pic>
      <p:sp>
        <p:nvSpPr>
          <p:cNvPr id="34" name="Text 28"/>
          <p:cNvSpPr txBox="1"/>
          <p:nvPr/>
        </p:nvSpPr>
        <p:spPr>
          <a:xfrm>
            <a:off x="5138928" y="3419856"/>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Revisa cada respuesta</a:t>
            </a:r>
            <a:endParaRPr lang="en-US" sz="1150" dirty="0"/>
          </a:p>
        </p:txBody>
      </p:sp>
      <p:sp>
        <p:nvSpPr>
          <p:cNvPr id="35" name="Text 29"/>
          <p:cNvSpPr txBox="1"/>
          <p:nvPr/>
        </p:nvSpPr>
        <p:spPr>
          <a:xfrm>
            <a:off x="5138928" y="3657600"/>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La respuesta global puede ser exitosa aunque falle una parte interna.</a:t>
            </a:r>
            <a:endParaRPr lang="en-US" sz="1000" dirty="0"/>
          </a:p>
        </p:txBody>
      </p:sp>
      <p:sp>
        <p:nvSpPr>
          <p:cNvPr id="36" name="Shape 30"/>
          <p:cNvSpPr/>
          <p:nvPr/>
        </p:nvSpPr>
        <p:spPr>
          <a:xfrm>
            <a:off x="4617720" y="4133088"/>
            <a:ext cx="402336" cy="402336"/>
          </a:xfrm>
          <a:prstGeom prst="ellipse">
            <a:avLst/>
          </a:prstGeom>
          <a:solidFill>
            <a:srgbClr val="E8F1FC"/>
          </a:solidFill>
          <a:ln w="12700">
            <a:solidFill>
              <a:srgbClr val="E8F1FC"/>
            </a:solidFill>
            <a:prstDash val="solid"/>
          </a:ln>
        </p:spPr>
      </p:sp>
      <p:pic>
        <p:nvPicPr>
          <p:cNvPr id="37" name="Image 4" descr="preencoded.png"/>
          <p:cNvPicPr>
            <a:picLocks noChangeAspect="1"/>
          </p:cNvPicPr>
          <p:nvPr/>
        </p:nvPicPr>
        <p:blipFill>
          <a:blip r:embed="rId7"/>
          <a:stretch>
            <a:fillRect/>
          </a:stretch>
        </p:blipFill>
        <p:spPr>
          <a:xfrm>
            <a:off x="4722327" y="4237695"/>
            <a:ext cx="193121" cy="193121"/>
          </a:xfrm>
          <a:prstGeom prst="rect">
            <a:avLst/>
          </a:prstGeom>
        </p:spPr>
      </p:pic>
      <p:sp>
        <p:nvSpPr>
          <p:cNvPr id="38" name="Text 31"/>
          <p:cNvSpPr txBox="1"/>
          <p:nvPr/>
        </p:nvSpPr>
        <p:spPr>
          <a:xfrm>
            <a:off x="5138928" y="4087368"/>
            <a:ext cx="35661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Casos de uso</a:t>
            </a:r>
            <a:endParaRPr lang="en-US" sz="1150" dirty="0"/>
          </a:p>
        </p:txBody>
      </p:sp>
      <p:sp>
        <p:nvSpPr>
          <p:cNvPr id="39" name="Text 32"/>
          <p:cNvSpPr txBox="1"/>
          <p:nvPr/>
        </p:nvSpPr>
        <p:spPr>
          <a:xfrm>
            <a:off x="5138928" y="4325112"/>
            <a:ext cx="3566160" cy="402336"/>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Socio + pedido, carga de lotes, actualizaciones masivas coherentes.</a:t>
            </a:r>
            <a:endParaRPr lang="en-US" sz="1000" dirty="0"/>
          </a:p>
        </p:txBody>
      </p:sp>
      <p:sp>
        <p:nvSpPr>
          <p:cNvPr id="40"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36</a:t>
            </a:fld>
            <a:endParaRPr lang="en-US"/>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505456"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505456"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05  ·  FLUJOS DE OPERACIÓN III</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Armado del request batch (multipart/mixed)</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188720"/>
            <a:ext cx="5120640" cy="3566160"/>
          </a:xfrm>
          <a:prstGeom prst="roundRect">
            <a:avLst>
              <a:gd name="adj" fmla="val 17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7" name="Shape 5"/>
          <p:cNvSpPr/>
          <p:nvPr/>
        </p:nvSpPr>
        <p:spPr>
          <a:xfrm>
            <a:off x="594360" y="1298448"/>
            <a:ext cx="73152" cy="73152"/>
          </a:xfrm>
          <a:prstGeom prst="ellipse">
            <a:avLst/>
          </a:prstGeom>
          <a:solidFill>
            <a:srgbClr val="FF5F56"/>
          </a:solidFill>
          <a:ln w="12700">
            <a:solidFill>
              <a:srgbClr val="FF5F56"/>
            </a:solidFill>
            <a:prstDash val="solid"/>
          </a:ln>
        </p:spPr>
      </p:sp>
      <p:sp>
        <p:nvSpPr>
          <p:cNvPr id="8" name="Shape 6"/>
          <p:cNvSpPr/>
          <p:nvPr/>
        </p:nvSpPr>
        <p:spPr>
          <a:xfrm>
            <a:off x="722376" y="1298448"/>
            <a:ext cx="73152" cy="73152"/>
          </a:xfrm>
          <a:prstGeom prst="ellipse">
            <a:avLst/>
          </a:prstGeom>
          <a:solidFill>
            <a:srgbClr val="FFBD2E"/>
          </a:solidFill>
          <a:ln w="12700">
            <a:solidFill>
              <a:srgbClr val="FFBD2E"/>
            </a:solidFill>
            <a:prstDash val="solid"/>
          </a:ln>
        </p:spPr>
      </p:sp>
      <p:sp>
        <p:nvSpPr>
          <p:cNvPr id="9" name="Shape 7"/>
          <p:cNvSpPr/>
          <p:nvPr/>
        </p:nvSpPr>
        <p:spPr>
          <a:xfrm>
            <a:off x="850392" y="1298448"/>
            <a:ext cx="73152" cy="73152"/>
          </a:xfrm>
          <a:prstGeom prst="ellipse">
            <a:avLst/>
          </a:prstGeom>
          <a:solidFill>
            <a:srgbClr val="27C93F"/>
          </a:solidFill>
          <a:ln w="12700">
            <a:solidFill>
              <a:srgbClr val="27C93F"/>
            </a:solidFill>
            <a:prstDash val="solid"/>
          </a:ln>
        </p:spPr>
      </p:sp>
      <p:sp>
        <p:nvSpPr>
          <p:cNvPr id="10" name="Text 8"/>
          <p:cNvSpPr txBox="1"/>
          <p:nvPr/>
        </p:nvSpPr>
        <p:spPr>
          <a:xfrm>
            <a:off x="1024128" y="1243584"/>
            <a:ext cx="443484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RAW BODY · Postman → Body → raw</a:t>
            </a:r>
            <a:endParaRPr lang="en-US" sz="850" dirty="0"/>
          </a:p>
        </p:txBody>
      </p:sp>
      <p:sp>
        <p:nvSpPr>
          <p:cNvPr id="11" name="Text 9"/>
          <p:cNvSpPr txBox="1"/>
          <p:nvPr/>
        </p:nvSpPr>
        <p:spPr>
          <a:xfrm>
            <a:off x="594360" y="1481328"/>
            <a:ext cx="4846320" cy="3200400"/>
          </a:xfrm>
          <a:prstGeom prst="rect">
            <a:avLst/>
          </a:prstGeom>
          <a:noFill/>
          <a:ln/>
        </p:spPr>
        <p:txBody>
          <a:bodyPr wrap="square" lIns="0" tIns="0" rIns="0" bIns="0" rtlCol="0" anchor="t"/>
          <a:lstStyle/>
          <a:p>
            <a:pPr marL="0" indent="0">
              <a:lnSpc>
                <a:spcPct val="100000"/>
              </a:lnSpc>
              <a:buNone/>
            </a:pPr>
            <a:r>
              <a:rPr lang="en-US" sz="760" b="1" dirty="0">
                <a:solidFill>
                  <a:srgbClr val="F5A800"/>
                </a:solidFill>
                <a:latin typeface="Consolas" pitchFamily="34" charset="0"/>
                <a:ea typeface="Consolas" pitchFamily="34" charset="-122"/>
                <a:cs typeface="Consolas" pitchFamily="34" charset="-120"/>
              </a:rPr>
              <a:t>POST</a:t>
            </a:r>
            <a:r>
              <a:rPr lang="en-US" sz="760" dirty="0">
                <a:solidFill>
                  <a:srgbClr val="DCE6F2"/>
                </a:solidFill>
                <a:latin typeface="Consolas" pitchFamily="34" charset="0"/>
                <a:ea typeface="Consolas" pitchFamily="34" charset="-122"/>
                <a:cs typeface="Consolas" pitchFamily="34" charset="-120"/>
              </a:rPr>
              <a:t> /b1s/v1/$batch</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multipart/mixed;boundary=batch_A1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--batch_A1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multipart/mixed;boundary=changeset_B1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--changeset_B1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application/http</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Content-Transfer-Encoding: binary</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5A800"/>
                </a:solidFill>
                <a:latin typeface="Consolas" pitchFamily="34" charset="0"/>
                <a:ea typeface="Consolas" pitchFamily="34" charset="-122"/>
                <a:cs typeface="Consolas" pitchFamily="34" charset="-120"/>
              </a:rPr>
              <a:t>POST</a:t>
            </a:r>
            <a:r>
              <a:rPr lang="en-US" sz="760" dirty="0">
                <a:solidFill>
                  <a:srgbClr val="DCE6F2"/>
                </a:solidFill>
                <a:latin typeface="Consolas" pitchFamily="34" charset="0"/>
                <a:ea typeface="Consolas" pitchFamily="34" charset="-122"/>
                <a:cs typeface="Consolas" pitchFamily="34" charset="-120"/>
              </a:rPr>
              <a:t> /b1s/v1/BusinessPartners</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application/json</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"CardCode"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"C0099"</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"CardName"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"Nuevo SAC"</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"CardType"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"cCustomer"</a:t>
            </a:r>
            <a:r>
              <a:rPr lang="en-US" sz="760" dirty="0">
                <a:solidFill>
                  <a:srgbClr val="DCE6F2"/>
                </a:solidFill>
                <a:latin typeface="Consolas" pitchFamily="34" charset="0"/>
                <a:ea typeface="Consolas" pitchFamily="34" charset="-122"/>
                <a:cs typeface="Consolas" pitchFamily="34" charset="-120"/>
              </a:rPr>
              <a:t>}</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--changeset_B1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application/http</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Content-Transfer-Encoding: binary</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5A800"/>
                </a:solidFill>
                <a:latin typeface="Consolas" pitchFamily="34" charset="0"/>
                <a:ea typeface="Consolas" pitchFamily="34" charset="-122"/>
                <a:cs typeface="Consolas" pitchFamily="34" charset="-120"/>
              </a:rPr>
              <a:t>POST</a:t>
            </a:r>
            <a:r>
              <a:rPr lang="en-US" sz="760" dirty="0">
                <a:solidFill>
                  <a:srgbClr val="DCE6F2"/>
                </a:solidFill>
                <a:latin typeface="Consolas" pitchFamily="34" charset="0"/>
                <a:ea typeface="Consolas" pitchFamily="34" charset="-122"/>
                <a:cs typeface="Consolas" pitchFamily="34" charset="-120"/>
              </a:rPr>
              <a:t> /b1s/v1/Orders</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Content-Type: application/json</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"CardCode"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"C0099"</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"DocDueDate"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"2026-09-30"</a:t>
            </a:r>
            <a:r>
              <a:rPr lang="en-US" sz="760" dirty="0">
                <a:solidFill>
                  <a:srgbClr val="DCE6F2"/>
                </a:solidFill>
                <a:latin typeface="Consolas" pitchFamily="34" charset="0"/>
                <a:ea typeface="Consolas" pitchFamily="34" charset="-122"/>
                <a:cs typeface="Consolas" pitchFamily="34" charset="-120"/>
              </a:rPr>
              <a:t>,</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r>
              <a:rPr lang="en-US" sz="760" dirty="0">
                <a:solidFill>
                  <a:srgbClr val="7FD1FF"/>
                </a:solidFill>
                <a:latin typeface="Consolas" pitchFamily="34" charset="0"/>
                <a:ea typeface="Consolas" pitchFamily="34" charset="-122"/>
                <a:cs typeface="Consolas" pitchFamily="34" charset="-120"/>
              </a:rPr>
              <a:t>"DocumentLines"</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"ItemCode"</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B5E48C"/>
                </a:solidFill>
                <a:latin typeface="Consolas" pitchFamily="34" charset="0"/>
                <a:ea typeface="Consolas" pitchFamily="34" charset="-122"/>
                <a:cs typeface="Consolas" pitchFamily="34" charset="-120"/>
              </a:rPr>
              <a:t>"PT-0001"</a:t>
            </a:r>
            <a:r>
              <a:rPr lang="en-US" sz="760" dirty="0">
                <a:solidFill>
                  <a:srgbClr val="DCE6F2"/>
                </a:solidFill>
                <a:latin typeface="Consolas" pitchFamily="34" charset="0"/>
                <a:ea typeface="Consolas" pitchFamily="34" charset="-122"/>
                <a:cs typeface="Consolas" pitchFamily="34" charset="-120"/>
              </a:rPr>
              <a:t>,</a:t>
            </a:r>
            <a:r>
              <a:rPr lang="en-US" sz="760" dirty="0">
                <a:solidFill>
                  <a:srgbClr val="7FD1FF"/>
                </a:solidFill>
                <a:latin typeface="Consolas" pitchFamily="34" charset="0"/>
                <a:ea typeface="Consolas" pitchFamily="34" charset="-122"/>
                <a:cs typeface="Consolas" pitchFamily="34" charset="-120"/>
              </a:rPr>
              <a:t>"Quantity"</a:t>
            </a:r>
            <a:r>
              <a:rPr lang="en-US" sz="760" dirty="0">
                <a:solidFill>
                  <a:srgbClr val="DCE6F2"/>
                </a:solidFill>
                <a:latin typeface="Consolas" pitchFamily="34" charset="0"/>
                <a:ea typeface="Consolas" pitchFamily="34" charset="-122"/>
                <a:cs typeface="Consolas" pitchFamily="34" charset="-120"/>
              </a:rPr>
              <a:t>:1}]}</a:t>
            </a:r>
            <a:endParaRPr lang="en-US" sz="760" dirty="0"/>
          </a:p>
          <a:p>
            <a:pPr marL="0" indent="0">
              <a:lnSpc>
                <a:spcPct val="100000"/>
              </a:lnSpc>
              <a:buNone/>
            </a:pPr>
            <a:r>
              <a:rPr lang="en-US" sz="760" dirty="0">
                <a:solidFill>
                  <a:srgbClr val="DCE6F2"/>
                </a:solidFill>
                <a:latin typeface="Consolas" pitchFamily="34" charset="0"/>
                <a:ea typeface="Consolas" pitchFamily="34" charset="-122"/>
                <a:cs typeface="Consolas" pitchFamily="34" charset="-120"/>
              </a:rPr>
              <a:t> </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--changeset_B1--</a:t>
            </a:r>
            <a:endParaRPr lang="en-US" sz="760" dirty="0"/>
          </a:p>
          <a:p>
            <a:pPr marL="0" indent="0">
              <a:lnSpc>
                <a:spcPct val="100000"/>
              </a:lnSpc>
              <a:buNone/>
            </a:pPr>
            <a:r>
              <a:rPr lang="en-US" sz="760" b="1" dirty="0">
                <a:solidFill>
                  <a:srgbClr val="FF9E80"/>
                </a:solidFill>
                <a:latin typeface="Consolas" pitchFamily="34" charset="0"/>
                <a:ea typeface="Consolas" pitchFamily="34" charset="-122"/>
                <a:cs typeface="Consolas" pitchFamily="34" charset="-120"/>
              </a:rPr>
              <a:t>--batch_A1--</a:t>
            </a:r>
            <a:endParaRPr lang="en-US" sz="760" dirty="0"/>
          </a:p>
        </p:txBody>
      </p:sp>
      <p:sp>
        <p:nvSpPr>
          <p:cNvPr id="12" name="Shape 10"/>
          <p:cNvSpPr/>
          <p:nvPr/>
        </p:nvSpPr>
        <p:spPr>
          <a:xfrm>
            <a:off x="5806440" y="1225296"/>
            <a:ext cx="365760" cy="365760"/>
          </a:xfrm>
          <a:prstGeom prst="ellipse">
            <a:avLst/>
          </a:prstGeom>
          <a:solidFill>
            <a:srgbClr val="0B4DA2"/>
          </a:solidFill>
          <a:ln w="12700">
            <a:solidFill>
              <a:srgbClr val="0B4DA2"/>
            </a:solidFill>
            <a:prstDash val="solid"/>
          </a:ln>
        </p:spPr>
      </p:sp>
      <p:sp>
        <p:nvSpPr>
          <p:cNvPr id="13" name="Text 11"/>
          <p:cNvSpPr txBox="1"/>
          <p:nvPr/>
        </p:nvSpPr>
        <p:spPr>
          <a:xfrm>
            <a:off x="5806440" y="122529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1</a:t>
            </a:r>
            <a:endParaRPr lang="en-US" sz="1200" dirty="0"/>
          </a:p>
        </p:txBody>
      </p:sp>
      <p:sp>
        <p:nvSpPr>
          <p:cNvPr id="14" name="Text 12"/>
          <p:cNvSpPr txBox="1"/>
          <p:nvPr/>
        </p:nvSpPr>
        <p:spPr>
          <a:xfrm>
            <a:off x="6291072" y="1188720"/>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Header del batch</a:t>
            </a:r>
            <a:endParaRPr lang="en-US" sz="1100" dirty="0"/>
          </a:p>
        </p:txBody>
      </p:sp>
      <p:sp>
        <p:nvSpPr>
          <p:cNvPr id="15" name="Text 13"/>
          <p:cNvSpPr txBox="1"/>
          <p:nvPr/>
        </p:nvSpPr>
        <p:spPr>
          <a:xfrm>
            <a:off x="6291072" y="1426464"/>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Content-Type: multipart/mixed con el boundary del batch.</a:t>
            </a:r>
            <a:endParaRPr lang="en-US" sz="950" dirty="0"/>
          </a:p>
        </p:txBody>
      </p:sp>
      <p:sp>
        <p:nvSpPr>
          <p:cNvPr id="16" name="Shape 14"/>
          <p:cNvSpPr/>
          <p:nvPr/>
        </p:nvSpPr>
        <p:spPr>
          <a:xfrm>
            <a:off x="5806440" y="1892808"/>
            <a:ext cx="365760" cy="365760"/>
          </a:xfrm>
          <a:prstGeom prst="ellipse">
            <a:avLst/>
          </a:prstGeom>
          <a:solidFill>
            <a:srgbClr val="0B4DA2"/>
          </a:solidFill>
          <a:ln w="12700">
            <a:solidFill>
              <a:srgbClr val="0B4DA2"/>
            </a:solidFill>
            <a:prstDash val="solid"/>
          </a:ln>
        </p:spPr>
      </p:sp>
      <p:sp>
        <p:nvSpPr>
          <p:cNvPr id="17" name="Text 15"/>
          <p:cNvSpPr txBox="1"/>
          <p:nvPr/>
        </p:nvSpPr>
        <p:spPr>
          <a:xfrm>
            <a:off x="5806440" y="1892808"/>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2</a:t>
            </a:r>
            <a:endParaRPr lang="en-US" sz="1200" dirty="0"/>
          </a:p>
        </p:txBody>
      </p:sp>
      <p:sp>
        <p:nvSpPr>
          <p:cNvPr id="18" name="Text 16"/>
          <p:cNvSpPr txBox="1"/>
          <p:nvPr/>
        </p:nvSpPr>
        <p:spPr>
          <a:xfrm>
            <a:off x="6291072" y="1856232"/>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Abrir changeset</a:t>
            </a:r>
            <a:endParaRPr lang="en-US" sz="1100" dirty="0"/>
          </a:p>
        </p:txBody>
      </p:sp>
      <p:sp>
        <p:nvSpPr>
          <p:cNvPr id="19" name="Text 17"/>
          <p:cNvSpPr txBox="1"/>
          <p:nvPr/>
        </p:nvSpPr>
        <p:spPr>
          <a:xfrm>
            <a:off x="6291072" y="2093976"/>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Una parte del batch con su propio boundary de changeset.</a:t>
            </a:r>
            <a:endParaRPr lang="en-US" sz="950" dirty="0"/>
          </a:p>
        </p:txBody>
      </p:sp>
      <p:sp>
        <p:nvSpPr>
          <p:cNvPr id="20" name="Shape 18"/>
          <p:cNvSpPr/>
          <p:nvPr/>
        </p:nvSpPr>
        <p:spPr>
          <a:xfrm>
            <a:off x="5806440" y="2560320"/>
            <a:ext cx="365760" cy="365760"/>
          </a:xfrm>
          <a:prstGeom prst="ellipse">
            <a:avLst/>
          </a:prstGeom>
          <a:solidFill>
            <a:srgbClr val="0B4DA2"/>
          </a:solidFill>
          <a:ln w="12700">
            <a:solidFill>
              <a:srgbClr val="0B4DA2"/>
            </a:solidFill>
            <a:prstDash val="solid"/>
          </a:ln>
        </p:spPr>
      </p:sp>
      <p:sp>
        <p:nvSpPr>
          <p:cNvPr id="21" name="Text 19"/>
          <p:cNvSpPr txBox="1"/>
          <p:nvPr/>
        </p:nvSpPr>
        <p:spPr>
          <a:xfrm>
            <a:off x="5806440" y="25603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3</a:t>
            </a:r>
            <a:endParaRPr lang="en-US" sz="1200" dirty="0"/>
          </a:p>
        </p:txBody>
      </p:sp>
      <p:sp>
        <p:nvSpPr>
          <p:cNvPr id="22" name="Text 20"/>
          <p:cNvSpPr txBox="1"/>
          <p:nvPr/>
        </p:nvSpPr>
        <p:spPr>
          <a:xfrm>
            <a:off x="6291072" y="2523744"/>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Cada operación</a:t>
            </a:r>
            <a:endParaRPr lang="en-US" sz="1100" dirty="0"/>
          </a:p>
        </p:txBody>
      </p:sp>
      <p:sp>
        <p:nvSpPr>
          <p:cNvPr id="23" name="Text 21"/>
          <p:cNvSpPr txBox="1"/>
          <p:nvPr/>
        </p:nvSpPr>
        <p:spPr>
          <a:xfrm>
            <a:off x="6291072" y="2761488"/>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Content-Type: application/http y Content-Transfer-Encoding: binary.</a:t>
            </a:r>
            <a:endParaRPr lang="en-US" sz="950" dirty="0"/>
          </a:p>
        </p:txBody>
      </p:sp>
      <p:sp>
        <p:nvSpPr>
          <p:cNvPr id="24" name="Shape 22"/>
          <p:cNvSpPr/>
          <p:nvPr/>
        </p:nvSpPr>
        <p:spPr>
          <a:xfrm>
            <a:off x="5806440" y="3227832"/>
            <a:ext cx="365760" cy="365760"/>
          </a:xfrm>
          <a:prstGeom prst="ellipse">
            <a:avLst/>
          </a:prstGeom>
          <a:solidFill>
            <a:srgbClr val="0B4DA2"/>
          </a:solidFill>
          <a:ln w="12700">
            <a:solidFill>
              <a:srgbClr val="0B4DA2"/>
            </a:solidFill>
            <a:prstDash val="solid"/>
          </a:ln>
        </p:spPr>
      </p:sp>
      <p:sp>
        <p:nvSpPr>
          <p:cNvPr id="25" name="Text 23"/>
          <p:cNvSpPr txBox="1"/>
          <p:nvPr/>
        </p:nvSpPr>
        <p:spPr>
          <a:xfrm>
            <a:off x="5806440" y="3227832"/>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4</a:t>
            </a:r>
            <a:endParaRPr lang="en-US" sz="1200" dirty="0"/>
          </a:p>
        </p:txBody>
      </p:sp>
      <p:sp>
        <p:nvSpPr>
          <p:cNvPr id="26" name="Text 24"/>
          <p:cNvSpPr txBox="1"/>
          <p:nvPr/>
        </p:nvSpPr>
        <p:spPr>
          <a:xfrm>
            <a:off x="6291072" y="3191256"/>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Petición interna</a:t>
            </a:r>
            <a:endParaRPr lang="en-US" sz="1100" dirty="0"/>
          </a:p>
        </p:txBody>
      </p:sp>
      <p:sp>
        <p:nvSpPr>
          <p:cNvPr id="27" name="Text 25"/>
          <p:cNvSpPr txBox="1"/>
          <p:nvPr/>
        </p:nvSpPr>
        <p:spPr>
          <a:xfrm>
            <a:off x="6291072" y="3429000"/>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Línea método + URL, headers, línea en blanco y el JSON.</a:t>
            </a:r>
            <a:endParaRPr lang="en-US" sz="950" dirty="0"/>
          </a:p>
        </p:txBody>
      </p:sp>
      <p:sp>
        <p:nvSpPr>
          <p:cNvPr id="28" name="Shape 26"/>
          <p:cNvSpPr/>
          <p:nvPr/>
        </p:nvSpPr>
        <p:spPr>
          <a:xfrm>
            <a:off x="5806440" y="3895344"/>
            <a:ext cx="365760" cy="365760"/>
          </a:xfrm>
          <a:prstGeom prst="ellipse">
            <a:avLst/>
          </a:prstGeom>
          <a:solidFill>
            <a:srgbClr val="F5A800"/>
          </a:solidFill>
          <a:ln w="12700">
            <a:solidFill>
              <a:srgbClr val="F5A800"/>
            </a:solidFill>
            <a:prstDash val="solid"/>
          </a:ln>
        </p:spPr>
      </p:sp>
      <p:sp>
        <p:nvSpPr>
          <p:cNvPr id="29" name="Text 27"/>
          <p:cNvSpPr txBox="1"/>
          <p:nvPr/>
        </p:nvSpPr>
        <p:spPr>
          <a:xfrm>
            <a:off x="5806440" y="3895344"/>
            <a:ext cx="365760" cy="365760"/>
          </a:xfrm>
          <a:prstGeom prst="rect">
            <a:avLst/>
          </a:prstGeom>
          <a:noFill/>
          <a:ln/>
        </p:spPr>
        <p:txBody>
          <a:bodyPr wrap="square" lIns="0" tIns="0" rIns="0" bIns="0" rtlCol="0" anchor="ctr"/>
          <a:lstStyle/>
          <a:p>
            <a:pPr marL="0" indent="0" algn="ctr">
              <a:buNone/>
            </a:pPr>
            <a:r>
              <a:rPr lang="en-US" sz="1200" b="1" dirty="0">
                <a:solidFill>
                  <a:srgbClr val="071B3F"/>
                </a:solidFill>
                <a:latin typeface="Segoe UI" pitchFamily="34" charset="0"/>
                <a:ea typeface="Segoe UI" pitchFamily="34" charset="-122"/>
                <a:cs typeface="Segoe UI" pitchFamily="34" charset="-120"/>
              </a:rPr>
              <a:t>5</a:t>
            </a:r>
            <a:endParaRPr lang="en-US" sz="1200" dirty="0"/>
          </a:p>
        </p:txBody>
      </p:sp>
      <p:sp>
        <p:nvSpPr>
          <p:cNvPr id="30" name="Text 28"/>
          <p:cNvSpPr txBox="1"/>
          <p:nvPr/>
        </p:nvSpPr>
        <p:spPr>
          <a:xfrm>
            <a:off x="6291072" y="3858768"/>
            <a:ext cx="2423160" cy="237744"/>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Cerrar</a:t>
            </a:r>
            <a:endParaRPr lang="en-US" sz="1100" dirty="0"/>
          </a:p>
        </p:txBody>
      </p:sp>
      <p:sp>
        <p:nvSpPr>
          <p:cNvPr id="31" name="Text 29"/>
          <p:cNvSpPr txBox="1"/>
          <p:nvPr/>
        </p:nvSpPr>
        <p:spPr>
          <a:xfrm>
            <a:off x="6291072" y="4096512"/>
            <a:ext cx="242316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--changeset_B1-- y luego --batch_A1-- (con dos guiones al final).</a:t>
            </a:r>
            <a:endParaRPr lang="en-US" sz="950" dirty="0"/>
          </a:p>
        </p:txBody>
      </p:sp>
      <p:sp>
        <p:nvSpPr>
          <p:cNvPr id="32"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37</a:t>
            </a:fld>
            <a:endParaRPr lang="en-US"/>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06</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Cliente HTTP con Service Layer</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Librería B1SLayer   •   Conexión y sesión   •   CRUD fluido   •   Batch   •   Práctica guiada</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648102"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648102"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06  ·  CLIENTE HTTP CON B1SLAYER</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B1SLayer en pocas palabras</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Librería .NET open source que envuelve Service Layer con una API fluida</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17320"/>
            <a:ext cx="3383280" cy="3291840"/>
          </a:xfrm>
          <a:prstGeom prst="roundRect">
            <a:avLst>
              <a:gd name="adj" fmla="val 2222"/>
            </a:avLst>
          </a:prstGeom>
          <a:solidFill>
            <a:srgbClr val="071B3F"/>
          </a:solidFill>
          <a:ln w="9525">
            <a:solidFill>
              <a:srgbClr val="D5DFEC"/>
            </a:solidFill>
            <a:prstDash val="solid"/>
          </a:ln>
          <a:effectLst>
            <a:outerShdw blurRad="101600" dist="25400" dir="5400000" algn="bl" rotWithShape="0">
              <a:srgbClr val="0B2A55">
                <a:alpha val="12000"/>
              </a:srgbClr>
            </a:outerShdw>
          </a:effectLst>
        </p:spPr>
      </p:sp>
      <p:sp>
        <p:nvSpPr>
          <p:cNvPr id="8" name="Text 6"/>
          <p:cNvSpPr txBox="1"/>
          <p:nvPr/>
        </p:nvSpPr>
        <p:spPr>
          <a:xfrm>
            <a:off x="685800" y="1600200"/>
            <a:ext cx="2743200" cy="228600"/>
          </a:xfrm>
          <a:prstGeom prst="rect">
            <a:avLst/>
          </a:prstGeom>
          <a:noFill/>
          <a:ln/>
        </p:spPr>
        <p:txBody>
          <a:bodyPr wrap="square" lIns="0" tIns="0" rIns="0" bIns="0" rtlCol="0" anchor="t"/>
          <a:lstStyle/>
          <a:p>
            <a:pPr marL="0" indent="0">
              <a:buNone/>
            </a:pPr>
            <a:r>
              <a:rPr lang="en-US" sz="1000" b="1" kern="0" spc="200" dirty="0">
                <a:solidFill>
                  <a:srgbClr val="F5A800"/>
                </a:solidFill>
                <a:latin typeface="Segoe UI" pitchFamily="34" charset="0"/>
                <a:ea typeface="Segoe UI" pitchFamily="34" charset="-122"/>
                <a:cs typeface="Segoe UI" pitchFamily="34" charset="-120"/>
              </a:rPr>
              <a:t>INSTALACIÓN</a:t>
            </a:r>
            <a:endParaRPr lang="en-US" sz="1000" dirty="0"/>
          </a:p>
        </p:txBody>
      </p:sp>
      <p:sp>
        <p:nvSpPr>
          <p:cNvPr id="9" name="Text 7"/>
          <p:cNvSpPr txBox="1"/>
          <p:nvPr/>
        </p:nvSpPr>
        <p:spPr>
          <a:xfrm>
            <a:off x="685800" y="1874520"/>
            <a:ext cx="3017520" cy="320040"/>
          </a:xfrm>
          <a:prstGeom prst="rect">
            <a:avLst/>
          </a:prstGeom>
          <a:noFill/>
          <a:ln/>
        </p:spPr>
        <p:txBody>
          <a:bodyPr wrap="square" lIns="0" tIns="0" rIns="0" bIns="0" rtlCol="0" anchor="t"/>
          <a:lstStyle/>
          <a:p>
            <a:pPr marL="0" indent="0">
              <a:buNone/>
            </a:pPr>
            <a:r>
              <a:rPr lang="en-US" sz="1150" dirty="0">
                <a:solidFill>
                  <a:srgbClr val="FFFFFF"/>
                </a:solidFill>
                <a:latin typeface="Consolas" pitchFamily="34" charset="0"/>
                <a:ea typeface="Consolas" pitchFamily="34" charset="-122"/>
                <a:cs typeface="Consolas" pitchFamily="34" charset="-120"/>
              </a:rPr>
              <a:t>dotnet add package B1SLayer</a:t>
            </a:r>
            <a:endParaRPr lang="en-US" sz="1150" dirty="0"/>
          </a:p>
        </p:txBody>
      </p:sp>
      <p:sp>
        <p:nvSpPr>
          <p:cNvPr id="10" name="Text 8"/>
          <p:cNvSpPr txBox="1"/>
          <p:nvPr/>
        </p:nvSpPr>
        <p:spPr>
          <a:xfrm>
            <a:off x="685800" y="2377440"/>
            <a:ext cx="2743200" cy="228600"/>
          </a:xfrm>
          <a:prstGeom prst="rect">
            <a:avLst/>
          </a:prstGeom>
          <a:noFill/>
          <a:ln/>
        </p:spPr>
        <p:txBody>
          <a:bodyPr wrap="square" lIns="0" tIns="0" rIns="0" bIns="0" rtlCol="0" anchor="t"/>
          <a:lstStyle/>
          <a:p>
            <a:pPr marL="0" indent="0">
              <a:buNone/>
            </a:pPr>
            <a:r>
              <a:rPr lang="en-US" sz="1000" b="1" kern="0" spc="200" dirty="0">
                <a:solidFill>
                  <a:srgbClr val="F5A800"/>
                </a:solidFill>
                <a:latin typeface="Segoe UI" pitchFamily="34" charset="0"/>
                <a:ea typeface="Segoe UI" pitchFamily="34" charset="-122"/>
                <a:cs typeface="Segoe UI" pitchFamily="34" charset="-120"/>
              </a:rPr>
              <a:t>POR QUÉ USARLA</a:t>
            </a:r>
            <a:endParaRPr lang="en-US" sz="1000" dirty="0"/>
          </a:p>
        </p:txBody>
      </p:sp>
      <p:sp>
        <p:nvSpPr>
          <p:cNvPr id="11" name="Text 9"/>
          <p:cNvSpPr txBox="1"/>
          <p:nvPr/>
        </p:nvSpPr>
        <p:spPr>
          <a:xfrm>
            <a:off x="685800" y="2651760"/>
            <a:ext cx="3017520" cy="14630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DCE6F2"/>
                </a:solidFill>
                <a:latin typeface="Calibri" pitchFamily="34" charset="0"/>
                <a:ea typeface="Calibri" pitchFamily="34" charset="-122"/>
                <a:cs typeface="Calibri" pitchFamily="34" charset="-120"/>
              </a:rPr>
              <a:t>Menos código repetitivo que HttpClient puro</a:t>
            </a:r>
            <a:endParaRPr lang="en-US" sz="1150" dirty="0"/>
          </a:p>
          <a:p>
            <a:pPr marL="342900" indent="-342900">
              <a:spcAft>
                <a:spcPts val="400"/>
              </a:spcAft>
              <a:buSzPct val="100000"/>
              <a:buChar char="•"/>
            </a:pPr>
            <a:r>
              <a:rPr lang="en-US" sz="1150" dirty="0">
                <a:solidFill>
                  <a:srgbClr val="DCE6F2"/>
                </a:solidFill>
                <a:latin typeface="Calibri" pitchFamily="34" charset="0"/>
                <a:ea typeface="Calibri" pitchFamily="34" charset="-122"/>
                <a:cs typeface="Calibri" pitchFamily="34" charset="-120"/>
              </a:rPr>
              <a:t>Sesión gestionada por la librería</a:t>
            </a:r>
            <a:endParaRPr lang="en-US" sz="1150" dirty="0"/>
          </a:p>
          <a:p>
            <a:pPr marL="342900" indent="-342900">
              <a:spcAft>
                <a:spcPts val="400"/>
              </a:spcAft>
              <a:buSzPct val="100000"/>
              <a:buChar char="•"/>
            </a:pPr>
            <a:r>
              <a:rPr lang="en-US" sz="1150" dirty="0">
                <a:solidFill>
                  <a:srgbClr val="DCE6F2"/>
                </a:solidFill>
                <a:latin typeface="Calibri" pitchFamily="34" charset="0"/>
                <a:ea typeface="Calibri" pitchFamily="34" charset="-122"/>
                <a:cs typeface="Calibri" pitchFamily="34" charset="-120"/>
              </a:rPr>
              <a:t>Consultas OData con métodos encadenados</a:t>
            </a:r>
            <a:endParaRPr lang="en-US" sz="1150" dirty="0"/>
          </a:p>
          <a:p>
            <a:pPr marL="342900" indent="-342900">
              <a:spcAft>
                <a:spcPts val="400"/>
              </a:spcAft>
              <a:buSzPct val="100000"/>
              <a:buChar char="•"/>
            </a:pPr>
            <a:r>
              <a:rPr lang="en-US" sz="1150" dirty="0">
                <a:solidFill>
                  <a:srgbClr val="DCE6F2"/>
                </a:solidFill>
                <a:latin typeface="Calibri" pitchFamily="34" charset="0"/>
                <a:ea typeface="Calibri" pitchFamily="34" charset="-122"/>
                <a:cs typeface="Calibri" pitchFamily="34" charset="-120"/>
              </a:rPr>
              <a:t>Proyecto activo en GitHub y NuGet</a:t>
            </a:r>
            <a:endParaRPr lang="en-US" sz="1150" dirty="0"/>
          </a:p>
        </p:txBody>
      </p:sp>
      <p:sp>
        <p:nvSpPr>
          <p:cNvPr id="12" name="Text 10"/>
          <p:cNvSpPr txBox="1"/>
          <p:nvPr/>
        </p:nvSpPr>
        <p:spPr>
          <a:xfrm>
            <a:off x="685800" y="4297680"/>
            <a:ext cx="3017520" cy="228600"/>
          </a:xfrm>
          <a:prstGeom prst="rect">
            <a:avLst/>
          </a:prstGeom>
          <a:noFill/>
          <a:ln/>
        </p:spPr>
        <p:txBody>
          <a:bodyPr wrap="square" lIns="0" tIns="0" rIns="0" bIns="0" rtlCol="0" anchor="t"/>
          <a:lstStyle/>
          <a:p>
            <a:pPr marL="0" indent="0">
              <a:buNone/>
            </a:pPr>
            <a:r>
              <a:rPr lang="en-US" sz="950" dirty="0">
                <a:solidFill>
                  <a:srgbClr val="29B6F6"/>
                </a:solidFill>
                <a:latin typeface="Consolas" pitchFamily="34" charset="0"/>
                <a:ea typeface="Consolas" pitchFamily="34" charset="-122"/>
                <a:cs typeface="Consolas" pitchFamily="34" charset="-120"/>
              </a:rPr>
              <a:t>github.com/bgmulinari/B1SLayer</a:t>
            </a:r>
            <a:endParaRPr lang="en-US" sz="950" dirty="0"/>
          </a:p>
        </p:txBody>
      </p:sp>
      <p:sp>
        <p:nvSpPr>
          <p:cNvPr id="13" name="Shape 11"/>
          <p:cNvSpPr/>
          <p:nvPr/>
        </p:nvSpPr>
        <p:spPr>
          <a:xfrm>
            <a:off x="4114800" y="1472184"/>
            <a:ext cx="420624" cy="420624"/>
          </a:xfrm>
          <a:prstGeom prst="ellipse">
            <a:avLst/>
          </a:prstGeom>
          <a:solidFill>
            <a:srgbClr val="E8F1FC"/>
          </a:solidFill>
          <a:ln w="12700">
            <a:solidFill>
              <a:srgbClr val="E8F1FC"/>
            </a:solidFill>
            <a:prstDash val="solid"/>
          </a:ln>
        </p:spPr>
      </p:sp>
      <p:pic>
        <p:nvPicPr>
          <p:cNvPr id="14" name="Image 0" descr="preencoded.png"/>
          <p:cNvPicPr>
            <a:picLocks noChangeAspect="1"/>
          </p:cNvPicPr>
          <p:nvPr/>
        </p:nvPicPr>
        <p:blipFill>
          <a:blip r:embed="rId3"/>
          <a:stretch>
            <a:fillRect/>
          </a:stretch>
        </p:blipFill>
        <p:spPr>
          <a:xfrm>
            <a:off x="4224162" y="1581546"/>
            <a:ext cx="201900" cy="201900"/>
          </a:xfrm>
          <a:prstGeom prst="rect">
            <a:avLst/>
          </a:prstGeom>
        </p:spPr>
      </p:pic>
      <p:sp>
        <p:nvSpPr>
          <p:cNvPr id="15" name="Text 12"/>
          <p:cNvSpPr txBox="1"/>
          <p:nvPr/>
        </p:nvSpPr>
        <p:spPr>
          <a:xfrm>
            <a:off x="4663440" y="1435608"/>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Login automático</a:t>
            </a:r>
            <a:endParaRPr lang="en-US" sz="1150" dirty="0"/>
          </a:p>
        </p:txBody>
      </p:sp>
      <p:sp>
        <p:nvSpPr>
          <p:cNvPr id="16" name="Text 13"/>
          <p:cNvSpPr txBox="1"/>
          <p:nvPr/>
        </p:nvSpPr>
        <p:spPr>
          <a:xfrm>
            <a:off x="4663440" y="1682496"/>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Inicia sesión en la primera petición y renueva cuando expira.</a:t>
            </a:r>
            <a:endParaRPr lang="en-US" sz="1000" dirty="0"/>
          </a:p>
        </p:txBody>
      </p:sp>
      <p:sp>
        <p:nvSpPr>
          <p:cNvPr id="17" name="Shape 14"/>
          <p:cNvSpPr/>
          <p:nvPr/>
        </p:nvSpPr>
        <p:spPr>
          <a:xfrm>
            <a:off x="4114800" y="2139696"/>
            <a:ext cx="420624" cy="420624"/>
          </a:xfrm>
          <a:prstGeom prst="ellipse">
            <a:avLst/>
          </a:prstGeom>
          <a:solidFill>
            <a:srgbClr val="E8F1FC"/>
          </a:solidFill>
          <a:ln w="12700">
            <a:solidFill>
              <a:srgbClr val="E8F1FC"/>
            </a:solidFill>
            <a:prstDash val="solid"/>
          </a:ln>
        </p:spPr>
      </p:sp>
      <p:pic>
        <p:nvPicPr>
          <p:cNvPr id="18" name="Image 1" descr="preencoded.png"/>
          <p:cNvPicPr>
            <a:picLocks noChangeAspect="1"/>
          </p:cNvPicPr>
          <p:nvPr/>
        </p:nvPicPr>
        <p:blipFill>
          <a:blip r:embed="rId4"/>
          <a:stretch>
            <a:fillRect/>
          </a:stretch>
        </p:blipFill>
        <p:spPr>
          <a:xfrm>
            <a:off x="4224162" y="2249058"/>
            <a:ext cx="201900" cy="201900"/>
          </a:xfrm>
          <a:prstGeom prst="rect">
            <a:avLst/>
          </a:prstGeom>
        </p:spPr>
      </p:pic>
      <p:sp>
        <p:nvSpPr>
          <p:cNvPr id="19" name="Text 15"/>
          <p:cNvSpPr txBox="1"/>
          <p:nvPr/>
        </p:nvSpPr>
        <p:spPr>
          <a:xfrm>
            <a:off x="4663440" y="2103120"/>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API fluida</a:t>
            </a:r>
            <a:endParaRPr lang="en-US" sz="1150" dirty="0"/>
          </a:p>
        </p:txBody>
      </p:sp>
      <p:sp>
        <p:nvSpPr>
          <p:cNvPr id="20" name="Text 16"/>
          <p:cNvSpPr txBox="1"/>
          <p:nvPr/>
        </p:nvSpPr>
        <p:spPr>
          <a:xfrm>
            <a:off x="4663440" y="2350008"/>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Filter, Select, OrderBy, WithPageSize, WithCaseInsensitive.</a:t>
            </a:r>
            <a:endParaRPr lang="en-US" sz="1000" dirty="0"/>
          </a:p>
        </p:txBody>
      </p:sp>
      <p:sp>
        <p:nvSpPr>
          <p:cNvPr id="21" name="Shape 17"/>
          <p:cNvSpPr/>
          <p:nvPr/>
        </p:nvSpPr>
        <p:spPr>
          <a:xfrm>
            <a:off x="4114800" y="2807208"/>
            <a:ext cx="420624" cy="420624"/>
          </a:xfrm>
          <a:prstGeom prst="ellipse">
            <a:avLst/>
          </a:prstGeom>
          <a:solidFill>
            <a:srgbClr val="E8F1FC"/>
          </a:solidFill>
          <a:ln w="12700">
            <a:solidFill>
              <a:srgbClr val="E8F1FC"/>
            </a:solidFill>
            <a:prstDash val="solid"/>
          </a:ln>
        </p:spPr>
      </p:sp>
      <p:pic>
        <p:nvPicPr>
          <p:cNvPr id="22" name="Image 2" descr="preencoded.png"/>
          <p:cNvPicPr>
            <a:picLocks noChangeAspect="1"/>
          </p:cNvPicPr>
          <p:nvPr/>
        </p:nvPicPr>
        <p:blipFill>
          <a:blip r:embed="rId5"/>
          <a:stretch>
            <a:fillRect/>
          </a:stretch>
        </p:blipFill>
        <p:spPr>
          <a:xfrm>
            <a:off x="4224162" y="2916570"/>
            <a:ext cx="201900" cy="201900"/>
          </a:xfrm>
          <a:prstGeom prst="rect">
            <a:avLst/>
          </a:prstGeom>
        </p:spPr>
      </p:pic>
      <p:sp>
        <p:nvSpPr>
          <p:cNvPr id="23" name="Text 18"/>
          <p:cNvSpPr txBox="1"/>
          <p:nvPr/>
        </p:nvSpPr>
        <p:spPr>
          <a:xfrm>
            <a:off x="4663440" y="2770632"/>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GetAllAsync</a:t>
            </a:r>
            <a:endParaRPr lang="en-US" sz="1150" dirty="0"/>
          </a:p>
        </p:txBody>
      </p:sp>
      <p:sp>
        <p:nvSpPr>
          <p:cNvPr id="24" name="Text 19"/>
          <p:cNvSpPr txBox="1"/>
          <p:nvPr/>
        </p:nvSpPr>
        <p:spPr>
          <a:xfrm>
            <a:off x="4663440" y="3017520"/>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Recorre todas las páginas y devuelve la colección completa.</a:t>
            </a:r>
            <a:endParaRPr lang="en-US" sz="1000" dirty="0"/>
          </a:p>
        </p:txBody>
      </p:sp>
      <p:sp>
        <p:nvSpPr>
          <p:cNvPr id="25" name="Shape 20"/>
          <p:cNvSpPr/>
          <p:nvPr/>
        </p:nvSpPr>
        <p:spPr>
          <a:xfrm>
            <a:off x="4114800" y="3474720"/>
            <a:ext cx="420624" cy="420624"/>
          </a:xfrm>
          <a:prstGeom prst="ellipse">
            <a:avLst/>
          </a:prstGeom>
          <a:solidFill>
            <a:srgbClr val="E8F1FC"/>
          </a:solidFill>
          <a:ln w="12700">
            <a:solidFill>
              <a:srgbClr val="E8F1FC"/>
            </a:solidFill>
            <a:prstDash val="solid"/>
          </a:ln>
        </p:spPr>
      </p:sp>
      <p:pic>
        <p:nvPicPr>
          <p:cNvPr id="26" name="Image 3" descr="preencoded.png"/>
          <p:cNvPicPr>
            <a:picLocks noChangeAspect="1"/>
          </p:cNvPicPr>
          <p:nvPr/>
        </p:nvPicPr>
        <p:blipFill>
          <a:blip r:embed="rId6"/>
          <a:stretch>
            <a:fillRect/>
          </a:stretch>
        </p:blipFill>
        <p:spPr>
          <a:xfrm>
            <a:off x="4224162" y="3584082"/>
            <a:ext cx="201900" cy="201900"/>
          </a:xfrm>
          <a:prstGeom prst="rect">
            <a:avLst/>
          </a:prstGeom>
        </p:spPr>
      </p:pic>
      <p:sp>
        <p:nvSpPr>
          <p:cNvPr id="27" name="Text 21"/>
          <p:cNvSpPr txBox="1"/>
          <p:nvPr/>
        </p:nvSpPr>
        <p:spPr>
          <a:xfrm>
            <a:off x="4663440" y="3438144"/>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Batch</a:t>
            </a:r>
            <a:endParaRPr lang="en-US" sz="1150" dirty="0"/>
          </a:p>
        </p:txBody>
      </p:sp>
      <p:sp>
        <p:nvSpPr>
          <p:cNvPr id="28" name="Text 22"/>
          <p:cNvSpPr txBox="1"/>
          <p:nvPr/>
        </p:nvSpPr>
        <p:spPr>
          <a:xfrm>
            <a:off x="4663440" y="3685032"/>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SLBatchRequest + PostBatchAsync para operaciones agrupadas.</a:t>
            </a:r>
            <a:endParaRPr lang="en-US" sz="1000" dirty="0"/>
          </a:p>
        </p:txBody>
      </p:sp>
      <p:sp>
        <p:nvSpPr>
          <p:cNvPr id="29" name="Shape 23"/>
          <p:cNvSpPr/>
          <p:nvPr/>
        </p:nvSpPr>
        <p:spPr>
          <a:xfrm>
            <a:off x="4114800" y="4142232"/>
            <a:ext cx="420624" cy="420624"/>
          </a:xfrm>
          <a:prstGeom prst="ellipse">
            <a:avLst/>
          </a:prstGeom>
          <a:solidFill>
            <a:srgbClr val="E8F1FC"/>
          </a:solidFill>
          <a:ln w="12700">
            <a:solidFill>
              <a:srgbClr val="E8F1FC"/>
            </a:solidFill>
            <a:prstDash val="solid"/>
          </a:ln>
        </p:spPr>
      </p:sp>
      <p:pic>
        <p:nvPicPr>
          <p:cNvPr id="30" name="Image 4" descr="preencoded.png"/>
          <p:cNvPicPr>
            <a:picLocks noChangeAspect="1"/>
          </p:cNvPicPr>
          <p:nvPr/>
        </p:nvPicPr>
        <p:blipFill>
          <a:blip r:embed="rId7"/>
          <a:stretch>
            <a:fillRect/>
          </a:stretch>
        </p:blipFill>
        <p:spPr>
          <a:xfrm>
            <a:off x="4224162" y="4251594"/>
            <a:ext cx="201900" cy="201900"/>
          </a:xfrm>
          <a:prstGeom prst="rect">
            <a:avLst/>
          </a:prstGeom>
        </p:spPr>
      </p:pic>
      <p:sp>
        <p:nvSpPr>
          <p:cNvPr id="31" name="Text 24"/>
          <p:cNvSpPr txBox="1"/>
          <p:nvPr/>
        </p:nvSpPr>
        <p:spPr>
          <a:xfrm>
            <a:off x="4663440" y="4105656"/>
            <a:ext cx="4023360" cy="237744"/>
          </a:xfrm>
          <a:prstGeom prst="rect">
            <a:avLst/>
          </a:prstGeom>
          <a:noFill/>
          <a:ln/>
        </p:spPr>
        <p:txBody>
          <a:bodyPr wrap="square" lIns="0" tIns="0" rIns="0" bIns="0" rtlCol="0" anchor="t"/>
          <a:lstStyle/>
          <a:p>
            <a:pPr marL="0" indent="0">
              <a:buNone/>
            </a:pPr>
            <a:r>
              <a:rPr lang="en-US" sz="1150" b="1" dirty="0">
                <a:solidFill>
                  <a:srgbClr val="071B3F"/>
                </a:solidFill>
                <a:latin typeface="Segoe UI" pitchFamily="34" charset="0"/>
                <a:ea typeface="Segoe UI" pitchFamily="34" charset="-122"/>
                <a:cs typeface="Segoe UI" pitchFamily="34" charset="-120"/>
              </a:rPr>
              <a:t>Una conexión reutilizable</a:t>
            </a:r>
            <a:endParaRPr lang="en-US" sz="1150" dirty="0"/>
          </a:p>
        </p:txBody>
      </p:sp>
      <p:sp>
        <p:nvSpPr>
          <p:cNvPr id="32" name="Text 25"/>
          <p:cNvSpPr txBox="1"/>
          <p:nvPr/>
        </p:nvSpPr>
        <p:spPr>
          <a:xfrm>
            <a:off x="4663440" y="4352544"/>
            <a:ext cx="4023360" cy="365760"/>
          </a:xfrm>
          <a:prstGeom prst="rect">
            <a:avLst/>
          </a:prstGeom>
          <a:noFill/>
          <a:ln/>
        </p:spPr>
        <p:txBody>
          <a:bodyPr wrap="square" lIns="0" tIns="0" rIns="0" bIns="0" rtlCol="0" anchor="t"/>
          <a:lstStyle/>
          <a:p>
            <a:pPr marL="0" indent="0">
              <a:buNone/>
            </a:pPr>
            <a:r>
              <a:rPr lang="en-US" sz="1000" dirty="0">
                <a:solidFill>
                  <a:srgbClr val="5B6B82"/>
                </a:solidFill>
                <a:latin typeface="Calibri" pitchFamily="34" charset="0"/>
                <a:ea typeface="Calibri" pitchFamily="34" charset="-122"/>
                <a:cs typeface="Calibri" pitchFamily="34" charset="-120"/>
              </a:rPr>
              <a:t>Instancia SLConnection única por compañía (singleton).</a:t>
            </a:r>
            <a:endParaRPr lang="en-US" sz="1000" dirty="0"/>
          </a:p>
        </p:txBody>
      </p:sp>
      <p:sp>
        <p:nvSpPr>
          <p:cNvPr id="33"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39</a:t>
            </a:fld>
            <a:endParaRPr lang="en-US"/>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2648102"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2648102"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06  ·  CLIENTE HTTP CON B1SLAYER</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Del código a la práctica</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188720"/>
            <a:ext cx="5120640" cy="3566160"/>
          </a:xfrm>
          <a:prstGeom prst="roundRect">
            <a:avLst>
              <a:gd name="adj" fmla="val 17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7" name="Shape 5"/>
          <p:cNvSpPr/>
          <p:nvPr/>
        </p:nvSpPr>
        <p:spPr>
          <a:xfrm>
            <a:off x="594360" y="1298448"/>
            <a:ext cx="73152" cy="73152"/>
          </a:xfrm>
          <a:prstGeom prst="ellipse">
            <a:avLst/>
          </a:prstGeom>
          <a:solidFill>
            <a:srgbClr val="FF5F56"/>
          </a:solidFill>
          <a:ln w="12700">
            <a:solidFill>
              <a:srgbClr val="FF5F56"/>
            </a:solidFill>
            <a:prstDash val="solid"/>
          </a:ln>
        </p:spPr>
      </p:sp>
      <p:sp>
        <p:nvSpPr>
          <p:cNvPr id="8" name="Shape 6"/>
          <p:cNvSpPr/>
          <p:nvPr/>
        </p:nvSpPr>
        <p:spPr>
          <a:xfrm>
            <a:off x="722376" y="1298448"/>
            <a:ext cx="73152" cy="73152"/>
          </a:xfrm>
          <a:prstGeom prst="ellipse">
            <a:avLst/>
          </a:prstGeom>
          <a:solidFill>
            <a:srgbClr val="FFBD2E"/>
          </a:solidFill>
          <a:ln w="12700">
            <a:solidFill>
              <a:srgbClr val="FFBD2E"/>
            </a:solidFill>
            <a:prstDash val="solid"/>
          </a:ln>
        </p:spPr>
      </p:sp>
      <p:sp>
        <p:nvSpPr>
          <p:cNvPr id="9" name="Shape 7"/>
          <p:cNvSpPr/>
          <p:nvPr/>
        </p:nvSpPr>
        <p:spPr>
          <a:xfrm>
            <a:off x="850392" y="1298448"/>
            <a:ext cx="73152" cy="73152"/>
          </a:xfrm>
          <a:prstGeom prst="ellipse">
            <a:avLst/>
          </a:prstGeom>
          <a:solidFill>
            <a:srgbClr val="27C93F"/>
          </a:solidFill>
          <a:ln w="12700">
            <a:solidFill>
              <a:srgbClr val="27C93F"/>
            </a:solidFill>
            <a:prstDash val="solid"/>
          </a:ln>
        </p:spPr>
      </p:sp>
      <p:sp>
        <p:nvSpPr>
          <p:cNvPr id="10" name="Text 8"/>
          <p:cNvSpPr txBox="1"/>
          <p:nvPr/>
        </p:nvSpPr>
        <p:spPr>
          <a:xfrm>
            <a:off x="1024128" y="1243584"/>
            <a:ext cx="443484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Program.cs</a:t>
            </a:r>
            <a:endParaRPr lang="en-US" sz="850" dirty="0"/>
          </a:p>
        </p:txBody>
      </p:sp>
      <p:sp>
        <p:nvSpPr>
          <p:cNvPr id="11" name="Text 9"/>
          <p:cNvSpPr txBox="1"/>
          <p:nvPr/>
        </p:nvSpPr>
        <p:spPr>
          <a:xfrm>
            <a:off x="594360" y="1481328"/>
            <a:ext cx="4846320" cy="3200400"/>
          </a:xfrm>
          <a:prstGeom prst="rect">
            <a:avLst/>
          </a:prstGeom>
          <a:noFill/>
          <a:ln/>
        </p:spPr>
        <p:txBody>
          <a:bodyPr wrap="square" lIns="0" tIns="0" rIns="0" bIns="0" rtlCol="0" anchor="t"/>
          <a:lstStyle/>
          <a:p>
            <a:pPr marL="0" indent="0">
              <a:lnSpc>
                <a:spcPct val="100000"/>
              </a:lnSpc>
              <a:buNone/>
            </a:pPr>
            <a:r>
              <a:rPr lang="en-US" sz="820" i="1" dirty="0">
                <a:solidFill>
                  <a:srgbClr val="7D8FA8"/>
                </a:solidFill>
                <a:latin typeface="Consolas" pitchFamily="34" charset="0"/>
                <a:ea typeface="Consolas" pitchFamily="34" charset="-122"/>
                <a:cs typeface="Consolas" pitchFamily="34" charset="-120"/>
              </a:rPr>
              <a:t>// 1. Conexión (singleton por compañía)</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var</a:t>
            </a:r>
            <a:r>
              <a:rPr lang="en-US" sz="820" dirty="0">
                <a:solidFill>
                  <a:srgbClr val="DCE6F2"/>
                </a:solidFill>
                <a:latin typeface="Consolas" pitchFamily="34" charset="0"/>
                <a:ea typeface="Consolas" pitchFamily="34" charset="-122"/>
                <a:cs typeface="Consolas" pitchFamily="34" charset="-120"/>
              </a:rPr>
              <a:t> sl = </a:t>
            </a:r>
            <a:r>
              <a:rPr lang="en-US" sz="820" b="1" dirty="0">
                <a:solidFill>
                  <a:srgbClr val="F5A800"/>
                </a:solidFill>
                <a:latin typeface="Consolas" pitchFamily="34" charset="0"/>
                <a:ea typeface="Consolas" pitchFamily="34" charset="-122"/>
                <a:cs typeface="Consolas" pitchFamily="34" charset="-120"/>
              </a:rPr>
              <a:t>new</a:t>
            </a:r>
            <a:r>
              <a:rPr lang="en-US" sz="820" dirty="0">
                <a:solidFill>
                  <a:srgbClr val="DCE6F2"/>
                </a:solidFill>
                <a:latin typeface="Consolas" pitchFamily="34" charset="0"/>
                <a:ea typeface="Consolas" pitchFamily="34" charset="-122"/>
                <a:cs typeface="Consolas" pitchFamily="34" charset="-120"/>
              </a:rPr>
              <a:t> SLConnection(</a:t>
            </a:r>
            <a:r>
              <a:rPr lang="en-US" sz="820" dirty="0">
                <a:solidFill>
                  <a:srgbClr val="B5E48C"/>
                </a:solidFill>
                <a:latin typeface="Consolas" pitchFamily="34" charset="0"/>
                <a:ea typeface="Consolas" pitchFamily="34" charset="-122"/>
                <a:cs typeface="Consolas" pitchFamily="34" charset="-120"/>
              </a:rPr>
              <a:t>"https://sapserver:50000/b1s/v1"</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r>
              <a:rPr lang="en-US" sz="820" dirty="0">
                <a:solidFill>
                  <a:srgbClr val="B5E48C"/>
                </a:solidFill>
                <a:latin typeface="Consolas" pitchFamily="34" charset="0"/>
                <a:ea typeface="Consolas" pitchFamily="34" charset="-122"/>
                <a:cs typeface="Consolas" pitchFamily="34" charset="-120"/>
              </a:rPr>
              <a:t>"SBO_VENTURA_PRD"</a:t>
            </a:r>
            <a:r>
              <a:rPr lang="en-US" sz="820" dirty="0">
                <a:solidFill>
                  <a:srgbClr val="DCE6F2"/>
                </a:solidFill>
                <a:latin typeface="Consolas" pitchFamily="34" charset="0"/>
                <a:ea typeface="Consolas" pitchFamily="34" charset="-122"/>
                <a:cs typeface="Consolas" pitchFamily="34" charset="-120"/>
              </a:rPr>
              <a:t>, </a:t>
            </a:r>
            <a:r>
              <a:rPr lang="en-US" sz="820" dirty="0">
                <a:solidFill>
                  <a:srgbClr val="B5E48C"/>
                </a:solidFill>
                <a:latin typeface="Consolas" pitchFamily="34" charset="0"/>
                <a:ea typeface="Consolas" pitchFamily="34" charset="-122"/>
                <a:cs typeface="Consolas" pitchFamily="34" charset="-120"/>
              </a:rPr>
              <a:t>"manager"</a:t>
            </a:r>
            <a:r>
              <a:rPr lang="en-US" sz="820" dirty="0">
                <a:solidFill>
                  <a:srgbClr val="DCE6F2"/>
                </a:solidFill>
                <a:latin typeface="Consolas" pitchFamily="34" charset="0"/>
                <a:ea typeface="Consolas" pitchFamily="34" charset="-122"/>
                <a:cs typeface="Consolas" pitchFamily="34" charset="-120"/>
              </a:rPr>
              <a:t>, </a:t>
            </a:r>
            <a:r>
              <a:rPr lang="en-US" sz="820" dirty="0">
                <a:solidFill>
                  <a:srgbClr val="B5E48C"/>
                </a:solidFill>
                <a:latin typeface="Consolas" pitchFamily="34" charset="0"/>
                <a:ea typeface="Consolas" pitchFamily="34" charset="-122"/>
                <a:cs typeface="Consolas" pitchFamily="34" charset="-120"/>
              </a:rPr>
              <a:t>"****"</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i="1" dirty="0">
                <a:solidFill>
                  <a:srgbClr val="7D8FA8"/>
                </a:solidFill>
                <a:latin typeface="Consolas" pitchFamily="34" charset="0"/>
                <a:ea typeface="Consolas" pitchFamily="34" charset="-122"/>
                <a:cs typeface="Consolas" pitchFamily="34" charset="-120"/>
              </a:rPr>
              <a:t>// 2. Consulta con OData fluido</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var</a:t>
            </a:r>
            <a:r>
              <a:rPr lang="en-US" sz="820" dirty="0">
                <a:solidFill>
                  <a:srgbClr val="DCE6F2"/>
                </a:solidFill>
                <a:latin typeface="Consolas" pitchFamily="34" charset="0"/>
                <a:ea typeface="Consolas" pitchFamily="34" charset="-122"/>
                <a:cs typeface="Consolas" pitchFamily="34" charset="-120"/>
              </a:rPr>
              <a:t> bps = </a:t>
            </a: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sl.Request(</a:t>
            </a:r>
            <a:r>
              <a:rPr lang="en-US" sz="820" dirty="0">
                <a:solidFill>
                  <a:srgbClr val="B5E48C"/>
                </a:solidFill>
                <a:latin typeface="Consolas" pitchFamily="34" charset="0"/>
                <a:ea typeface="Consolas" pitchFamily="34" charset="-122"/>
                <a:cs typeface="Consolas" pitchFamily="34" charset="-120"/>
              </a:rPr>
              <a:t>"BusinessPartners"</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.Filter(</a:t>
            </a:r>
            <a:r>
              <a:rPr lang="en-US" sz="820" dirty="0">
                <a:solidFill>
                  <a:srgbClr val="B5E48C"/>
                </a:solidFill>
                <a:latin typeface="Consolas" pitchFamily="34" charset="0"/>
                <a:ea typeface="Consolas" pitchFamily="34" charset="-122"/>
                <a:cs typeface="Consolas" pitchFamily="34" charset="-120"/>
              </a:rPr>
              <a:t>"startswith(CardCode, 'C')"</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.Select(</a:t>
            </a:r>
            <a:r>
              <a:rPr lang="en-US" sz="820" dirty="0">
                <a:solidFill>
                  <a:srgbClr val="B5E48C"/>
                </a:solidFill>
                <a:latin typeface="Consolas" pitchFamily="34" charset="0"/>
                <a:ea typeface="Consolas" pitchFamily="34" charset="-122"/>
                <a:cs typeface="Consolas" pitchFamily="34" charset="-120"/>
              </a:rPr>
              <a:t>"CardCode, CardName"</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.OrderBy(</a:t>
            </a:r>
            <a:r>
              <a:rPr lang="en-US" sz="820" dirty="0">
                <a:solidFill>
                  <a:srgbClr val="B5E48C"/>
                </a:solidFill>
                <a:latin typeface="Consolas" pitchFamily="34" charset="0"/>
                <a:ea typeface="Consolas" pitchFamily="34" charset="-122"/>
                <a:cs typeface="Consolas" pitchFamily="34" charset="-120"/>
              </a:rPr>
              <a:t>"CardName"</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.WithPageSize(50)</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.GetAsync&lt;List&lt;BusinessPartner&gt;&gt;();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i="1" dirty="0">
                <a:solidFill>
                  <a:srgbClr val="7D8FA8"/>
                </a:solidFill>
                <a:latin typeface="Consolas" pitchFamily="34" charset="0"/>
                <a:ea typeface="Consolas" pitchFamily="34" charset="-122"/>
                <a:cs typeface="Consolas" pitchFamily="34" charset="-120"/>
              </a:rPr>
              <a:t>// 3. Crear y actualizar</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var</a:t>
            </a:r>
            <a:r>
              <a:rPr lang="en-US" sz="820" dirty="0">
                <a:solidFill>
                  <a:srgbClr val="DCE6F2"/>
                </a:solidFill>
                <a:latin typeface="Consolas" pitchFamily="34" charset="0"/>
                <a:ea typeface="Consolas" pitchFamily="34" charset="-122"/>
                <a:cs typeface="Consolas" pitchFamily="34" charset="-120"/>
              </a:rPr>
              <a:t> order = </a:t>
            </a: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sl.Request(</a:t>
            </a:r>
            <a:r>
              <a:rPr lang="en-US" sz="820" dirty="0">
                <a:solidFill>
                  <a:srgbClr val="B5E48C"/>
                </a:solidFill>
                <a:latin typeface="Consolas" pitchFamily="34" charset="0"/>
                <a:ea typeface="Consolas" pitchFamily="34" charset="-122"/>
                <a:cs typeface="Consolas" pitchFamily="34" charset="-120"/>
              </a:rPr>
              <a:t>"Orders"</a:t>
            </a:r>
            <a:r>
              <a:rPr lang="en-US" sz="820" dirty="0">
                <a:solidFill>
                  <a:srgbClr val="DCE6F2"/>
                </a:solidFill>
                <a:latin typeface="Consolas" pitchFamily="34" charset="0"/>
                <a:ea typeface="Consolas" pitchFamily="34" charset="-122"/>
                <a:cs typeface="Consolas" pitchFamily="34" charset="-120"/>
              </a:rPr>
              <a:t>).PostAsync&lt;Order&gt;(nuevoPedido);</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sl.Request(</a:t>
            </a:r>
            <a:r>
              <a:rPr lang="en-US" sz="820" dirty="0">
                <a:solidFill>
                  <a:srgbClr val="B5E48C"/>
                </a:solidFill>
                <a:latin typeface="Consolas" pitchFamily="34" charset="0"/>
                <a:ea typeface="Consolas" pitchFamily="34" charset="-122"/>
                <a:cs typeface="Consolas" pitchFamily="34" charset="-120"/>
              </a:rPr>
              <a:t>"BusinessPartners"</a:t>
            </a:r>
            <a:r>
              <a:rPr lang="en-US" sz="820" dirty="0">
                <a:solidFill>
                  <a:srgbClr val="DCE6F2"/>
                </a:solidFill>
                <a:latin typeface="Consolas" pitchFamily="34" charset="0"/>
                <a:ea typeface="Consolas" pitchFamily="34" charset="-122"/>
                <a:cs typeface="Consolas" pitchFamily="34" charset="-120"/>
              </a:rPr>
              <a:t>, </a:t>
            </a:r>
            <a:r>
              <a:rPr lang="en-US" sz="820" dirty="0">
                <a:solidFill>
                  <a:srgbClr val="B5E48C"/>
                </a:solidFill>
                <a:latin typeface="Consolas" pitchFamily="34" charset="0"/>
                <a:ea typeface="Consolas" pitchFamily="34" charset="-122"/>
                <a:cs typeface="Consolas" pitchFamily="34" charset="-120"/>
              </a:rPr>
              <a:t>"C001"</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.PatchAsync(</a:t>
            </a:r>
            <a:r>
              <a:rPr lang="en-US" sz="820" b="1" dirty="0">
                <a:solidFill>
                  <a:srgbClr val="F5A800"/>
                </a:solidFill>
                <a:latin typeface="Consolas" pitchFamily="34" charset="0"/>
                <a:ea typeface="Consolas" pitchFamily="34" charset="-122"/>
                <a:cs typeface="Consolas" pitchFamily="34" charset="-120"/>
              </a:rPr>
              <a:t>new</a:t>
            </a:r>
            <a:r>
              <a:rPr lang="en-US" sz="820" dirty="0">
                <a:solidFill>
                  <a:srgbClr val="DCE6F2"/>
                </a:solidFill>
                <a:latin typeface="Consolas" pitchFamily="34" charset="0"/>
                <a:ea typeface="Consolas" pitchFamily="34" charset="-122"/>
                <a:cs typeface="Consolas" pitchFamily="34" charset="-120"/>
              </a:rPr>
              <a:t> { CardName = </a:t>
            </a:r>
            <a:r>
              <a:rPr lang="en-US" sz="820" dirty="0">
                <a:solidFill>
                  <a:srgbClr val="B5E48C"/>
                </a:solidFill>
                <a:latin typeface="Consolas" pitchFamily="34" charset="0"/>
                <a:ea typeface="Consolas" pitchFamily="34" charset="-122"/>
                <a:cs typeface="Consolas" pitchFamily="34" charset="-120"/>
              </a:rPr>
              <a:t>"Andina SAC"</a:t>
            </a: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i="1" dirty="0">
                <a:solidFill>
                  <a:srgbClr val="7D8FA8"/>
                </a:solidFill>
                <a:latin typeface="Consolas" pitchFamily="34" charset="0"/>
                <a:ea typeface="Consolas" pitchFamily="34" charset="-122"/>
                <a:cs typeface="Consolas" pitchFamily="34" charset="-120"/>
              </a:rPr>
              <a:t>// 4. Batch</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var</a:t>
            </a:r>
            <a:r>
              <a:rPr lang="en-US" sz="820" dirty="0">
                <a:solidFill>
                  <a:srgbClr val="DCE6F2"/>
                </a:solidFill>
                <a:latin typeface="Consolas" pitchFamily="34" charset="0"/>
                <a:ea typeface="Consolas" pitchFamily="34" charset="-122"/>
                <a:cs typeface="Consolas" pitchFamily="34" charset="-120"/>
              </a:rPr>
              <a:t> r1 = </a:t>
            </a:r>
            <a:r>
              <a:rPr lang="en-US" sz="820" b="1" dirty="0">
                <a:solidFill>
                  <a:srgbClr val="F5A800"/>
                </a:solidFill>
                <a:latin typeface="Consolas" pitchFamily="34" charset="0"/>
                <a:ea typeface="Consolas" pitchFamily="34" charset="-122"/>
                <a:cs typeface="Consolas" pitchFamily="34" charset="-120"/>
              </a:rPr>
              <a:t>new</a:t>
            </a:r>
            <a:r>
              <a:rPr lang="en-US" sz="820" dirty="0">
                <a:solidFill>
                  <a:srgbClr val="DCE6F2"/>
                </a:solidFill>
                <a:latin typeface="Consolas" pitchFamily="34" charset="0"/>
                <a:ea typeface="Consolas" pitchFamily="34" charset="-122"/>
                <a:cs typeface="Consolas" pitchFamily="34" charset="-120"/>
              </a:rPr>
              <a:t> SLBatchRequest(HttpMethod.Post, </a:t>
            </a:r>
            <a:r>
              <a:rPr lang="en-US" sz="820" dirty="0">
                <a:solidFill>
                  <a:srgbClr val="B5E48C"/>
                </a:solidFill>
                <a:latin typeface="Consolas" pitchFamily="34" charset="0"/>
                <a:ea typeface="Consolas" pitchFamily="34" charset="-122"/>
                <a:cs typeface="Consolas" pitchFamily="34" charset="-120"/>
              </a:rPr>
              <a:t>"BusinessPartners"</a:t>
            </a:r>
            <a:r>
              <a:rPr lang="en-US" sz="820" dirty="0">
                <a:solidFill>
                  <a:srgbClr val="DCE6F2"/>
                </a:solidFill>
                <a:latin typeface="Consolas" pitchFamily="34" charset="0"/>
                <a:ea typeface="Consolas" pitchFamily="34" charset="-122"/>
                <a:cs typeface="Consolas" pitchFamily="34" charset="-120"/>
              </a:rPr>
              <a:t>,</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r>
              <a:rPr lang="en-US" sz="820" b="1" dirty="0">
                <a:solidFill>
                  <a:srgbClr val="F5A800"/>
                </a:solidFill>
                <a:latin typeface="Consolas" pitchFamily="34" charset="0"/>
                <a:ea typeface="Consolas" pitchFamily="34" charset="-122"/>
                <a:cs typeface="Consolas" pitchFamily="34" charset="-120"/>
              </a:rPr>
              <a:t>new</a:t>
            </a:r>
            <a:r>
              <a:rPr lang="en-US" sz="820" dirty="0">
                <a:solidFill>
                  <a:srgbClr val="DCE6F2"/>
                </a:solidFill>
                <a:latin typeface="Consolas" pitchFamily="34" charset="0"/>
                <a:ea typeface="Consolas" pitchFamily="34" charset="-122"/>
                <a:cs typeface="Consolas" pitchFamily="34" charset="-120"/>
              </a:rPr>
              <a:t> { CardCode = </a:t>
            </a:r>
            <a:r>
              <a:rPr lang="en-US" sz="820" dirty="0">
                <a:solidFill>
                  <a:srgbClr val="B5E48C"/>
                </a:solidFill>
                <a:latin typeface="Consolas" pitchFamily="34" charset="0"/>
                <a:ea typeface="Consolas" pitchFamily="34" charset="-122"/>
                <a:cs typeface="Consolas" pitchFamily="34" charset="-120"/>
              </a:rPr>
              <a:t>"C0099"</a:t>
            </a:r>
            <a:r>
              <a:rPr lang="en-US" sz="820" dirty="0">
                <a:solidFill>
                  <a:srgbClr val="DCE6F2"/>
                </a:solidFill>
                <a:latin typeface="Consolas" pitchFamily="34" charset="0"/>
                <a:ea typeface="Consolas" pitchFamily="34" charset="-122"/>
                <a:cs typeface="Consolas" pitchFamily="34" charset="-120"/>
              </a:rPr>
              <a:t>, CardName = </a:t>
            </a:r>
            <a:r>
              <a:rPr lang="en-US" sz="820" dirty="0">
                <a:solidFill>
                  <a:srgbClr val="B5E48C"/>
                </a:solidFill>
                <a:latin typeface="Consolas" pitchFamily="34" charset="0"/>
                <a:ea typeface="Consolas" pitchFamily="34" charset="-122"/>
                <a:cs typeface="Consolas" pitchFamily="34" charset="-120"/>
              </a:rPr>
              <a:t>"Nuevo SAC"</a:t>
            </a: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HttpResponseMessage[] res = </a:t>
            </a: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sl.PostBatchAsync(r1);</a:t>
            </a:r>
            <a:endParaRPr lang="en-US" sz="820" dirty="0"/>
          </a:p>
          <a:p>
            <a:pPr marL="0" indent="0">
              <a:lnSpc>
                <a:spcPct val="100000"/>
              </a:lnSpc>
              <a:buNone/>
            </a:pPr>
            <a:r>
              <a:rPr lang="en-US" sz="820" dirty="0">
                <a:solidFill>
                  <a:srgbClr val="DCE6F2"/>
                </a:solidFill>
                <a:latin typeface="Consolas" pitchFamily="34" charset="0"/>
                <a:ea typeface="Consolas" pitchFamily="34" charset="-122"/>
                <a:cs typeface="Consolas" pitchFamily="34" charset="-120"/>
              </a:rPr>
              <a:t> </a:t>
            </a:r>
            <a:endParaRPr lang="en-US" sz="820" dirty="0"/>
          </a:p>
          <a:p>
            <a:pPr marL="0" indent="0">
              <a:lnSpc>
                <a:spcPct val="100000"/>
              </a:lnSpc>
              <a:buNone/>
            </a:pPr>
            <a:r>
              <a:rPr lang="en-US" sz="820" b="1" dirty="0">
                <a:solidFill>
                  <a:srgbClr val="F5A800"/>
                </a:solidFill>
                <a:latin typeface="Consolas" pitchFamily="34" charset="0"/>
                <a:ea typeface="Consolas" pitchFamily="34" charset="-122"/>
                <a:cs typeface="Consolas" pitchFamily="34" charset="-120"/>
              </a:rPr>
              <a:t>await</a:t>
            </a:r>
            <a:r>
              <a:rPr lang="en-US" sz="820" dirty="0">
                <a:solidFill>
                  <a:srgbClr val="DCE6F2"/>
                </a:solidFill>
                <a:latin typeface="Consolas" pitchFamily="34" charset="0"/>
                <a:ea typeface="Consolas" pitchFamily="34" charset="-122"/>
                <a:cs typeface="Consolas" pitchFamily="34" charset="-120"/>
              </a:rPr>
              <a:t> sl.LogoutAsync();</a:t>
            </a:r>
            <a:endParaRPr lang="en-US" sz="820" dirty="0"/>
          </a:p>
        </p:txBody>
      </p:sp>
      <p:sp>
        <p:nvSpPr>
          <p:cNvPr id="12" name="Text 10"/>
          <p:cNvSpPr txBox="1"/>
          <p:nvPr/>
        </p:nvSpPr>
        <p:spPr>
          <a:xfrm>
            <a:off x="5806440" y="1188720"/>
            <a:ext cx="2926080" cy="274320"/>
          </a:xfrm>
          <a:prstGeom prst="rect">
            <a:avLst/>
          </a:prstGeom>
          <a:noFill/>
          <a:ln/>
        </p:spPr>
        <p:txBody>
          <a:bodyPr wrap="square" lIns="0" tIns="0" rIns="0" bIns="0" rtlCol="0" anchor="t"/>
          <a:lstStyle/>
          <a:p>
            <a:pPr marL="0" indent="0">
              <a:buNone/>
            </a:pPr>
            <a:r>
              <a:rPr lang="en-US" sz="1400" b="1" dirty="0">
                <a:solidFill>
                  <a:srgbClr val="071B3F"/>
                </a:solidFill>
                <a:latin typeface="Segoe UI" pitchFamily="34" charset="0"/>
                <a:ea typeface="Segoe UI" pitchFamily="34" charset="-122"/>
                <a:cs typeface="Segoe UI" pitchFamily="34" charset="-120"/>
              </a:rPr>
              <a:t>Práctica guiada</a:t>
            </a:r>
            <a:endParaRPr lang="en-US" sz="1400" dirty="0"/>
          </a:p>
        </p:txBody>
      </p:sp>
      <p:sp>
        <p:nvSpPr>
          <p:cNvPr id="13" name="Shape 11"/>
          <p:cNvSpPr/>
          <p:nvPr/>
        </p:nvSpPr>
        <p:spPr>
          <a:xfrm>
            <a:off x="5806440" y="1591056"/>
            <a:ext cx="292608" cy="292608"/>
          </a:xfrm>
          <a:prstGeom prst="ellipse">
            <a:avLst/>
          </a:prstGeom>
          <a:solidFill>
            <a:srgbClr val="0B4DA2"/>
          </a:solidFill>
          <a:ln w="12700">
            <a:solidFill>
              <a:srgbClr val="0B4DA2"/>
            </a:solidFill>
            <a:prstDash val="solid"/>
          </a:ln>
        </p:spPr>
      </p:sp>
      <p:sp>
        <p:nvSpPr>
          <p:cNvPr id="14" name="Text 12"/>
          <p:cNvSpPr txBox="1"/>
          <p:nvPr/>
        </p:nvSpPr>
        <p:spPr>
          <a:xfrm>
            <a:off x="5806440" y="159105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1</a:t>
            </a:r>
            <a:endParaRPr lang="en-US" sz="1000" dirty="0"/>
          </a:p>
        </p:txBody>
      </p:sp>
      <p:sp>
        <p:nvSpPr>
          <p:cNvPr id="15" name="Text 13"/>
          <p:cNvSpPr txBox="1"/>
          <p:nvPr/>
        </p:nvSpPr>
        <p:spPr>
          <a:xfrm>
            <a:off x="6217920" y="1572768"/>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Crear proyecto consola .NET</a:t>
            </a:r>
            <a:endParaRPr lang="en-US" sz="1100" dirty="0"/>
          </a:p>
        </p:txBody>
      </p:sp>
      <p:sp>
        <p:nvSpPr>
          <p:cNvPr id="16" name="Shape 14"/>
          <p:cNvSpPr/>
          <p:nvPr/>
        </p:nvSpPr>
        <p:spPr>
          <a:xfrm>
            <a:off x="5806440" y="1984248"/>
            <a:ext cx="292608" cy="292608"/>
          </a:xfrm>
          <a:prstGeom prst="ellipse">
            <a:avLst/>
          </a:prstGeom>
          <a:solidFill>
            <a:srgbClr val="0B4DA2"/>
          </a:solidFill>
          <a:ln w="12700">
            <a:solidFill>
              <a:srgbClr val="0B4DA2"/>
            </a:solidFill>
            <a:prstDash val="solid"/>
          </a:ln>
        </p:spPr>
      </p:sp>
      <p:sp>
        <p:nvSpPr>
          <p:cNvPr id="17" name="Text 15"/>
          <p:cNvSpPr txBox="1"/>
          <p:nvPr/>
        </p:nvSpPr>
        <p:spPr>
          <a:xfrm>
            <a:off x="5806440" y="1984248"/>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2</a:t>
            </a:r>
            <a:endParaRPr lang="en-US" sz="1000" dirty="0"/>
          </a:p>
        </p:txBody>
      </p:sp>
      <p:sp>
        <p:nvSpPr>
          <p:cNvPr id="18" name="Text 16"/>
          <p:cNvSpPr txBox="1"/>
          <p:nvPr/>
        </p:nvSpPr>
        <p:spPr>
          <a:xfrm>
            <a:off x="6217920" y="1965960"/>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Instalar B1SLayer (NuGet)</a:t>
            </a:r>
            <a:endParaRPr lang="en-US" sz="1100" dirty="0"/>
          </a:p>
        </p:txBody>
      </p:sp>
      <p:sp>
        <p:nvSpPr>
          <p:cNvPr id="19" name="Shape 17"/>
          <p:cNvSpPr/>
          <p:nvPr/>
        </p:nvSpPr>
        <p:spPr>
          <a:xfrm>
            <a:off x="5806440" y="2377440"/>
            <a:ext cx="292608" cy="292608"/>
          </a:xfrm>
          <a:prstGeom prst="ellipse">
            <a:avLst/>
          </a:prstGeom>
          <a:solidFill>
            <a:srgbClr val="0B4DA2"/>
          </a:solidFill>
          <a:ln w="12700">
            <a:solidFill>
              <a:srgbClr val="0B4DA2"/>
            </a:solidFill>
            <a:prstDash val="solid"/>
          </a:ln>
        </p:spPr>
      </p:sp>
      <p:sp>
        <p:nvSpPr>
          <p:cNvPr id="20" name="Text 18"/>
          <p:cNvSpPr txBox="1"/>
          <p:nvPr/>
        </p:nvSpPr>
        <p:spPr>
          <a:xfrm>
            <a:off x="5806440" y="2377440"/>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3</a:t>
            </a:r>
            <a:endParaRPr lang="en-US" sz="1000" dirty="0"/>
          </a:p>
        </p:txBody>
      </p:sp>
      <p:sp>
        <p:nvSpPr>
          <p:cNvPr id="21" name="Text 19"/>
          <p:cNvSpPr txBox="1"/>
          <p:nvPr/>
        </p:nvSpPr>
        <p:spPr>
          <a:xfrm>
            <a:off x="6217920" y="2359152"/>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Configurar SLConnection desde appsettings</a:t>
            </a:r>
            <a:endParaRPr lang="en-US" sz="1100" dirty="0"/>
          </a:p>
        </p:txBody>
      </p:sp>
      <p:sp>
        <p:nvSpPr>
          <p:cNvPr id="22" name="Shape 20"/>
          <p:cNvSpPr/>
          <p:nvPr/>
        </p:nvSpPr>
        <p:spPr>
          <a:xfrm>
            <a:off x="5806440" y="2770632"/>
            <a:ext cx="292608" cy="292608"/>
          </a:xfrm>
          <a:prstGeom prst="ellipse">
            <a:avLst/>
          </a:prstGeom>
          <a:solidFill>
            <a:srgbClr val="0B4DA2"/>
          </a:solidFill>
          <a:ln w="12700">
            <a:solidFill>
              <a:srgbClr val="0B4DA2"/>
            </a:solidFill>
            <a:prstDash val="solid"/>
          </a:ln>
        </p:spPr>
      </p:sp>
      <p:sp>
        <p:nvSpPr>
          <p:cNvPr id="23" name="Text 21"/>
          <p:cNvSpPr txBox="1"/>
          <p:nvPr/>
        </p:nvSpPr>
        <p:spPr>
          <a:xfrm>
            <a:off x="5806440" y="277063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4</a:t>
            </a:r>
            <a:endParaRPr lang="en-US" sz="1000" dirty="0"/>
          </a:p>
        </p:txBody>
      </p:sp>
      <p:sp>
        <p:nvSpPr>
          <p:cNvPr id="24" name="Text 22"/>
          <p:cNvSpPr txBox="1"/>
          <p:nvPr/>
        </p:nvSpPr>
        <p:spPr>
          <a:xfrm>
            <a:off x="6217920" y="2752344"/>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Listar socios con Filter / Select</a:t>
            </a:r>
            <a:endParaRPr lang="en-US" sz="1100" dirty="0"/>
          </a:p>
        </p:txBody>
      </p:sp>
      <p:sp>
        <p:nvSpPr>
          <p:cNvPr id="25" name="Shape 23"/>
          <p:cNvSpPr/>
          <p:nvPr/>
        </p:nvSpPr>
        <p:spPr>
          <a:xfrm>
            <a:off x="5806440" y="3163824"/>
            <a:ext cx="292608" cy="292608"/>
          </a:xfrm>
          <a:prstGeom prst="ellipse">
            <a:avLst/>
          </a:prstGeom>
          <a:solidFill>
            <a:srgbClr val="0B4DA2"/>
          </a:solidFill>
          <a:ln w="12700">
            <a:solidFill>
              <a:srgbClr val="0B4DA2"/>
            </a:solidFill>
            <a:prstDash val="solid"/>
          </a:ln>
        </p:spPr>
      </p:sp>
      <p:sp>
        <p:nvSpPr>
          <p:cNvPr id="26" name="Text 24"/>
          <p:cNvSpPr txBox="1"/>
          <p:nvPr/>
        </p:nvSpPr>
        <p:spPr>
          <a:xfrm>
            <a:off x="5806440" y="3163824"/>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5</a:t>
            </a:r>
            <a:endParaRPr lang="en-US" sz="1000" dirty="0"/>
          </a:p>
        </p:txBody>
      </p:sp>
      <p:sp>
        <p:nvSpPr>
          <p:cNvPr id="27" name="Text 25"/>
          <p:cNvSpPr txBox="1"/>
          <p:nvPr/>
        </p:nvSpPr>
        <p:spPr>
          <a:xfrm>
            <a:off x="6217920" y="3145536"/>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Crear un pedido con PostAsync</a:t>
            </a:r>
            <a:endParaRPr lang="en-US" sz="1100" dirty="0"/>
          </a:p>
        </p:txBody>
      </p:sp>
      <p:sp>
        <p:nvSpPr>
          <p:cNvPr id="28" name="Shape 26"/>
          <p:cNvSpPr/>
          <p:nvPr/>
        </p:nvSpPr>
        <p:spPr>
          <a:xfrm>
            <a:off x="5806440" y="3557016"/>
            <a:ext cx="292608" cy="292608"/>
          </a:xfrm>
          <a:prstGeom prst="ellipse">
            <a:avLst/>
          </a:prstGeom>
          <a:solidFill>
            <a:srgbClr val="0B4DA2"/>
          </a:solidFill>
          <a:ln w="12700">
            <a:solidFill>
              <a:srgbClr val="0B4DA2"/>
            </a:solidFill>
            <a:prstDash val="solid"/>
          </a:ln>
        </p:spPr>
      </p:sp>
      <p:sp>
        <p:nvSpPr>
          <p:cNvPr id="29" name="Text 27"/>
          <p:cNvSpPr txBox="1"/>
          <p:nvPr/>
        </p:nvSpPr>
        <p:spPr>
          <a:xfrm>
            <a:off x="5806440" y="35570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6</a:t>
            </a:r>
            <a:endParaRPr lang="en-US" sz="1000" dirty="0"/>
          </a:p>
        </p:txBody>
      </p:sp>
      <p:sp>
        <p:nvSpPr>
          <p:cNvPr id="30" name="Text 28"/>
          <p:cNvSpPr txBox="1"/>
          <p:nvPr/>
        </p:nvSpPr>
        <p:spPr>
          <a:xfrm>
            <a:off x="6217920" y="3538728"/>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Actualizar con PatchAsync</a:t>
            </a:r>
            <a:endParaRPr lang="en-US" sz="1100" dirty="0"/>
          </a:p>
        </p:txBody>
      </p:sp>
      <p:sp>
        <p:nvSpPr>
          <p:cNvPr id="31" name="Shape 29"/>
          <p:cNvSpPr/>
          <p:nvPr/>
        </p:nvSpPr>
        <p:spPr>
          <a:xfrm>
            <a:off x="5806440" y="3950208"/>
            <a:ext cx="292608" cy="292608"/>
          </a:xfrm>
          <a:prstGeom prst="ellipse">
            <a:avLst/>
          </a:prstGeom>
          <a:solidFill>
            <a:srgbClr val="0B4DA2"/>
          </a:solidFill>
          <a:ln w="12700">
            <a:solidFill>
              <a:srgbClr val="0B4DA2"/>
            </a:solidFill>
            <a:prstDash val="solid"/>
          </a:ln>
        </p:spPr>
      </p:sp>
      <p:sp>
        <p:nvSpPr>
          <p:cNvPr id="32" name="Text 30"/>
          <p:cNvSpPr txBox="1"/>
          <p:nvPr/>
        </p:nvSpPr>
        <p:spPr>
          <a:xfrm>
            <a:off x="5806440" y="3950208"/>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7</a:t>
            </a:r>
            <a:endParaRPr lang="en-US" sz="1000" dirty="0"/>
          </a:p>
        </p:txBody>
      </p:sp>
      <p:sp>
        <p:nvSpPr>
          <p:cNvPr id="33" name="Text 31"/>
          <p:cNvSpPr txBox="1"/>
          <p:nvPr/>
        </p:nvSpPr>
        <p:spPr>
          <a:xfrm>
            <a:off x="6217920" y="3931920"/>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Batch: socio + pedido</a:t>
            </a:r>
            <a:endParaRPr lang="en-US" sz="1100" dirty="0"/>
          </a:p>
        </p:txBody>
      </p:sp>
      <p:sp>
        <p:nvSpPr>
          <p:cNvPr id="34" name="Shape 32"/>
          <p:cNvSpPr/>
          <p:nvPr/>
        </p:nvSpPr>
        <p:spPr>
          <a:xfrm>
            <a:off x="5806440" y="4343400"/>
            <a:ext cx="292608" cy="292608"/>
          </a:xfrm>
          <a:prstGeom prst="ellipse">
            <a:avLst/>
          </a:prstGeom>
          <a:solidFill>
            <a:srgbClr val="0B4DA2"/>
          </a:solidFill>
          <a:ln w="12700">
            <a:solidFill>
              <a:srgbClr val="0B4DA2"/>
            </a:solidFill>
            <a:prstDash val="solid"/>
          </a:ln>
        </p:spPr>
      </p:sp>
      <p:sp>
        <p:nvSpPr>
          <p:cNvPr id="35" name="Text 33"/>
          <p:cNvSpPr txBox="1"/>
          <p:nvPr/>
        </p:nvSpPr>
        <p:spPr>
          <a:xfrm>
            <a:off x="5806440" y="4343400"/>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Segoe UI" pitchFamily="34" charset="0"/>
                <a:ea typeface="Segoe UI" pitchFamily="34" charset="-122"/>
                <a:cs typeface="Segoe UI" pitchFamily="34" charset="-120"/>
              </a:rPr>
              <a:t>8</a:t>
            </a:r>
            <a:endParaRPr lang="en-US" sz="1000" dirty="0"/>
          </a:p>
        </p:txBody>
      </p:sp>
      <p:sp>
        <p:nvSpPr>
          <p:cNvPr id="36" name="Text 34"/>
          <p:cNvSpPr txBox="1"/>
          <p:nvPr/>
        </p:nvSpPr>
        <p:spPr>
          <a:xfrm>
            <a:off x="6217920" y="4325112"/>
            <a:ext cx="2514600" cy="329184"/>
          </a:xfrm>
          <a:prstGeom prst="rect">
            <a:avLst/>
          </a:prstGeom>
          <a:noFill/>
          <a:ln/>
        </p:spPr>
        <p:txBody>
          <a:bodyPr wrap="square" lIns="0" tIns="0" rIns="0" bIns="0" rtlCol="0" anchor="ctr"/>
          <a:lstStyle/>
          <a:p>
            <a:pPr marL="0" indent="0">
              <a:buNone/>
            </a:pPr>
            <a:r>
              <a:rPr lang="en-US" sz="1100" dirty="0">
                <a:solidFill>
                  <a:srgbClr val="1B2433"/>
                </a:solidFill>
                <a:latin typeface="Calibri" pitchFamily="34" charset="0"/>
                <a:ea typeface="Calibri" pitchFamily="34" charset="-122"/>
                <a:cs typeface="Calibri" pitchFamily="34" charset="-120"/>
              </a:rPr>
              <a:t>Manejo de errores y Logout</a:t>
            </a:r>
            <a:endParaRPr lang="en-US" sz="1100" dirty="0"/>
          </a:p>
        </p:txBody>
      </p:sp>
      <p:sp>
        <p:nvSpPr>
          <p:cNvPr id="37"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40</a:t>
            </a:fld>
            <a:endParaRPr lang="en-US"/>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097280"/>
            <a:ext cx="2743200" cy="1280160"/>
          </a:xfrm>
          <a:prstGeom prst="rect">
            <a:avLst/>
          </a:prstGeom>
          <a:noFill/>
          <a:ln/>
        </p:spPr>
        <p:txBody>
          <a:bodyPr wrap="square" lIns="0" tIns="0" rIns="0" bIns="0" rtlCol="0" anchor="t"/>
          <a:lstStyle/>
          <a:p>
            <a:pPr marL="0" indent="0">
              <a:buNone/>
            </a:pPr>
            <a:r>
              <a:rPr lang="en-US" sz="8800" b="1" dirty="0">
                <a:solidFill>
                  <a:srgbClr val="F5A800"/>
                </a:solidFill>
                <a:latin typeface="Segoe UI" pitchFamily="34" charset="0"/>
                <a:ea typeface="Segoe UI" pitchFamily="34" charset="-122"/>
                <a:cs typeface="Segoe UI" pitchFamily="34" charset="-120"/>
              </a:rPr>
              <a:t>07</a:t>
            </a:r>
            <a:endParaRPr lang="en-US" sz="8800" dirty="0"/>
          </a:p>
        </p:txBody>
      </p:sp>
      <p:sp>
        <p:nvSpPr>
          <p:cNvPr id="3" name="Text 1"/>
          <p:cNvSpPr txBox="1"/>
          <p:nvPr/>
        </p:nvSpPr>
        <p:spPr>
          <a:xfrm>
            <a:off x="685800" y="914400"/>
            <a:ext cx="2743200" cy="274320"/>
          </a:xfrm>
          <a:prstGeom prst="rect">
            <a:avLst/>
          </a:prstGeom>
          <a:noFill/>
          <a:ln/>
        </p:spPr>
        <p:txBody>
          <a:bodyPr wrap="square" lIns="0" tIns="0" rIns="0" bIns="0" rtlCol="0" anchor="t"/>
          <a:lstStyle/>
          <a:p>
            <a:pPr marL="0" indent="0">
              <a:buNone/>
            </a:pPr>
            <a:r>
              <a:rPr lang="en-US" sz="1100" b="1" kern="0" spc="400" dirty="0">
                <a:solidFill>
                  <a:srgbClr val="29B6F6"/>
                </a:solidFill>
                <a:latin typeface="Segoe UI" pitchFamily="34" charset="0"/>
                <a:ea typeface="Segoe UI" pitchFamily="34" charset="-122"/>
                <a:cs typeface="Segoe UI" pitchFamily="34" charset="-120"/>
              </a:rPr>
              <a:t>CAPÍTULO</a:t>
            </a:r>
            <a:endParaRPr lang="en-US" sz="1100" dirty="0"/>
          </a:p>
        </p:txBody>
      </p:sp>
      <p:sp>
        <p:nvSpPr>
          <p:cNvPr id="4" name="Text 2"/>
          <p:cNvSpPr txBox="1"/>
          <p:nvPr/>
        </p:nvSpPr>
        <p:spPr>
          <a:xfrm>
            <a:off x="640080" y="2423160"/>
            <a:ext cx="7772400" cy="731520"/>
          </a:xfrm>
          <a:prstGeom prst="rect">
            <a:avLst/>
          </a:prstGeom>
          <a:noFill/>
          <a:ln/>
        </p:spPr>
        <p:txBody>
          <a:bodyPr wrap="square" lIns="0" tIns="0" rIns="0" bIns="0" rtlCol="0" anchor="t"/>
          <a:lstStyle/>
          <a:p>
            <a:pPr marL="0" indent="0">
              <a:buNone/>
            </a:pPr>
            <a:r>
              <a:rPr lang="en-US" sz="3400" b="1" dirty="0">
                <a:solidFill>
                  <a:srgbClr val="FFFFFF"/>
                </a:solidFill>
                <a:latin typeface="Segoe UI" pitchFamily="34" charset="0"/>
                <a:ea typeface="Segoe UI" pitchFamily="34" charset="-122"/>
                <a:cs typeface="Segoe UI" pitchFamily="34" charset="-120"/>
              </a:rPr>
              <a:t>Add-on con SSO</a:t>
            </a:r>
            <a:endParaRPr lang="en-US" sz="3400" dirty="0"/>
          </a:p>
        </p:txBody>
      </p:sp>
      <p:sp>
        <p:nvSpPr>
          <p:cNvPr id="5" name="Text 3"/>
          <p:cNvSpPr txBox="1"/>
          <p:nvPr/>
        </p:nvSpPr>
        <p:spPr>
          <a:xfrm>
            <a:off x="658368" y="3200400"/>
            <a:ext cx="7772400" cy="548640"/>
          </a:xfrm>
          <a:prstGeom prst="rect">
            <a:avLst/>
          </a:prstGeom>
          <a:noFill/>
          <a:ln/>
        </p:spPr>
        <p:txBody>
          <a:bodyPr wrap="square" lIns="0" tIns="0" rIns="0" bIns="0" rtlCol="0" anchor="t"/>
          <a:lstStyle/>
          <a:p>
            <a:pPr marL="0" indent="0">
              <a:buNone/>
            </a:pPr>
            <a:r>
              <a:rPr lang="en-US" sz="1400" dirty="0">
                <a:solidFill>
                  <a:srgbClr val="B9D3F0"/>
                </a:solidFill>
                <a:latin typeface="Calibri" pitchFamily="34" charset="0"/>
                <a:ea typeface="Calibri" pitchFamily="34" charset="-122"/>
                <a:cs typeface="Calibri" pitchFamily="34" charset="-120"/>
              </a:rPr>
              <a:t>UI API   •   Contexto de conexión   •   Cookies de sesión   •   Buenas prácticas</a:t>
            </a:r>
            <a:endParaRPr lang="en-US" sz="1400" dirty="0"/>
          </a:p>
        </p:txBody>
      </p:sp>
      <p:sp>
        <p:nvSpPr>
          <p:cNvPr id="6" name="Text 4"/>
          <p:cNvSpPr txBox="1"/>
          <p:nvPr/>
        </p:nvSpPr>
        <p:spPr>
          <a:xfrm>
            <a:off x="658368" y="4709160"/>
            <a:ext cx="4572000" cy="228600"/>
          </a:xfrm>
          <a:prstGeom prst="rect">
            <a:avLst/>
          </a:prstGeom>
          <a:noFill/>
          <a:ln/>
        </p:spPr>
        <p:txBody>
          <a:bodyPr wrap="square" lIns="0" tIns="0" rIns="0" bIns="0" rtlCol="0" anchor="t"/>
          <a:lstStyle/>
          <a:p>
            <a:pPr marL="0" indent="0">
              <a:buNone/>
            </a:pPr>
            <a:r>
              <a:rPr lang="en-US" sz="900" dirty="0">
                <a:solidFill>
                  <a:srgbClr val="8FB0D6"/>
                </a:solidFill>
                <a:latin typeface="Calibri" pitchFamily="34" charset="0"/>
                <a:ea typeface="Calibri" pitchFamily="34" charset="-122"/>
                <a:cs typeface="Calibri" pitchFamily="34" charset="-120"/>
              </a:rPr>
              <a:t>Ventura Soluciones  |  Capacitación técnica</a:t>
            </a:r>
            <a:endParaRPr lang="en-US" sz="900" dirty="0"/>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07  ·  ADD-ON + SSO</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Flujo de conexión SSO</a:t>
            </a:r>
            <a:endParaRPr lang="en-US" sz="2400" dirty="0"/>
          </a:p>
        </p:txBody>
      </p:sp>
      <p:sp>
        <p:nvSpPr>
          <p:cNvPr id="5" name="Text 3"/>
          <p:cNvSpPr txBox="1"/>
          <p:nvPr/>
        </p:nvSpPr>
        <p:spPr>
          <a:xfrm>
            <a:off x="457200" y="1051560"/>
            <a:ext cx="8229600" cy="274320"/>
          </a:xfrm>
          <a:prstGeom prst="rect">
            <a:avLst/>
          </a:prstGeom>
          <a:noFill/>
          <a:ln/>
        </p:spPr>
        <p:txBody>
          <a:bodyPr wrap="square" lIns="0" tIns="0" rIns="0" bIns="0" rtlCol="0" anchor="ctr"/>
          <a:lstStyle/>
          <a:p>
            <a:pPr marL="0" indent="0">
              <a:buNone/>
            </a:pPr>
            <a:r>
              <a:rPr lang="en-US" sz="1250" dirty="0">
                <a:solidFill>
                  <a:srgbClr val="5B6B82"/>
                </a:solidFill>
                <a:latin typeface="Calibri" pitchFamily="34" charset="0"/>
                <a:ea typeface="Calibri" pitchFamily="34" charset="-122"/>
                <a:cs typeface="Calibri" pitchFamily="34" charset="-120"/>
              </a:rPr>
              <a:t>El add-on reutiliza la sesión del usuario ya logueado en el cliente SAP B1</a:t>
            </a:r>
            <a:endParaRPr lang="en-US" sz="1250" dirty="0"/>
          </a:p>
        </p:txBody>
      </p:sp>
      <p:sp>
        <p:nvSpPr>
          <p:cNvPr id="6" name="Text 4"/>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7" name="Shape 5"/>
          <p:cNvSpPr/>
          <p:nvPr/>
        </p:nvSpPr>
        <p:spPr>
          <a:xfrm>
            <a:off x="457200" y="1463040"/>
            <a:ext cx="1517904" cy="1828800"/>
          </a:xfrm>
          <a:prstGeom prst="roundRect">
            <a:avLst>
              <a:gd name="adj" fmla="val 4819"/>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8" name="Shape 6"/>
          <p:cNvSpPr/>
          <p:nvPr/>
        </p:nvSpPr>
        <p:spPr>
          <a:xfrm>
            <a:off x="941832" y="1627632"/>
            <a:ext cx="548640" cy="548640"/>
          </a:xfrm>
          <a:prstGeom prst="ellipse">
            <a:avLst/>
          </a:prstGeom>
          <a:solidFill>
            <a:srgbClr val="0B4DA2"/>
          </a:solidFill>
          <a:ln w="12700">
            <a:solidFill>
              <a:srgbClr val="0B4DA2"/>
            </a:solidFill>
            <a:prstDash val="solid"/>
          </a:ln>
        </p:spPr>
      </p:sp>
      <p:pic>
        <p:nvPicPr>
          <p:cNvPr id="9" name="Image 0" descr="preencoded.png"/>
          <p:cNvPicPr>
            <a:picLocks noChangeAspect="1"/>
          </p:cNvPicPr>
          <p:nvPr/>
        </p:nvPicPr>
        <p:blipFill>
          <a:blip r:embed="rId3"/>
          <a:stretch>
            <a:fillRect/>
          </a:stretch>
        </p:blipFill>
        <p:spPr>
          <a:xfrm>
            <a:off x="1084478" y="1770278"/>
            <a:ext cx="263347" cy="263347"/>
          </a:xfrm>
          <a:prstGeom prst="rect">
            <a:avLst/>
          </a:prstGeom>
        </p:spPr>
      </p:pic>
      <p:sp>
        <p:nvSpPr>
          <p:cNvPr id="10" name="Text 7"/>
          <p:cNvSpPr txBox="1"/>
          <p:nvPr/>
        </p:nvSpPr>
        <p:spPr>
          <a:xfrm>
            <a:off x="530352"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Usuario B1</a:t>
            </a:r>
            <a:endParaRPr lang="en-US" sz="1100" dirty="0"/>
          </a:p>
        </p:txBody>
      </p:sp>
      <p:sp>
        <p:nvSpPr>
          <p:cNvPr id="11" name="Text 8"/>
          <p:cNvSpPr txBox="1"/>
          <p:nvPr/>
        </p:nvSpPr>
        <p:spPr>
          <a:xfrm>
            <a:off x="548640"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Inicia sesión en el cliente de escritorio.</a:t>
            </a:r>
            <a:endParaRPr lang="en-US" sz="950" dirty="0"/>
          </a:p>
        </p:txBody>
      </p:sp>
      <p:sp>
        <p:nvSpPr>
          <p:cNvPr id="12" name="Shape 9"/>
          <p:cNvSpPr/>
          <p:nvPr/>
        </p:nvSpPr>
        <p:spPr>
          <a:xfrm>
            <a:off x="1993392" y="2377440"/>
            <a:ext cx="128016" cy="0"/>
          </a:xfrm>
          <a:prstGeom prst="line">
            <a:avLst/>
          </a:prstGeom>
          <a:noFill/>
          <a:ln w="22225">
            <a:solidFill>
              <a:srgbClr val="0B4DA2"/>
            </a:solidFill>
            <a:prstDash val="solid"/>
            <a:tailEnd type="triangle"/>
          </a:ln>
        </p:spPr>
      </p:sp>
      <p:sp>
        <p:nvSpPr>
          <p:cNvPr id="13" name="Shape 10"/>
          <p:cNvSpPr/>
          <p:nvPr/>
        </p:nvSpPr>
        <p:spPr>
          <a:xfrm>
            <a:off x="2139696" y="1463040"/>
            <a:ext cx="1517904" cy="1828800"/>
          </a:xfrm>
          <a:prstGeom prst="roundRect">
            <a:avLst>
              <a:gd name="adj" fmla="val 4819"/>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4" name="Shape 11"/>
          <p:cNvSpPr/>
          <p:nvPr/>
        </p:nvSpPr>
        <p:spPr>
          <a:xfrm>
            <a:off x="2624328" y="1627632"/>
            <a:ext cx="548640" cy="548640"/>
          </a:xfrm>
          <a:prstGeom prst="ellipse">
            <a:avLst/>
          </a:prstGeom>
          <a:solidFill>
            <a:srgbClr val="0B4DA2"/>
          </a:solidFill>
          <a:ln w="12700">
            <a:solidFill>
              <a:srgbClr val="0B4DA2"/>
            </a:solidFill>
            <a:prstDash val="solid"/>
          </a:ln>
        </p:spPr>
      </p:sp>
      <p:pic>
        <p:nvPicPr>
          <p:cNvPr id="15" name="Image 1" descr="preencoded.png"/>
          <p:cNvPicPr>
            <a:picLocks noChangeAspect="1"/>
          </p:cNvPicPr>
          <p:nvPr/>
        </p:nvPicPr>
        <p:blipFill>
          <a:blip r:embed="rId4"/>
          <a:stretch>
            <a:fillRect/>
          </a:stretch>
        </p:blipFill>
        <p:spPr>
          <a:xfrm>
            <a:off x="2766974" y="1770278"/>
            <a:ext cx="263347" cy="263347"/>
          </a:xfrm>
          <a:prstGeom prst="rect">
            <a:avLst/>
          </a:prstGeom>
        </p:spPr>
      </p:pic>
      <p:sp>
        <p:nvSpPr>
          <p:cNvPr id="16" name="Text 12"/>
          <p:cNvSpPr txBox="1"/>
          <p:nvPr/>
        </p:nvSpPr>
        <p:spPr>
          <a:xfrm>
            <a:off x="2212848"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Add-on (UI API)</a:t>
            </a:r>
            <a:endParaRPr lang="en-US" sz="1100" dirty="0"/>
          </a:p>
        </p:txBody>
      </p:sp>
      <p:sp>
        <p:nvSpPr>
          <p:cNvPr id="17" name="Text 13"/>
          <p:cNvSpPr txBox="1"/>
          <p:nvPr/>
        </p:nvSpPr>
        <p:spPr>
          <a:xfrm>
            <a:off x="2231136"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Se conecta a la aplicación SBO en ejecución.</a:t>
            </a:r>
            <a:endParaRPr lang="en-US" sz="950" dirty="0"/>
          </a:p>
        </p:txBody>
      </p:sp>
      <p:sp>
        <p:nvSpPr>
          <p:cNvPr id="18" name="Shape 14"/>
          <p:cNvSpPr/>
          <p:nvPr/>
        </p:nvSpPr>
        <p:spPr>
          <a:xfrm>
            <a:off x="3675888" y="2377440"/>
            <a:ext cx="128016" cy="0"/>
          </a:xfrm>
          <a:prstGeom prst="line">
            <a:avLst/>
          </a:prstGeom>
          <a:noFill/>
          <a:ln w="22225">
            <a:solidFill>
              <a:srgbClr val="0B4DA2"/>
            </a:solidFill>
            <a:prstDash val="solid"/>
            <a:tailEnd type="triangle"/>
          </a:ln>
        </p:spPr>
      </p:sp>
      <p:sp>
        <p:nvSpPr>
          <p:cNvPr id="19" name="Shape 15"/>
          <p:cNvSpPr/>
          <p:nvPr/>
        </p:nvSpPr>
        <p:spPr>
          <a:xfrm>
            <a:off x="3822192" y="1463040"/>
            <a:ext cx="1517904" cy="1828800"/>
          </a:xfrm>
          <a:prstGeom prst="roundRect">
            <a:avLst>
              <a:gd name="adj" fmla="val 4819"/>
            </a:avLst>
          </a:prstGeom>
          <a:solidFill>
            <a:srgbClr val="FFF8E6"/>
          </a:solidFill>
          <a:ln w="9525">
            <a:solidFill>
              <a:srgbClr val="D5DFEC"/>
            </a:solidFill>
            <a:prstDash val="solid"/>
          </a:ln>
          <a:effectLst>
            <a:outerShdw blurRad="101600" dist="25400" dir="5400000" algn="bl" rotWithShape="0">
              <a:srgbClr val="0B2A55">
                <a:alpha val="12000"/>
              </a:srgbClr>
            </a:outerShdw>
          </a:effectLst>
        </p:spPr>
      </p:sp>
      <p:sp>
        <p:nvSpPr>
          <p:cNvPr id="20" name="Shape 16"/>
          <p:cNvSpPr/>
          <p:nvPr/>
        </p:nvSpPr>
        <p:spPr>
          <a:xfrm>
            <a:off x="4306824" y="1627632"/>
            <a:ext cx="548640" cy="548640"/>
          </a:xfrm>
          <a:prstGeom prst="ellipse">
            <a:avLst/>
          </a:prstGeom>
          <a:solidFill>
            <a:srgbClr val="F5A800"/>
          </a:solidFill>
          <a:ln w="12700">
            <a:solidFill>
              <a:srgbClr val="F5A800"/>
            </a:solidFill>
            <a:prstDash val="solid"/>
          </a:ln>
        </p:spPr>
      </p:sp>
      <p:pic>
        <p:nvPicPr>
          <p:cNvPr id="21" name="Image 2" descr="preencoded.png"/>
          <p:cNvPicPr>
            <a:picLocks noChangeAspect="1"/>
          </p:cNvPicPr>
          <p:nvPr/>
        </p:nvPicPr>
        <p:blipFill>
          <a:blip r:embed="rId5"/>
          <a:stretch>
            <a:fillRect/>
          </a:stretch>
        </p:blipFill>
        <p:spPr>
          <a:xfrm>
            <a:off x="4449470" y="1770278"/>
            <a:ext cx="263347" cy="263347"/>
          </a:xfrm>
          <a:prstGeom prst="rect">
            <a:avLst/>
          </a:prstGeom>
        </p:spPr>
      </p:pic>
      <p:sp>
        <p:nvSpPr>
          <p:cNvPr id="22" name="Text 17"/>
          <p:cNvSpPr txBox="1"/>
          <p:nvPr/>
        </p:nvSpPr>
        <p:spPr>
          <a:xfrm>
            <a:off x="3895344"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Contexto SSO</a:t>
            </a:r>
            <a:endParaRPr lang="en-US" sz="1100" dirty="0"/>
          </a:p>
        </p:txBody>
      </p:sp>
      <p:sp>
        <p:nvSpPr>
          <p:cNvPr id="23" name="Text 18"/>
          <p:cNvSpPr txBox="1"/>
          <p:nvPr/>
        </p:nvSpPr>
        <p:spPr>
          <a:xfrm>
            <a:off x="3913632"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Company.GetServiceLayer ConnectionContext(url)</a:t>
            </a:r>
            <a:endParaRPr lang="en-US" sz="950" dirty="0"/>
          </a:p>
        </p:txBody>
      </p:sp>
      <p:sp>
        <p:nvSpPr>
          <p:cNvPr id="24" name="Shape 19"/>
          <p:cNvSpPr/>
          <p:nvPr/>
        </p:nvSpPr>
        <p:spPr>
          <a:xfrm>
            <a:off x="5358384" y="2377440"/>
            <a:ext cx="128016" cy="0"/>
          </a:xfrm>
          <a:prstGeom prst="line">
            <a:avLst/>
          </a:prstGeom>
          <a:noFill/>
          <a:ln w="22225">
            <a:solidFill>
              <a:srgbClr val="0B4DA2"/>
            </a:solidFill>
            <a:prstDash val="solid"/>
            <a:tailEnd type="triangle"/>
          </a:ln>
        </p:spPr>
      </p:sp>
      <p:sp>
        <p:nvSpPr>
          <p:cNvPr id="25" name="Shape 20"/>
          <p:cNvSpPr/>
          <p:nvPr/>
        </p:nvSpPr>
        <p:spPr>
          <a:xfrm>
            <a:off x="5504688" y="1463040"/>
            <a:ext cx="1517904" cy="1828800"/>
          </a:xfrm>
          <a:prstGeom prst="roundRect">
            <a:avLst>
              <a:gd name="adj" fmla="val 4819"/>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6" name="Shape 21"/>
          <p:cNvSpPr/>
          <p:nvPr/>
        </p:nvSpPr>
        <p:spPr>
          <a:xfrm>
            <a:off x="5989320" y="1627632"/>
            <a:ext cx="548640" cy="548640"/>
          </a:xfrm>
          <a:prstGeom prst="ellipse">
            <a:avLst/>
          </a:prstGeom>
          <a:solidFill>
            <a:srgbClr val="0B4DA2"/>
          </a:solidFill>
          <a:ln w="12700">
            <a:solidFill>
              <a:srgbClr val="0B4DA2"/>
            </a:solidFill>
            <a:prstDash val="solid"/>
          </a:ln>
        </p:spPr>
      </p:sp>
      <p:pic>
        <p:nvPicPr>
          <p:cNvPr id="27" name="Image 3" descr="preencoded.png"/>
          <p:cNvPicPr>
            <a:picLocks noChangeAspect="1"/>
          </p:cNvPicPr>
          <p:nvPr/>
        </p:nvPicPr>
        <p:blipFill>
          <a:blip r:embed="rId6"/>
          <a:stretch>
            <a:fillRect/>
          </a:stretch>
        </p:blipFill>
        <p:spPr>
          <a:xfrm>
            <a:off x="6131966" y="1770278"/>
            <a:ext cx="263347" cy="263347"/>
          </a:xfrm>
          <a:prstGeom prst="rect">
            <a:avLst/>
          </a:prstGeom>
        </p:spPr>
      </p:pic>
      <p:sp>
        <p:nvSpPr>
          <p:cNvPr id="28" name="Text 22"/>
          <p:cNvSpPr txBox="1"/>
          <p:nvPr/>
        </p:nvSpPr>
        <p:spPr>
          <a:xfrm>
            <a:off x="5577840"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Cookies</a:t>
            </a:r>
            <a:endParaRPr lang="en-US" sz="1100" dirty="0"/>
          </a:p>
        </p:txBody>
      </p:sp>
      <p:sp>
        <p:nvSpPr>
          <p:cNvPr id="29" name="Text 23"/>
          <p:cNvSpPr txBox="1"/>
          <p:nvPr/>
        </p:nvSpPr>
        <p:spPr>
          <a:xfrm>
            <a:off x="5596128"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Devuelve B1SESSION y ROUTEID listas para usar.</a:t>
            </a:r>
            <a:endParaRPr lang="en-US" sz="950" dirty="0"/>
          </a:p>
        </p:txBody>
      </p:sp>
      <p:sp>
        <p:nvSpPr>
          <p:cNvPr id="30" name="Shape 24"/>
          <p:cNvSpPr/>
          <p:nvPr/>
        </p:nvSpPr>
        <p:spPr>
          <a:xfrm>
            <a:off x="7040880" y="2377440"/>
            <a:ext cx="128016" cy="0"/>
          </a:xfrm>
          <a:prstGeom prst="line">
            <a:avLst/>
          </a:prstGeom>
          <a:noFill/>
          <a:ln w="22225">
            <a:solidFill>
              <a:srgbClr val="0B4DA2"/>
            </a:solidFill>
            <a:prstDash val="solid"/>
            <a:tailEnd type="triangle"/>
          </a:ln>
        </p:spPr>
      </p:sp>
      <p:sp>
        <p:nvSpPr>
          <p:cNvPr id="31" name="Shape 25"/>
          <p:cNvSpPr/>
          <p:nvPr/>
        </p:nvSpPr>
        <p:spPr>
          <a:xfrm>
            <a:off x="7187184" y="1463040"/>
            <a:ext cx="1517904" cy="1828800"/>
          </a:xfrm>
          <a:prstGeom prst="roundRect">
            <a:avLst>
              <a:gd name="adj" fmla="val 4819"/>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2" name="Shape 26"/>
          <p:cNvSpPr/>
          <p:nvPr/>
        </p:nvSpPr>
        <p:spPr>
          <a:xfrm>
            <a:off x="7671816" y="1627632"/>
            <a:ext cx="548640" cy="548640"/>
          </a:xfrm>
          <a:prstGeom prst="ellipse">
            <a:avLst/>
          </a:prstGeom>
          <a:solidFill>
            <a:srgbClr val="0B4DA2"/>
          </a:solidFill>
          <a:ln w="12700">
            <a:solidFill>
              <a:srgbClr val="0B4DA2"/>
            </a:solidFill>
            <a:prstDash val="solid"/>
          </a:ln>
        </p:spPr>
      </p:sp>
      <p:pic>
        <p:nvPicPr>
          <p:cNvPr id="33" name="Image 4" descr="preencoded.png"/>
          <p:cNvPicPr>
            <a:picLocks noChangeAspect="1"/>
          </p:cNvPicPr>
          <p:nvPr/>
        </p:nvPicPr>
        <p:blipFill>
          <a:blip r:embed="rId7"/>
          <a:stretch>
            <a:fillRect/>
          </a:stretch>
        </p:blipFill>
        <p:spPr>
          <a:xfrm>
            <a:off x="7814462" y="1770278"/>
            <a:ext cx="263347" cy="263347"/>
          </a:xfrm>
          <a:prstGeom prst="rect">
            <a:avLst/>
          </a:prstGeom>
        </p:spPr>
      </p:pic>
      <p:sp>
        <p:nvSpPr>
          <p:cNvPr id="34" name="Text 27"/>
          <p:cNvSpPr txBox="1"/>
          <p:nvPr/>
        </p:nvSpPr>
        <p:spPr>
          <a:xfrm>
            <a:off x="7260336" y="2267712"/>
            <a:ext cx="1371600" cy="274320"/>
          </a:xfrm>
          <a:prstGeom prst="rect">
            <a:avLst/>
          </a:prstGeom>
          <a:noFill/>
          <a:ln/>
        </p:spPr>
        <p:txBody>
          <a:bodyPr wrap="square" lIns="0" tIns="0" rIns="0" bIns="0" rtlCol="0" anchor="t"/>
          <a:lstStyle/>
          <a:p>
            <a:pPr marL="0" indent="0" algn="ctr">
              <a:buNone/>
            </a:pPr>
            <a:r>
              <a:rPr lang="en-US" sz="1100" b="1" dirty="0">
                <a:solidFill>
                  <a:srgbClr val="071B3F"/>
                </a:solidFill>
                <a:latin typeface="Segoe UI" pitchFamily="34" charset="0"/>
                <a:ea typeface="Segoe UI" pitchFamily="34" charset="-122"/>
                <a:cs typeface="Segoe UI" pitchFamily="34" charset="-120"/>
              </a:rPr>
              <a:t>Service Layer</a:t>
            </a:r>
            <a:endParaRPr lang="en-US" sz="1100" dirty="0"/>
          </a:p>
        </p:txBody>
      </p:sp>
      <p:sp>
        <p:nvSpPr>
          <p:cNvPr id="35" name="Text 28"/>
          <p:cNvSpPr txBox="1"/>
          <p:nvPr/>
        </p:nvSpPr>
        <p:spPr>
          <a:xfrm>
            <a:off x="7278624" y="2560320"/>
            <a:ext cx="1335024" cy="640080"/>
          </a:xfrm>
          <a:prstGeom prst="rect">
            <a:avLst/>
          </a:prstGeom>
          <a:noFill/>
          <a:ln/>
        </p:spPr>
        <p:txBody>
          <a:bodyPr wrap="square" lIns="0" tIns="0" rIns="0" bIns="0" rtlCol="0" anchor="t"/>
          <a:lstStyle/>
          <a:p>
            <a:pPr marL="0" indent="0" algn="ctr">
              <a:buNone/>
            </a:pPr>
            <a:r>
              <a:rPr lang="en-US" sz="950" dirty="0">
                <a:solidFill>
                  <a:srgbClr val="5B6B82"/>
                </a:solidFill>
                <a:latin typeface="Calibri" pitchFamily="34" charset="0"/>
                <a:ea typeface="Calibri" pitchFamily="34" charset="-122"/>
                <a:cs typeface="Calibri" pitchFamily="34" charset="-120"/>
              </a:rPr>
              <a:t>Peticiones HTTP con header Cookie.</a:t>
            </a:r>
            <a:endParaRPr lang="en-US" sz="950" dirty="0"/>
          </a:p>
        </p:txBody>
      </p:sp>
      <p:sp>
        <p:nvSpPr>
          <p:cNvPr id="36" name="Shape 29"/>
          <p:cNvSpPr/>
          <p:nvPr/>
        </p:nvSpPr>
        <p:spPr>
          <a:xfrm>
            <a:off x="457200" y="3474720"/>
            <a:ext cx="4023360" cy="1234440"/>
          </a:xfrm>
          <a:prstGeom prst="roundRect">
            <a:avLst>
              <a:gd name="adj" fmla="val 592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37" name="Text 30"/>
          <p:cNvSpPr txBox="1"/>
          <p:nvPr/>
        </p:nvSpPr>
        <p:spPr>
          <a:xfrm>
            <a:off x="640080" y="3547872"/>
            <a:ext cx="3657600" cy="256032"/>
          </a:xfrm>
          <a:prstGeom prst="rect">
            <a:avLst/>
          </a:prstGeom>
          <a:noFill/>
          <a:ln/>
        </p:spPr>
        <p:txBody>
          <a:bodyPr wrap="square" lIns="0" tIns="0" rIns="0" bIns="0" rtlCol="0" anchor="t"/>
          <a:lstStyle/>
          <a:p>
            <a:pPr marL="0" indent="0">
              <a:buNone/>
            </a:pPr>
            <a:r>
              <a:rPr lang="en-US" sz="1200" b="1" dirty="0">
                <a:solidFill>
                  <a:srgbClr val="2E9E6A"/>
                </a:solidFill>
                <a:latin typeface="Segoe UI" pitchFamily="34" charset="0"/>
                <a:ea typeface="Segoe UI" pitchFamily="34" charset="-122"/>
                <a:cs typeface="Segoe UI" pitchFamily="34" charset="-120"/>
              </a:rPr>
              <a:t>Beneficios</a:t>
            </a:r>
            <a:endParaRPr lang="en-US" sz="1200" dirty="0"/>
          </a:p>
        </p:txBody>
      </p:sp>
      <p:sp>
        <p:nvSpPr>
          <p:cNvPr id="38" name="Text 31"/>
          <p:cNvSpPr txBox="1"/>
          <p:nvPr/>
        </p:nvSpPr>
        <p:spPr>
          <a:xfrm>
            <a:off x="640080" y="3822192"/>
            <a:ext cx="3657600" cy="841248"/>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No se piden ni guardan credenciales</a:t>
            </a:r>
            <a:endParaRPr lang="en-US" sz="1050" dirty="0"/>
          </a:p>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Respeta las autorizaciones del usuario</a:t>
            </a:r>
            <a:endParaRPr lang="en-US" sz="1050" dirty="0"/>
          </a:p>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Reutiliza la licencia de la sesión activa</a:t>
            </a:r>
            <a:endParaRPr lang="en-US" sz="1050" dirty="0"/>
          </a:p>
        </p:txBody>
      </p:sp>
      <p:sp>
        <p:nvSpPr>
          <p:cNvPr id="39" name="Shape 32"/>
          <p:cNvSpPr/>
          <p:nvPr/>
        </p:nvSpPr>
        <p:spPr>
          <a:xfrm>
            <a:off x="4663440" y="3474720"/>
            <a:ext cx="4023360" cy="1234440"/>
          </a:xfrm>
          <a:prstGeom prst="roundRect">
            <a:avLst>
              <a:gd name="adj" fmla="val 5926"/>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40" name="Text 33"/>
          <p:cNvSpPr txBox="1"/>
          <p:nvPr/>
        </p:nvSpPr>
        <p:spPr>
          <a:xfrm>
            <a:off x="4846320" y="3547872"/>
            <a:ext cx="3657600" cy="256032"/>
          </a:xfrm>
          <a:prstGeom prst="rect">
            <a:avLst/>
          </a:prstGeom>
          <a:noFill/>
          <a:ln/>
        </p:spPr>
        <p:txBody>
          <a:bodyPr wrap="square" lIns="0" tIns="0" rIns="0" bIns="0" rtlCol="0" anchor="t"/>
          <a:lstStyle/>
          <a:p>
            <a:pPr marL="0" indent="0">
              <a:buNone/>
            </a:pPr>
            <a:r>
              <a:rPr lang="en-US" sz="1200" b="1" dirty="0">
                <a:solidFill>
                  <a:srgbClr val="0B4DA2"/>
                </a:solidFill>
                <a:latin typeface="Segoe UI" pitchFamily="34" charset="0"/>
                <a:ea typeface="Segoe UI" pitchFamily="34" charset="-122"/>
                <a:cs typeface="Segoe UI" pitchFamily="34" charset="-120"/>
              </a:rPr>
              <a:t>Requisitos</a:t>
            </a:r>
            <a:endParaRPr lang="en-US" sz="1200" dirty="0"/>
          </a:p>
        </p:txBody>
      </p:sp>
      <p:sp>
        <p:nvSpPr>
          <p:cNvPr id="41" name="Text 34"/>
          <p:cNvSpPr txBox="1"/>
          <p:nvPr/>
        </p:nvSpPr>
        <p:spPr>
          <a:xfrm>
            <a:off x="4846320" y="3822192"/>
            <a:ext cx="3657600" cy="841248"/>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SL registrado en el mismo SLD / landscape</a:t>
            </a:r>
            <a:endParaRPr lang="en-US" sz="1050" dirty="0"/>
          </a:p>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URL de SL accesible desde el equipo cliente</a:t>
            </a:r>
            <a:endParaRPr lang="en-US" sz="1050" dirty="0"/>
          </a:p>
          <a:p>
            <a:pPr marL="342900" indent="-342900">
              <a:spcAft>
                <a:spcPts val="200"/>
              </a:spcAft>
              <a:buSzPct val="100000"/>
              <a:buChar char="•"/>
            </a:pPr>
            <a:r>
              <a:rPr lang="en-US" sz="1050" dirty="0">
                <a:solidFill>
                  <a:srgbClr val="1B2433"/>
                </a:solidFill>
                <a:latin typeface="Calibri" pitchFamily="34" charset="0"/>
                <a:ea typeface="Calibri" pitchFamily="34" charset="-122"/>
                <a:cs typeface="Calibri" pitchFamily="34" charset="-120"/>
              </a:rPr>
              <a:t>Certificado HTTPS de confianza</a:t>
            </a:r>
            <a:endParaRPr lang="en-US" sz="1050" dirty="0"/>
          </a:p>
        </p:txBody>
      </p:sp>
      <p:sp>
        <p:nvSpPr>
          <p:cNvPr id="42"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42</a:t>
            </a:fld>
            <a:endParaRPr lang="en-US"/>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8FC"/>
        </a:solidFill>
        <a:effectLst/>
      </p:bgPr>
    </p:bg>
    <p:spTree>
      <p:nvGrpSpPr>
        <p:cNvPr id="1" name=""/>
        <p:cNvGrpSpPr/>
        <p:nvPr/>
      </p:nvGrpSpPr>
      <p:grpSpPr>
        <a:xfrm>
          <a:off x="0" y="0"/>
          <a:ext cx="0" cy="0"/>
          <a:chOff x="0" y="0"/>
          <a:chExt cx="0" cy="0"/>
        </a:xfrm>
      </p:grpSpPr>
      <p:sp>
        <p:nvSpPr>
          <p:cNvPr id="2" name="Shape 0"/>
          <p:cNvSpPr/>
          <p:nvPr/>
        </p:nvSpPr>
        <p:spPr>
          <a:xfrm>
            <a:off x="457200" y="256032"/>
            <a:ext cx="1720901" cy="237744"/>
          </a:xfrm>
          <a:prstGeom prst="roundRect">
            <a:avLst>
              <a:gd name="adj" fmla="val 50000"/>
            </a:avLst>
          </a:prstGeom>
          <a:solidFill>
            <a:srgbClr val="071B3F"/>
          </a:solidFill>
          <a:ln w="12700">
            <a:solidFill>
              <a:srgbClr val="071B3F"/>
            </a:solidFill>
            <a:prstDash val="solid"/>
          </a:ln>
        </p:spPr>
      </p:sp>
      <p:sp>
        <p:nvSpPr>
          <p:cNvPr id="3" name="Text 1"/>
          <p:cNvSpPr txBox="1"/>
          <p:nvPr/>
        </p:nvSpPr>
        <p:spPr>
          <a:xfrm>
            <a:off x="457200" y="256032"/>
            <a:ext cx="1720901" cy="237744"/>
          </a:xfrm>
          <a:prstGeom prst="rect">
            <a:avLst/>
          </a:prstGeom>
          <a:noFill/>
          <a:ln/>
        </p:spPr>
        <p:txBody>
          <a:bodyPr wrap="square" lIns="0" tIns="0" rIns="0" bIns="0" rtlCol="0" anchor="ctr"/>
          <a:lstStyle/>
          <a:p>
            <a:pPr marL="0" indent="0" algn="ctr">
              <a:buNone/>
            </a:pPr>
            <a:r>
              <a:rPr lang="en-US" sz="850" b="1" kern="0" spc="100" dirty="0">
                <a:solidFill>
                  <a:srgbClr val="F5A800"/>
                </a:solidFill>
                <a:latin typeface="Segoe UI" pitchFamily="34" charset="0"/>
                <a:ea typeface="Segoe UI" pitchFamily="34" charset="-122"/>
                <a:cs typeface="Segoe UI" pitchFamily="34" charset="-120"/>
              </a:rPr>
              <a:t>07  ·  ADD-ON + SSO</a:t>
            </a:r>
            <a:endParaRPr lang="en-US" sz="850" dirty="0"/>
          </a:p>
        </p:txBody>
      </p:sp>
      <p:sp>
        <p:nvSpPr>
          <p:cNvPr id="4" name="Text 2"/>
          <p:cNvSpPr txBox="1"/>
          <p:nvPr/>
        </p:nvSpPr>
        <p:spPr>
          <a:xfrm>
            <a:off x="457200" y="566928"/>
            <a:ext cx="8229600" cy="502920"/>
          </a:xfrm>
          <a:prstGeom prst="rect">
            <a:avLst/>
          </a:prstGeom>
          <a:noFill/>
          <a:ln/>
        </p:spPr>
        <p:txBody>
          <a:bodyPr wrap="square" lIns="0" tIns="0" rIns="0" bIns="0" rtlCol="0" anchor="ctr"/>
          <a:lstStyle/>
          <a:p>
            <a:pPr marL="0" indent="0">
              <a:buNone/>
            </a:pPr>
            <a:r>
              <a:rPr lang="en-US" sz="2400" b="1" dirty="0">
                <a:solidFill>
                  <a:srgbClr val="071B3F"/>
                </a:solidFill>
                <a:latin typeface="Segoe UI" pitchFamily="34" charset="0"/>
                <a:ea typeface="Segoe UI" pitchFamily="34" charset="-122"/>
                <a:cs typeface="Segoe UI" pitchFamily="34" charset="-120"/>
              </a:rPr>
              <a:t>Implementación en C#</a:t>
            </a:r>
            <a:endParaRPr lang="en-US" sz="2400" dirty="0"/>
          </a:p>
        </p:txBody>
      </p:sp>
      <p:sp>
        <p:nvSpPr>
          <p:cNvPr id="5" name="Text 3"/>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00" dirty="0">
                <a:solidFill>
                  <a:srgbClr val="8A9AB0"/>
                </a:solidFill>
                <a:latin typeface="Calibri" pitchFamily="34" charset="0"/>
                <a:ea typeface="Calibri" pitchFamily="34" charset="-122"/>
                <a:cs typeface="Calibri" pitchFamily="34" charset="-120"/>
              </a:rPr>
              <a:t>Ventura Soluciones  |  SAP Business One · Service Layer</a:t>
            </a:r>
            <a:endParaRPr lang="en-US" sz="800" dirty="0"/>
          </a:p>
        </p:txBody>
      </p:sp>
      <p:sp>
        <p:nvSpPr>
          <p:cNvPr id="6" name="Shape 4"/>
          <p:cNvSpPr/>
          <p:nvPr/>
        </p:nvSpPr>
        <p:spPr>
          <a:xfrm>
            <a:off x="457200" y="1188720"/>
            <a:ext cx="5212080" cy="3566160"/>
          </a:xfrm>
          <a:prstGeom prst="roundRect">
            <a:avLst>
              <a:gd name="adj" fmla="val 1795"/>
            </a:avLst>
          </a:prstGeom>
          <a:solidFill>
            <a:srgbClr val="0E1B2E"/>
          </a:solidFill>
          <a:ln w="12700">
            <a:solidFill>
              <a:srgbClr val="0E1B2E"/>
            </a:solidFill>
            <a:prstDash val="solid"/>
          </a:ln>
          <a:effectLst>
            <a:outerShdw blurRad="101600" dist="25400" dir="5400000" algn="bl" rotWithShape="0">
              <a:srgbClr val="0B2A55">
                <a:alpha val="12000"/>
              </a:srgbClr>
            </a:outerShdw>
          </a:effectLst>
        </p:spPr>
      </p:sp>
      <p:sp>
        <p:nvSpPr>
          <p:cNvPr id="7" name="Shape 5"/>
          <p:cNvSpPr/>
          <p:nvPr/>
        </p:nvSpPr>
        <p:spPr>
          <a:xfrm>
            <a:off x="594360" y="1298448"/>
            <a:ext cx="73152" cy="73152"/>
          </a:xfrm>
          <a:prstGeom prst="ellipse">
            <a:avLst/>
          </a:prstGeom>
          <a:solidFill>
            <a:srgbClr val="FF5F56"/>
          </a:solidFill>
          <a:ln w="12700">
            <a:solidFill>
              <a:srgbClr val="FF5F56"/>
            </a:solidFill>
            <a:prstDash val="solid"/>
          </a:ln>
        </p:spPr>
      </p:sp>
      <p:sp>
        <p:nvSpPr>
          <p:cNvPr id="8" name="Shape 6"/>
          <p:cNvSpPr/>
          <p:nvPr/>
        </p:nvSpPr>
        <p:spPr>
          <a:xfrm>
            <a:off x="722376" y="1298448"/>
            <a:ext cx="73152" cy="73152"/>
          </a:xfrm>
          <a:prstGeom prst="ellipse">
            <a:avLst/>
          </a:prstGeom>
          <a:solidFill>
            <a:srgbClr val="FFBD2E"/>
          </a:solidFill>
          <a:ln w="12700">
            <a:solidFill>
              <a:srgbClr val="FFBD2E"/>
            </a:solidFill>
            <a:prstDash val="solid"/>
          </a:ln>
        </p:spPr>
      </p:sp>
      <p:sp>
        <p:nvSpPr>
          <p:cNvPr id="9" name="Shape 7"/>
          <p:cNvSpPr/>
          <p:nvPr/>
        </p:nvSpPr>
        <p:spPr>
          <a:xfrm>
            <a:off x="850392" y="1298448"/>
            <a:ext cx="73152" cy="73152"/>
          </a:xfrm>
          <a:prstGeom prst="ellipse">
            <a:avLst/>
          </a:prstGeom>
          <a:solidFill>
            <a:srgbClr val="27C93F"/>
          </a:solidFill>
          <a:ln w="12700">
            <a:solidFill>
              <a:srgbClr val="27C93F"/>
            </a:solidFill>
            <a:prstDash val="solid"/>
          </a:ln>
        </p:spPr>
      </p:sp>
      <p:sp>
        <p:nvSpPr>
          <p:cNvPr id="10" name="Text 8"/>
          <p:cNvSpPr txBox="1"/>
          <p:nvPr/>
        </p:nvSpPr>
        <p:spPr>
          <a:xfrm>
            <a:off x="1024128" y="1243584"/>
            <a:ext cx="4526280" cy="182880"/>
          </a:xfrm>
          <a:prstGeom prst="rect">
            <a:avLst/>
          </a:prstGeom>
          <a:noFill/>
          <a:ln/>
        </p:spPr>
        <p:txBody>
          <a:bodyPr wrap="square" lIns="0" tIns="0" rIns="0" bIns="0" rtlCol="0" anchor="ctr"/>
          <a:lstStyle/>
          <a:p>
            <a:pPr marL="0" indent="0">
              <a:buNone/>
            </a:pPr>
            <a:r>
              <a:rPr lang="en-US" sz="850" b="1" dirty="0">
                <a:solidFill>
                  <a:srgbClr val="F5A800"/>
                </a:solidFill>
                <a:latin typeface="Segoe UI" pitchFamily="34" charset="0"/>
                <a:ea typeface="Segoe UI" pitchFamily="34" charset="-122"/>
                <a:cs typeface="Segoe UI" pitchFamily="34" charset="-120"/>
              </a:rPr>
              <a:t>ServiceLayerSso.cs</a:t>
            </a:r>
            <a:endParaRPr lang="en-US" sz="850" dirty="0"/>
          </a:p>
        </p:txBody>
      </p:sp>
      <p:sp>
        <p:nvSpPr>
          <p:cNvPr id="11" name="Text 9"/>
          <p:cNvSpPr txBox="1"/>
          <p:nvPr/>
        </p:nvSpPr>
        <p:spPr>
          <a:xfrm>
            <a:off x="594360" y="1481328"/>
            <a:ext cx="4937760" cy="3200400"/>
          </a:xfrm>
          <a:prstGeom prst="rect">
            <a:avLst/>
          </a:prstGeom>
          <a:noFill/>
          <a:ln/>
        </p:spPr>
        <p:txBody>
          <a:bodyPr wrap="square" lIns="0" tIns="0" rIns="0" bIns="0" rtlCol="0" anchor="t"/>
          <a:lstStyle/>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const</a:t>
            </a:r>
            <a:r>
              <a:rPr lang="en-US" sz="880" dirty="0">
                <a:solidFill>
                  <a:srgbClr val="DCE6F2"/>
                </a:solidFill>
                <a:latin typeface="Consolas" pitchFamily="34" charset="0"/>
                <a:ea typeface="Consolas" pitchFamily="34" charset="-122"/>
                <a:cs typeface="Consolas" pitchFamily="34" charset="-120"/>
              </a:rPr>
              <a:t> </a:t>
            </a:r>
            <a:r>
              <a:rPr lang="en-US" sz="880" b="1" dirty="0">
                <a:solidFill>
                  <a:srgbClr val="F5A800"/>
                </a:solidFill>
                <a:latin typeface="Consolas" pitchFamily="34" charset="0"/>
                <a:ea typeface="Consolas" pitchFamily="34" charset="-122"/>
                <a:cs typeface="Consolas" pitchFamily="34" charset="-120"/>
              </a:rPr>
              <a:t>string</a:t>
            </a:r>
            <a:r>
              <a:rPr lang="en-US" sz="880" dirty="0">
                <a:solidFill>
                  <a:srgbClr val="DCE6F2"/>
                </a:solidFill>
                <a:latin typeface="Consolas" pitchFamily="34" charset="0"/>
                <a:ea typeface="Consolas" pitchFamily="34" charset="-122"/>
                <a:cs typeface="Consolas" pitchFamily="34" charset="-120"/>
              </a:rPr>
              <a:t> SL = </a:t>
            </a:r>
            <a:r>
              <a:rPr lang="en-US" sz="880" dirty="0">
                <a:solidFill>
                  <a:srgbClr val="B5E48C"/>
                </a:solidFill>
                <a:latin typeface="Consolas" pitchFamily="34" charset="0"/>
                <a:ea typeface="Consolas" pitchFamily="34" charset="-122"/>
                <a:cs typeface="Consolas" pitchFamily="34" charset="-120"/>
              </a:rPr>
              <a:t>"https://sapserver:50000/b1s/v1/"</a:t>
            </a:r>
            <a:r>
              <a:rPr lang="en-US" sz="880" dirty="0">
                <a:solidFill>
                  <a:srgbClr val="DCE6F2"/>
                </a:solidFill>
                <a:latin typeface="Consolas" pitchFamily="34" charset="0"/>
                <a:ea typeface="Consolas" pitchFamily="34" charset="-122"/>
                <a:cs typeface="Consolas" pitchFamily="34" charset="-120"/>
              </a:rPr>
              <a:t>;</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a:t>
            </a:r>
            <a:endParaRPr lang="en-US" sz="880" dirty="0"/>
          </a:p>
          <a:p>
            <a:pPr marL="0" indent="0">
              <a:lnSpc>
                <a:spcPct val="100000"/>
              </a:lnSpc>
              <a:buNone/>
            </a:pPr>
            <a:r>
              <a:rPr lang="en-US" sz="880" i="1" dirty="0">
                <a:solidFill>
                  <a:srgbClr val="7D8FA8"/>
                </a:solidFill>
                <a:latin typeface="Consolas" pitchFamily="34" charset="0"/>
                <a:ea typeface="Consolas" pitchFamily="34" charset="-122"/>
                <a:cs typeface="Consolas" pitchFamily="34" charset="-120"/>
              </a:rPr>
              <a:t>// 1. Contexto SSO desde la sesión activa del cliente B1</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string</a:t>
            </a:r>
            <a:r>
              <a:rPr lang="en-US" sz="880" dirty="0">
                <a:solidFill>
                  <a:srgbClr val="DCE6F2"/>
                </a:solidFill>
                <a:latin typeface="Consolas" pitchFamily="34" charset="0"/>
                <a:ea typeface="Consolas" pitchFamily="34" charset="-122"/>
                <a:cs typeface="Consolas" pitchFamily="34" charset="-120"/>
              </a:rPr>
              <a:t> ctx = Application.SBO_Application.Company</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.GetServiceLayerConnectionContext(SL);</a:t>
            </a:r>
            <a:endParaRPr lang="en-US" sz="880" dirty="0"/>
          </a:p>
          <a:p>
            <a:pPr marL="0" indent="0">
              <a:lnSpc>
                <a:spcPct val="100000"/>
              </a:lnSpc>
              <a:buNone/>
            </a:pPr>
            <a:r>
              <a:rPr lang="en-US" sz="880" i="1" dirty="0">
                <a:solidFill>
                  <a:srgbClr val="7D8FA8"/>
                </a:solidFill>
                <a:latin typeface="Consolas" pitchFamily="34" charset="0"/>
                <a:ea typeface="Consolas" pitchFamily="34" charset="-122"/>
                <a:cs typeface="Consolas" pitchFamily="34" charset="-120"/>
              </a:rPr>
              <a:t>// ctx =&gt; "B1SESSION=5f1c...;ROUTEID=.node2"</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a:t>
            </a:r>
            <a:endParaRPr lang="en-US" sz="880" dirty="0"/>
          </a:p>
          <a:p>
            <a:pPr marL="0" indent="0">
              <a:lnSpc>
                <a:spcPct val="100000"/>
              </a:lnSpc>
              <a:buNone/>
            </a:pPr>
            <a:r>
              <a:rPr lang="en-US" sz="880" i="1" dirty="0">
                <a:solidFill>
                  <a:srgbClr val="7D8FA8"/>
                </a:solidFill>
                <a:latin typeface="Consolas" pitchFamily="34" charset="0"/>
                <a:ea typeface="Consolas" pitchFamily="34" charset="-122"/>
                <a:cs typeface="Consolas" pitchFamily="34" charset="-120"/>
              </a:rPr>
              <a:t>// 2. HttpClient sin manejo automático de cookies</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var</a:t>
            </a:r>
            <a:r>
              <a:rPr lang="en-US" sz="880" dirty="0">
                <a:solidFill>
                  <a:srgbClr val="DCE6F2"/>
                </a:solidFill>
                <a:latin typeface="Consolas" pitchFamily="34" charset="0"/>
                <a:ea typeface="Consolas" pitchFamily="34" charset="-122"/>
                <a:cs typeface="Consolas" pitchFamily="34" charset="-120"/>
              </a:rPr>
              <a:t> handler = </a:t>
            </a:r>
            <a:r>
              <a:rPr lang="en-US" sz="880" b="1" dirty="0">
                <a:solidFill>
                  <a:srgbClr val="F5A800"/>
                </a:solidFill>
                <a:latin typeface="Consolas" pitchFamily="34" charset="0"/>
                <a:ea typeface="Consolas" pitchFamily="34" charset="-122"/>
                <a:cs typeface="Consolas" pitchFamily="34" charset="-120"/>
              </a:rPr>
              <a:t>new</a:t>
            </a:r>
            <a:r>
              <a:rPr lang="en-US" sz="880" dirty="0">
                <a:solidFill>
                  <a:srgbClr val="DCE6F2"/>
                </a:solidFill>
                <a:latin typeface="Consolas" pitchFamily="34" charset="0"/>
                <a:ea typeface="Consolas" pitchFamily="34" charset="-122"/>
                <a:cs typeface="Consolas" pitchFamily="34" charset="-120"/>
              </a:rPr>
              <a:t> HttpClientHandler { UseCookies = false };</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var</a:t>
            </a:r>
            <a:r>
              <a:rPr lang="en-US" sz="880" dirty="0">
                <a:solidFill>
                  <a:srgbClr val="DCE6F2"/>
                </a:solidFill>
                <a:latin typeface="Consolas" pitchFamily="34" charset="0"/>
                <a:ea typeface="Consolas" pitchFamily="34" charset="-122"/>
                <a:cs typeface="Consolas" pitchFamily="34" charset="-120"/>
              </a:rPr>
              <a:t> http = </a:t>
            </a:r>
            <a:r>
              <a:rPr lang="en-US" sz="880" b="1" dirty="0">
                <a:solidFill>
                  <a:srgbClr val="F5A800"/>
                </a:solidFill>
                <a:latin typeface="Consolas" pitchFamily="34" charset="0"/>
                <a:ea typeface="Consolas" pitchFamily="34" charset="-122"/>
                <a:cs typeface="Consolas" pitchFamily="34" charset="-120"/>
              </a:rPr>
              <a:t>new</a:t>
            </a:r>
            <a:r>
              <a:rPr lang="en-US" sz="880" dirty="0">
                <a:solidFill>
                  <a:srgbClr val="DCE6F2"/>
                </a:solidFill>
                <a:latin typeface="Consolas" pitchFamily="34" charset="0"/>
                <a:ea typeface="Consolas" pitchFamily="34" charset="-122"/>
                <a:cs typeface="Consolas" pitchFamily="34" charset="-120"/>
              </a:rPr>
              <a:t> HttpClient(handler) { BaseAddress = </a:t>
            </a:r>
            <a:r>
              <a:rPr lang="en-US" sz="880" b="1" dirty="0">
                <a:solidFill>
                  <a:srgbClr val="F5A800"/>
                </a:solidFill>
                <a:latin typeface="Consolas" pitchFamily="34" charset="0"/>
                <a:ea typeface="Consolas" pitchFamily="34" charset="-122"/>
                <a:cs typeface="Consolas" pitchFamily="34" charset="-120"/>
              </a:rPr>
              <a:t>new</a:t>
            </a:r>
            <a:r>
              <a:rPr lang="en-US" sz="880" dirty="0">
                <a:solidFill>
                  <a:srgbClr val="DCE6F2"/>
                </a:solidFill>
                <a:latin typeface="Consolas" pitchFamily="34" charset="0"/>
                <a:ea typeface="Consolas" pitchFamily="34" charset="-122"/>
                <a:cs typeface="Consolas" pitchFamily="34" charset="-120"/>
              </a:rPr>
              <a:t> Uri(SL) };</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http.DefaultRequestHeaders.Add(</a:t>
            </a:r>
            <a:r>
              <a:rPr lang="en-US" sz="880" dirty="0">
                <a:solidFill>
                  <a:srgbClr val="B5E48C"/>
                </a:solidFill>
                <a:latin typeface="Consolas" pitchFamily="34" charset="0"/>
                <a:ea typeface="Consolas" pitchFamily="34" charset="-122"/>
                <a:cs typeface="Consolas" pitchFamily="34" charset="-120"/>
              </a:rPr>
              <a:t>"Cookie"</a:t>
            </a:r>
            <a:r>
              <a:rPr lang="en-US" sz="880" dirty="0">
                <a:solidFill>
                  <a:srgbClr val="DCE6F2"/>
                </a:solidFill>
                <a:latin typeface="Consolas" pitchFamily="34" charset="0"/>
                <a:ea typeface="Consolas" pitchFamily="34" charset="-122"/>
                <a:cs typeface="Consolas" pitchFamily="34" charset="-120"/>
              </a:rPr>
              <a:t>, ctx);</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a:t>
            </a:r>
            <a:endParaRPr lang="en-US" sz="880" dirty="0"/>
          </a:p>
          <a:p>
            <a:pPr marL="0" indent="0">
              <a:lnSpc>
                <a:spcPct val="100000"/>
              </a:lnSpc>
              <a:buNone/>
            </a:pPr>
            <a:r>
              <a:rPr lang="en-US" sz="880" i="1" dirty="0">
                <a:solidFill>
                  <a:srgbClr val="7D8FA8"/>
                </a:solidFill>
                <a:latin typeface="Consolas" pitchFamily="34" charset="0"/>
                <a:ea typeface="Consolas" pitchFamily="34" charset="-122"/>
                <a:cs typeface="Consolas" pitchFamily="34" charset="-120"/>
              </a:rPr>
              <a:t>// 3. Consumir SL como el usuario logueado</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var</a:t>
            </a:r>
            <a:r>
              <a:rPr lang="en-US" sz="880" dirty="0">
                <a:solidFill>
                  <a:srgbClr val="DCE6F2"/>
                </a:solidFill>
                <a:latin typeface="Consolas" pitchFamily="34" charset="0"/>
                <a:ea typeface="Consolas" pitchFamily="34" charset="-122"/>
                <a:cs typeface="Consolas" pitchFamily="34" charset="-120"/>
              </a:rPr>
              <a:t> resp = </a:t>
            </a:r>
            <a:r>
              <a:rPr lang="en-US" sz="880" b="1" dirty="0">
                <a:solidFill>
                  <a:srgbClr val="F5A800"/>
                </a:solidFill>
                <a:latin typeface="Consolas" pitchFamily="34" charset="0"/>
                <a:ea typeface="Consolas" pitchFamily="34" charset="-122"/>
                <a:cs typeface="Consolas" pitchFamily="34" charset="-120"/>
              </a:rPr>
              <a:t>await</a:t>
            </a:r>
            <a:r>
              <a:rPr lang="en-US" sz="880" dirty="0">
                <a:solidFill>
                  <a:srgbClr val="DCE6F2"/>
                </a:solidFill>
                <a:latin typeface="Consolas" pitchFamily="34" charset="0"/>
                <a:ea typeface="Consolas" pitchFamily="34" charset="-122"/>
                <a:cs typeface="Consolas" pitchFamily="34" charset="-120"/>
              </a:rPr>
              <a:t> http.GetAsync(</a:t>
            </a:r>
            <a:endParaRPr lang="en-US" sz="880" dirty="0"/>
          </a:p>
          <a:p>
            <a:pPr marL="0" indent="0">
              <a:lnSpc>
                <a:spcPct val="100000"/>
              </a:lnSpc>
              <a:buNone/>
            </a:pPr>
            <a:r>
              <a:rPr lang="en-US" sz="880" dirty="0">
                <a:solidFill>
                  <a:srgbClr val="DCE6F2"/>
                </a:solidFill>
                <a:latin typeface="Consolas" pitchFamily="34" charset="0"/>
                <a:ea typeface="Consolas" pitchFamily="34" charset="-122"/>
                <a:cs typeface="Consolas" pitchFamily="34" charset="-120"/>
              </a:rPr>
              <a:t>    </a:t>
            </a:r>
            <a:r>
              <a:rPr lang="en-US" sz="880" dirty="0">
                <a:solidFill>
                  <a:srgbClr val="B5E48C"/>
                </a:solidFill>
                <a:latin typeface="Consolas" pitchFamily="34" charset="0"/>
                <a:ea typeface="Consolas" pitchFamily="34" charset="-122"/>
                <a:cs typeface="Consolas" pitchFamily="34" charset="-120"/>
              </a:rPr>
              <a:t>"BusinessPartners?$select=CardCode,CardName&amp;$top=5"</a:t>
            </a:r>
            <a:r>
              <a:rPr lang="en-US" sz="880" dirty="0">
                <a:solidFill>
                  <a:srgbClr val="DCE6F2"/>
                </a:solidFill>
                <a:latin typeface="Consolas" pitchFamily="34" charset="0"/>
                <a:ea typeface="Consolas" pitchFamily="34" charset="-122"/>
                <a:cs typeface="Consolas" pitchFamily="34" charset="-120"/>
              </a:rPr>
              <a:t>);</a:t>
            </a:r>
            <a:endParaRPr lang="en-US" sz="880" dirty="0"/>
          </a:p>
          <a:p>
            <a:pPr marL="0" indent="0">
              <a:lnSpc>
                <a:spcPct val="100000"/>
              </a:lnSpc>
              <a:buNone/>
            </a:pPr>
            <a:r>
              <a:rPr lang="en-US" sz="880" b="1" dirty="0">
                <a:solidFill>
                  <a:srgbClr val="F5A800"/>
                </a:solidFill>
                <a:latin typeface="Consolas" pitchFamily="34" charset="0"/>
                <a:ea typeface="Consolas" pitchFamily="34" charset="-122"/>
                <a:cs typeface="Consolas" pitchFamily="34" charset="-120"/>
              </a:rPr>
              <a:t>string</a:t>
            </a:r>
            <a:r>
              <a:rPr lang="en-US" sz="880" dirty="0">
                <a:solidFill>
                  <a:srgbClr val="DCE6F2"/>
                </a:solidFill>
                <a:latin typeface="Consolas" pitchFamily="34" charset="0"/>
                <a:ea typeface="Consolas" pitchFamily="34" charset="-122"/>
                <a:cs typeface="Consolas" pitchFamily="34" charset="-120"/>
              </a:rPr>
              <a:t> json = </a:t>
            </a:r>
            <a:r>
              <a:rPr lang="en-US" sz="880" b="1" dirty="0">
                <a:solidFill>
                  <a:srgbClr val="F5A800"/>
                </a:solidFill>
                <a:latin typeface="Consolas" pitchFamily="34" charset="0"/>
                <a:ea typeface="Consolas" pitchFamily="34" charset="-122"/>
                <a:cs typeface="Consolas" pitchFamily="34" charset="-120"/>
              </a:rPr>
              <a:t>await</a:t>
            </a:r>
            <a:r>
              <a:rPr lang="en-US" sz="880" dirty="0">
                <a:solidFill>
                  <a:srgbClr val="DCE6F2"/>
                </a:solidFill>
                <a:latin typeface="Consolas" pitchFamily="34" charset="0"/>
                <a:ea typeface="Consolas" pitchFamily="34" charset="-122"/>
                <a:cs typeface="Consolas" pitchFamily="34" charset="-120"/>
              </a:rPr>
              <a:t> resp.Content.ReadAsStringAsync();</a:t>
            </a:r>
            <a:endParaRPr lang="en-US" sz="880" dirty="0"/>
          </a:p>
        </p:txBody>
      </p:sp>
      <p:sp>
        <p:nvSpPr>
          <p:cNvPr id="12" name="Shape 10"/>
          <p:cNvSpPr/>
          <p:nvPr/>
        </p:nvSpPr>
        <p:spPr>
          <a:xfrm>
            <a:off x="5852160" y="1188720"/>
            <a:ext cx="2834640" cy="795528"/>
          </a:xfrm>
          <a:prstGeom prst="roundRect">
            <a:avLst>
              <a:gd name="adj" fmla="val 9195"/>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3" name="Shape 11"/>
          <p:cNvSpPr/>
          <p:nvPr/>
        </p:nvSpPr>
        <p:spPr>
          <a:xfrm>
            <a:off x="5961888" y="1362456"/>
            <a:ext cx="438912" cy="438912"/>
          </a:xfrm>
          <a:prstGeom prst="ellipse">
            <a:avLst/>
          </a:prstGeom>
          <a:solidFill>
            <a:srgbClr val="E8F1FC"/>
          </a:solidFill>
          <a:ln w="12700">
            <a:solidFill>
              <a:srgbClr val="E8F1FC"/>
            </a:solidFill>
            <a:prstDash val="solid"/>
          </a:ln>
        </p:spPr>
      </p:sp>
      <p:pic>
        <p:nvPicPr>
          <p:cNvPr id="14" name="Image 0" descr="preencoded.png"/>
          <p:cNvPicPr>
            <a:picLocks noChangeAspect="1"/>
          </p:cNvPicPr>
          <p:nvPr/>
        </p:nvPicPr>
        <p:blipFill>
          <a:blip r:embed="rId3"/>
          <a:stretch>
            <a:fillRect/>
          </a:stretch>
        </p:blipFill>
        <p:spPr>
          <a:xfrm>
            <a:off x="6076005" y="1476573"/>
            <a:ext cx="210678" cy="210678"/>
          </a:xfrm>
          <a:prstGeom prst="rect">
            <a:avLst/>
          </a:prstGeom>
        </p:spPr>
      </p:pic>
      <p:sp>
        <p:nvSpPr>
          <p:cNvPr id="15" name="Text 12"/>
          <p:cNvSpPr txBox="1"/>
          <p:nvPr/>
        </p:nvSpPr>
        <p:spPr>
          <a:xfrm>
            <a:off x="6492240" y="1280160"/>
            <a:ext cx="2103120" cy="256032"/>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401 = sesión vencida</a:t>
            </a:r>
            <a:endParaRPr lang="en-US" sz="1100" dirty="0"/>
          </a:p>
        </p:txBody>
      </p:sp>
      <p:sp>
        <p:nvSpPr>
          <p:cNvPr id="16" name="Text 13"/>
          <p:cNvSpPr txBox="1"/>
          <p:nvPr/>
        </p:nvSpPr>
        <p:spPr>
          <a:xfrm>
            <a:off x="6492240" y="1536192"/>
            <a:ext cx="210312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Vuelve a pedir el contexto y reintenta la petición.</a:t>
            </a:r>
            <a:endParaRPr lang="en-US" sz="950" dirty="0"/>
          </a:p>
        </p:txBody>
      </p:sp>
      <p:sp>
        <p:nvSpPr>
          <p:cNvPr id="17" name="Shape 14"/>
          <p:cNvSpPr/>
          <p:nvPr/>
        </p:nvSpPr>
        <p:spPr>
          <a:xfrm>
            <a:off x="5852160" y="2093976"/>
            <a:ext cx="2834640" cy="795528"/>
          </a:xfrm>
          <a:prstGeom prst="roundRect">
            <a:avLst>
              <a:gd name="adj" fmla="val 9195"/>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18" name="Shape 15"/>
          <p:cNvSpPr/>
          <p:nvPr/>
        </p:nvSpPr>
        <p:spPr>
          <a:xfrm>
            <a:off x="5961888" y="2267712"/>
            <a:ext cx="438912" cy="438912"/>
          </a:xfrm>
          <a:prstGeom prst="ellipse">
            <a:avLst/>
          </a:prstGeom>
          <a:solidFill>
            <a:srgbClr val="E8F1FC"/>
          </a:solidFill>
          <a:ln w="12700">
            <a:solidFill>
              <a:srgbClr val="E8F1FC"/>
            </a:solidFill>
            <a:prstDash val="solid"/>
          </a:ln>
        </p:spPr>
      </p:sp>
      <p:pic>
        <p:nvPicPr>
          <p:cNvPr id="19" name="Image 1" descr="preencoded.png"/>
          <p:cNvPicPr>
            <a:picLocks noChangeAspect="1"/>
          </p:cNvPicPr>
          <p:nvPr/>
        </p:nvPicPr>
        <p:blipFill>
          <a:blip r:embed="rId4"/>
          <a:stretch>
            <a:fillRect/>
          </a:stretch>
        </p:blipFill>
        <p:spPr>
          <a:xfrm>
            <a:off x="6076005" y="2381829"/>
            <a:ext cx="210678" cy="210678"/>
          </a:xfrm>
          <a:prstGeom prst="rect">
            <a:avLst/>
          </a:prstGeom>
        </p:spPr>
      </p:pic>
      <p:sp>
        <p:nvSpPr>
          <p:cNvPr id="20" name="Text 16"/>
          <p:cNvSpPr txBox="1"/>
          <p:nvPr/>
        </p:nvSpPr>
        <p:spPr>
          <a:xfrm>
            <a:off x="6492240" y="2185416"/>
            <a:ext cx="2103120" cy="256032"/>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Un contexto por usuario</a:t>
            </a:r>
            <a:endParaRPr lang="en-US" sz="1100" dirty="0"/>
          </a:p>
        </p:txBody>
      </p:sp>
      <p:sp>
        <p:nvSpPr>
          <p:cNvPr id="21" name="Text 17"/>
          <p:cNvSpPr txBox="1"/>
          <p:nvPr/>
        </p:nvSpPr>
        <p:spPr>
          <a:xfrm>
            <a:off x="6492240" y="2441448"/>
            <a:ext cx="210312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Nunca compartas la cookie entre usuarios o equipos.</a:t>
            </a:r>
            <a:endParaRPr lang="en-US" sz="950" dirty="0"/>
          </a:p>
        </p:txBody>
      </p:sp>
      <p:sp>
        <p:nvSpPr>
          <p:cNvPr id="22" name="Shape 18"/>
          <p:cNvSpPr/>
          <p:nvPr/>
        </p:nvSpPr>
        <p:spPr>
          <a:xfrm>
            <a:off x="5852160" y="2999232"/>
            <a:ext cx="2834640" cy="795528"/>
          </a:xfrm>
          <a:prstGeom prst="roundRect">
            <a:avLst>
              <a:gd name="adj" fmla="val 9195"/>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3" name="Shape 19"/>
          <p:cNvSpPr/>
          <p:nvPr/>
        </p:nvSpPr>
        <p:spPr>
          <a:xfrm>
            <a:off x="5961888" y="3172968"/>
            <a:ext cx="438912" cy="438912"/>
          </a:xfrm>
          <a:prstGeom prst="ellipse">
            <a:avLst/>
          </a:prstGeom>
          <a:solidFill>
            <a:srgbClr val="E8F1FC"/>
          </a:solidFill>
          <a:ln w="12700">
            <a:solidFill>
              <a:srgbClr val="E8F1FC"/>
            </a:solidFill>
            <a:prstDash val="solid"/>
          </a:ln>
        </p:spPr>
      </p:sp>
      <p:pic>
        <p:nvPicPr>
          <p:cNvPr id="24" name="Image 2" descr="preencoded.png"/>
          <p:cNvPicPr>
            <a:picLocks noChangeAspect="1"/>
          </p:cNvPicPr>
          <p:nvPr/>
        </p:nvPicPr>
        <p:blipFill>
          <a:blip r:embed="rId5"/>
          <a:stretch>
            <a:fillRect/>
          </a:stretch>
        </p:blipFill>
        <p:spPr>
          <a:xfrm>
            <a:off x="6076005" y="3287085"/>
            <a:ext cx="210678" cy="210678"/>
          </a:xfrm>
          <a:prstGeom prst="rect">
            <a:avLst/>
          </a:prstGeom>
        </p:spPr>
      </p:pic>
      <p:sp>
        <p:nvSpPr>
          <p:cNvPr id="25" name="Text 20"/>
          <p:cNvSpPr txBox="1"/>
          <p:nvPr/>
        </p:nvSpPr>
        <p:spPr>
          <a:xfrm>
            <a:off x="6492240" y="3090672"/>
            <a:ext cx="2103120" cy="256032"/>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No bloquees la UI</a:t>
            </a:r>
            <a:endParaRPr lang="en-US" sz="1100" dirty="0"/>
          </a:p>
        </p:txBody>
      </p:sp>
      <p:sp>
        <p:nvSpPr>
          <p:cNvPr id="26" name="Text 21"/>
          <p:cNvSpPr txBox="1"/>
          <p:nvPr/>
        </p:nvSpPr>
        <p:spPr>
          <a:xfrm>
            <a:off x="6492240" y="3346704"/>
            <a:ext cx="210312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Llamadas async fuera del hilo de eventos del cliente.</a:t>
            </a:r>
            <a:endParaRPr lang="en-US" sz="950" dirty="0"/>
          </a:p>
        </p:txBody>
      </p:sp>
      <p:sp>
        <p:nvSpPr>
          <p:cNvPr id="27" name="Shape 22"/>
          <p:cNvSpPr/>
          <p:nvPr/>
        </p:nvSpPr>
        <p:spPr>
          <a:xfrm>
            <a:off x="5852160" y="3904488"/>
            <a:ext cx="2834640" cy="795528"/>
          </a:xfrm>
          <a:prstGeom prst="roundRect">
            <a:avLst>
              <a:gd name="adj" fmla="val 9195"/>
            </a:avLst>
          </a:prstGeom>
          <a:solidFill>
            <a:srgbClr val="FFFFFF"/>
          </a:solidFill>
          <a:ln w="9525">
            <a:solidFill>
              <a:srgbClr val="D5DFEC"/>
            </a:solidFill>
            <a:prstDash val="solid"/>
          </a:ln>
          <a:effectLst>
            <a:outerShdw blurRad="101600" dist="25400" dir="5400000" algn="bl" rotWithShape="0">
              <a:srgbClr val="0B2A55">
                <a:alpha val="12000"/>
              </a:srgbClr>
            </a:outerShdw>
          </a:effectLst>
        </p:spPr>
      </p:sp>
      <p:sp>
        <p:nvSpPr>
          <p:cNvPr id="28" name="Shape 23"/>
          <p:cNvSpPr/>
          <p:nvPr/>
        </p:nvSpPr>
        <p:spPr>
          <a:xfrm>
            <a:off x="5961888" y="4078224"/>
            <a:ext cx="438912" cy="438912"/>
          </a:xfrm>
          <a:prstGeom prst="ellipse">
            <a:avLst/>
          </a:prstGeom>
          <a:solidFill>
            <a:srgbClr val="E8F1FC"/>
          </a:solidFill>
          <a:ln w="12700">
            <a:solidFill>
              <a:srgbClr val="E8F1FC"/>
            </a:solidFill>
            <a:prstDash val="solid"/>
          </a:ln>
        </p:spPr>
      </p:sp>
      <p:pic>
        <p:nvPicPr>
          <p:cNvPr id="29" name="Image 3" descr="preencoded.png"/>
          <p:cNvPicPr>
            <a:picLocks noChangeAspect="1"/>
          </p:cNvPicPr>
          <p:nvPr/>
        </p:nvPicPr>
        <p:blipFill>
          <a:blip r:embed="rId6"/>
          <a:stretch>
            <a:fillRect/>
          </a:stretch>
        </p:blipFill>
        <p:spPr>
          <a:xfrm>
            <a:off x="6076005" y="4192341"/>
            <a:ext cx="210678" cy="210678"/>
          </a:xfrm>
          <a:prstGeom prst="rect">
            <a:avLst/>
          </a:prstGeom>
        </p:spPr>
      </p:pic>
      <p:sp>
        <p:nvSpPr>
          <p:cNvPr id="30" name="Text 24"/>
          <p:cNvSpPr txBox="1"/>
          <p:nvPr/>
        </p:nvSpPr>
        <p:spPr>
          <a:xfrm>
            <a:off x="6492240" y="3995928"/>
            <a:ext cx="2103120" cy="256032"/>
          </a:xfrm>
          <a:prstGeom prst="rect">
            <a:avLst/>
          </a:prstGeom>
          <a:noFill/>
          <a:ln/>
        </p:spPr>
        <p:txBody>
          <a:bodyPr wrap="square" lIns="0" tIns="0" rIns="0" bIns="0" rtlCol="0" anchor="t"/>
          <a:lstStyle/>
          <a:p>
            <a:pPr marL="0" indent="0">
              <a:buNone/>
            </a:pPr>
            <a:r>
              <a:rPr lang="en-US" sz="1100" b="1" dirty="0">
                <a:solidFill>
                  <a:srgbClr val="071B3F"/>
                </a:solidFill>
                <a:latin typeface="Segoe UI" pitchFamily="34" charset="0"/>
                <a:ea typeface="Segoe UI" pitchFamily="34" charset="-122"/>
                <a:cs typeface="Segoe UI" pitchFamily="34" charset="-120"/>
              </a:rPr>
              <a:t>Reutiliza tu cliente</a:t>
            </a:r>
            <a:endParaRPr lang="en-US" sz="1100" dirty="0"/>
          </a:p>
        </p:txBody>
      </p:sp>
      <p:sp>
        <p:nvSpPr>
          <p:cNvPr id="31" name="Text 25"/>
          <p:cNvSpPr txBox="1"/>
          <p:nvPr/>
        </p:nvSpPr>
        <p:spPr>
          <a:xfrm>
            <a:off x="6492240" y="4251960"/>
            <a:ext cx="2103120" cy="411480"/>
          </a:xfrm>
          <a:prstGeom prst="rect">
            <a:avLst/>
          </a:prstGeom>
          <a:noFill/>
          <a:ln/>
        </p:spPr>
        <p:txBody>
          <a:bodyPr wrap="square" lIns="0" tIns="0" rIns="0" bIns="0" rtlCol="0" anchor="t"/>
          <a:lstStyle/>
          <a:p>
            <a:pPr marL="0" indent="0">
              <a:buNone/>
            </a:pPr>
            <a:r>
              <a:rPr lang="en-US" sz="950" dirty="0">
                <a:solidFill>
                  <a:srgbClr val="5B6B82"/>
                </a:solidFill>
                <a:latin typeface="Calibri" pitchFamily="34" charset="0"/>
                <a:ea typeface="Calibri" pitchFamily="34" charset="-122"/>
                <a:cs typeface="Calibri" pitchFamily="34" charset="-120"/>
              </a:rPr>
              <a:t>Inyecta la cookie en el cliente HTTP del capítulo 6.</a:t>
            </a:r>
            <a:endParaRPr lang="en-US" sz="950" dirty="0"/>
          </a:p>
        </p:txBody>
      </p:sp>
      <p:sp>
        <p:nvSpPr>
          <p:cNvPr id="32" name="Slide Number Placeholder 0"/>
          <p:cNvSpPr>
            <a:spLocks noGrp="1"/>
          </p:cNvSpPr>
          <p:nvPr>
            <p:ph type="sldNum" sz="quarter" idx="4294967295"/>
          </p:nvPr>
        </p:nvSpPr>
        <p:spPr>
          <a:xfrm>
            <a:off x="8229600" y="4828032"/>
            <a:ext cx="457200" cy="201168"/>
          </a:xfrm>
          <a:prstGeom prst="rect">
            <a:avLst/>
          </a:prstGeom>
          <a:extLst>
            <a:ext uri="{C572A759-6A51-4108-AA02-DFA0A04FC94B}">
              <ma14:wrappingTextBoxFlag xmlns:ma14="http://schemas.microsoft.com/office/mac/drawingml/2011/main" xmlns="" val="0"/>
            </a:ext>
          </a:extLst>
        </p:spPr>
        <p:txBody>
          <a:bodyPr/>
          <a:lstStyle>
            <a:lvl1pPr>
              <a:defRPr sz="800">
                <a:solidFill>
                  <a:srgbClr val="8A9AB0"/>
                </a:solidFill>
                <a:latin typeface="Calibri"/>
                <a:ea typeface="Calibri"/>
                <a:cs typeface="Calibri"/>
              </a:defRPr>
            </a:lvl1pPr>
          </a:lstStyle>
          <a:p>
            <a:pPr algn="r"/>
            <a:fld id="{F7021451-1387-4CA6-816F-3879F97B5CBC}" type="slidenum">
              <a:rPr lang="en-US" b="0"/>
              <a:t>43</a:t>
            </a:fld>
            <a:endParaRPr lang="en-US"/>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1188720"/>
            <a:ext cx="5486400" cy="914400"/>
          </a:xfrm>
          <a:prstGeom prst="rect">
            <a:avLst/>
          </a:prstGeom>
          <a:noFill/>
          <a:ln/>
        </p:spPr>
        <p:txBody>
          <a:bodyPr wrap="square" lIns="0" tIns="0" rIns="0" bIns="0" rtlCol="0" anchor="t"/>
          <a:lstStyle/>
          <a:p>
            <a:pPr marL="0" indent="0">
              <a:buNone/>
            </a:pPr>
            <a:r>
              <a:rPr lang="en-US" sz="5400" b="1" dirty="0">
                <a:solidFill>
                  <a:srgbClr val="FFFFFF"/>
                </a:solidFill>
                <a:latin typeface="Segoe UI" pitchFamily="34" charset="0"/>
                <a:ea typeface="Segoe UI" pitchFamily="34" charset="-122"/>
                <a:cs typeface="Segoe UI" pitchFamily="34" charset="-120"/>
              </a:rPr>
              <a:t>¡Gracias!</a:t>
            </a:r>
            <a:endParaRPr lang="en-US" sz="5400" dirty="0"/>
          </a:p>
        </p:txBody>
      </p:sp>
      <p:sp>
        <p:nvSpPr>
          <p:cNvPr id="3" name="Text 1"/>
          <p:cNvSpPr txBox="1"/>
          <p:nvPr/>
        </p:nvSpPr>
        <p:spPr>
          <a:xfrm>
            <a:off x="658368" y="2103120"/>
            <a:ext cx="5486400" cy="548640"/>
          </a:xfrm>
          <a:prstGeom prst="rect">
            <a:avLst/>
          </a:prstGeom>
          <a:noFill/>
          <a:ln/>
        </p:spPr>
        <p:txBody>
          <a:bodyPr wrap="square" lIns="0" tIns="0" rIns="0" bIns="0" rtlCol="0" anchor="t"/>
          <a:lstStyle/>
          <a:p>
            <a:pPr marL="0" indent="0">
              <a:buNone/>
            </a:pPr>
            <a:r>
              <a:rPr lang="en-US" sz="2600" dirty="0">
                <a:solidFill>
                  <a:srgbClr val="F5A800"/>
                </a:solidFill>
                <a:latin typeface="Segoe UI" pitchFamily="34" charset="0"/>
                <a:ea typeface="Segoe UI" pitchFamily="34" charset="-122"/>
                <a:cs typeface="Segoe UI" pitchFamily="34" charset="-120"/>
              </a:rPr>
              <a:t>¿Preguntas?</a:t>
            </a:r>
            <a:endParaRPr lang="en-US" sz="2600" dirty="0"/>
          </a:p>
        </p:txBody>
      </p:sp>
      <p:sp>
        <p:nvSpPr>
          <p:cNvPr id="4" name="Shape 2"/>
          <p:cNvSpPr/>
          <p:nvPr/>
        </p:nvSpPr>
        <p:spPr>
          <a:xfrm>
            <a:off x="658368" y="2971800"/>
            <a:ext cx="1207008" cy="310896"/>
          </a:xfrm>
          <a:prstGeom prst="roundRect">
            <a:avLst>
              <a:gd name="adj" fmla="val 50000"/>
            </a:avLst>
          </a:prstGeom>
          <a:solidFill>
            <a:srgbClr val="FFFFFF">
              <a:alpha val="12000"/>
            </a:srgbClr>
          </a:solidFill>
          <a:ln w="9525">
            <a:solidFill>
              <a:srgbClr val="7FB6F0"/>
            </a:solidFill>
            <a:prstDash val="solid"/>
          </a:ln>
        </p:spPr>
      </p:sp>
      <p:sp>
        <p:nvSpPr>
          <p:cNvPr id="5" name="Text 3"/>
          <p:cNvSpPr txBox="1"/>
          <p:nvPr/>
        </p:nvSpPr>
        <p:spPr>
          <a:xfrm>
            <a:off x="658368" y="2971800"/>
            <a:ext cx="1207008"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REST / OData</a:t>
            </a:r>
            <a:endParaRPr lang="en-US" sz="1050" dirty="0"/>
          </a:p>
        </p:txBody>
      </p:sp>
      <p:sp>
        <p:nvSpPr>
          <p:cNvPr id="6" name="Shape 4"/>
          <p:cNvSpPr/>
          <p:nvPr/>
        </p:nvSpPr>
        <p:spPr>
          <a:xfrm>
            <a:off x="1975104" y="2971800"/>
            <a:ext cx="1517904" cy="310896"/>
          </a:xfrm>
          <a:prstGeom prst="roundRect">
            <a:avLst>
              <a:gd name="adj" fmla="val 50000"/>
            </a:avLst>
          </a:prstGeom>
          <a:solidFill>
            <a:srgbClr val="FFFFFF">
              <a:alpha val="12000"/>
            </a:srgbClr>
          </a:solidFill>
          <a:ln w="9525">
            <a:solidFill>
              <a:srgbClr val="7FB6F0"/>
            </a:solidFill>
            <a:prstDash val="solid"/>
          </a:ln>
        </p:spPr>
      </p:sp>
      <p:sp>
        <p:nvSpPr>
          <p:cNvPr id="7" name="Text 5"/>
          <p:cNvSpPr txBox="1"/>
          <p:nvPr/>
        </p:nvSpPr>
        <p:spPr>
          <a:xfrm>
            <a:off x="1975104" y="2971800"/>
            <a:ext cx="1517904"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Sesión y ROUTEID</a:t>
            </a:r>
            <a:endParaRPr lang="en-US" sz="1050" dirty="0"/>
          </a:p>
        </p:txBody>
      </p:sp>
      <p:sp>
        <p:nvSpPr>
          <p:cNvPr id="8" name="Shape 6"/>
          <p:cNvSpPr/>
          <p:nvPr/>
        </p:nvSpPr>
        <p:spPr>
          <a:xfrm>
            <a:off x="3602736" y="2971800"/>
            <a:ext cx="1129284" cy="310896"/>
          </a:xfrm>
          <a:prstGeom prst="roundRect">
            <a:avLst>
              <a:gd name="adj" fmla="val 50000"/>
            </a:avLst>
          </a:prstGeom>
          <a:solidFill>
            <a:srgbClr val="FFFFFF">
              <a:alpha val="12000"/>
            </a:srgbClr>
          </a:solidFill>
          <a:ln w="9525">
            <a:solidFill>
              <a:srgbClr val="7FB6F0"/>
            </a:solidFill>
            <a:prstDash val="solid"/>
          </a:ln>
        </p:spPr>
      </p:sp>
      <p:sp>
        <p:nvSpPr>
          <p:cNvPr id="9" name="Text 7"/>
          <p:cNvSpPr txBox="1"/>
          <p:nvPr/>
        </p:nvSpPr>
        <p:spPr>
          <a:xfrm>
            <a:off x="3602736" y="2971800"/>
            <a:ext cx="1129284"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PATCH &gt; PUT</a:t>
            </a:r>
            <a:endParaRPr lang="en-US" sz="1050" dirty="0"/>
          </a:p>
        </p:txBody>
      </p:sp>
      <p:sp>
        <p:nvSpPr>
          <p:cNvPr id="10" name="Shape 8"/>
          <p:cNvSpPr/>
          <p:nvPr/>
        </p:nvSpPr>
        <p:spPr>
          <a:xfrm>
            <a:off x="4841748" y="2971800"/>
            <a:ext cx="1051560" cy="310896"/>
          </a:xfrm>
          <a:prstGeom prst="roundRect">
            <a:avLst>
              <a:gd name="adj" fmla="val 50000"/>
            </a:avLst>
          </a:prstGeom>
          <a:solidFill>
            <a:srgbClr val="FFFFFF">
              <a:alpha val="12000"/>
            </a:srgbClr>
          </a:solidFill>
          <a:ln w="9525">
            <a:solidFill>
              <a:srgbClr val="7FB6F0"/>
            </a:solidFill>
            <a:prstDash val="solid"/>
          </a:ln>
        </p:spPr>
      </p:sp>
      <p:sp>
        <p:nvSpPr>
          <p:cNvPr id="11" name="Text 9"/>
          <p:cNvSpPr txBox="1"/>
          <p:nvPr/>
        </p:nvSpPr>
        <p:spPr>
          <a:xfrm>
            <a:off x="4841748" y="2971800"/>
            <a:ext cx="1051560"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UDT vs UDO</a:t>
            </a:r>
            <a:endParaRPr lang="en-US" sz="1050" dirty="0"/>
          </a:p>
        </p:txBody>
      </p:sp>
      <p:sp>
        <p:nvSpPr>
          <p:cNvPr id="12" name="Shape 10"/>
          <p:cNvSpPr/>
          <p:nvPr/>
        </p:nvSpPr>
        <p:spPr>
          <a:xfrm>
            <a:off x="6003036" y="2971800"/>
            <a:ext cx="1051560" cy="310896"/>
          </a:xfrm>
          <a:prstGeom prst="roundRect">
            <a:avLst>
              <a:gd name="adj" fmla="val 50000"/>
            </a:avLst>
          </a:prstGeom>
          <a:solidFill>
            <a:srgbClr val="FFFFFF">
              <a:alpha val="12000"/>
            </a:srgbClr>
          </a:solidFill>
          <a:ln w="9525">
            <a:solidFill>
              <a:srgbClr val="7FB6F0"/>
            </a:solidFill>
            <a:prstDash val="solid"/>
          </a:ln>
        </p:spPr>
      </p:sp>
      <p:sp>
        <p:nvSpPr>
          <p:cNvPr id="13" name="Text 11"/>
          <p:cNvSpPr txBox="1"/>
          <p:nvPr/>
        </p:nvSpPr>
        <p:spPr>
          <a:xfrm>
            <a:off x="6003036" y="2971800"/>
            <a:ext cx="1051560"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Changesets</a:t>
            </a:r>
            <a:endParaRPr lang="en-US" sz="1050" dirty="0"/>
          </a:p>
        </p:txBody>
      </p:sp>
      <p:sp>
        <p:nvSpPr>
          <p:cNvPr id="14" name="Shape 12"/>
          <p:cNvSpPr/>
          <p:nvPr/>
        </p:nvSpPr>
        <p:spPr>
          <a:xfrm>
            <a:off x="7164324" y="2971800"/>
            <a:ext cx="896112" cy="310896"/>
          </a:xfrm>
          <a:prstGeom prst="roundRect">
            <a:avLst>
              <a:gd name="adj" fmla="val 50000"/>
            </a:avLst>
          </a:prstGeom>
          <a:solidFill>
            <a:srgbClr val="FFFFFF">
              <a:alpha val="12000"/>
            </a:srgbClr>
          </a:solidFill>
          <a:ln w="9525">
            <a:solidFill>
              <a:srgbClr val="7FB6F0"/>
            </a:solidFill>
            <a:prstDash val="solid"/>
          </a:ln>
        </p:spPr>
      </p:sp>
      <p:sp>
        <p:nvSpPr>
          <p:cNvPr id="15" name="Text 13"/>
          <p:cNvSpPr txBox="1"/>
          <p:nvPr/>
        </p:nvSpPr>
        <p:spPr>
          <a:xfrm>
            <a:off x="7164324" y="2971800"/>
            <a:ext cx="896112"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B1SLayer</a:t>
            </a:r>
            <a:endParaRPr lang="en-US" sz="1050" dirty="0"/>
          </a:p>
        </p:txBody>
      </p:sp>
      <p:sp>
        <p:nvSpPr>
          <p:cNvPr id="16" name="Shape 14"/>
          <p:cNvSpPr/>
          <p:nvPr/>
        </p:nvSpPr>
        <p:spPr>
          <a:xfrm>
            <a:off x="8170164" y="2971800"/>
            <a:ext cx="507492" cy="310896"/>
          </a:xfrm>
          <a:prstGeom prst="roundRect">
            <a:avLst>
              <a:gd name="adj" fmla="val 50000"/>
            </a:avLst>
          </a:prstGeom>
          <a:solidFill>
            <a:srgbClr val="FFFFFF">
              <a:alpha val="12000"/>
            </a:srgbClr>
          </a:solidFill>
          <a:ln w="9525">
            <a:solidFill>
              <a:srgbClr val="7FB6F0"/>
            </a:solidFill>
            <a:prstDash val="solid"/>
          </a:ln>
        </p:spPr>
      </p:sp>
      <p:sp>
        <p:nvSpPr>
          <p:cNvPr id="17" name="Text 15"/>
          <p:cNvSpPr txBox="1"/>
          <p:nvPr/>
        </p:nvSpPr>
        <p:spPr>
          <a:xfrm>
            <a:off x="8170164" y="2971800"/>
            <a:ext cx="507492" cy="310896"/>
          </a:xfrm>
          <a:prstGeom prst="rect">
            <a:avLst/>
          </a:prstGeom>
          <a:noFill/>
          <a:ln/>
        </p:spPr>
        <p:txBody>
          <a:bodyPr wrap="square" lIns="0" tIns="0" rIns="0" bIns="0" rtlCol="0" anchor="ctr"/>
          <a:lstStyle/>
          <a:p>
            <a:pPr marL="0" indent="0" algn="ctr">
              <a:buNone/>
            </a:pPr>
            <a:r>
              <a:rPr lang="en-US" sz="1050" dirty="0">
                <a:solidFill>
                  <a:srgbClr val="FFFFFF"/>
                </a:solidFill>
                <a:latin typeface="Calibri" pitchFamily="34" charset="0"/>
                <a:ea typeface="Calibri" pitchFamily="34" charset="-122"/>
                <a:cs typeface="Calibri" pitchFamily="34" charset="-120"/>
              </a:rPr>
              <a:t>SSO</a:t>
            </a:r>
            <a:endParaRPr lang="en-US" sz="1050" dirty="0"/>
          </a:p>
        </p:txBody>
      </p:sp>
      <p:sp>
        <p:nvSpPr>
          <p:cNvPr id="18" name="Text 16"/>
          <p:cNvSpPr txBox="1"/>
          <p:nvPr/>
        </p:nvSpPr>
        <p:spPr>
          <a:xfrm>
            <a:off x="658368" y="3931920"/>
            <a:ext cx="4572000" cy="548640"/>
          </a:xfrm>
          <a:prstGeom prst="rect">
            <a:avLst/>
          </a:prstGeom>
          <a:noFill/>
          <a:ln/>
        </p:spPr>
        <p:txBody>
          <a:bodyPr wrap="square" lIns="0" tIns="0" rIns="0" bIns="0" rtlCol="0" anchor="t"/>
          <a:lstStyle/>
          <a:p>
            <a:pPr marL="0" indent="0">
              <a:buNone/>
            </a:pPr>
            <a:r>
              <a:rPr lang="en-US" sz="1500" b="1" dirty="0">
                <a:solidFill>
                  <a:srgbClr val="FFFFFF"/>
                </a:solidFill>
                <a:latin typeface="Segoe UI" pitchFamily="34" charset="0"/>
                <a:ea typeface="Segoe UI" pitchFamily="34" charset="-122"/>
                <a:cs typeface="Segoe UI" pitchFamily="34" charset="-120"/>
              </a:rPr>
              <a:t>David Mechato</a:t>
            </a:r>
            <a:endParaRPr lang="en-US" sz="1300" dirty="0"/>
          </a:p>
          <a:p>
            <a:pPr marL="0" indent="0">
              <a:buNone/>
            </a:pPr>
            <a:r>
              <a:rPr lang="en-US" sz="1100" dirty="0">
                <a:solidFill>
                  <a:srgbClr val="B9D3F0"/>
                </a:solidFill>
                <a:latin typeface="Calibri" pitchFamily="34" charset="0"/>
                <a:ea typeface="Calibri" pitchFamily="34" charset="-122"/>
                <a:cs typeface="Calibri" pitchFamily="34" charset="-120"/>
              </a:rPr>
              <a:t>Instructor  ·  Ventura Soluciones</a:t>
            </a:r>
            <a:endParaRPr lang="en-US" sz="13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4917</Words>
  <Application>Microsoft Office PowerPoint</Application>
  <PresentationFormat>Presentación en pantalla (16:9)</PresentationFormat>
  <Paragraphs>1260</Paragraphs>
  <Slides>44</Slides>
  <Notes>44</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44</vt:i4>
      </vt:variant>
    </vt:vector>
  </HeadingPairs>
  <TitlesOfParts>
    <vt:vector size="49" baseType="lpstr">
      <vt:lpstr>Arial</vt:lpstr>
      <vt:lpstr>Calibri</vt:lpstr>
      <vt:lpstr>Consolas</vt:lpstr>
      <vt:lpstr>Segoe UI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Ventura Soluciones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Business One - Service Layer</dc:title>
  <dc:subject>PptxGenJS Presentation</dc:subject>
  <dc:creator>David Mechato - Ventura Soluciones</dc:creator>
  <cp:lastModifiedBy>David Mechato</cp:lastModifiedBy>
  <cp:revision>1</cp:revision>
  <dcterms:created xsi:type="dcterms:W3CDTF">2026-09-23T11:53:19Z</dcterms:created>
  <dcterms:modified xsi:type="dcterms:W3CDTF">2026-09-23T12:06:54Z</dcterms:modified>
</cp:coreProperties>
</file>