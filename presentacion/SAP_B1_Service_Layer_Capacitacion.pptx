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51" d="100"/>
          <a:sy n="151" d="100"/>
        </p:scale>
        <p:origin x="474"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326213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Capacitación técnica de Ventura Soluciones sobre SAP Business One Service Layer. Instructor: David Mechato. Nivel: programadores con conocimiento básico de Service Layer.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Service Layer es la capa de servicios web de SAP Business One. Reutiliza el mismo núcleo (DI Core) que DI API, por lo que las reglas de negocio son idénticas. /b1s/v1 implementa OData v3 y /b1s/v2 OData v4.</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Contar como una historia: primero se integraba localmente con DI API (COM). Para cargas masivas nació DTW, que usa DI API por debajo. Para integrar desde otros sistemas se expuso DI API en servidor como DI Server (SOAP). Finalmente Service Layer trae un estándar web (REST/OData/JSON), escalable y multiplataforma.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cliente nunca habla directo con un nodo: entra por el balanceador (Apache). Cada nodo es un proceso que carga DI Core y atiende sesiones. La autenticación de usuarios y la asignación de licencias pasan por SLD / License Server.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Diagrama generado en Mermaid (código fuente en el archivo seq.mmd).
1-6: Login. El cliente envía CompanyDB, UserName y Password. El balanceador asigna un nodo; el nodo autentica contra SLD y reserva licencia; abre la compañía y devuelve SessionId + cookies B1SESSION y ROUTEID.
7-10: Consumo. Toda petición envía las cookies; ROUTEID garantiza que llegue al mismo nodo que tiene la sesión.
11-12: Logout libera sesión y licencia. Si no se hace logout, la sesión expira tras SessionTimeout minutos de inactividad.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Postman las cookies se guardan automáticamente tras el login. Con curl usamos -c cookies.txt para guardarlas y -b cookies.txt para enviarlas. Alternativa: header 'Cookie: B1SESSION=...; ROUTEID=...'.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ejemplos se ejecutarán en Postman. Aquí solo el curl de referencia para cada POST.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query options se combinan con &amp;. Solo aplican a lecturas (GET). Recordar codificar la URL: espacios como %20 y comillas simples dentro de textos se duplican (O''Brien). En Postman se pueden escribir en la pestaña Params.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Implicancia en rollback: la unidad transaccional es el changeset, no el batch completo. Changesets grandes mantienen bloqueos en la base de datos; conviene lotes de 50 a 100 operaciones.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líneas en blanco son obligatorias (separan headers del cuerpo) y deben ser CRLF. La respuesta también es multipart: cada parte trae su propio código HTTP.</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xmlns="" val="0"/>
            </a:ext>
          </a:extLst>
        </p:spPr>
        <p:txBody>
          <a:bodyPr/>
          <a:lstStyle>
            <a:lvl1pPr>
              <a:defRPr sz="800">
                <a:solidFill>
                  <a:srgbClr val="8A9AB0"/>
                </a:solidFill>
                <a:latin typeface="Calibri"/>
                <a:ea typeface="Calibri"/>
                <a:cs typeface="Calibri"/>
              </a:defRPr>
            </a:lvl1pPr>
          </a:lstStyle>
          <a:p>
            <a:pPr algn="r"/>
            <a:fld id="{F7021451-1387-4CA6-816F-3879F97B5CBC}" type="slidenum">
              <a:rPr lang="en-US" b="0"/>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xmlns="" val="0"/>
            </a:ext>
          </a:extLst>
        </p:spPr>
        <p:txBody>
          <a:bodyPr/>
          <a:lstStyle>
            <a:lvl1pPr>
              <a:defRPr sz="800">
                <a:solidFill>
                  <a:srgbClr val="8A9AB0"/>
                </a:solidFill>
                <a:latin typeface="Calibri"/>
                <a:ea typeface="Calibri"/>
                <a:cs typeface="Calibri"/>
              </a:defRPr>
            </a:lvl1pPr>
          </a:lstStyle>
          <a:p>
            <a:pPr algn="r"/>
            <a:fld id="{F7021451-1387-4CA6-816F-3879F97B5CBC}" type="slidenum">
              <a:rPr lang="en-US" b="0"/>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0.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7.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17.png"/><Relationship Id="rId4" Type="http://schemas.openxmlformats.org/officeDocument/2006/relationships/image" Target="../media/image30.png"/></Relationships>
</file>

<file path=ppt/slides/_rels/slide1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40.png"/><Relationship Id="rId10" Type="http://schemas.openxmlformats.org/officeDocument/2006/relationships/image" Target="../media/image45.png"/><Relationship Id="rId4" Type="http://schemas.openxmlformats.org/officeDocument/2006/relationships/image" Target="../media/image39.png"/><Relationship Id="rId9" Type="http://schemas.openxmlformats.org/officeDocument/2006/relationships/image" Target="../media/image44.png"/></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2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65.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59.png"/><Relationship Id="rId5" Type="http://schemas.openxmlformats.org/officeDocument/2006/relationships/image" Target="../media/image64.png"/><Relationship Id="rId4" Type="http://schemas.openxmlformats.org/officeDocument/2006/relationships/image" Target="../media/image63.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66.png"/><Relationship Id="rId7" Type="http://schemas.openxmlformats.org/officeDocument/2006/relationships/image" Target="../media/image17.png"/><Relationship Id="rId2" Type="http://schemas.openxmlformats.org/officeDocument/2006/relationships/notesSlide" Target="../notesSlides/notesSlide42.xml"/><Relationship Id="rId1" Type="http://schemas.openxmlformats.org/officeDocument/2006/relationships/slideLayout" Target="../slideLayouts/slideLayout1.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s>
</file>

<file path=ppt/slides/_rels/slide4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4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70.png"/><Relationship Id="rId4" Type="http://schemas.openxmlformats.org/officeDocument/2006/relationships/image" Target="../media/image56.png"/></Relationships>
</file>

<file path=ppt/slides/_rels/slide4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3886200"/>
            <a:ext cx="9144000" cy="1257300"/>
          </a:xfrm>
          <a:prstGeom prst="rect">
            <a:avLst/>
          </a:prstGeom>
          <a:solidFill>
            <a:srgbClr val="071B3F">
              <a:alpha val="88000"/>
            </a:srgbClr>
          </a:solidFill>
          <a:ln w="12700">
            <a:solidFill>
              <a:srgbClr val="071B3F">
                <a:alpha val="0"/>
              </a:srgbClr>
            </a:solidFill>
            <a:prstDash val="solid"/>
          </a:ln>
        </p:spPr>
      </p:sp>
      <p:sp>
        <p:nvSpPr>
          <p:cNvPr id="3" name="Text 1"/>
          <p:cNvSpPr txBox="1"/>
          <p:nvPr/>
        </p:nvSpPr>
        <p:spPr>
          <a:xfrm>
            <a:off x="548640" y="4005072"/>
            <a:ext cx="5943600" cy="228600"/>
          </a:xfrm>
          <a:prstGeom prst="rect">
            <a:avLst/>
          </a:prstGeom>
          <a:noFill/>
          <a:ln/>
        </p:spPr>
        <p:txBody>
          <a:bodyPr wrap="square" lIns="0" tIns="0" rIns="0" bIns="0" rtlCol="0" anchor="t"/>
          <a:lstStyle/>
          <a:p>
            <a:pPr marL="0" indent="0">
              <a:buNone/>
            </a:pPr>
            <a:r>
              <a:rPr lang="en-US" sz="1000" b="1" kern="0" spc="200" dirty="0">
                <a:solidFill>
                  <a:srgbClr val="F5A800"/>
                </a:solidFill>
                <a:latin typeface="Segoe UI" pitchFamily="34" charset="0"/>
                <a:ea typeface="Segoe UI" pitchFamily="34" charset="-122"/>
                <a:cs typeface="Segoe UI" pitchFamily="34" charset="-120"/>
              </a:rPr>
              <a:t>CAPACITACIÓN TÉCNICA  ·  VENTURA SOLUCIONES</a:t>
            </a:r>
            <a:endParaRPr lang="en-US" sz="1000" dirty="0"/>
          </a:p>
        </p:txBody>
      </p:sp>
      <p:sp>
        <p:nvSpPr>
          <p:cNvPr id="4" name="Text 2"/>
          <p:cNvSpPr txBox="1"/>
          <p:nvPr/>
        </p:nvSpPr>
        <p:spPr>
          <a:xfrm>
            <a:off x="548640" y="4224528"/>
            <a:ext cx="6035040" cy="457200"/>
          </a:xfrm>
          <a:prstGeom prst="rect">
            <a:avLst/>
          </a:prstGeom>
          <a:noFill/>
          <a:ln/>
        </p:spPr>
        <p:txBody>
          <a:bodyPr wrap="square" lIns="0" tIns="0" rIns="0" bIns="0" rtlCol="0" anchor="ctr"/>
          <a:lstStyle/>
          <a:p>
            <a:pPr marL="0" indent="0">
              <a:buNone/>
            </a:pPr>
            <a:r>
              <a:rPr lang="en-US" sz="2300" b="1" dirty="0">
                <a:solidFill>
                  <a:srgbClr val="FFFFFF"/>
                </a:solidFill>
                <a:latin typeface="Segoe UI" pitchFamily="34" charset="0"/>
                <a:ea typeface="Segoe UI" pitchFamily="34" charset="-122"/>
                <a:cs typeface="Segoe UI" pitchFamily="34" charset="-120"/>
              </a:rPr>
              <a:t>SAP Business One – Service Layer</a:t>
            </a:r>
            <a:endParaRPr lang="en-US" sz="2300" dirty="0"/>
          </a:p>
        </p:txBody>
      </p:sp>
      <p:sp>
        <p:nvSpPr>
          <p:cNvPr id="5" name="Text 3"/>
          <p:cNvSpPr txBox="1"/>
          <p:nvPr/>
        </p:nvSpPr>
        <p:spPr>
          <a:xfrm>
            <a:off x="548640" y="4663440"/>
            <a:ext cx="6400800" cy="274320"/>
          </a:xfrm>
          <a:prstGeom prst="rect">
            <a:avLst/>
          </a:prstGeom>
          <a:noFill/>
          <a:ln/>
        </p:spPr>
        <p:txBody>
          <a:bodyPr wrap="square" lIns="0" tIns="0" rIns="0" bIns="0" rtlCol="0" anchor="t"/>
          <a:lstStyle/>
          <a:p>
            <a:pPr marL="0" indent="0">
              <a:buNone/>
            </a:pPr>
            <a:r>
              <a:rPr lang="en-US" sz="1200" dirty="0">
                <a:solidFill>
                  <a:srgbClr val="B9D3F0"/>
                </a:solidFill>
                <a:latin typeface="Calibri" pitchFamily="34" charset="0"/>
                <a:ea typeface="Calibri" pitchFamily="34" charset="-122"/>
                <a:cs typeface="Calibri" pitchFamily="34" charset="-120"/>
              </a:rPr>
              <a:t>De cero a integrar: REST/OData, documentos, UDO, batch, B1SLayer y SSO</a:t>
            </a:r>
            <a:endParaRPr lang="en-US" sz="1200" dirty="0"/>
          </a:p>
        </p:txBody>
      </p:sp>
      <p:sp>
        <p:nvSpPr>
          <p:cNvPr id="6" name="Shape 4"/>
          <p:cNvSpPr/>
          <p:nvPr/>
        </p:nvSpPr>
        <p:spPr>
          <a:xfrm>
            <a:off x="6720840" y="4224528"/>
            <a:ext cx="2011680" cy="566928"/>
          </a:xfrm>
          <a:prstGeom prst="roundRect">
            <a:avLst>
              <a:gd name="adj" fmla="val 16129"/>
            </a:avLst>
          </a:prstGeom>
          <a:solidFill>
            <a:srgbClr val="FFFFFF">
              <a:alpha val="12000"/>
            </a:srgbClr>
          </a:solidFill>
          <a:ln w="9525">
            <a:solidFill>
              <a:srgbClr val="7FB6F0"/>
            </a:solidFill>
            <a:prstDash val="solid"/>
          </a:ln>
        </p:spPr>
      </p:sp>
      <p:sp>
        <p:nvSpPr>
          <p:cNvPr id="7" name="Text 5"/>
          <p:cNvSpPr txBox="1"/>
          <p:nvPr/>
        </p:nvSpPr>
        <p:spPr>
          <a:xfrm>
            <a:off x="6858000" y="4270248"/>
            <a:ext cx="1828800" cy="475488"/>
          </a:xfrm>
          <a:prstGeom prst="rect">
            <a:avLst/>
          </a:prstGeom>
          <a:noFill/>
          <a:ln/>
        </p:spPr>
        <p:txBody>
          <a:bodyPr wrap="square" lIns="0" tIns="0" rIns="0" bIns="0" rtlCol="0" anchor="ctr"/>
          <a:lstStyle/>
          <a:p>
            <a:pPr marL="0" indent="0">
              <a:buNone/>
            </a:pPr>
            <a:r>
              <a:rPr lang="en-US" sz="900" b="1" dirty="0">
                <a:solidFill>
                  <a:srgbClr val="29B6F6"/>
                </a:solidFill>
                <a:latin typeface="Calibri" pitchFamily="34" charset="0"/>
                <a:ea typeface="Calibri" pitchFamily="34" charset="-122"/>
                <a:cs typeface="Calibri" pitchFamily="34" charset="-120"/>
              </a:rPr>
              <a:t>Instructor</a:t>
            </a:r>
            <a:endParaRPr lang="en-US" sz="1300" dirty="0"/>
          </a:p>
          <a:p>
            <a:pPr marL="0" indent="0">
              <a:buNone/>
            </a:pPr>
            <a:r>
              <a:rPr lang="en-US" sz="1400" b="1" dirty="0">
                <a:solidFill>
                  <a:srgbClr val="FFFFFF"/>
                </a:solidFill>
                <a:latin typeface="Segoe UI" pitchFamily="34" charset="0"/>
                <a:ea typeface="Segoe UI" pitchFamily="34" charset="-122"/>
                <a:cs typeface="Segoe UI" pitchFamily="34" charset="-120"/>
              </a:rPr>
              <a:t>David Mechato</a:t>
            </a:r>
            <a:endParaRPr lang="en-US" sz="13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C"/>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4572000" cy="548640"/>
          </a:xfrm>
          <a:prstGeom prst="rect">
            <a:avLst/>
          </a:prstGeom>
          <a:noFill/>
          <a:ln/>
        </p:spPr>
        <p:txBody>
          <a:bodyPr wrap="square" lIns="0" tIns="0" rIns="0" bIns="0" rtlCol="0" anchor="t"/>
          <a:lstStyle/>
          <a:p>
            <a:pPr marL="0" indent="0">
              <a:buNone/>
            </a:pPr>
            <a:r>
              <a:rPr lang="en-US" sz="3000" b="1" dirty="0" smtClean="0">
                <a:solidFill>
                  <a:srgbClr val="071B3F"/>
                </a:solidFill>
                <a:latin typeface="Segoe UI" pitchFamily="34" charset="0"/>
                <a:ea typeface="Segoe UI" pitchFamily="34" charset="-122"/>
                <a:cs typeface="Segoe UI" pitchFamily="34" charset="-120"/>
              </a:rPr>
              <a:t>Agenda - </a:t>
            </a:r>
            <a:r>
              <a:rPr lang="en-US" sz="3000" b="1" dirty="0" err="1" smtClean="0">
                <a:solidFill>
                  <a:srgbClr val="071B3F"/>
                </a:solidFill>
                <a:latin typeface="Segoe UI" pitchFamily="34" charset="0"/>
                <a:ea typeface="Segoe UI" pitchFamily="34" charset="-122"/>
                <a:cs typeface="Segoe UI" pitchFamily="34" charset="-120"/>
              </a:rPr>
              <a:t>Actualizada</a:t>
            </a:r>
            <a:endParaRPr lang="en-US" sz="3000" dirty="0"/>
          </a:p>
        </p:txBody>
      </p:sp>
      <p:sp>
        <p:nvSpPr>
          <p:cNvPr id="3" name="Text 1"/>
          <p:cNvSpPr txBox="1"/>
          <p:nvPr/>
        </p:nvSpPr>
        <p:spPr>
          <a:xfrm>
            <a:off x="457200" y="896112"/>
            <a:ext cx="7315200" cy="274320"/>
          </a:xfrm>
          <a:prstGeom prst="rect">
            <a:avLst/>
          </a:prstGeom>
          <a:noFill/>
          <a:ln/>
        </p:spPr>
        <p:txBody>
          <a:bodyPr wrap="square" lIns="0" tIns="0" rIns="0" bIns="0" rtlCol="0" anchor="t"/>
          <a:lstStyle/>
          <a:p>
            <a:pPr marL="0" indent="0">
              <a:buNone/>
            </a:pPr>
            <a:r>
              <a:rPr lang="en-US" sz="1300" dirty="0">
                <a:solidFill>
                  <a:srgbClr val="5B6B82"/>
                </a:solidFill>
                <a:latin typeface="Calibri" pitchFamily="34" charset="0"/>
                <a:ea typeface="Calibri" pitchFamily="34" charset="-122"/>
                <a:cs typeface="Calibri" pitchFamily="34" charset="-120"/>
              </a:rPr>
              <a:t>Siete bloques: de los conceptos a la práctica con Postman y .NET</a:t>
            </a:r>
            <a:endParaRPr lang="en-US" sz="1300" dirty="0"/>
          </a:p>
        </p:txBody>
      </p:sp>
      <p:sp>
        <p:nvSpPr>
          <p:cNvPr id="4" name="Shape 2"/>
          <p:cNvSpPr/>
          <p:nvPr/>
        </p:nvSpPr>
        <p:spPr>
          <a:xfrm>
            <a:off x="457200" y="1417320"/>
            <a:ext cx="1920240" cy="1463040"/>
          </a:xfrm>
          <a:prstGeom prst="roundRect">
            <a:avLst>
              <a:gd name="adj" fmla="val 5000"/>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5" name="Shape 3"/>
          <p:cNvSpPr/>
          <p:nvPr/>
        </p:nvSpPr>
        <p:spPr>
          <a:xfrm>
            <a:off x="621792" y="1600200"/>
            <a:ext cx="420624" cy="420624"/>
          </a:xfrm>
          <a:prstGeom prst="ellipse">
            <a:avLst/>
          </a:prstGeom>
          <a:solidFill>
            <a:srgbClr val="E8F1FC"/>
          </a:solidFill>
          <a:ln w="12700">
            <a:solidFill>
              <a:srgbClr val="E8F1FC"/>
            </a:solidFill>
            <a:prstDash val="solid"/>
          </a:ln>
        </p:spPr>
      </p:sp>
      <p:pic>
        <p:nvPicPr>
          <p:cNvPr id="6" name="Image 0" descr="preencoded.png"/>
          <p:cNvPicPr>
            <a:picLocks noChangeAspect="1"/>
          </p:cNvPicPr>
          <p:nvPr/>
        </p:nvPicPr>
        <p:blipFill>
          <a:blip r:embed="rId3"/>
          <a:stretch>
            <a:fillRect/>
          </a:stretch>
        </p:blipFill>
        <p:spPr>
          <a:xfrm>
            <a:off x="731154" y="1709562"/>
            <a:ext cx="201900" cy="201900"/>
          </a:xfrm>
          <a:prstGeom prst="rect">
            <a:avLst/>
          </a:prstGeom>
        </p:spPr>
      </p:pic>
      <p:sp>
        <p:nvSpPr>
          <p:cNvPr id="7" name="Text 4"/>
          <p:cNvSpPr txBox="1"/>
          <p:nvPr/>
        </p:nvSpPr>
        <p:spPr>
          <a:xfrm>
            <a:off x="1691640" y="1581912"/>
            <a:ext cx="548640" cy="411480"/>
          </a:xfrm>
          <a:prstGeom prst="rect">
            <a:avLst/>
          </a:prstGeom>
          <a:noFill/>
          <a:ln/>
        </p:spPr>
        <p:txBody>
          <a:bodyPr wrap="square" lIns="0" tIns="0" rIns="0" bIns="0" rtlCol="0" anchor="t"/>
          <a:lstStyle/>
          <a:p>
            <a:pPr marL="0" indent="0" algn="r">
              <a:buNone/>
            </a:pPr>
            <a:r>
              <a:rPr lang="en-US" sz="2200" b="1" dirty="0">
                <a:solidFill>
                  <a:srgbClr val="C9D6E8"/>
                </a:solidFill>
                <a:latin typeface="Segoe UI" pitchFamily="34" charset="0"/>
                <a:ea typeface="Segoe UI" pitchFamily="34" charset="-122"/>
                <a:cs typeface="Segoe UI" pitchFamily="34" charset="-120"/>
              </a:rPr>
              <a:t>01</a:t>
            </a:r>
            <a:endParaRPr lang="en-US" sz="2200" dirty="0"/>
          </a:p>
        </p:txBody>
      </p:sp>
      <p:sp>
        <p:nvSpPr>
          <p:cNvPr id="8" name="Text 5"/>
          <p:cNvSpPr txBox="1"/>
          <p:nvPr/>
        </p:nvSpPr>
        <p:spPr>
          <a:xfrm>
            <a:off x="621792" y="2093976"/>
            <a:ext cx="1691640" cy="274320"/>
          </a:xfrm>
          <a:prstGeom prst="rect">
            <a:avLst/>
          </a:prstGeom>
          <a:noFill/>
          <a:ln/>
        </p:spPr>
        <p:txBody>
          <a:bodyPr wrap="square" lIns="0" tIns="0" rIns="0" bIns="0" rtlCol="0" anchor="t"/>
          <a:lstStyle/>
          <a:p>
            <a:pPr marL="0" indent="0">
              <a:buNone/>
            </a:pPr>
            <a:r>
              <a:rPr lang="en-US" sz="1150" b="1" dirty="0">
                <a:solidFill>
                  <a:srgbClr val="071B3F"/>
                </a:solidFill>
                <a:latin typeface="Segoe UI" pitchFamily="34" charset="0"/>
                <a:ea typeface="Segoe UI" pitchFamily="34" charset="-122"/>
                <a:cs typeface="Segoe UI" pitchFamily="34" charset="-120"/>
              </a:rPr>
              <a:t>Introducción</a:t>
            </a:r>
            <a:endParaRPr lang="en-US" sz="1150" dirty="0"/>
          </a:p>
        </p:txBody>
      </p:sp>
      <p:sp>
        <p:nvSpPr>
          <p:cNvPr id="9" name="Text 6"/>
          <p:cNvSpPr txBox="1"/>
          <p:nvPr/>
        </p:nvSpPr>
        <p:spPr>
          <a:xfrm>
            <a:off x="621792" y="2386584"/>
            <a:ext cx="1645920" cy="411480"/>
          </a:xfrm>
          <a:prstGeom prst="rect">
            <a:avLst/>
          </a:prstGeom>
          <a:noFill/>
          <a:ln/>
        </p:spPr>
        <p:txBody>
          <a:bodyPr wrap="square" lIns="0" tIns="0" rIns="0" bIns="0" rtlCol="0" anchor="t"/>
          <a:lstStyle/>
          <a:p>
            <a:pPr marL="0" indent="0">
              <a:buNone/>
            </a:pPr>
            <a:r>
              <a:rPr lang="en-US" sz="1050" dirty="0">
                <a:solidFill>
                  <a:srgbClr val="5B6B82"/>
                </a:solidFill>
                <a:latin typeface="Calibri" pitchFamily="34" charset="0"/>
                <a:ea typeface="Calibri" pitchFamily="34" charset="-122"/>
                <a:cs typeface="Calibri" pitchFamily="34" charset="-120"/>
              </a:rPr>
              <a:t>Qué es, evolución, documentación y casos de uso</a:t>
            </a:r>
            <a:endParaRPr lang="en-US" sz="1050" dirty="0"/>
          </a:p>
        </p:txBody>
      </p:sp>
      <p:sp>
        <p:nvSpPr>
          <p:cNvPr id="10" name="Shape 7"/>
          <p:cNvSpPr/>
          <p:nvPr/>
        </p:nvSpPr>
        <p:spPr>
          <a:xfrm>
            <a:off x="2560320" y="1417320"/>
            <a:ext cx="1920240" cy="1463040"/>
          </a:xfrm>
          <a:prstGeom prst="roundRect">
            <a:avLst>
              <a:gd name="adj" fmla="val 5000"/>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11" name="Shape 8"/>
          <p:cNvSpPr/>
          <p:nvPr/>
        </p:nvSpPr>
        <p:spPr>
          <a:xfrm>
            <a:off x="2724912" y="1600200"/>
            <a:ext cx="420624" cy="420624"/>
          </a:xfrm>
          <a:prstGeom prst="ellipse">
            <a:avLst/>
          </a:prstGeom>
          <a:solidFill>
            <a:srgbClr val="E8F1FC"/>
          </a:solidFill>
          <a:ln w="12700">
            <a:solidFill>
              <a:srgbClr val="E8F1FC"/>
            </a:solidFill>
            <a:prstDash val="solid"/>
          </a:ln>
        </p:spPr>
      </p:sp>
      <p:pic>
        <p:nvPicPr>
          <p:cNvPr id="12" name="Image 1" descr="preencoded.png"/>
          <p:cNvPicPr>
            <a:picLocks noChangeAspect="1"/>
          </p:cNvPicPr>
          <p:nvPr/>
        </p:nvPicPr>
        <p:blipFill>
          <a:blip r:embed="rId4"/>
          <a:stretch>
            <a:fillRect/>
          </a:stretch>
        </p:blipFill>
        <p:spPr>
          <a:xfrm>
            <a:off x="2834274" y="1709562"/>
            <a:ext cx="201900" cy="201900"/>
          </a:xfrm>
          <a:prstGeom prst="rect">
            <a:avLst/>
          </a:prstGeom>
        </p:spPr>
      </p:pic>
      <p:sp>
        <p:nvSpPr>
          <p:cNvPr id="13" name="Text 9"/>
          <p:cNvSpPr txBox="1"/>
          <p:nvPr/>
        </p:nvSpPr>
        <p:spPr>
          <a:xfrm>
            <a:off x="3794760" y="1581912"/>
            <a:ext cx="548640" cy="411480"/>
          </a:xfrm>
          <a:prstGeom prst="rect">
            <a:avLst/>
          </a:prstGeom>
          <a:noFill/>
          <a:ln/>
        </p:spPr>
        <p:txBody>
          <a:bodyPr wrap="square" lIns="0" tIns="0" rIns="0" bIns="0" rtlCol="0" anchor="t"/>
          <a:lstStyle/>
          <a:p>
            <a:pPr marL="0" indent="0" algn="r">
              <a:buNone/>
            </a:pPr>
            <a:r>
              <a:rPr lang="en-US" sz="2200" b="1" dirty="0">
                <a:solidFill>
                  <a:srgbClr val="C9D6E8"/>
                </a:solidFill>
                <a:latin typeface="Segoe UI" pitchFamily="34" charset="0"/>
                <a:ea typeface="Segoe UI" pitchFamily="34" charset="-122"/>
                <a:cs typeface="Segoe UI" pitchFamily="34" charset="-120"/>
              </a:rPr>
              <a:t>02</a:t>
            </a:r>
            <a:endParaRPr lang="en-US" sz="2200" dirty="0"/>
          </a:p>
        </p:txBody>
      </p:sp>
      <p:sp>
        <p:nvSpPr>
          <p:cNvPr id="14" name="Text 10"/>
          <p:cNvSpPr txBox="1"/>
          <p:nvPr/>
        </p:nvSpPr>
        <p:spPr>
          <a:xfrm>
            <a:off x="2724912" y="2093976"/>
            <a:ext cx="1691640" cy="274320"/>
          </a:xfrm>
          <a:prstGeom prst="rect">
            <a:avLst/>
          </a:prstGeom>
          <a:noFill/>
          <a:ln/>
        </p:spPr>
        <p:txBody>
          <a:bodyPr wrap="square" lIns="0" tIns="0" rIns="0" bIns="0" rtlCol="0" anchor="t"/>
          <a:lstStyle/>
          <a:p>
            <a:pPr marL="0" indent="0">
              <a:buNone/>
            </a:pPr>
            <a:r>
              <a:rPr lang="en-US" sz="1150" b="1" dirty="0">
                <a:solidFill>
                  <a:srgbClr val="071B3F"/>
                </a:solidFill>
                <a:latin typeface="Segoe UI" pitchFamily="34" charset="0"/>
                <a:ea typeface="Segoe UI" pitchFamily="34" charset="-122"/>
                <a:cs typeface="Segoe UI" pitchFamily="34" charset="-120"/>
              </a:rPr>
              <a:t>Arquitectura</a:t>
            </a:r>
            <a:endParaRPr lang="en-US" sz="1150" dirty="0"/>
          </a:p>
        </p:txBody>
      </p:sp>
      <p:sp>
        <p:nvSpPr>
          <p:cNvPr id="15" name="Text 11"/>
          <p:cNvSpPr txBox="1"/>
          <p:nvPr/>
        </p:nvSpPr>
        <p:spPr>
          <a:xfrm>
            <a:off x="2724912" y="2386584"/>
            <a:ext cx="1645920" cy="411480"/>
          </a:xfrm>
          <a:prstGeom prst="rect">
            <a:avLst/>
          </a:prstGeom>
          <a:noFill/>
          <a:ln/>
        </p:spPr>
        <p:txBody>
          <a:bodyPr wrap="square" lIns="0" tIns="0" rIns="0" bIns="0" rtlCol="0" anchor="t"/>
          <a:lstStyle/>
          <a:p>
            <a:pPr marL="0" indent="0">
              <a:buNone/>
            </a:pPr>
            <a:r>
              <a:rPr lang="en-US" sz="1050" dirty="0">
                <a:solidFill>
                  <a:srgbClr val="5B6B82"/>
                </a:solidFill>
                <a:latin typeface="Calibri" pitchFamily="34" charset="0"/>
                <a:ea typeface="Calibri" pitchFamily="34" charset="-122"/>
                <a:cs typeface="Calibri" pitchFamily="34" charset="-120"/>
              </a:rPr>
              <a:t>Componentes, balanceo, nodos y performance</a:t>
            </a:r>
            <a:endParaRPr lang="en-US" sz="1050" dirty="0"/>
          </a:p>
        </p:txBody>
      </p:sp>
      <p:sp>
        <p:nvSpPr>
          <p:cNvPr id="16" name="Shape 12"/>
          <p:cNvSpPr/>
          <p:nvPr/>
        </p:nvSpPr>
        <p:spPr>
          <a:xfrm>
            <a:off x="4663440" y="1417320"/>
            <a:ext cx="1920240" cy="1463040"/>
          </a:xfrm>
          <a:prstGeom prst="roundRect">
            <a:avLst>
              <a:gd name="adj" fmla="val 5000"/>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17" name="Shape 13"/>
          <p:cNvSpPr/>
          <p:nvPr/>
        </p:nvSpPr>
        <p:spPr>
          <a:xfrm>
            <a:off x="4828032" y="1600200"/>
            <a:ext cx="420624" cy="420624"/>
          </a:xfrm>
          <a:prstGeom prst="ellipse">
            <a:avLst/>
          </a:prstGeom>
          <a:solidFill>
            <a:srgbClr val="E8F1FC"/>
          </a:solidFill>
          <a:ln w="12700">
            <a:solidFill>
              <a:srgbClr val="E8F1FC"/>
            </a:solidFill>
            <a:prstDash val="solid"/>
          </a:ln>
        </p:spPr>
      </p:sp>
      <p:pic>
        <p:nvPicPr>
          <p:cNvPr id="18" name="Image 2" descr="preencoded.png"/>
          <p:cNvPicPr>
            <a:picLocks noChangeAspect="1"/>
          </p:cNvPicPr>
          <p:nvPr/>
        </p:nvPicPr>
        <p:blipFill>
          <a:blip r:embed="rId5"/>
          <a:stretch>
            <a:fillRect/>
          </a:stretch>
        </p:blipFill>
        <p:spPr>
          <a:xfrm>
            <a:off x="4937394" y="1709562"/>
            <a:ext cx="201900" cy="201900"/>
          </a:xfrm>
          <a:prstGeom prst="rect">
            <a:avLst/>
          </a:prstGeom>
        </p:spPr>
      </p:pic>
      <p:sp>
        <p:nvSpPr>
          <p:cNvPr id="19" name="Text 14"/>
          <p:cNvSpPr txBox="1"/>
          <p:nvPr/>
        </p:nvSpPr>
        <p:spPr>
          <a:xfrm>
            <a:off x="5897880" y="1581912"/>
            <a:ext cx="548640" cy="411480"/>
          </a:xfrm>
          <a:prstGeom prst="rect">
            <a:avLst/>
          </a:prstGeom>
          <a:noFill/>
          <a:ln/>
        </p:spPr>
        <p:txBody>
          <a:bodyPr wrap="square" lIns="0" tIns="0" rIns="0" bIns="0" rtlCol="0" anchor="t"/>
          <a:lstStyle/>
          <a:p>
            <a:pPr marL="0" indent="0" algn="r">
              <a:buNone/>
            </a:pPr>
            <a:r>
              <a:rPr lang="en-US" sz="2200" b="1" dirty="0">
                <a:solidFill>
                  <a:srgbClr val="C9D6E8"/>
                </a:solidFill>
                <a:latin typeface="Segoe UI" pitchFamily="34" charset="0"/>
                <a:ea typeface="Segoe UI" pitchFamily="34" charset="-122"/>
                <a:cs typeface="Segoe UI" pitchFamily="34" charset="-120"/>
              </a:rPr>
              <a:t>03</a:t>
            </a:r>
            <a:endParaRPr lang="en-US" sz="2200" dirty="0"/>
          </a:p>
        </p:txBody>
      </p:sp>
      <p:sp>
        <p:nvSpPr>
          <p:cNvPr id="20" name="Text 15"/>
          <p:cNvSpPr txBox="1"/>
          <p:nvPr/>
        </p:nvSpPr>
        <p:spPr>
          <a:xfrm>
            <a:off x="4828032" y="2093976"/>
            <a:ext cx="1691640" cy="274320"/>
          </a:xfrm>
          <a:prstGeom prst="rect">
            <a:avLst/>
          </a:prstGeom>
          <a:noFill/>
          <a:ln/>
        </p:spPr>
        <p:txBody>
          <a:bodyPr wrap="square" lIns="0" tIns="0" rIns="0" bIns="0" rtlCol="0" anchor="t"/>
          <a:lstStyle/>
          <a:p>
            <a:pPr marL="0" indent="0">
              <a:buNone/>
            </a:pPr>
            <a:r>
              <a:rPr lang="en-US" sz="1150" b="1" dirty="0">
                <a:solidFill>
                  <a:srgbClr val="071B3F"/>
                </a:solidFill>
                <a:latin typeface="Segoe UI" pitchFamily="34" charset="0"/>
                <a:ea typeface="Segoe UI" pitchFamily="34" charset="-122"/>
                <a:cs typeface="Segoe UI" pitchFamily="34" charset="-120"/>
              </a:rPr>
              <a:t>Flujos de operación I</a:t>
            </a:r>
            <a:endParaRPr lang="en-US" sz="1150" dirty="0"/>
          </a:p>
        </p:txBody>
      </p:sp>
      <p:sp>
        <p:nvSpPr>
          <p:cNvPr id="21" name="Text 16"/>
          <p:cNvSpPr txBox="1"/>
          <p:nvPr/>
        </p:nvSpPr>
        <p:spPr>
          <a:xfrm>
            <a:off x="4828032" y="2386584"/>
            <a:ext cx="1645920" cy="411480"/>
          </a:xfrm>
          <a:prstGeom prst="rect">
            <a:avLst/>
          </a:prstGeom>
          <a:noFill/>
          <a:ln/>
        </p:spPr>
        <p:txBody>
          <a:bodyPr wrap="square" lIns="0" tIns="0" rIns="0" bIns="0" rtlCol="0" anchor="t"/>
          <a:lstStyle/>
          <a:p>
            <a:pPr marL="0" indent="0">
              <a:buNone/>
            </a:pPr>
            <a:r>
              <a:rPr lang="en-US" sz="1050" dirty="0">
                <a:solidFill>
                  <a:srgbClr val="5B6B82"/>
                </a:solidFill>
                <a:latin typeface="Calibri" pitchFamily="34" charset="0"/>
                <a:ea typeface="Calibri" pitchFamily="34" charset="-122"/>
                <a:cs typeface="Calibri" pitchFamily="34" charset="-120"/>
              </a:rPr>
              <a:t>Login, SLD, sesión y consumo de endpoints</a:t>
            </a:r>
            <a:endParaRPr lang="en-US" sz="1050" dirty="0"/>
          </a:p>
        </p:txBody>
      </p:sp>
      <p:sp>
        <p:nvSpPr>
          <p:cNvPr id="22" name="Shape 17"/>
          <p:cNvSpPr/>
          <p:nvPr/>
        </p:nvSpPr>
        <p:spPr>
          <a:xfrm>
            <a:off x="6766560" y="1417320"/>
            <a:ext cx="1920240" cy="1463040"/>
          </a:xfrm>
          <a:prstGeom prst="roundRect">
            <a:avLst>
              <a:gd name="adj" fmla="val 5000"/>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23" name="Shape 18"/>
          <p:cNvSpPr/>
          <p:nvPr/>
        </p:nvSpPr>
        <p:spPr>
          <a:xfrm>
            <a:off x="6931152" y="1600200"/>
            <a:ext cx="420624" cy="420624"/>
          </a:xfrm>
          <a:prstGeom prst="ellipse">
            <a:avLst/>
          </a:prstGeom>
          <a:solidFill>
            <a:srgbClr val="E8F1FC"/>
          </a:solidFill>
          <a:ln w="12700">
            <a:solidFill>
              <a:srgbClr val="E8F1FC"/>
            </a:solidFill>
            <a:prstDash val="solid"/>
          </a:ln>
        </p:spPr>
      </p:sp>
      <p:pic>
        <p:nvPicPr>
          <p:cNvPr id="24" name="Image 3" descr="preencoded.png"/>
          <p:cNvPicPr>
            <a:picLocks noChangeAspect="1"/>
          </p:cNvPicPr>
          <p:nvPr/>
        </p:nvPicPr>
        <p:blipFill>
          <a:blip r:embed="rId6"/>
          <a:stretch>
            <a:fillRect/>
          </a:stretch>
        </p:blipFill>
        <p:spPr>
          <a:xfrm>
            <a:off x="7040514" y="1709562"/>
            <a:ext cx="201900" cy="201900"/>
          </a:xfrm>
          <a:prstGeom prst="rect">
            <a:avLst/>
          </a:prstGeom>
        </p:spPr>
      </p:pic>
      <p:sp>
        <p:nvSpPr>
          <p:cNvPr id="25" name="Text 19"/>
          <p:cNvSpPr txBox="1"/>
          <p:nvPr/>
        </p:nvSpPr>
        <p:spPr>
          <a:xfrm>
            <a:off x="8001000" y="1581912"/>
            <a:ext cx="548640" cy="411480"/>
          </a:xfrm>
          <a:prstGeom prst="rect">
            <a:avLst/>
          </a:prstGeom>
          <a:noFill/>
          <a:ln/>
        </p:spPr>
        <p:txBody>
          <a:bodyPr wrap="square" lIns="0" tIns="0" rIns="0" bIns="0" rtlCol="0" anchor="t"/>
          <a:lstStyle/>
          <a:p>
            <a:pPr marL="0" indent="0" algn="r">
              <a:buNone/>
            </a:pPr>
            <a:r>
              <a:rPr lang="en-US" sz="2200" b="1" dirty="0">
                <a:solidFill>
                  <a:srgbClr val="C9D6E8"/>
                </a:solidFill>
                <a:latin typeface="Segoe UI" pitchFamily="34" charset="0"/>
                <a:ea typeface="Segoe UI" pitchFamily="34" charset="-122"/>
                <a:cs typeface="Segoe UI" pitchFamily="34" charset="-120"/>
              </a:rPr>
              <a:t>04</a:t>
            </a:r>
            <a:endParaRPr lang="en-US" sz="2200" dirty="0"/>
          </a:p>
        </p:txBody>
      </p:sp>
      <p:sp>
        <p:nvSpPr>
          <p:cNvPr id="26" name="Text 20"/>
          <p:cNvSpPr txBox="1"/>
          <p:nvPr/>
        </p:nvSpPr>
        <p:spPr>
          <a:xfrm>
            <a:off x="6931152" y="2093976"/>
            <a:ext cx="1691640" cy="274320"/>
          </a:xfrm>
          <a:prstGeom prst="rect">
            <a:avLst/>
          </a:prstGeom>
          <a:noFill/>
          <a:ln/>
        </p:spPr>
        <p:txBody>
          <a:bodyPr wrap="square" lIns="0" tIns="0" rIns="0" bIns="0" rtlCol="0" anchor="t"/>
          <a:lstStyle/>
          <a:p>
            <a:pPr marL="0" indent="0">
              <a:buNone/>
            </a:pPr>
            <a:r>
              <a:rPr lang="en-US" sz="1150" b="1" dirty="0">
                <a:solidFill>
                  <a:srgbClr val="071B3F"/>
                </a:solidFill>
                <a:latin typeface="Segoe UI" pitchFamily="34" charset="0"/>
                <a:ea typeface="Segoe UI" pitchFamily="34" charset="-122"/>
                <a:cs typeface="Segoe UI" pitchFamily="34" charset="-120"/>
              </a:rPr>
              <a:t>Flujos de operación II</a:t>
            </a:r>
            <a:endParaRPr lang="en-US" sz="1150" dirty="0"/>
          </a:p>
        </p:txBody>
      </p:sp>
      <p:sp>
        <p:nvSpPr>
          <p:cNvPr id="27" name="Text 21"/>
          <p:cNvSpPr txBox="1"/>
          <p:nvPr/>
        </p:nvSpPr>
        <p:spPr>
          <a:xfrm>
            <a:off x="6931152" y="2386584"/>
            <a:ext cx="1645920" cy="411480"/>
          </a:xfrm>
          <a:prstGeom prst="rect">
            <a:avLst/>
          </a:prstGeom>
          <a:noFill/>
          <a:ln/>
        </p:spPr>
        <p:txBody>
          <a:bodyPr wrap="square" lIns="0" tIns="0" rIns="0" bIns="0" rtlCol="0" anchor="t"/>
          <a:lstStyle/>
          <a:p>
            <a:pPr marL="0" indent="0">
              <a:buNone/>
            </a:pPr>
            <a:r>
              <a:rPr lang="en-US" sz="1050" dirty="0">
                <a:solidFill>
                  <a:srgbClr val="5B6B82"/>
                </a:solidFill>
                <a:latin typeface="Calibri" pitchFamily="34" charset="0"/>
                <a:ea typeface="Calibri" pitchFamily="34" charset="-122"/>
                <a:cs typeface="Calibri" pitchFamily="34" charset="-120"/>
              </a:rPr>
              <a:t>Métodos HTTP y documentos de negocio</a:t>
            </a:r>
            <a:endParaRPr lang="en-US" sz="1050" dirty="0"/>
          </a:p>
        </p:txBody>
      </p:sp>
      <p:sp>
        <p:nvSpPr>
          <p:cNvPr id="28" name="Shape 22"/>
          <p:cNvSpPr/>
          <p:nvPr/>
        </p:nvSpPr>
        <p:spPr>
          <a:xfrm>
            <a:off x="1508760" y="3081528"/>
            <a:ext cx="1920240" cy="1463040"/>
          </a:xfrm>
          <a:prstGeom prst="roundRect">
            <a:avLst>
              <a:gd name="adj" fmla="val 5000"/>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29" name="Shape 23"/>
          <p:cNvSpPr/>
          <p:nvPr/>
        </p:nvSpPr>
        <p:spPr>
          <a:xfrm>
            <a:off x="1673352" y="3264408"/>
            <a:ext cx="420624" cy="420624"/>
          </a:xfrm>
          <a:prstGeom prst="ellipse">
            <a:avLst/>
          </a:prstGeom>
          <a:solidFill>
            <a:srgbClr val="E8F1FC"/>
          </a:solidFill>
          <a:ln w="12700">
            <a:solidFill>
              <a:srgbClr val="E8F1FC"/>
            </a:solidFill>
            <a:prstDash val="solid"/>
          </a:ln>
        </p:spPr>
      </p:sp>
      <p:pic>
        <p:nvPicPr>
          <p:cNvPr id="30" name="Image 4" descr="preencoded.png"/>
          <p:cNvPicPr>
            <a:picLocks noChangeAspect="1"/>
          </p:cNvPicPr>
          <p:nvPr/>
        </p:nvPicPr>
        <p:blipFill>
          <a:blip r:embed="rId7"/>
          <a:stretch>
            <a:fillRect/>
          </a:stretch>
        </p:blipFill>
        <p:spPr>
          <a:xfrm>
            <a:off x="1782714" y="3373770"/>
            <a:ext cx="201900" cy="201900"/>
          </a:xfrm>
          <a:prstGeom prst="rect">
            <a:avLst/>
          </a:prstGeom>
        </p:spPr>
      </p:pic>
      <p:sp>
        <p:nvSpPr>
          <p:cNvPr id="31" name="Text 24"/>
          <p:cNvSpPr txBox="1"/>
          <p:nvPr/>
        </p:nvSpPr>
        <p:spPr>
          <a:xfrm>
            <a:off x="2743200" y="3246120"/>
            <a:ext cx="548640" cy="411480"/>
          </a:xfrm>
          <a:prstGeom prst="rect">
            <a:avLst/>
          </a:prstGeom>
          <a:noFill/>
          <a:ln/>
        </p:spPr>
        <p:txBody>
          <a:bodyPr wrap="square" lIns="0" tIns="0" rIns="0" bIns="0" rtlCol="0" anchor="t"/>
          <a:lstStyle/>
          <a:p>
            <a:pPr marL="0" indent="0" algn="r">
              <a:buNone/>
            </a:pPr>
            <a:r>
              <a:rPr lang="en-US" sz="2200" b="1" dirty="0">
                <a:solidFill>
                  <a:srgbClr val="C9D6E8"/>
                </a:solidFill>
                <a:latin typeface="Segoe UI" pitchFamily="34" charset="0"/>
                <a:ea typeface="Segoe UI" pitchFamily="34" charset="-122"/>
                <a:cs typeface="Segoe UI" pitchFamily="34" charset="-120"/>
              </a:rPr>
              <a:t>05</a:t>
            </a:r>
            <a:endParaRPr lang="en-US" sz="2200" dirty="0"/>
          </a:p>
        </p:txBody>
      </p:sp>
      <p:sp>
        <p:nvSpPr>
          <p:cNvPr id="32" name="Text 25"/>
          <p:cNvSpPr txBox="1"/>
          <p:nvPr/>
        </p:nvSpPr>
        <p:spPr>
          <a:xfrm>
            <a:off x="1673352" y="3758184"/>
            <a:ext cx="1691640" cy="274320"/>
          </a:xfrm>
          <a:prstGeom prst="rect">
            <a:avLst/>
          </a:prstGeom>
          <a:noFill/>
          <a:ln/>
        </p:spPr>
        <p:txBody>
          <a:bodyPr wrap="square" lIns="0" tIns="0" rIns="0" bIns="0" rtlCol="0" anchor="t"/>
          <a:lstStyle/>
          <a:p>
            <a:pPr marL="0" indent="0">
              <a:buNone/>
            </a:pPr>
            <a:r>
              <a:rPr lang="en-US" sz="1150" b="1" dirty="0">
                <a:solidFill>
                  <a:srgbClr val="071B3F"/>
                </a:solidFill>
                <a:latin typeface="Segoe UI" pitchFamily="34" charset="0"/>
                <a:ea typeface="Segoe UI" pitchFamily="34" charset="-122"/>
                <a:cs typeface="Segoe UI" pitchFamily="34" charset="-120"/>
              </a:rPr>
              <a:t>Flujos de operación III</a:t>
            </a:r>
            <a:endParaRPr lang="en-US" sz="1150" dirty="0"/>
          </a:p>
        </p:txBody>
      </p:sp>
      <p:sp>
        <p:nvSpPr>
          <p:cNvPr id="33" name="Text 26"/>
          <p:cNvSpPr txBox="1"/>
          <p:nvPr/>
        </p:nvSpPr>
        <p:spPr>
          <a:xfrm>
            <a:off x="1673352" y="4050792"/>
            <a:ext cx="1645920" cy="411480"/>
          </a:xfrm>
          <a:prstGeom prst="rect">
            <a:avLst/>
          </a:prstGeom>
          <a:noFill/>
          <a:ln/>
        </p:spPr>
        <p:txBody>
          <a:bodyPr wrap="square" lIns="0" tIns="0" rIns="0" bIns="0" rtlCol="0" anchor="t"/>
          <a:lstStyle/>
          <a:p>
            <a:pPr marL="0" indent="0">
              <a:buNone/>
            </a:pPr>
            <a:r>
              <a:rPr lang="en-US" sz="1050" dirty="0">
                <a:solidFill>
                  <a:srgbClr val="5B6B82"/>
                </a:solidFill>
                <a:latin typeface="Calibri" pitchFamily="34" charset="0"/>
                <a:ea typeface="Calibri" pitchFamily="34" charset="-122"/>
                <a:cs typeface="Calibri" pitchFamily="34" charset="-120"/>
              </a:rPr>
              <a:t>UDT vs UDO y operaciones batch</a:t>
            </a:r>
            <a:endParaRPr lang="en-US" sz="1050" dirty="0"/>
          </a:p>
        </p:txBody>
      </p:sp>
      <p:sp>
        <p:nvSpPr>
          <p:cNvPr id="34" name="Shape 27"/>
          <p:cNvSpPr/>
          <p:nvPr/>
        </p:nvSpPr>
        <p:spPr>
          <a:xfrm>
            <a:off x="3611880" y="3081528"/>
            <a:ext cx="1920240" cy="1463040"/>
          </a:xfrm>
          <a:prstGeom prst="roundRect">
            <a:avLst>
              <a:gd name="adj" fmla="val 5000"/>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35" name="Shape 28"/>
          <p:cNvSpPr/>
          <p:nvPr/>
        </p:nvSpPr>
        <p:spPr>
          <a:xfrm>
            <a:off x="3776472" y="3264408"/>
            <a:ext cx="420624" cy="420624"/>
          </a:xfrm>
          <a:prstGeom prst="ellipse">
            <a:avLst/>
          </a:prstGeom>
          <a:solidFill>
            <a:srgbClr val="E8F1FC"/>
          </a:solidFill>
          <a:ln w="12700">
            <a:solidFill>
              <a:srgbClr val="E8F1FC"/>
            </a:solidFill>
            <a:prstDash val="solid"/>
          </a:ln>
        </p:spPr>
      </p:sp>
      <p:pic>
        <p:nvPicPr>
          <p:cNvPr id="36" name="Image 5" descr="preencoded.png"/>
          <p:cNvPicPr>
            <a:picLocks noChangeAspect="1"/>
          </p:cNvPicPr>
          <p:nvPr/>
        </p:nvPicPr>
        <p:blipFill>
          <a:blip r:embed="rId8"/>
          <a:stretch>
            <a:fillRect/>
          </a:stretch>
        </p:blipFill>
        <p:spPr>
          <a:xfrm>
            <a:off x="3885834" y="3373770"/>
            <a:ext cx="201900" cy="201900"/>
          </a:xfrm>
          <a:prstGeom prst="rect">
            <a:avLst/>
          </a:prstGeom>
        </p:spPr>
      </p:pic>
      <p:sp>
        <p:nvSpPr>
          <p:cNvPr id="37" name="Text 29"/>
          <p:cNvSpPr txBox="1"/>
          <p:nvPr/>
        </p:nvSpPr>
        <p:spPr>
          <a:xfrm>
            <a:off x="4846320" y="3246120"/>
            <a:ext cx="548640" cy="411480"/>
          </a:xfrm>
          <a:prstGeom prst="rect">
            <a:avLst/>
          </a:prstGeom>
          <a:noFill/>
          <a:ln/>
        </p:spPr>
        <p:txBody>
          <a:bodyPr wrap="square" lIns="0" tIns="0" rIns="0" bIns="0" rtlCol="0" anchor="t"/>
          <a:lstStyle/>
          <a:p>
            <a:pPr marL="0" indent="0" algn="r">
              <a:buNone/>
            </a:pPr>
            <a:r>
              <a:rPr lang="en-US" sz="2200" b="1" dirty="0">
                <a:solidFill>
                  <a:srgbClr val="C9D6E8"/>
                </a:solidFill>
                <a:latin typeface="Segoe UI" pitchFamily="34" charset="0"/>
                <a:ea typeface="Segoe UI" pitchFamily="34" charset="-122"/>
                <a:cs typeface="Segoe UI" pitchFamily="34" charset="-120"/>
              </a:rPr>
              <a:t>06</a:t>
            </a:r>
            <a:endParaRPr lang="en-US" sz="2200" dirty="0"/>
          </a:p>
        </p:txBody>
      </p:sp>
      <p:sp>
        <p:nvSpPr>
          <p:cNvPr id="38" name="Text 30"/>
          <p:cNvSpPr txBox="1"/>
          <p:nvPr/>
        </p:nvSpPr>
        <p:spPr>
          <a:xfrm>
            <a:off x="3776472" y="3758184"/>
            <a:ext cx="1691640" cy="274320"/>
          </a:xfrm>
          <a:prstGeom prst="rect">
            <a:avLst/>
          </a:prstGeom>
          <a:noFill/>
          <a:ln/>
        </p:spPr>
        <p:txBody>
          <a:bodyPr wrap="square" lIns="0" tIns="0" rIns="0" bIns="0" rtlCol="0" anchor="t"/>
          <a:lstStyle/>
          <a:p>
            <a:pPr marL="0" indent="0">
              <a:buNone/>
            </a:pPr>
            <a:r>
              <a:rPr lang="en-US" sz="1150" b="1" dirty="0">
                <a:solidFill>
                  <a:srgbClr val="071B3F"/>
                </a:solidFill>
                <a:latin typeface="Segoe UI" pitchFamily="34" charset="0"/>
                <a:ea typeface="Segoe UI" pitchFamily="34" charset="-122"/>
                <a:cs typeface="Segoe UI" pitchFamily="34" charset="-120"/>
              </a:rPr>
              <a:t>Cliente HTTP</a:t>
            </a:r>
            <a:endParaRPr lang="en-US" sz="1150" dirty="0"/>
          </a:p>
        </p:txBody>
      </p:sp>
      <p:sp>
        <p:nvSpPr>
          <p:cNvPr id="39" name="Text 31"/>
          <p:cNvSpPr txBox="1"/>
          <p:nvPr/>
        </p:nvSpPr>
        <p:spPr>
          <a:xfrm>
            <a:off x="3776472" y="4050792"/>
            <a:ext cx="1645920" cy="411480"/>
          </a:xfrm>
          <a:prstGeom prst="rect">
            <a:avLst/>
          </a:prstGeom>
          <a:noFill/>
          <a:ln/>
        </p:spPr>
        <p:txBody>
          <a:bodyPr wrap="square" lIns="0" tIns="0" rIns="0" bIns="0" rtlCol="0" anchor="t"/>
          <a:lstStyle/>
          <a:p>
            <a:pPr marL="0" indent="0">
              <a:buNone/>
            </a:pPr>
            <a:r>
              <a:rPr lang="en-US" sz="1050" dirty="0">
                <a:solidFill>
                  <a:srgbClr val="5B6B82"/>
                </a:solidFill>
                <a:latin typeface="Calibri" pitchFamily="34" charset="0"/>
                <a:ea typeface="Calibri" pitchFamily="34" charset="-122"/>
                <a:cs typeface="Calibri" pitchFamily="34" charset="-120"/>
              </a:rPr>
              <a:t>Construcción de un cliente con B1SLayer</a:t>
            </a:r>
            <a:endParaRPr lang="en-US" sz="1050" dirty="0"/>
          </a:p>
        </p:txBody>
      </p:sp>
      <p:sp>
        <p:nvSpPr>
          <p:cNvPr id="40" name="Shape 32"/>
          <p:cNvSpPr/>
          <p:nvPr/>
        </p:nvSpPr>
        <p:spPr>
          <a:xfrm>
            <a:off x="5715000" y="3081528"/>
            <a:ext cx="1920240" cy="1463040"/>
          </a:xfrm>
          <a:prstGeom prst="roundRect">
            <a:avLst>
              <a:gd name="adj" fmla="val 5000"/>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41" name="Shape 33"/>
          <p:cNvSpPr/>
          <p:nvPr/>
        </p:nvSpPr>
        <p:spPr>
          <a:xfrm>
            <a:off x="5879592" y="3264408"/>
            <a:ext cx="420624" cy="420624"/>
          </a:xfrm>
          <a:prstGeom prst="ellipse">
            <a:avLst/>
          </a:prstGeom>
          <a:solidFill>
            <a:srgbClr val="E8F1FC"/>
          </a:solidFill>
          <a:ln w="12700">
            <a:solidFill>
              <a:srgbClr val="E8F1FC"/>
            </a:solidFill>
            <a:prstDash val="solid"/>
          </a:ln>
        </p:spPr>
      </p:sp>
      <p:pic>
        <p:nvPicPr>
          <p:cNvPr id="42" name="Image 6" descr="preencoded.png"/>
          <p:cNvPicPr>
            <a:picLocks noChangeAspect="1"/>
          </p:cNvPicPr>
          <p:nvPr/>
        </p:nvPicPr>
        <p:blipFill>
          <a:blip r:embed="rId9"/>
          <a:stretch>
            <a:fillRect/>
          </a:stretch>
        </p:blipFill>
        <p:spPr>
          <a:xfrm>
            <a:off x="5988954" y="3373770"/>
            <a:ext cx="201900" cy="201900"/>
          </a:xfrm>
          <a:prstGeom prst="rect">
            <a:avLst/>
          </a:prstGeom>
        </p:spPr>
      </p:pic>
      <p:sp>
        <p:nvSpPr>
          <p:cNvPr id="43" name="Text 34"/>
          <p:cNvSpPr txBox="1"/>
          <p:nvPr/>
        </p:nvSpPr>
        <p:spPr>
          <a:xfrm>
            <a:off x="6949440" y="3246120"/>
            <a:ext cx="548640" cy="411480"/>
          </a:xfrm>
          <a:prstGeom prst="rect">
            <a:avLst/>
          </a:prstGeom>
          <a:noFill/>
          <a:ln/>
        </p:spPr>
        <p:txBody>
          <a:bodyPr wrap="square" lIns="0" tIns="0" rIns="0" bIns="0" rtlCol="0" anchor="t"/>
          <a:lstStyle/>
          <a:p>
            <a:pPr marL="0" indent="0" algn="r">
              <a:buNone/>
            </a:pPr>
            <a:r>
              <a:rPr lang="en-US" sz="2200" b="1" dirty="0">
                <a:solidFill>
                  <a:srgbClr val="C9D6E8"/>
                </a:solidFill>
                <a:latin typeface="Segoe UI" pitchFamily="34" charset="0"/>
                <a:ea typeface="Segoe UI" pitchFamily="34" charset="-122"/>
                <a:cs typeface="Segoe UI" pitchFamily="34" charset="-120"/>
              </a:rPr>
              <a:t>07</a:t>
            </a:r>
            <a:endParaRPr lang="en-US" sz="2200" dirty="0"/>
          </a:p>
        </p:txBody>
      </p:sp>
      <p:sp>
        <p:nvSpPr>
          <p:cNvPr id="44" name="Text 35"/>
          <p:cNvSpPr txBox="1"/>
          <p:nvPr/>
        </p:nvSpPr>
        <p:spPr>
          <a:xfrm>
            <a:off x="5879592" y="3758184"/>
            <a:ext cx="1691640" cy="274320"/>
          </a:xfrm>
          <a:prstGeom prst="rect">
            <a:avLst/>
          </a:prstGeom>
          <a:noFill/>
          <a:ln/>
        </p:spPr>
        <p:txBody>
          <a:bodyPr wrap="square" lIns="0" tIns="0" rIns="0" bIns="0" rtlCol="0" anchor="t"/>
          <a:lstStyle/>
          <a:p>
            <a:pPr marL="0" indent="0">
              <a:buNone/>
            </a:pPr>
            <a:r>
              <a:rPr lang="en-US" sz="1150" b="1" dirty="0">
                <a:solidFill>
                  <a:srgbClr val="071B3F"/>
                </a:solidFill>
                <a:latin typeface="Segoe UI" pitchFamily="34" charset="0"/>
                <a:ea typeface="Segoe UI" pitchFamily="34" charset="-122"/>
                <a:cs typeface="Segoe UI" pitchFamily="34" charset="-120"/>
              </a:rPr>
              <a:t>Add-on + SSO</a:t>
            </a:r>
            <a:endParaRPr lang="en-US" sz="1150" dirty="0"/>
          </a:p>
        </p:txBody>
      </p:sp>
      <p:sp>
        <p:nvSpPr>
          <p:cNvPr id="45" name="Text 36"/>
          <p:cNvSpPr txBox="1"/>
          <p:nvPr/>
        </p:nvSpPr>
        <p:spPr>
          <a:xfrm>
            <a:off x="5879592" y="4050792"/>
            <a:ext cx="1645920" cy="411480"/>
          </a:xfrm>
          <a:prstGeom prst="rect">
            <a:avLst/>
          </a:prstGeom>
          <a:noFill/>
          <a:ln/>
        </p:spPr>
        <p:txBody>
          <a:bodyPr wrap="square" lIns="0" tIns="0" rIns="0" bIns="0" rtlCol="0" anchor="t"/>
          <a:lstStyle/>
          <a:p>
            <a:pPr marL="0" indent="0">
              <a:buNone/>
            </a:pPr>
            <a:r>
              <a:rPr lang="en-US" sz="1050" dirty="0">
                <a:solidFill>
                  <a:srgbClr val="5B6B82"/>
                </a:solidFill>
                <a:latin typeface="Calibri" pitchFamily="34" charset="0"/>
                <a:ea typeface="Calibri" pitchFamily="34" charset="-122"/>
                <a:cs typeface="Calibri" pitchFamily="34" charset="-120"/>
              </a:rPr>
              <a:t>Service Layer desde un add-on sin credenciales</a:t>
            </a:r>
            <a:endParaRPr lang="en-US" sz="105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1097280"/>
            <a:ext cx="2743200" cy="1280160"/>
          </a:xfrm>
          <a:prstGeom prst="rect">
            <a:avLst/>
          </a:prstGeom>
          <a:noFill/>
          <a:ln/>
        </p:spPr>
        <p:txBody>
          <a:bodyPr wrap="square" lIns="0" tIns="0" rIns="0" bIns="0" rtlCol="0" anchor="t"/>
          <a:lstStyle/>
          <a:p>
            <a:pPr marL="0" indent="0">
              <a:buNone/>
            </a:pPr>
            <a:r>
              <a:rPr lang="en-US" sz="8800" b="1" dirty="0">
                <a:solidFill>
                  <a:srgbClr val="F5A800"/>
                </a:solidFill>
                <a:latin typeface="Segoe UI" pitchFamily="34" charset="0"/>
                <a:ea typeface="Segoe UI" pitchFamily="34" charset="-122"/>
                <a:cs typeface="Segoe UI" pitchFamily="34" charset="-120"/>
              </a:rPr>
              <a:t>01</a:t>
            </a:r>
            <a:endParaRPr lang="en-US" sz="8800" dirty="0"/>
          </a:p>
        </p:txBody>
      </p:sp>
      <p:sp>
        <p:nvSpPr>
          <p:cNvPr id="3" name="Text 1"/>
          <p:cNvSpPr txBox="1"/>
          <p:nvPr/>
        </p:nvSpPr>
        <p:spPr>
          <a:xfrm>
            <a:off x="685800" y="914400"/>
            <a:ext cx="2743200" cy="274320"/>
          </a:xfrm>
          <a:prstGeom prst="rect">
            <a:avLst/>
          </a:prstGeom>
          <a:noFill/>
          <a:ln/>
        </p:spPr>
        <p:txBody>
          <a:bodyPr wrap="square" lIns="0" tIns="0" rIns="0" bIns="0" rtlCol="0" anchor="t"/>
          <a:lstStyle/>
          <a:p>
            <a:pPr marL="0" indent="0">
              <a:buNone/>
            </a:pPr>
            <a:r>
              <a:rPr lang="en-US" sz="1100" b="1" kern="0" spc="400" dirty="0">
                <a:solidFill>
                  <a:srgbClr val="29B6F6"/>
                </a:solidFill>
                <a:latin typeface="Segoe UI" pitchFamily="34" charset="0"/>
                <a:ea typeface="Segoe UI" pitchFamily="34" charset="-122"/>
                <a:cs typeface="Segoe UI" pitchFamily="34" charset="-120"/>
              </a:rPr>
              <a:t>CAPÍTULO</a:t>
            </a:r>
            <a:endParaRPr lang="en-US" sz="1100" dirty="0"/>
          </a:p>
        </p:txBody>
      </p:sp>
      <p:sp>
        <p:nvSpPr>
          <p:cNvPr id="4" name="Text 2"/>
          <p:cNvSpPr txBox="1"/>
          <p:nvPr/>
        </p:nvSpPr>
        <p:spPr>
          <a:xfrm>
            <a:off x="640080" y="2423160"/>
            <a:ext cx="7772400" cy="731520"/>
          </a:xfrm>
          <a:prstGeom prst="rect">
            <a:avLst/>
          </a:prstGeom>
          <a:noFill/>
          <a:ln/>
        </p:spPr>
        <p:txBody>
          <a:bodyPr wrap="square" lIns="0" tIns="0" rIns="0" bIns="0" rtlCol="0" anchor="t"/>
          <a:lstStyle/>
          <a:p>
            <a:pPr marL="0" indent="0">
              <a:buNone/>
            </a:pPr>
            <a:r>
              <a:rPr lang="en-US" sz="3400" b="1" dirty="0">
                <a:solidFill>
                  <a:srgbClr val="FFFFFF"/>
                </a:solidFill>
                <a:latin typeface="Segoe UI" pitchFamily="34" charset="0"/>
                <a:ea typeface="Segoe UI" pitchFamily="34" charset="-122"/>
                <a:cs typeface="Segoe UI" pitchFamily="34" charset="-120"/>
              </a:rPr>
              <a:t>Introducción</a:t>
            </a:r>
            <a:endParaRPr lang="en-US" sz="3400" dirty="0"/>
          </a:p>
        </p:txBody>
      </p:sp>
      <p:sp>
        <p:nvSpPr>
          <p:cNvPr id="5" name="Text 3"/>
          <p:cNvSpPr txBox="1"/>
          <p:nvPr/>
        </p:nvSpPr>
        <p:spPr>
          <a:xfrm>
            <a:off x="658368" y="3200400"/>
            <a:ext cx="7772400" cy="548640"/>
          </a:xfrm>
          <a:prstGeom prst="rect">
            <a:avLst/>
          </a:prstGeom>
          <a:noFill/>
          <a:ln/>
        </p:spPr>
        <p:txBody>
          <a:bodyPr wrap="square" lIns="0" tIns="0" rIns="0" bIns="0" rtlCol="0" anchor="t"/>
          <a:lstStyle/>
          <a:p>
            <a:pPr marL="0" indent="0">
              <a:buNone/>
            </a:pPr>
            <a:r>
              <a:rPr lang="en-US" sz="1400" dirty="0">
                <a:solidFill>
                  <a:srgbClr val="B9D3F0"/>
                </a:solidFill>
                <a:latin typeface="Calibri" pitchFamily="34" charset="0"/>
                <a:ea typeface="Calibri" pitchFamily="34" charset="-122"/>
                <a:cs typeface="Calibri" pitchFamily="34" charset="-120"/>
              </a:rPr>
              <a:t>Qué es Service Layer   •   Evolución de la integración   •   Documentación   •   Casos de uso</a:t>
            </a:r>
            <a:endParaRPr lang="en-US" sz="1400" dirty="0"/>
          </a:p>
        </p:txBody>
      </p:sp>
      <p:sp>
        <p:nvSpPr>
          <p:cNvPr id="6" name="Text 4"/>
          <p:cNvSpPr txBox="1"/>
          <p:nvPr/>
        </p:nvSpPr>
        <p:spPr>
          <a:xfrm>
            <a:off x="658368" y="4709160"/>
            <a:ext cx="4572000" cy="228600"/>
          </a:xfrm>
          <a:prstGeom prst="rect">
            <a:avLst/>
          </a:prstGeom>
          <a:noFill/>
          <a:ln/>
        </p:spPr>
        <p:txBody>
          <a:bodyPr wrap="square" lIns="0" tIns="0" rIns="0" bIns="0" rtlCol="0" anchor="t"/>
          <a:lstStyle/>
          <a:p>
            <a:pPr marL="0" indent="0">
              <a:buNone/>
            </a:pPr>
            <a:r>
              <a:rPr lang="en-US" sz="900" dirty="0">
                <a:solidFill>
                  <a:srgbClr val="8FB0D6"/>
                </a:solidFill>
                <a:latin typeface="Calibri" pitchFamily="34" charset="0"/>
                <a:ea typeface="Calibri" pitchFamily="34" charset="-122"/>
                <a:cs typeface="Calibri" pitchFamily="34" charset="-120"/>
              </a:rPr>
              <a:t>Ventura Soluciones  |  Capacitación técnica</a:t>
            </a:r>
            <a:endParaRPr lang="en-US" sz="9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457200" y="256032"/>
            <a:ext cx="1720901" cy="237744"/>
          </a:xfrm>
          <a:prstGeom prst="roundRect">
            <a:avLst>
              <a:gd name="adj" fmla="val 50000"/>
            </a:avLst>
          </a:prstGeom>
          <a:solidFill>
            <a:srgbClr val="071B3F"/>
          </a:solidFill>
          <a:ln w="12700">
            <a:solidFill>
              <a:srgbClr val="071B3F"/>
            </a:solidFill>
            <a:prstDash val="solid"/>
          </a:ln>
        </p:spPr>
      </p:sp>
      <p:sp>
        <p:nvSpPr>
          <p:cNvPr id="3" name="Text 1"/>
          <p:cNvSpPr txBox="1"/>
          <p:nvPr/>
        </p:nvSpPr>
        <p:spPr>
          <a:xfrm>
            <a:off x="457200" y="256032"/>
            <a:ext cx="1720901" cy="237744"/>
          </a:xfrm>
          <a:prstGeom prst="rect">
            <a:avLst/>
          </a:prstGeom>
          <a:noFill/>
          <a:ln/>
        </p:spPr>
        <p:txBody>
          <a:bodyPr wrap="square" lIns="0" tIns="0" rIns="0" bIns="0" rtlCol="0" anchor="ctr"/>
          <a:lstStyle/>
          <a:p>
            <a:pPr marL="0" indent="0" algn="ctr">
              <a:buNone/>
            </a:pPr>
            <a:r>
              <a:rPr lang="en-US" sz="850" b="1" kern="0" spc="100" dirty="0">
                <a:solidFill>
                  <a:srgbClr val="F5A800"/>
                </a:solidFill>
                <a:latin typeface="Segoe UI" pitchFamily="34" charset="0"/>
                <a:ea typeface="Segoe UI" pitchFamily="34" charset="-122"/>
                <a:cs typeface="Segoe UI" pitchFamily="34" charset="-120"/>
              </a:rPr>
              <a:t>01  ·  INTRODUCCIÓN</a:t>
            </a:r>
            <a:endParaRPr lang="en-US" sz="850" dirty="0"/>
          </a:p>
        </p:txBody>
      </p:sp>
      <p:sp>
        <p:nvSpPr>
          <p:cNvPr id="4" name="Text 2"/>
          <p:cNvSpPr txBox="1"/>
          <p:nvPr/>
        </p:nvSpPr>
        <p:spPr>
          <a:xfrm>
            <a:off x="457200" y="566928"/>
            <a:ext cx="8229600" cy="502920"/>
          </a:xfrm>
          <a:prstGeom prst="rect">
            <a:avLst/>
          </a:prstGeom>
          <a:noFill/>
          <a:ln/>
        </p:spPr>
        <p:txBody>
          <a:bodyPr wrap="square" lIns="0" tIns="0" rIns="0" bIns="0" rtlCol="0" anchor="ctr"/>
          <a:lstStyle/>
          <a:p>
            <a:pPr marL="0" indent="0">
              <a:buNone/>
            </a:pPr>
            <a:r>
              <a:rPr lang="en-US" sz="2400" b="1" dirty="0">
                <a:solidFill>
                  <a:srgbClr val="071B3F"/>
                </a:solidFill>
                <a:latin typeface="Segoe UI" pitchFamily="34" charset="0"/>
                <a:ea typeface="Segoe UI" pitchFamily="34" charset="-122"/>
                <a:cs typeface="Segoe UI" pitchFamily="34" charset="-120"/>
              </a:rPr>
              <a:t>¿Qué es Service Layer?</a:t>
            </a:r>
            <a:endParaRPr lang="en-US" sz="2400" dirty="0"/>
          </a:p>
        </p:txBody>
      </p:sp>
      <p:sp>
        <p:nvSpPr>
          <p:cNvPr id="5" name="Text 3"/>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00" dirty="0">
                <a:solidFill>
                  <a:srgbClr val="8A9AB0"/>
                </a:solidFill>
                <a:latin typeface="Calibri" pitchFamily="34" charset="0"/>
                <a:ea typeface="Calibri" pitchFamily="34" charset="-122"/>
                <a:cs typeface="Calibri" pitchFamily="34" charset="-120"/>
              </a:rPr>
              <a:t>Ventura Soluciones  |  SAP Business One · Service Layer</a:t>
            </a:r>
            <a:endParaRPr lang="en-US" sz="800" dirty="0"/>
          </a:p>
        </p:txBody>
      </p:sp>
      <p:sp>
        <p:nvSpPr>
          <p:cNvPr id="6" name="Shape 4"/>
          <p:cNvSpPr/>
          <p:nvPr/>
        </p:nvSpPr>
        <p:spPr>
          <a:xfrm>
            <a:off x="457200" y="1280160"/>
            <a:ext cx="3291840" cy="3383280"/>
          </a:xfrm>
          <a:prstGeom prst="roundRect">
            <a:avLst>
              <a:gd name="adj" fmla="val 2222"/>
            </a:avLst>
          </a:prstGeom>
          <a:solidFill>
            <a:srgbClr val="071B3F"/>
          </a:solidFill>
          <a:ln w="9525">
            <a:solidFill>
              <a:srgbClr val="D5DFEC"/>
            </a:solidFill>
            <a:prstDash val="solid"/>
          </a:ln>
          <a:effectLst>
            <a:outerShdw blurRad="101600" dist="25400" dir="5400000" algn="bl" rotWithShape="0">
              <a:srgbClr val="0B2A55">
                <a:alpha val="12000"/>
              </a:srgbClr>
            </a:outerShdw>
          </a:effectLst>
        </p:spPr>
      </p:sp>
      <p:sp>
        <p:nvSpPr>
          <p:cNvPr id="7" name="Text 5"/>
          <p:cNvSpPr txBox="1"/>
          <p:nvPr/>
        </p:nvSpPr>
        <p:spPr>
          <a:xfrm>
            <a:off x="685800" y="1481328"/>
            <a:ext cx="2743200" cy="228600"/>
          </a:xfrm>
          <a:prstGeom prst="rect">
            <a:avLst/>
          </a:prstGeom>
          <a:noFill/>
          <a:ln/>
        </p:spPr>
        <p:txBody>
          <a:bodyPr wrap="square" lIns="0" tIns="0" rIns="0" bIns="0" rtlCol="0" anchor="t"/>
          <a:lstStyle/>
          <a:p>
            <a:pPr marL="0" indent="0">
              <a:buNone/>
            </a:pPr>
            <a:r>
              <a:rPr lang="en-US" sz="1000" b="1" kern="0" spc="200" dirty="0">
                <a:solidFill>
                  <a:srgbClr val="F5A800"/>
                </a:solidFill>
                <a:latin typeface="Segoe UI" pitchFamily="34" charset="0"/>
                <a:ea typeface="Segoe UI" pitchFamily="34" charset="-122"/>
                <a:cs typeface="Segoe UI" pitchFamily="34" charset="-120"/>
              </a:rPr>
              <a:t>DEFINICIÓN</a:t>
            </a:r>
            <a:endParaRPr lang="en-US" sz="1000" dirty="0"/>
          </a:p>
        </p:txBody>
      </p:sp>
      <p:sp>
        <p:nvSpPr>
          <p:cNvPr id="8" name="Text 6"/>
          <p:cNvSpPr txBox="1"/>
          <p:nvPr/>
        </p:nvSpPr>
        <p:spPr>
          <a:xfrm>
            <a:off x="685800" y="1783080"/>
            <a:ext cx="2880360" cy="1463040"/>
          </a:xfrm>
          <a:prstGeom prst="rect">
            <a:avLst/>
          </a:prstGeom>
          <a:noFill/>
          <a:ln/>
        </p:spPr>
        <p:txBody>
          <a:bodyPr wrap="square" lIns="0" tIns="0" rIns="0" bIns="0" rtlCol="0" anchor="t"/>
          <a:lstStyle/>
          <a:p>
            <a:pPr marL="0" indent="0">
              <a:buNone/>
            </a:pPr>
            <a:r>
              <a:rPr lang="en-US" sz="1500" dirty="0">
                <a:solidFill>
                  <a:srgbClr val="FFFFFF"/>
                </a:solidFill>
                <a:latin typeface="Calibri" pitchFamily="34" charset="0"/>
                <a:ea typeface="Calibri" pitchFamily="34" charset="-122"/>
                <a:cs typeface="Calibri" pitchFamily="34" charset="-120"/>
              </a:rPr>
              <a:t>Servidor de aplicaciones web que expone los objetos de negocio de SAP Business One como </a:t>
            </a:r>
            <a:r>
              <a:rPr lang="en-US" sz="1500" b="1" dirty="0">
                <a:solidFill>
                  <a:srgbClr val="29B6F6"/>
                </a:solidFill>
                <a:latin typeface="Calibri" pitchFamily="34" charset="0"/>
                <a:ea typeface="Calibri" pitchFamily="34" charset="-122"/>
                <a:cs typeface="Calibri" pitchFamily="34" charset="-120"/>
              </a:rPr>
              <a:t>servicios RESTful basados en OData</a:t>
            </a:r>
            <a:r>
              <a:rPr lang="en-US" sz="1500" dirty="0">
                <a:solidFill>
                  <a:srgbClr val="FFFFFF"/>
                </a:solidFill>
                <a:latin typeface="Calibri" pitchFamily="34" charset="0"/>
                <a:ea typeface="Calibri" pitchFamily="34" charset="-122"/>
                <a:cs typeface="Calibri" pitchFamily="34" charset="-120"/>
              </a:rPr>
              <a:t>, intercambiando </a:t>
            </a:r>
            <a:r>
              <a:rPr lang="en-US" sz="1500" b="1" dirty="0">
                <a:solidFill>
                  <a:srgbClr val="29B6F6"/>
                </a:solidFill>
                <a:latin typeface="Calibri" pitchFamily="34" charset="0"/>
                <a:ea typeface="Calibri" pitchFamily="34" charset="-122"/>
                <a:cs typeface="Calibri" pitchFamily="34" charset="-120"/>
              </a:rPr>
              <a:t>JSON sobre HTTPS</a:t>
            </a:r>
            <a:r>
              <a:rPr lang="en-US" sz="1500" dirty="0">
                <a:solidFill>
                  <a:srgbClr val="FFFFFF"/>
                </a:solidFill>
                <a:latin typeface="Calibri" pitchFamily="34" charset="0"/>
                <a:ea typeface="Calibri" pitchFamily="34" charset="-122"/>
                <a:cs typeface="Calibri" pitchFamily="34" charset="-120"/>
              </a:rPr>
              <a:t>.</a:t>
            </a:r>
            <a:endParaRPr lang="en-US" sz="1500" dirty="0"/>
          </a:p>
        </p:txBody>
      </p:sp>
      <p:sp>
        <p:nvSpPr>
          <p:cNvPr id="9" name="Text 7"/>
          <p:cNvSpPr txBox="1"/>
          <p:nvPr/>
        </p:nvSpPr>
        <p:spPr>
          <a:xfrm>
            <a:off x="685800" y="3429000"/>
            <a:ext cx="2926080" cy="457200"/>
          </a:xfrm>
          <a:prstGeom prst="rect">
            <a:avLst/>
          </a:prstGeom>
          <a:noFill/>
          <a:ln/>
        </p:spPr>
        <p:txBody>
          <a:bodyPr wrap="square" lIns="0" tIns="0" rIns="0" bIns="0" rtlCol="0" anchor="t"/>
          <a:lstStyle/>
          <a:p>
            <a:pPr marL="0" indent="0">
              <a:buNone/>
            </a:pPr>
            <a:r>
              <a:rPr lang="en-US" sz="1100" dirty="0">
                <a:solidFill>
                  <a:srgbClr val="F5A800"/>
                </a:solidFill>
                <a:latin typeface="Consolas" pitchFamily="34" charset="0"/>
                <a:ea typeface="Consolas" pitchFamily="34" charset="-122"/>
                <a:cs typeface="Consolas" pitchFamily="34" charset="-120"/>
              </a:rPr>
              <a:t>https://servidor:50000/b1s/v1</a:t>
            </a:r>
            <a:endParaRPr lang="en-US" sz="1100" dirty="0"/>
          </a:p>
          <a:p>
            <a:pPr marL="0" indent="0">
              <a:buNone/>
            </a:pPr>
            <a:r>
              <a:rPr lang="en-US" sz="1100" dirty="0">
                <a:solidFill>
                  <a:srgbClr val="F5A800"/>
                </a:solidFill>
                <a:latin typeface="Consolas" pitchFamily="34" charset="0"/>
                <a:ea typeface="Consolas" pitchFamily="34" charset="-122"/>
                <a:cs typeface="Consolas" pitchFamily="34" charset="-120"/>
              </a:rPr>
              <a:t>https://servidor:50000/b1s/v2</a:t>
            </a:r>
            <a:endParaRPr lang="en-US" sz="1100" dirty="0"/>
          </a:p>
        </p:txBody>
      </p:sp>
      <p:sp>
        <p:nvSpPr>
          <p:cNvPr id="10" name="Text 8"/>
          <p:cNvSpPr txBox="1"/>
          <p:nvPr/>
        </p:nvSpPr>
        <p:spPr>
          <a:xfrm>
            <a:off x="685800" y="3977640"/>
            <a:ext cx="2926080" cy="274320"/>
          </a:xfrm>
          <a:prstGeom prst="rect">
            <a:avLst/>
          </a:prstGeom>
          <a:noFill/>
          <a:ln/>
        </p:spPr>
        <p:txBody>
          <a:bodyPr wrap="square" lIns="0" tIns="0" rIns="0" bIns="0" rtlCol="0" anchor="t"/>
          <a:lstStyle/>
          <a:p>
            <a:pPr marL="0" indent="0">
              <a:buNone/>
            </a:pPr>
            <a:r>
              <a:rPr lang="en-US" sz="1100" dirty="0">
                <a:solidFill>
                  <a:srgbClr val="B9D3F0"/>
                </a:solidFill>
                <a:latin typeface="Calibri" pitchFamily="34" charset="0"/>
                <a:ea typeface="Calibri" pitchFamily="34" charset="-122"/>
                <a:cs typeface="Calibri" pitchFamily="34" charset="-120"/>
              </a:rPr>
              <a:t>v1 = OData v3  ·  v2 = OData v4</a:t>
            </a:r>
            <a:endParaRPr lang="en-US" sz="1100" dirty="0"/>
          </a:p>
        </p:txBody>
      </p:sp>
      <p:sp>
        <p:nvSpPr>
          <p:cNvPr id="11" name="Shape 9"/>
          <p:cNvSpPr/>
          <p:nvPr/>
        </p:nvSpPr>
        <p:spPr>
          <a:xfrm>
            <a:off x="3977640" y="1280160"/>
            <a:ext cx="2240280" cy="1005840"/>
          </a:xfrm>
          <a:prstGeom prst="roundRect">
            <a:avLst>
              <a:gd name="adj" fmla="val 7273"/>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12" name="Shape 10"/>
          <p:cNvSpPr/>
          <p:nvPr/>
        </p:nvSpPr>
        <p:spPr>
          <a:xfrm>
            <a:off x="4114800" y="1435608"/>
            <a:ext cx="384048" cy="384048"/>
          </a:xfrm>
          <a:prstGeom prst="ellipse">
            <a:avLst/>
          </a:prstGeom>
          <a:solidFill>
            <a:srgbClr val="E8F1FC"/>
          </a:solidFill>
          <a:ln w="12700">
            <a:solidFill>
              <a:srgbClr val="E8F1FC"/>
            </a:solidFill>
            <a:prstDash val="solid"/>
          </a:ln>
        </p:spPr>
      </p:sp>
      <p:pic>
        <p:nvPicPr>
          <p:cNvPr id="13" name="Image 0" descr="preencoded.png"/>
          <p:cNvPicPr>
            <a:picLocks noChangeAspect="1"/>
          </p:cNvPicPr>
          <p:nvPr/>
        </p:nvPicPr>
        <p:blipFill>
          <a:blip r:embed="rId3"/>
          <a:stretch>
            <a:fillRect/>
          </a:stretch>
        </p:blipFill>
        <p:spPr>
          <a:xfrm>
            <a:off x="4214652" y="1535460"/>
            <a:ext cx="184343" cy="184343"/>
          </a:xfrm>
          <a:prstGeom prst="rect">
            <a:avLst/>
          </a:prstGeom>
        </p:spPr>
      </p:pic>
      <p:sp>
        <p:nvSpPr>
          <p:cNvPr id="14" name="Text 11"/>
          <p:cNvSpPr txBox="1"/>
          <p:nvPr/>
        </p:nvSpPr>
        <p:spPr>
          <a:xfrm>
            <a:off x="4590288" y="1435608"/>
            <a:ext cx="1554480" cy="274320"/>
          </a:xfrm>
          <a:prstGeom prst="rect">
            <a:avLst/>
          </a:prstGeom>
          <a:noFill/>
          <a:ln/>
        </p:spPr>
        <p:txBody>
          <a:bodyPr wrap="square" lIns="0" tIns="0" rIns="0" bIns="0" rtlCol="0" anchor="ctr"/>
          <a:lstStyle/>
          <a:p>
            <a:pPr marL="0" indent="0">
              <a:buNone/>
            </a:pPr>
            <a:r>
              <a:rPr lang="en-US" sz="1150" b="1" dirty="0">
                <a:solidFill>
                  <a:srgbClr val="071B3F"/>
                </a:solidFill>
                <a:latin typeface="Segoe UI" pitchFamily="34" charset="0"/>
                <a:ea typeface="Segoe UI" pitchFamily="34" charset="-122"/>
                <a:cs typeface="Segoe UI" pitchFamily="34" charset="-120"/>
              </a:rPr>
              <a:t>REST + OData</a:t>
            </a:r>
            <a:endParaRPr lang="en-US" sz="1150" dirty="0"/>
          </a:p>
        </p:txBody>
      </p:sp>
      <p:sp>
        <p:nvSpPr>
          <p:cNvPr id="15" name="Text 12"/>
          <p:cNvSpPr txBox="1"/>
          <p:nvPr/>
        </p:nvSpPr>
        <p:spPr>
          <a:xfrm>
            <a:off x="4590288" y="1709928"/>
            <a:ext cx="1554480" cy="530352"/>
          </a:xfrm>
          <a:prstGeom prst="rect">
            <a:avLst/>
          </a:prstGeom>
          <a:noFill/>
          <a:ln/>
        </p:spPr>
        <p:txBody>
          <a:bodyPr wrap="square" lIns="0" tIns="0" rIns="0" bIns="0" rtlCol="0" anchor="t"/>
          <a:lstStyle/>
          <a:p>
            <a:pPr marL="0" indent="0">
              <a:buNone/>
            </a:pPr>
            <a:r>
              <a:rPr lang="en-US" sz="950" dirty="0">
                <a:solidFill>
                  <a:srgbClr val="5B6B82"/>
                </a:solidFill>
                <a:latin typeface="Calibri" pitchFamily="34" charset="0"/>
                <a:ea typeface="Calibri" pitchFamily="34" charset="-122"/>
                <a:cs typeface="Calibri" pitchFamily="34" charset="-120"/>
              </a:rPr>
              <a:t>URLs, verbos HTTP y opciones de consulta estándar ($filter, $select…).</a:t>
            </a:r>
            <a:endParaRPr lang="en-US" sz="950" dirty="0"/>
          </a:p>
        </p:txBody>
      </p:sp>
      <p:sp>
        <p:nvSpPr>
          <p:cNvPr id="16" name="Shape 13"/>
          <p:cNvSpPr/>
          <p:nvPr/>
        </p:nvSpPr>
        <p:spPr>
          <a:xfrm>
            <a:off x="6355080" y="1280160"/>
            <a:ext cx="2240280" cy="1005840"/>
          </a:xfrm>
          <a:prstGeom prst="roundRect">
            <a:avLst>
              <a:gd name="adj" fmla="val 7273"/>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17" name="Shape 14"/>
          <p:cNvSpPr/>
          <p:nvPr/>
        </p:nvSpPr>
        <p:spPr>
          <a:xfrm>
            <a:off x="6492240" y="1435608"/>
            <a:ext cx="384048" cy="384048"/>
          </a:xfrm>
          <a:prstGeom prst="ellipse">
            <a:avLst/>
          </a:prstGeom>
          <a:solidFill>
            <a:srgbClr val="E8F1FC"/>
          </a:solidFill>
          <a:ln w="12700">
            <a:solidFill>
              <a:srgbClr val="E8F1FC"/>
            </a:solidFill>
            <a:prstDash val="solid"/>
          </a:ln>
        </p:spPr>
      </p:sp>
      <p:pic>
        <p:nvPicPr>
          <p:cNvPr id="18" name="Image 1" descr="preencoded.png"/>
          <p:cNvPicPr>
            <a:picLocks noChangeAspect="1"/>
          </p:cNvPicPr>
          <p:nvPr/>
        </p:nvPicPr>
        <p:blipFill>
          <a:blip r:embed="rId4"/>
          <a:stretch>
            <a:fillRect/>
          </a:stretch>
        </p:blipFill>
        <p:spPr>
          <a:xfrm>
            <a:off x="6592092" y="1535460"/>
            <a:ext cx="184343" cy="184343"/>
          </a:xfrm>
          <a:prstGeom prst="rect">
            <a:avLst/>
          </a:prstGeom>
        </p:spPr>
      </p:pic>
      <p:sp>
        <p:nvSpPr>
          <p:cNvPr id="19" name="Text 15"/>
          <p:cNvSpPr txBox="1"/>
          <p:nvPr/>
        </p:nvSpPr>
        <p:spPr>
          <a:xfrm>
            <a:off x="6967728" y="1435608"/>
            <a:ext cx="1554480" cy="274320"/>
          </a:xfrm>
          <a:prstGeom prst="rect">
            <a:avLst/>
          </a:prstGeom>
          <a:noFill/>
          <a:ln/>
        </p:spPr>
        <p:txBody>
          <a:bodyPr wrap="square" lIns="0" tIns="0" rIns="0" bIns="0" rtlCol="0" anchor="ctr"/>
          <a:lstStyle/>
          <a:p>
            <a:pPr marL="0" indent="0">
              <a:buNone/>
            </a:pPr>
            <a:r>
              <a:rPr lang="en-US" sz="1150" b="1" dirty="0">
                <a:solidFill>
                  <a:srgbClr val="071B3F"/>
                </a:solidFill>
                <a:latin typeface="Segoe UI" pitchFamily="34" charset="0"/>
                <a:ea typeface="Segoe UI" pitchFamily="34" charset="-122"/>
                <a:cs typeface="Segoe UI" pitchFamily="34" charset="-120"/>
              </a:rPr>
              <a:t>JSON ligero</a:t>
            </a:r>
            <a:endParaRPr lang="en-US" sz="1150" dirty="0"/>
          </a:p>
        </p:txBody>
      </p:sp>
      <p:sp>
        <p:nvSpPr>
          <p:cNvPr id="20" name="Text 16"/>
          <p:cNvSpPr txBox="1"/>
          <p:nvPr/>
        </p:nvSpPr>
        <p:spPr>
          <a:xfrm>
            <a:off x="6967728" y="1709928"/>
            <a:ext cx="1554480" cy="530352"/>
          </a:xfrm>
          <a:prstGeom prst="rect">
            <a:avLst/>
          </a:prstGeom>
          <a:noFill/>
          <a:ln/>
        </p:spPr>
        <p:txBody>
          <a:bodyPr wrap="square" lIns="0" tIns="0" rIns="0" bIns="0" rtlCol="0" anchor="t"/>
          <a:lstStyle/>
          <a:p>
            <a:pPr marL="0" indent="0">
              <a:buNone/>
            </a:pPr>
            <a:r>
              <a:rPr lang="en-US" sz="950" dirty="0">
                <a:solidFill>
                  <a:srgbClr val="5B6B82"/>
                </a:solidFill>
                <a:latin typeface="Calibri" pitchFamily="34" charset="0"/>
                <a:ea typeface="Calibri" pitchFamily="34" charset="-122"/>
                <a:cs typeface="Calibri" pitchFamily="34" charset="-120"/>
              </a:rPr>
              <a:t>Payloads legibles y fáciles de serializar en cualquier lenguaje.</a:t>
            </a:r>
            <a:endParaRPr lang="en-US" sz="950" dirty="0"/>
          </a:p>
        </p:txBody>
      </p:sp>
      <p:sp>
        <p:nvSpPr>
          <p:cNvPr id="21" name="Shape 17"/>
          <p:cNvSpPr/>
          <p:nvPr/>
        </p:nvSpPr>
        <p:spPr>
          <a:xfrm>
            <a:off x="3977640" y="2423160"/>
            <a:ext cx="2240280" cy="1005840"/>
          </a:xfrm>
          <a:prstGeom prst="roundRect">
            <a:avLst>
              <a:gd name="adj" fmla="val 7273"/>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22" name="Shape 18"/>
          <p:cNvSpPr/>
          <p:nvPr/>
        </p:nvSpPr>
        <p:spPr>
          <a:xfrm>
            <a:off x="4114800" y="2578608"/>
            <a:ext cx="384048" cy="384048"/>
          </a:xfrm>
          <a:prstGeom prst="ellipse">
            <a:avLst/>
          </a:prstGeom>
          <a:solidFill>
            <a:srgbClr val="E8F1FC"/>
          </a:solidFill>
          <a:ln w="12700">
            <a:solidFill>
              <a:srgbClr val="E8F1FC"/>
            </a:solidFill>
            <a:prstDash val="solid"/>
          </a:ln>
        </p:spPr>
      </p:sp>
      <p:pic>
        <p:nvPicPr>
          <p:cNvPr id="23" name="Image 2" descr="preencoded.png"/>
          <p:cNvPicPr>
            <a:picLocks noChangeAspect="1"/>
          </p:cNvPicPr>
          <p:nvPr/>
        </p:nvPicPr>
        <p:blipFill>
          <a:blip r:embed="rId5"/>
          <a:stretch>
            <a:fillRect/>
          </a:stretch>
        </p:blipFill>
        <p:spPr>
          <a:xfrm>
            <a:off x="4214652" y="2678460"/>
            <a:ext cx="184343" cy="184343"/>
          </a:xfrm>
          <a:prstGeom prst="rect">
            <a:avLst/>
          </a:prstGeom>
        </p:spPr>
      </p:pic>
      <p:sp>
        <p:nvSpPr>
          <p:cNvPr id="24" name="Text 19"/>
          <p:cNvSpPr txBox="1"/>
          <p:nvPr/>
        </p:nvSpPr>
        <p:spPr>
          <a:xfrm>
            <a:off x="4590288" y="2578608"/>
            <a:ext cx="1554480" cy="274320"/>
          </a:xfrm>
          <a:prstGeom prst="rect">
            <a:avLst/>
          </a:prstGeom>
          <a:noFill/>
          <a:ln/>
        </p:spPr>
        <p:txBody>
          <a:bodyPr wrap="square" lIns="0" tIns="0" rIns="0" bIns="0" rtlCol="0" anchor="ctr"/>
          <a:lstStyle/>
          <a:p>
            <a:pPr marL="0" indent="0">
              <a:buNone/>
            </a:pPr>
            <a:r>
              <a:rPr lang="en-US" sz="1150" b="1" dirty="0">
                <a:solidFill>
                  <a:srgbClr val="071B3F"/>
                </a:solidFill>
                <a:latin typeface="Segoe UI" pitchFamily="34" charset="0"/>
                <a:ea typeface="Segoe UI" pitchFamily="34" charset="-122"/>
                <a:cs typeface="Segoe UI" pitchFamily="34" charset="-120"/>
              </a:rPr>
              <a:t>Multiplataforma</a:t>
            </a:r>
            <a:endParaRPr lang="en-US" sz="1150" dirty="0"/>
          </a:p>
        </p:txBody>
      </p:sp>
      <p:sp>
        <p:nvSpPr>
          <p:cNvPr id="25" name="Text 20"/>
          <p:cNvSpPr txBox="1"/>
          <p:nvPr/>
        </p:nvSpPr>
        <p:spPr>
          <a:xfrm>
            <a:off x="4590288" y="2852928"/>
            <a:ext cx="1554480" cy="530352"/>
          </a:xfrm>
          <a:prstGeom prst="rect">
            <a:avLst/>
          </a:prstGeom>
          <a:noFill/>
          <a:ln/>
        </p:spPr>
        <p:txBody>
          <a:bodyPr wrap="square" lIns="0" tIns="0" rIns="0" bIns="0" rtlCol="0" anchor="t"/>
          <a:lstStyle/>
          <a:p>
            <a:pPr marL="0" indent="0">
              <a:buNone/>
            </a:pPr>
            <a:r>
              <a:rPr lang="en-US" sz="950" dirty="0">
                <a:solidFill>
                  <a:srgbClr val="5B6B82"/>
                </a:solidFill>
                <a:latin typeface="Calibri" pitchFamily="34" charset="0"/>
                <a:ea typeface="Calibri" pitchFamily="34" charset="-122"/>
                <a:cs typeface="Calibri" pitchFamily="34" charset="-120"/>
              </a:rPr>
              <a:t>Cualquier cliente HTTP: .NET, Java, Node, Python, Postman.</a:t>
            </a:r>
            <a:endParaRPr lang="en-US" sz="950" dirty="0"/>
          </a:p>
        </p:txBody>
      </p:sp>
      <p:sp>
        <p:nvSpPr>
          <p:cNvPr id="26" name="Shape 21"/>
          <p:cNvSpPr/>
          <p:nvPr/>
        </p:nvSpPr>
        <p:spPr>
          <a:xfrm>
            <a:off x="6355080" y="2423160"/>
            <a:ext cx="2240280" cy="1005840"/>
          </a:xfrm>
          <a:prstGeom prst="roundRect">
            <a:avLst>
              <a:gd name="adj" fmla="val 7273"/>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27" name="Shape 22"/>
          <p:cNvSpPr/>
          <p:nvPr/>
        </p:nvSpPr>
        <p:spPr>
          <a:xfrm>
            <a:off x="6492240" y="2578608"/>
            <a:ext cx="384048" cy="384048"/>
          </a:xfrm>
          <a:prstGeom prst="ellipse">
            <a:avLst/>
          </a:prstGeom>
          <a:solidFill>
            <a:srgbClr val="E8F1FC"/>
          </a:solidFill>
          <a:ln w="12700">
            <a:solidFill>
              <a:srgbClr val="E8F1FC"/>
            </a:solidFill>
            <a:prstDash val="solid"/>
          </a:ln>
        </p:spPr>
      </p:sp>
      <p:pic>
        <p:nvPicPr>
          <p:cNvPr id="28" name="Image 3" descr="preencoded.png"/>
          <p:cNvPicPr>
            <a:picLocks noChangeAspect="1"/>
          </p:cNvPicPr>
          <p:nvPr/>
        </p:nvPicPr>
        <p:blipFill>
          <a:blip r:embed="rId6"/>
          <a:stretch>
            <a:fillRect/>
          </a:stretch>
        </p:blipFill>
        <p:spPr>
          <a:xfrm>
            <a:off x="6592092" y="2678460"/>
            <a:ext cx="184343" cy="184343"/>
          </a:xfrm>
          <a:prstGeom prst="rect">
            <a:avLst/>
          </a:prstGeom>
        </p:spPr>
      </p:pic>
      <p:sp>
        <p:nvSpPr>
          <p:cNvPr id="29" name="Text 23"/>
          <p:cNvSpPr txBox="1"/>
          <p:nvPr/>
        </p:nvSpPr>
        <p:spPr>
          <a:xfrm>
            <a:off x="6967728" y="2578608"/>
            <a:ext cx="1554480" cy="274320"/>
          </a:xfrm>
          <a:prstGeom prst="rect">
            <a:avLst/>
          </a:prstGeom>
          <a:noFill/>
          <a:ln/>
        </p:spPr>
        <p:txBody>
          <a:bodyPr wrap="square" lIns="0" tIns="0" rIns="0" bIns="0" rtlCol="0" anchor="ctr"/>
          <a:lstStyle/>
          <a:p>
            <a:pPr marL="0" indent="0">
              <a:buNone/>
            </a:pPr>
            <a:r>
              <a:rPr lang="en-US" sz="1150" b="1" dirty="0">
                <a:solidFill>
                  <a:srgbClr val="071B3F"/>
                </a:solidFill>
                <a:latin typeface="Segoe UI" pitchFamily="34" charset="0"/>
                <a:ea typeface="Segoe UI" pitchFamily="34" charset="-122"/>
                <a:cs typeface="Segoe UI" pitchFamily="34" charset="-120"/>
              </a:rPr>
              <a:t>Alta concurrencia</a:t>
            </a:r>
            <a:endParaRPr lang="en-US" sz="1150" dirty="0"/>
          </a:p>
        </p:txBody>
      </p:sp>
      <p:sp>
        <p:nvSpPr>
          <p:cNvPr id="30" name="Text 24"/>
          <p:cNvSpPr txBox="1"/>
          <p:nvPr/>
        </p:nvSpPr>
        <p:spPr>
          <a:xfrm>
            <a:off x="6967728" y="2852928"/>
            <a:ext cx="1554480" cy="530352"/>
          </a:xfrm>
          <a:prstGeom prst="rect">
            <a:avLst/>
          </a:prstGeom>
          <a:noFill/>
          <a:ln/>
        </p:spPr>
        <p:txBody>
          <a:bodyPr wrap="square" lIns="0" tIns="0" rIns="0" bIns="0" rtlCol="0" anchor="t"/>
          <a:lstStyle/>
          <a:p>
            <a:pPr marL="0" indent="0">
              <a:buNone/>
            </a:pPr>
            <a:r>
              <a:rPr lang="en-US" sz="950" dirty="0">
                <a:solidFill>
                  <a:srgbClr val="5B6B82"/>
                </a:solidFill>
                <a:latin typeface="Calibri" pitchFamily="34" charset="0"/>
                <a:ea typeface="Calibri" pitchFamily="34" charset="-122"/>
                <a:cs typeface="Calibri" pitchFamily="34" charset="-120"/>
              </a:rPr>
              <a:t>Balanceador de carga y múltiples nodos de trabajo.</a:t>
            </a:r>
            <a:endParaRPr lang="en-US" sz="950" dirty="0"/>
          </a:p>
        </p:txBody>
      </p:sp>
      <p:sp>
        <p:nvSpPr>
          <p:cNvPr id="31" name="Shape 25"/>
          <p:cNvSpPr/>
          <p:nvPr/>
        </p:nvSpPr>
        <p:spPr>
          <a:xfrm>
            <a:off x="3977640" y="3566160"/>
            <a:ext cx="2240280" cy="1005840"/>
          </a:xfrm>
          <a:prstGeom prst="roundRect">
            <a:avLst>
              <a:gd name="adj" fmla="val 7273"/>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32" name="Shape 26"/>
          <p:cNvSpPr/>
          <p:nvPr/>
        </p:nvSpPr>
        <p:spPr>
          <a:xfrm>
            <a:off x="4114800" y="3721608"/>
            <a:ext cx="384048" cy="384048"/>
          </a:xfrm>
          <a:prstGeom prst="ellipse">
            <a:avLst/>
          </a:prstGeom>
          <a:solidFill>
            <a:srgbClr val="E8F1FC"/>
          </a:solidFill>
          <a:ln w="12700">
            <a:solidFill>
              <a:srgbClr val="E8F1FC"/>
            </a:solidFill>
            <a:prstDash val="solid"/>
          </a:ln>
        </p:spPr>
      </p:sp>
      <p:pic>
        <p:nvPicPr>
          <p:cNvPr id="33" name="Image 4" descr="preencoded.png"/>
          <p:cNvPicPr>
            <a:picLocks noChangeAspect="1"/>
          </p:cNvPicPr>
          <p:nvPr/>
        </p:nvPicPr>
        <p:blipFill>
          <a:blip r:embed="rId7"/>
          <a:stretch>
            <a:fillRect/>
          </a:stretch>
        </p:blipFill>
        <p:spPr>
          <a:xfrm>
            <a:off x="4214652" y="3821460"/>
            <a:ext cx="184343" cy="184343"/>
          </a:xfrm>
          <a:prstGeom prst="rect">
            <a:avLst/>
          </a:prstGeom>
        </p:spPr>
      </p:pic>
      <p:sp>
        <p:nvSpPr>
          <p:cNvPr id="34" name="Text 27"/>
          <p:cNvSpPr txBox="1"/>
          <p:nvPr/>
        </p:nvSpPr>
        <p:spPr>
          <a:xfrm>
            <a:off x="4590288" y="3721608"/>
            <a:ext cx="1554480" cy="274320"/>
          </a:xfrm>
          <a:prstGeom prst="rect">
            <a:avLst/>
          </a:prstGeom>
          <a:noFill/>
          <a:ln/>
        </p:spPr>
        <p:txBody>
          <a:bodyPr wrap="square" lIns="0" tIns="0" rIns="0" bIns="0" rtlCol="0" anchor="ctr"/>
          <a:lstStyle/>
          <a:p>
            <a:pPr marL="0" indent="0">
              <a:buNone/>
            </a:pPr>
            <a:r>
              <a:rPr lang="en-US" sz="1150" b="1" dirty="0">
                <a:solidFill>
                  <a:srgbClr val="071B3F"/>
                </a:solidFill>
                <a:latin typeface="Segoe UI" pitchFamily="34" charset="0"/>
                <a:ea typeface="Segoe UI" pitchFamily="34" charset="-122"/>
                <a:cs typeface="Segoe UI" pitchFamily="34" charset="-120"/>
              </a:rPr>
              <a:t>Misma lógica B1</a:t>
            </a:r>
            <a:endParaRPr lang="en-US" sz="1150" dirty="0"/>
          </a:p>
        </p:txBody>
      </p:sp>
      <p:sp>
        <p:nvSpPr>
          <p:cNvPr id="35" name="Text 28"/>
          <p:cNvSpPr txBox="1"/>
          <p:nvPr/>
        </p:nvSpPr>
        <p:spPr>
          <a:xfrm>
            <a:off x="4590288" y="3995928"/>
            <a:ext cx="1554480" cy="530352"/>
          </a:xfrm>
          <a:prstGeom prst="rect">
            <a:avLst/>
          </a:prstGeom>
          <a:noFill/>
          <a:ln/>
        </p:spPr>
        <p:txBody>
          <a:bodyPr wrap="square" lIns="0" tIns="0" rIns="0" bIns="0" rtlCol="0" anchor="t"/>
          <a:lstStyle/>
          <a:p>
            <a:pPr marL="0" indent="0">
              <a:buNone/>
            </a:pPr>
            <a:r>
              <a:rPr lang="en-US" sz="950" dirty="0">
                <a:solidFill>
                  <a:srgbClr val="5B6B82"/>
                </a:solidFill>
                <a:latin typeface="Calibri" pitchFamily="34" charset="0"/>
                <a:ea typeface="Calibri" pitchFamily="34" charset="-122"/>
                <a:cs typeface="Calibri" pitchFamily="34" charset="-120"/>
              </a:rPr>
              <a:t>Usa el motor DI Core: validaciones, autorizaciones y reglas.</a:t>
            </a:r>
            <a:endParaRPr lang="en-US" sz="950" dirty="0"/>
          </a:p>
        </p:txBody>
      </p:sp>
      <p:sp>
        <p:nvSpPr>
          <p:cNvPr id="36" name="Shape 29"/>
          <p:cNvSpPr/>
          <p:nvPr/>
        </p:nvSpPr>
        <p:spPr>
          <a:xfrm>
            <a:off x="6355080" y="3566160"/>
            <a:ext cx="2240280" cy="1005840"/>
          </a:xfrm>
          <a:prstGeom prst="roundRect">
            <a:avLst>
              <a:gd name="adj" fmla="val 7273"/>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37" name="Shape 30"/>
          <p:cNvSpPr/>
          <p:nvPr/>
        </p:nvSpPr>
        <p:spPr>
          <a:xfrm>
            <a:off x="6492240" y="3721608"/>
            <a:ext cx="384048" cy="384048"/>
          </a:xfrm>
          <a:prstGeom prst="ellipse">
            <a:avLst/>
          </a:prstGeom>
          <a:solidFill>
            <a:srgbClr val="E8F1FC"/>
          </a:solidFill>
          <a:ln w="12700">
            <a:solidFill>
              <a:srgbClr val="E8F1FC"/>
            </a:solidFill>
            <a:prstDash val="solid"/>
          </a:ln>
        </p:spPr>
      </p:sp>
      <p:pic>
        <p:nvPicPr>
          <p:cNvPr id="38" name="Image 5" descr="preencoded.png"/>
          <p:cNvPicPr>
            <a:picLocks noChangeAspect="1"/>
          </p:cNvPicPr>
          <p:nvPr/>
        </p:nvPicPr>
        <p:blipFill>
          <a:blip r:embed="rId8"/>
          <a:stretch>
            <a:fillRect/>
          </a:stretch>
        </p:blipFill>
        <p:spPr>
          <a:xfrm>
            <a:off x="6592092" y="3821460"/>
            <a:ext cx="184343" cy="184343"/>
          </a:xfrm>
          <a:prstGeom prst="rect">
            <a:avLst/>
          </a:prstGeom>
        </p:spPr>
      </p:pic>
      <p:sp>
        <p:nvSpPr>
          <p:cNvPr id="39" name="Text 31"/>
          <p:cNvSpPr txBox="1"/>
          <p:nvPr/>
        </p:nvSpPr>
        <p:spPr>
          <a:xfrm>
            <a:off x="6967728" y="3721608"/>
            <a:ext cx="1554480" cy="274320"/>
          </a:xfrm>
          <a:prstGeom prst="rect">
            <a:avLst/>
          </a:prstGeom>
          <a:noFill/>
          <a:ln/>
        </p:spPr>
        <p:txBody>
          <a:bodyPr wrap="square" lIns="0" tIns="0" rIns="0" bIns="0" rtlCol="0" anchor="ctr"/>
          <a:lstStyle/>
          <a:p>
            <a:pPr marL="0" indent="0">
              <a:buNone/>
            </a:pPr>
            <a:r>
              <a:rPr lang="en-US" sz="1150" b="1" dirty="0">
                <a:solidFill>
                  <a:srgbClr val="071B3F"/>
                </a:solidFill>
                <a:latin typeface="Segoe UI" pitchFamily="34" charset="0"/>
                <a:ea typeface="Segoe UI" pitchFamily="34" charset="-122"/>
                <a:cs typeface="Segoe UI" pitchFamily="34" charset="-120"/>
              </a:rPr>
              <a:t>Sin instalación</a:t>
            </a:r>
            <a:endParaRPr lang="en-US" sz="1150" dirty="0"/>
          </a:p>
        </p:txBody>
      </p:sp>
      <p:sp>
        <p:nvSpPr>
          <p:cNvPr id="40" name="Text 32"/>
          <p:cNvSpPr txBox="1"/>
          <p:nvPr/>
        </p:nvSpPr>
        <p:spPr>
          <a:xfrm>
            <a:off x="6967728" y="3995928"/>
            <a:ext cx="1554480" cy="530352"/>
          </a:xfrm>
          <a:prstGeom prst="rect">
            <a:avLst/>
          </a:prstGeom>
          <a:noFill/>
          <a:ln/>
        </p:spPr>
        <p:txBody>
          <a:bodyPr wrap="square" lIns="0" tIns="0" rIns="0" bIns="0" rtlCol="0" anchor="t"/>
          <a:lstStyle/>
          <a:p>
            <a:pPr marL="0" indent="0">
              <a:buNone/>
            </a:pPr>
            <a:r>
              <a:rPr lang="en-US" sz="950" dirty="0">
                <a:solidFill>
                  <a:srgbClr val="5B6B82"/>
                </a:solidFill>
                <a:latin typeface="Calibri" pitchFamily="34" charset="0"/>
                <a:ea typeface="Calibri" pitchFamily="34" charset="-122"/>
                <a:cs typeface="Calibri" pitchFamily="34" charset="-120"/>
              </a:rPr>
              <a:t>No requiere DI API ni SDK en la máquina que consume.</a:t>
            </a:r>
            <a:endParaRPr lang="en-US" sz="950" dirty="0"/>
          </a:p>
        </p:txBody>
      </p:sp>
      <p:sp>
        <p:nvSpPr>
          <p:cNvPr id="41"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xmlns="" val="0"/>
            </a:ext>
          </a:extLst>
        </p:spPr>
        <p:txBody>
          <a:bodyPr/>
          <a:lstStyle>
            <a:lvl1pPr>
              <a:defRPr sz="800">
                <a:solidFill>
                  <a:srgbClr val="8A9AB0"/>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457200" y="256032"/>
            <a:ext cx="1720901" cy="237744"/>
          </a:xfrm>
          <a:prstGeom prst="roundRect">
            <a:avLst>
              <a:gd name="adj" fmla="val 50000"/>
            </a:avLst>
          </a:prstGeom>
          <a:solidFill>
            <a:srgbClr val="071B3F"/>
          </a:solidFill>
          <a:ln w="12700">
            <a:solidFill>
              <a:srgbClr val="071B3F"/>
            </a:solidFill>
            <a:prstDash val="solid"/>
          </a:ln>
        </p:spPr>
      </p:sp>
      <p:sp>
        <p:nvSpPr>
          <p:cNvPr id="3" name="Text 1"/>
          <p:cNvSpPr txBox="1"/>
          <p:nvPr/>
        </p:nvSpPr>
        <p:spPr>
          <a:xfrm>
            <a:off x="457200" y="256032"/>
            <a:ext cx="1720901" cy="237744"/>
          </a:xfrm>
          <a:prstGeom prst="rect">
            <a:avLst/>
          </a:prstGeom>
          <a:noFill/>
          <a:ln/>
        </p:spPr>
        <p:txBody>
          <a:bodyPr wrap="square" lIns="0" tIns="0" rIns="0" bIns="0" rtlCol="0" anchor="ctr"/>
          <a:lstStyle/>
          <a:p>
            <a:pPr marL="0" indent="0" algn="ctr">
              <a:buNone/>
            </a:pPr>
            <a:r>
              <a:rPr lang="en-US" sz="850" b="1" kern="0" spc="100" dirty="0">
                <a:solidFill>
                  <a:srgbClr val="F5A800"/>
                </a:solidFill>
                <a:latin typeface="Segoe UI" pitchFamily="34" charset="0"/>
                <a:ea typeface="Segoe UI" pitchFamily="34" charset="-122"/>
                <a:cs typeface="Segoe UI" pitchFamily="34" charset="-120"/>
              </a:rPr>
              <a:t>01  ·  INTRODUCCIÓN</a:t>
            </a:r>
            <a:endParaRPr lang="en-US" sz="850" dirty="0"/>
          </a:p>
        </p:txBody>
      </p:sp>
      <p:sp>
        <p:nvSpPr>
          <p:cNvPr id="4" name="Text 2"/>
          <p:cNvSpPr txBox="1"/>
          <p:nvPr/>
        </p:nvSpPr>
        <p:spPr>
          <a:xfrm>
            <a:off x="457200" y="566928"/>
            <a:ext cx="8229600" cy="502920"/>
          </a:xfrm>
          <a:prstGeom prst="rect">
            <a:avLst/>
          </a:prstGeom>
          <a:noFill/>
          <a:ln/>
        </p:spPr>
        <p:txBody>
          <a:bodyPr wrap="square" lIns="0" tIns="0" rIns="0" bIns="0" rtlCol="0" anchor="ctr"/>
          <a:lstStyle/>
          <a:p>
            <a:pPr marL="0" indent="0">
              <a:buNone/>
            </a:pPr>
            <a:r>
              <a:rPr lang="en-US" sz="2400" b="1" dirty="0">
                <a:solidFill>
                  <a:srgbClr val="071B3F"/>
                </a:solidFill>
                <a:latin typeface="Segoe UI" pitchFamily="34" charset="0"/>
                <a:ea typeface="Segoe UI" pitchFamily="34" charset="-122"/>
                <a:cs typeface="Segoe UI" pitchFamily="34" charset="-120"/>
              </a:rPr>
              <a:t>Evolución: de DI API a Service Layer</a:t>
            </a:r>
            <a:endParaRPr lang="en-US" sz="2400" dirty="0"/>
          </a:p>
        </p:txBody>
      </p:sp>
      <p:sp>
        <p:nvSpPr>
          <p:cNvPr id="5" name="Text 3"/>
          <p:cNvSpPr txBox="1"/>
          <p:nvPr/>
        </p:nvSpPr>
        <p:spPr>
          <a:xfrm>
            <a:off x="457200" y="1051560"/>
            <a:ext cx="8229600" cy="274320"/>
          </a:xfrm>
          <a:prstGeom prst="rect">
            <a:avLst/>
          </a:prstGeom>
          <a:noFill/>
          <a:ln/>
        </p:spPr>
        <p:txBody>
          <a:bodyPr wrap="square" lIns="0" tIns="0" rIns="0" bIns="0" rtlCol="0" anchor="ctr"/>
          <a:lstStyle/>
          <a:p>
            <a:pPr marL="0" indent="0">
              <a:buNone/>
            </a:pPr>
            <a:r>
              <a:rPr lang="en-US" sz="1250" dirty="0">
                <a:solidFill>
                  <a:srgbClr val="5B6B82"/>
                </a:solidFill>
                <a:latin typeface="Calibri" pitchFamily="34" charset="0"/>
                <a:ea typeface="Calibri" pitchFamily="34" charset="-122"/>
                <a:cs typeface="Calibri" pitchFamily="34" charset="-120"/>
              </a:rPr>
              <a:t>Cada herramienta resolvió una limitación de la anterior</a:t>
            </a:r>
            <a:endParaRPr lang="en-US" sz="1250" dirty="0"/>
          </a:p>
        </p:txBody>
      </p:sp>
      <p:sp>
        <p:nvSpPr>
          <p:cNvPr id="6" name="Text 4"/>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00" dirty="0">
                <a:solidFill>
                  <a:srgbClr val="8A9AB0"/>
                </a:solidFill>
                <a:latin typeface="Calibri" pitchFamily="34" charset="0"/>
                <a:ea typeface="Calibri" pitchFamily="34" charset="-122"/>
                <a:cs typeface="Calibri" pitchFamily="34" charset="-120"/>
              </a:rPr>
              <a:t>Ventura Soluciones  |  SAP Business One · Service Layer</a:t>
            </a:r>
            <a:endParaRPr lang="en-US" sz="800" dirty="0"/>
          </a:p>
        </p:txBody>
      </p:sp>
      <p:sp>
        <p:nvSpPr>
          <p:cNvPr id="7" name="Shape 5"/>
          <p:cNvSpPr/>
          <p:nvPr/>
        </p:nvSpPr>
        <p:spPr>
          <a:xfrm>
            <a:off x="822960" y="2331720"/>
            <a:ext cx="7498080" cy="0"/>
          </a:xfrm>
          <a:prstGeom prst="line">
            <a:avLst/>
          </a:prstGeom>
          <a:noFill/>
          <a:ln w="31750">
            <a:solidFill>
              <a:srgbClr val="0B4DA2"/>
            </a:solidFill>
            <a:prstDash val="solid"/>
            <a:tailEnd type="triangle"/>
          </a:ln>
        </p:spPr>
      </p:sp>
      <p:sp>
        <p:nvSpPr>
          <p:cNvPr id="8" name="Shape 6"/>
          <p:cNvSpPr/>
          <p:nvPr/>
        </p:nvSpPr>
        <p:spPr>
          <a:xfrm>
            <a:off x="1078992" y="2039112"/>
            <a:ext cx="585216" cy="585216"/>
          </a:xfrm>
          <a:prstGeom prst="ellipse">
            <a:avLst/>
          </a:prstGeom>
          <a:solidFill>
            <a:srgbClr val="0B4DA2"/>
          </a:solidFill>
          <a:ln w="12700">
            <a:solidFill>
              <a:srgbClr val="0B4DA2"/>
            </a:solidFill>
            <a:prstDash val="solid"/>
          </a:ln>
        </p:spPr>
      </p:sp>
      <p:pic>
        <p:nvPicPr>
          <p:cNvPr id="9" name="Image 0" descr="preencoded.png"/>
          <p:cNvPicPr>
            <a:picLocks noChangeAspect="1"/>
          </p:cNvPicPr>
          <p:nvPr/>
        </p:nvPicPr>
        <p:blipFill>
          <a:blip r:embed="rId3"/>
          <a:stretch>
            <a:fillRect/>
          </a:stretch>
        </p:blipFill>
        <p:spPr>
          <a:xfrm>
            <a:off x="1231148" y="2191268"/>
            <a:ext cx="280904" cy="280904"/>
          </a:xfrm>
          <a:prstGeom prst="rect">
            <a:avLst/>
          </a:prstGeom>
        </p:spPr>
      </p:pic>
      <p:sp>
        <p:nvSpPr>
          <p:cNvPr id="10" name="Text 7"/>
          <p:cNvSpPr txBox="1"/>
          <p:nvPr/>
        </p:nvSpPr>
        <p:spPr>
          <a:xfrm>
            <a:off x="411480" y="1417320"/>
            <a:ext cx="1920240" cy="228600"/>
          </a:xfrm>
          <a:prstGeom prst="rect">
            <a:avLst/>
          </a:prstGeom>
          <a:noFill/>
          <a:ln/>
        </p:spPr>
        <p:txBody>
          <a:bodyPr wrap="square" lIns="0" tIns="0" rIns="0" bIns="0" rtlCol="0" anchor="t"/>
          <a:lstStyle/>
          <a:p>
            <a:pPr marL="0" indent="0" algn="ctr">
              <a:buNone/>
            </a:pPr>
            <a:r>
              <a:rPr lang="en-US" sz="900" b="1" kern="0" spc="100" dirty="0">
                <a:solidFill>
                  <a:srgbClr val="0B4DA2"/>
                </a:solidFill>
                <a:latin typeface="Segoe UI" pitchFamily="34" charset="0"/>
                <a:ea typeface="Segoe UI" pitchFamily="34" charset="-122"/>
                <a:cs typeface="Segoe UI" pitchFamily="34" charset="-120"/>
              </a:rPr>
              <a:t>INTEGRACIÓN LOCAL</a:t>
            </a:r>
            <a:endParaRPr lang="en-US" sz="900" dirty="0"/>
          </a:p>
        </p:txBody>
      </p:sp>
      <p:sp>
        <p:nvSpPr>
          <p:cNvPr id="11" name="Text 8"/>
          <p:cNvSpPr txBox="1"/>
          <p:nvPr/>
        </p:nvSpPr>
        <p:spPr>
          <a:xfrm>
            <a:off x="411480" y="1645920"/>
            <a:ext cx="1920240" cy="320040"/>
          </a:xfrm>
          <a:prstGeom prst="rect">
            <a:avLst/>
          </a:prstGeom>
          <a:noFill/>
          <a:ln/>
        </p:spPr>
        <p:txBody>
          <a:bodyPr wrap="square" lIns="0" tIns="0" rIns="0" bIns="0" rtlCol="0" anchor="t"/>
          <a:lstStyle/>
          <a:p>
            <a:pPr marL="0" indent="0" algn="ctr">
              <a:buNone/>
            </a:pPr>
            <a:r>
              <a:rPr lang="en-US" sz="1600" b="1" dirty="0">
                <a:solidFill>
                  <a:srgbClr val="071B3F"/>
                </a:solidFill>
                <a:latin typeface="Segoe UI" pitchFamily="34" charset="0"/>
                <a:ea typeface="Segoe UI" pitchFamily="34" charset="-122"/>
                <a:cs typeface="Segoe UI" pitchFamily="34" charset="-120"/>
              </a:rPr>
              <a:t>DI API</a:t>
            </a:r>
            <a:endParaRPr lang="en-US" sz="1600" dirty="0"/>
          </a:p>
        </p:txBody>
      </p:sp>
      <p:sp>
        <p:nvSpPr>
          <p:cNvPr id="12" name="Shape 9"/>
          <p:cNvSpPr/>
          <p:nvPr/>
        </p:nvSpPr>
        <p:spPr>
          <a:xfrm>
            <a:off x="411480" y="2788920"/>
            <a:ext cx="1920240" cy="1874520"/>
          </a:xfrm>
          <a:prstGeom prst="roundRect">
            <a:avLst>
              <a:gd name="adj" fmla="val 3902"/>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13" name="Text 10"/>
          <p:cNvSpPr txBox="1"/>
          <p:nvPr/>
        </p:nvSpPr>
        <p:spPr>
          <a:xfrm>
            <a:off x="539496" y="2898648"/>
            <a:ext cx="1664208" cy="1005840"/>
          </a:xfrm>
          <a:prstGeom prst="rect">
            <a:avLst/>
          </a:prstGeom>
          <a:noFill/>
          <a:ln/>
        </p:spPr>
        <p:txBody>
          <a:bodyPr wrap="square" lIns="0" tIns="0" rIns="0" bIns="0" rtlCol="0" anchor="t"/>
          <a:lstStyle/>
          <a:p>
            <a:pPr marL="0" indent="0">
              <a:buNone/>
            </a:pPr>
            <a:r>
              <a:rPr lang="en-US" sz="1000" dirty="0">
                <a:solidFill>
                  <a:srgbClr val="1B2433"/>
                </a:solidFill>
                <a:latin typeface="Calibri" pitchFamily="34" charset="0"/>
                <a:ea typeface="Calibri" pitchFamily="34" charset="-122"/>
                <a:cs typeface="Calibri" pitchFamily="34" charset="-120"/>
              </a:rPr>
              <a:t>Librería COM (SAPbobsCOM) instalada en cada equipo. Acceso completo a los objetos de negocio.</a:t>
            </a:r>
            <a:endParaRPr lang="en-US" sz="1000" dirty="0"/>
          </a:p>
        </p:txBody>
      </p:sp>
      <p:sp>
        <p:nvSpPr>
          <p:cNvPr id="14" name="Text 11"/>
          <p:cNvSpPr txBox="1"/>
          <p:nvPr/>
        </p:nvSpPr>
        <p:spPr>
          <a:xfrm>
            <a:off x="539496" y="3959352"/>
            <a:ext cx="1664208" cy="640080"/>
          </a:xfrm>
          <a:prstGeom prst="rect">
            <a:avLst/>
          </a:prstGeom>
          <a:noFill/>
          <a:ln/>
        </p:spPr>
        <p:txBody>
          <a:bodyPr wrap="square" lIns="0" tIns="0" rIns="0" bIns="0" rtlCol="0" anchor="t"/>
          <a:lstStyle/>
          <a:p>
            <a:pPr marL="0" indent="0">
              <a:buNone/>
            </a:pPr>
            <a:r>
              <a:rPr lang="en-US" sz="950" b="1" dirty="0">
                <a:solidFill>
                  <a:srgbClr val="D64545"/>
                </a:solidFill>
                <a:latin typeface="Calibri" pitchFamily="34" charset="0"/>
                <a:ea typeface="Calibri" pitchFamily="34" charset="-122"/>
                <a:cs typeface="Calibri" pitchFamily="34" charset="-120"/>
              </a:rPr>
              <a:t>Limitación: </a:t>
            </a:r>
            <a:r>
              <a:rPr lang="en-US" sz="950" dirty="0">
                <a:solidFill>
                  <a:srgbClr val="5B6B82"/>
                </a:solidFill>
                <a:latin typeface="Calibri" pitchFamily="34" charset="0"/>
                <a:ea typeface="Calibri" pitchFamily="34" charset="-122"/>
                <a:cs typeface="Calibri" pitchFamily="34" charset="-120"/>
              </a:rPr>
              <a:t>Depende de Windows, versión y arquitectura (32/64 bits).</a:t>
            </a:r>
            <a:endParaRPr lang="en-US" sz="950" dirty="0"/>
          </a:p>
        </p:txBody>
      </p:sp>
      <p:sp>
        <p:nvSpPr>
          <p:cNvPr id="15" name="Shape 12"/>
          <p:cNvSpPr/>
          <p:nvPr/>
        </p:nvSpPr>
        <p:spPr>
          <a:xfrm>
            <a:off x="3227832" y="2039112"/>
            <a:ext cx="585216" cy="585216"/>
          </a:xfrm>
          <a:prstGeom prst="ellipse">
            <a:avLst/>
          </a:prstGeom>
          <a:solidFill>
            <a:srgbClr val="0B4DA2"/>
          </a:solidFill>
          <a:ln w="12700">
            <a:solidFill>
              <a:srgbClr val="0B4DA2"/>
            </a:solidFill>
            <a:prstDash val="solid"/>
          </a:ln>
        </p:spPr>
      </p:sp>
      <p:pic>
        <p:nvPicPr>
          <p:cNvPr id="16" name="Image 1" descr="preencoded.png"/>
          <p:cNvPicPr>
            <a:picLocks noChangeAspect="1"/>
          </p:cNvPicPr>
          <p:nvPr/>
        </p:nvPicPr>
        <p:blipFill>
          <a:blip r:embed="rId4"/>
          <a:stretch>
            <a:fillRect/>
          </a:stretch>
        </p:blipFill>
        <p:spPr>
          <a:xfrm>
            <a:off x="3379988" y="2191268"/>
            <a:ext cx="280904" cy="280904"/>
          </a:xfrm>
          <a:prstGeom prst="rect">
            <a:avLst/>
          </a:prstGeom>
        </p:spPr>
      </p:pic>
      <p:sp>
        <p:nvSpPr>
          <p:cNvPr id="17" name="Text 13"/>
          <p:cNvSpPr txBox="1"/>
          <p:nvPr/>
        </p:nvSpPr>
        <p:spPr>
          <a:xfrm>
            <a:off x="2560320" y="1417320"/>
            <a:ext cx="1920240" cy="228600"/>
          </a:xfrm>
          <a:prstGeom prst="rect">
            <a:avLst/>
          </a:prstGeom>
          <a:noFill/>
          <a:ln/>
        </p:spPr>
        <p:txBody>
          <a:bodyPr wrap="square" lIns="0" tIns="0" rIns="0" bIns="0" rtlCol="0" anchor="t"/>
          <a:lstStyle/>
          <a:p>
            <a:pPr marL="0" indent="0" algn="ctr">
              <a:buNone/>
            </a:pPr>
            <a:r>
              <a:rPr lang="en-US" sz="900" b="1" kern="0" spc="100" dirty="0">
                <a:solidFill>
                  <a:srgbClr val="0B4DA2"/>
                </a:solidFill>
                <a:latin typeface="Segoe UI" pitchFamily="34" charset="0"/>
                <a:ea typeface="Segoe UI" pitchFamily="34" charset="-122"/>
                <a:cs typeface="Segoe UI" pitchFamily="34" charset="-120"/>
              </a:rPr>
              <a:t>CARGA MASIVA</a:t>
            </a:r>
            <a:endParaRPr lang="en-US" sz="900" dirty="0"/>
          </a:p>
        </p:txBody>
      </p:sp>
      <p:sp>
        <p:nvSpPr>
          <p:cNvPr id="18" name="Text 14"/>
          <p:cNvSpPr txBox="1"/>
          <p:nvPr/>
        </p:nvSpPr>
        <p:spPr>
          <a:xfrm>
            <a:off x="2560320" y="1645920"/>
            <a:ext cx="1920240" cy="320040"/>
          </a:xfrm>
          <a:prstGeom prst="rect">
            <a:avLst/>
          </a:prstGeom>
          <a:noFill/>
          <a:ln/>
        </p:spPr>
        <p:txBody>
          <a:bodyPr wrap="square" lIns="0" tIns="0" rIns="0" bIns="0" rtlCol="0" anchor="t"/>
          <a:lstStyle/>
          <a:p>
            <a:pPr marL="0" indent="0" algn="ctr">
              <a:buNone/>
            </a:pPr>
            <a:r>
              <a:rPr lang="en-US" sz="1600" b="1" dirty="0">
                <a:solidFill>
                  <a:srgbClr val="071B3F"/>
                </a:solidFill>
                <a:latin typeface="Segoe UI" pitchFamily="34" charset="0"/>
                <a:ea typeface="Segoe UI" pitchFamily="34" charset="-122"/>
                <a:cs typeface="Segoe UI" pitchFamily="34" charset="-120"/>
              </a:rPr>
              <a:t>DTW</a:t>
            </a:r>
            <a:endParaRPr lang="en-US" sz="1600" dirty="0"/>
          </a:p>
        </p:txBody>
      </p:sp>
      <p:sp>
        <p:nvSpPr>
          <p:cNvPr id="19" name="Shape 15"/>
          <p:cNvSpPr/>
          <p:nvPr/>
        </p:nvSpPr>
        <p:spPr>
          <a:xfrm>
            <a:off x="2560320" y="2788920"/>
            <a:ext cx="1920240" cy="1874520"/>
          </a:xfrm>
          <a:prstGeom prst="roundRect">
            <a:avLst>
              <a:gd name="adj" fmla="val 3902"/>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20" name="Text 16"/>
          <p:cNvSpPr txBox="1"/>
          <p:nvPr/>
        </p:nvSpPr>
        <p:spPr>
          <a:xfrm>
            <a:off x="2688336" y="2898648"/>
            <a:ext cx="1664208" cy="1005840"/>
          </a:xfrm>
          <a:prstGeom prst="rect">
            <a:avLst/>
          </a:prstGeom>
          <a:noFill/>
          <a:ln/>
        </p:spPr>
        <p:txBody>
          <a:bodyPr wrap="square" lIns="0" tIns="0" rIns="0" bIns="0" rtlCol="0" anchor="t"/>
          <a:lstStyle/>
          <a:p>
            <a:pPr marL="0" indent="0">
              <a:buNone/>
            </a:pPr>
            <a:r>
              <a:rPr lang="en-US" sz="1000" dirty="0">
                <a:solidFill>
                  <a:srgbClr val="1B2433"/>
                </a:solidFill>
                <a:latin typeface="Calibri" pitchFamily="34" charset="0"/>
                <a:ea typeface="Calibri" pitchFamily="34" charset="-122"/>
                <a:cs typeface="Calibri" pitchFamily="34" charset="-120"/>
              </a:rPr>
              <a:t>Data Transfer Workbench: asistente con plantillas CSV/Excel construido sobre DI API.</a:t>
            </a:r>
            <a:endParaRPr lang="en-US" sz="1000" dirty="0"/>
          </a:p>
        </p:txBody>
      </p:sp>
      <p:sp>
        <p:nvSpPr>
          <p:cNvPr id="21" name="Text 17"/>
          <p:cNvSpPr txBox="1"/>
          <p:nvPr/>
        </p:nvSpPr>
        <p:spPr>
          <a:xfrm>
            <a:off x="2688336" y="3959352"/>
            <a:ext cx="1664208" cy="640080"/>
          </a:xfrm>
          <a:prstGeom prst="rect">
            <a:avLst/>
          </a:prstGeom>
          <a:noFill/>
          <a:ln/>
        </p:spPr>
        <p:txBody>
          <a:bodyPr wrap="square" lIns="0" tIns="0" rIns="0" bIns="0" rtlCol="0" anchor="t"/>
          <a:lstStyle/>
          <a:p>
            <a:pPr marL="0" indent="0">
              <a:buNone/>
            </a:pPr>
            <a:r>
              <a:rPr lang="en-US" sz="950" b="1" dirty="0">
                <a:solidFill>
                  <a:srgbClr val="D64545"/>
                </a:solidFill>
                <a:latin typeface="Calibri" pitchFamily="34" charset="0"/>
                <a:ea typeface="Calibri" pitchFamily="34" charset="-122"/>
                <a:cs typeface="Calibri" pitchFamily="34" charset="-120"/>
              </a:rPr>
              <a:t>Limitación: </a:t>
            </a:r>
            <a:r>
              <a:rPr lang="en-US" sz="950" dirty="0">
                <a:solidFill>
                  <a:srgbClr val="5B6B82"/>
                </a:solidFill>
                <a:latin typeface="Calibri" pitchFamily="34" charset="0"/>
                <a:ea typeface="Calibri" pitchFamily="34" charset="-122"/>
                <a:cs typeface="Calibri" pitchFamily="34" charset="-120"/>
              </a:rPr>
              <a:t>Pensado para migraciones, no para integración en línea.</a:t>
            </a:r>
            <a:endParaRPr lang="en-US" sz="950" dirty="0"/>
          </a:p>
        </p:txBody>
      </p:sp>
      <p:sp>
        <p:nvSpPr>
          <p:cNvPr id="22" name="Shape 18"/>
          <p:cNvSpPr/>
          <p:nvPr/>
        </p:nvSpPr>
        <p:spPr>
          <a:xfrm>
            <a:off x="5376672" y="2039112"/>
            <a:ext cx="585216" cy="585216"/>
          </a:xfrm>
          <a:prstGeom prst="ellipse">
            <a:avLst/>
          </a:prstGeom>
          <a:solidFill>
            <a:srgbClr val="0B4DA2"/>
          </a:solidFill>
          <a:ln w="12700">
            <a:solidFill>
              <a:srgbClr val="0B4DA2"/>
            </a:solidFill>
            <a:prstDash val="solid"/>
          </a:ln>
        </p:spPr>
      </p:sp>
      <p:pic>
        <p:nvPicPr>
          <p:cNvPr id="23" name="Image 2" descr="preencoded.png"/>
          <p:cNvPicPr>
            <a:picLocks noChangeAspect="1"/>
          </p:cNvPicPr>
          <p:nvPr/>
        </p:nvPicPr>
        <p:blipFill>
          <a:blip r:embed="rId5"/>
          <a:stretch>
            <a:fillRect/>
          </a:stretch>
        </p:blipFill>
        <p:spPr>
          <a:xfrm>
            <a:off x="5528828" y="2191268"/>
            <a:ext cx="280904" cy="280904"/>
          </a:xfrm>
          <a:prstGeom prst="rect">
            <a:avLst/>
          </a:prstGeom>
        </p:spPr>
      </p:pic>
      <p:sp>
        <p:nvSpPr>
          <p:cNvPr id="24" name="Text 19"/>
          <p:cNvSpPr txBox="1"/>
          <p:nvPr/>
        </p:nvSpPr>
        <p:spPr>
          <a:xfrm>
            <a:off x="4709160" y="1417320"/>
            <a:ext cx="1920240" cy="228600"/>
          </a:xfrm>
          <a:prstGeom prst="rect">
            <a:avLst/>
          </a:prstGeom>
          <a:noFill/>
          <a:ln/>
        </p:spPr>
        <p:txBody>
          <a:bodyPr wrap="square" lIns="0" tIns="0" rIns="0" bIns="0" rtlCol="0" anchor="t"/>
          <a:lstStyle/>
          <a:p>
            <a:pPr marL="0" indent="0" algn="ctr">
              <a:buNone/>
            </a:pPr>
            <a:r>
              <a:rPr lang="en-US" sz="900" b="1" kern="0" spc="100" dirty="0">
                <a:solidFill>
                  <a:srgbClr val="0B4DA2"/>
                </a:solidFill>
                <a:latin typeface="Segoe UI" pitchFamily="34" charset="0"/>
                <a:ea typeface="Segoe UI" pitchFamily="34" charset="-122"/>
                <a:cs typeface="Segoe UI" pitchFamily="34" charset="-120"/>
              </a:rPr>
              <a:t>SERVICIO REMOTO</a:t>
            </a:r>
            <a:endParaRPr lang="en-US" sz="900" dirty="0"/>
          </a:p>
        </p:txBody>
      </p:sp>
      <p:sp>
        <p:nvSpPr>
          <p:cNvPr id="25" name="Text 20"/>
          <p:cNvSpPr txBox="1"/>
          <p:nvPr/>
        </p:nvSpPr>
        <p:spPr>
          <a:xfrm>
            <a:off x="4709160" y="1645920"/>
            <a:ext cx="1920240" cy="320040"/>
          </a:xfrm>
          <a:prstGeom prst="rect">
            <a:avLst/>
          </a:prstGeom>
          <a:noFill/>
          <a:ln/>
        </p:spPr>
        <p:txBody>
          <a:bodyPr wrap="square" lIns="0" tIns="0" rIns="0" bIns="0" rtlCol="0" anchor="t"/>
          <a:lstStyle/>
          <a:p>
            <a:pPr marL="0" indent="0" algn="ctr">
              <a:buNone/>
            </a:pPr>
            <a:r>
              <a:rPr lang="en-US" sz="1600" b="1" dirty="0">
                <a:solidFill>
                  <a:srgbClr val="071B3F"/>
                </a:solidFill>
                <a:latin typeface="Segoe UI" pitchFamily="34" charset="0"/>
                <a:ea typeface="Segoe UI" pitchFamily="34" charset="-122"/>
                <a:cs typeface="Segoe UI" pitchFamily="34" charset="-120"/>
              </a:rPr>
              <a:t>DI Server</a:t>
            </a:r>
            <a:endParaRPr lang="en-US" sz="1600" dirty="0"/>
          </a:p>
        </p:txBody>
      </p:sp>
      <p:sp>
        <p:nvSpPr>
          <p:cNvPr id="26" name="Shape 21"/>
          <p:cNvSpPr/>
          <p:nvPr/>
        </p:nvSpPr>
        <p:spPr>
          <a:xfrm>
            <a:off x="4709160" y="2788920"/>
            <a:ext cx="1920240" cy="1874520"/>
          </a:xfrm>
          <a:prstGeom prst="roundRect">
            <a:avLst>
              <a:gd name="adj" fmla="val 3902"/>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27" name="Text 22"/>
          <p:cNvSpPr txBox="1"/>
          <p:nvPr/>
        </p:nvSpPr>
        <p:spPr>
          <a:xfrm>
            <a:off x="4837176" y="2898648"/>
            <a:ext cx="1664208" cy="1005840"/>
          </a:xfrm>
          <a:prstGeom prst="rect">
            <a:avLst/>
          </a:prstGeom>
          <a:noFill/>
          <a:ln/>
        </p:spPr>
        <p:txBody>
          <a:bodyPr wrap="square" lIns="0" tIns="0" rIns="0" bIns="0" rtlCol="0" anchor="t"/>
          <a:lstStyle/>
          <a:p>
            <a:pPr marL="0" indent="0">
              <a:buNone/>
            </a:pPr>
            <a:r>
              <a:rPr lang="en-US" sz="1000" dirty="0">
                <a:solidFill>
                  <a:srgbClr val="1B2433"/>
                </a:solidFill>
                <a:latin typeface="Calibri" pitchFamily="34" charset="0"/>
                <a:ea typeface="Calibri" pitchFamily="34" charset="-122"/>
                <a:cs typeface="Calibri" pitchFamily="34" charset="-120"/>
              </a:rPr>
              <a:t>DI API alojado en servidor y expuesto como servicio SOAP/XML.</a:t>
            </a:r>
            <a:endParaRPr lang="en-US" sz="1000" dirty="0"/>
          </a:p>
        </p:txBody>
      </p:sp>
      <p:sp>
        <p:nvSpPr>
          <p:cNvPr id="28" name="Text 23"/>
          <p:cNvSpPr txBox="1"/>
          <p:nvPr/>
        </p:nvSpPr>
        <p:spPr>
          <a:xfrm>
            <a:off x="4837176" y="3959352"/>
            <a:ext cx="1664208" cy="640080"/>
          </a:xfrm>
          <a:prstGeom prst="rect">
            <a:avLst/>
          </a:prstGeom>
          <a:noFill/>
          <a:ln/>
        </p:spPr>
        <p:txBody>
          <a:bodyPr wrap="square" lIns="0" tIns="0" rIns="0" bIns="0" rtlCol="0" anchor="t"/>
          <a:lstStyle/>
          <a:p>
            <a:pPr marL="0" indent="0">
              <a:buNone/>
            </a:pPr>
            <a:r>
              <a:rPr lang="en-US" sz="950" b="1" dirty="0">
                <a:solidFill>
                  <a:srgbClr val="D64545"/>
                </a:solidFill>
                <a:latin typeface="Calibri" pitchFamily="34" charset="0"/>
                <a:ea typeface="Calibri" pitchFamily="34" charset="-122"/>
                <a:cs typeface="Calibri" pitchFamily="34" charset="-120"/>
              </a:rPr>
              <a:t>Limitación: </a:t>
            </a:r>
            <a:r>
              <a:rPr lang="en-US" sz="950" dirty="0">
                <a:solidFill>
                  <a:srgbClr val="5B6B82"/>
                </a:solidFill>
                <a:latin typeface="Calibri" pitchFamily="34" charset="0"/>
                <a:ea typeface="Calibri" pitchFamily="34" charset="-122"/>
                <a:cs typeface="Calibri" pitchFamily="34" charset="-120"/>
              </a:rPr>
              <a:t>XML verboso, solo Windows, escalabilidad limitada.</a:t>
            </a:r>
            <a:endParaRPr lang="en-US" sz="950" dirty="0"/>
          </a:p>
        </p:txBody>
      </p:sp>
      <p:sp>
        <p:nvSpPr>
          <p:cNvPr id="29" name="Shape 24"/>
          <p:cNvSpPr/>
          <p:nvPr/>
        </p:nvSpPr>
        <p:spPr>
          <a:xfrm>
            <a:off x="7525512" y="2039112"/>
            <a:ext cx="585216" cy="585216"/>
          </a:xfrm>
          <a:prstGeom prst="ellipse">
            <a:avLst/>
          </a:prstGeom>
          <a:solidFill>
            <a:srgbClr val="F5A800"/>
          </a:solidFill>
          <a:ln w="12700">
            <a:solidFill>
              <a:srgbClr val="F5A800"/>
            </a:solidFill>
            <a:prstDash val="solid"/>
          </a:ln>
        </p:spPr>
      </p:sp>
      <p:pic>
        <p:nvPicPr>
          <p:cNvPr id="30" name="Image 3" descr="preencoded.png"/>
          <p:cNvPicPr>
            <a:picLocks noChangeAspect="1"/>
          </p:cNvPicPr>
          <p:nvPr/>
        </p:nvPicPr>
        <p:blipFill>
          <a:blip r:embed="rId6"/>
          <a:stretch>
            <a:fillRect/>
          </a:stretch>
        </p:blipFill>
        <p:spPr>
          <a:xfrm>
            <a:off x="7677668" y="2191268"/>
            <a:ext cx="280904" cy="280904"/>
          </a:xfrm>
          <a:prstGeom prst="rect">
            <a:avLst/>
          </a:prstGeom>
        </p:spPr>
      </p:pic>
      <p:sp>
        <p:nvSpPr>
          <p:cNvPr id="31" name="Text 25"/>
          <p:cNvSpPr txBox="1"/>
          <p:nvPr/>
        </p:nvSpPr>
        <p:spPr>
          <a:xfrm>
            <a:off x="6858000" y="1417320"/>
            <a:ext cx="1920240" cy="228600"/>
          </a:xfrm>
          <a:prstGeom prst="rect">
            <a:avLst/>
          </a:prstGeom>
          <a:noFill/>
          <a:ln/>
        </p:spPr>
        <p:txBody>
          <a:bodyPr wrap="square" lIns="0" tIns="0" rIns="0" bIns="0" rtlCol="0" anchor="t"/>
          <a:lstStyle/>
          <a:p>
            <a:pPr marL="0" indent="0" algn="ctr">
              <a:buNone/>
            </a:pPr>
            <a:r>
              <a:rPr lang="en-US" sz="900" b="1" kern="0" spc="100" dirty="0">
                <a:solidFill>
                  <a:srgbClr val="B07A00"/>
                </a:solidFill>
                <a:latin typeface="Segoe UI" pitchFamily="34" charset="0"/>
                <a:ea typeface="Segoe UI" pitchFamily="34" charset="-122"/>
                <a:cs typeface="Segoe UI" pitchFamily="34" charset="-120"/>
              </a:rPr>
              <a:t>API WEB MODERNA</a:t>
            </a:r>
            <a:endParaRPr lang="en-US" sz="900" dirty="0"/>
          </a:p>
        </p:txBody>
      </p:sp>
      <p:sp>
        <p:nvSpPr>
          <p:cNvPr id="32" name="Text 26"/>
          <p:cNvSpPr txBox="1"/>
          <p:nvPr/>
        </p:nvSpPr>
        <p:spPr>
          <a:xfrm>
            <a:off x="6858000" y="1645920"/>
            <a:ext cx="1920240" cy="320040"/>
          </a:xfrm>
          <a:prstGeom prst="rect">
            <a:avLst/>
          </a:prstGeom>
          <a:noFill/>
          <a:ln/>
        </p:spPr>
        <p:txBody>
          <a:bodyPr wrap="square" lIns="0" tIns="0" rIns="0" bIns="0" rtlCol="0" anchor="t"/>
          <a:lstStyle/>
          <a:p>
            <a:pPr marL="0" indent="0" algn="ctr">
              <a:buNone/>
            </a:pPr>
            <a:r>
              <a:rPr lang="en-US" sz="1600" b="1" dirty="0">
                <a:solidFill>
                  <a:srgbClr val="071B3F"/>
                </a:solidFill>
                <a:latin typeface="Segoe UI" pitchFamily="34" charset="0"/>
                <a:ea typeface="Segoe UI" pitchFamily="34" charset="-122"/>
                <a:cs typeface="Segoe UI" pitchFamily="34" charset="-120"/>
              </a:rPr>
              <a:t>Service Layer</a:t>
            </a:r>
            <a:endParaRPr lang="en-US" sz="1600" dirty="0"/>
          </a:p>
        </p:txBody>
      </p:sp>
      <p:sp>
        <p:nvSpPr>
          <p:cNvPr id="33" name="Shape 27"/>
          <p:cNvSpPr/>
          <p:nvPr/>
        </p:nvSpPr>
        <p:spPr>
          <a:xfrm>
            <a:off x="6858000" y="2788920"/>
            <a:ext cx="1920240" cy="1874520"/>
          </a:xfrm>
          <a:prstGeom prst="roundRect">
            <a:avLst>
              <a:gd name="adj" fmla="val 3902"/>
            </a:avLst>
          </a:prstGeom>
          <a:solidFill>
            <a:srgbClr val="FFF8E6"/>
          </a:solidFill>
          <a:ln w="9525">
            <a:solidFill>
              <a:srgbClr val="D5DFEC"/>
            </a:solidFill>
            <a:prstDash val="solid"/>
          </a:ln>
          <a:effectLst>
            <a:outerShdw blurRad="101600" dist="25400" dir="5400000" algn="bl" rotWithShape="0">
              <a:srgbClr val="0B2A55">
                <a:alpha val="12000"/>
              </a:srgbClr>
            </a:outerShdw>
          </a:effectLst>
        </p:spPr>
      </p:sp>
      <p:sp>
        <p:nvSpPr>
          <p:cNvPr id="34" name="Text 28"/>
          <p:cNvSpPr txBox="1"/>
          <p:nvPr/>
        </p:nvSpPr>
        <p:spPr>
          <a:xfrm>
            <a:off x="6986016" y="2898648"/>
            <a:ext cx="1664208" cy="1005840"/>
          </a:xfrm>
          <a:prstGeom prst="rect">
            <a:avLst/>
          </a:prstGeom>
          <a:noFill/>
          <a:ln/>
        </p:spPr>
        <p:txBody>
          <a:bodyPr wrap="square" lIns="0" tIns="0" rIns="0" bIns="0" rtlCol="0" anchor="t"/>
          <a:lstStyle/>
          <a:p>
            <a:pPr marL="0" indent="0">
              <a:buNone/>
            </a:pPr>
            <a:r>
              <a:rPr lang="en-US" sz="1000" dirty="0">
                <a:solidFill>
                  <a:srgbClr val="1B2433"/>
                </a:solidFill>
                <a:latin typeface="Calibri" pitchFamily="34" charset="0"/>
                <a:ea typeface="Calibri" pitchFamily="34" charset="-122"/>
                <a:cs typeface="Calibri" pitchFamily="34" charset="-120"/>
              </a:rPr>
              <a:t>REST/OData + JSON, balanceo de carga y multiplataforma. Estándar actual recomendado por SAP.</a:t>
            </a:r>
            <a:endParaRPr lang="en-US" sz="1000" dirty="0"/>
          </a:p>
        </p:txBody>
      </p:sp>
      <p:sp>
        <p:nvSpPr>
          <p:cNvPr id="35" name="Text 29"/>
          <p:cNvSpPr txBox="1"/>
          <p:nvPr/>
        </p:nvSpPr>
        <p:spPr>
          <a:xfrm>
            <a:off x="6986016" y="3959352"/>
            <a:ext cx="1664208" cy="640080"/>
          </a:xfrm>
          <a:prstGeom prst="rect">
            <a:avLst/>
          </a:prstGeom>
          <a:noFill/>
          <a:ln/>
        </p:spPr>
        <p:txBody>
          <a:bodyPr wrap="square" lIns="0" tIns="0" rIns="0" bIns="0" rtlCol="0" anchor="t"/>
          <a:lstStyle/>
          <a:p>
            <a:pPr marL="0" indent="0">
              <a:buNone/>
            </a:pPr>
            <a:r>
              <a:rPr lang="en-US" sz="950" b="1" dirty="0">
                <a:solidFill>
                  <a:srgbClr val="B07A00"/>
                </a:solidFill>
                <a:latin typeface="Calibri" pitchFamily="34" charset="0"/>
                <a:ea typeface="Calibri" pitchFamily="34" charset="-122"/>
                <a:cs typeface="Calibri" pitchFamily="34" charset="-120"/>
              </a:rPr>
              <a:t>A considerar: </a:t>
            </a:r>
            <a:r>
              <a:rPr lang="en-US" sz="950" dirty="0">
                <a:solidFill>
                  <a:srgbClr val="5B6B82"/>
                </a:solidFill>
                <a:latin typeface="Calibri" pitchFamily="34" charset="0"/>
                <a:ea typeface="Calibri" pitchFamily="34" charset="-122"/>
                <a:cs typeface="Calibri" pitchFamily="34" charset="-120"/>
              </a:rPr>
              <a:t>Requiere gestionar sesiones y licencias por login.</a:t>
            </a:r>
            <a:endParaRPr lang="en-US" sz="950" dirty="0"/>
          </a:p>
        </p:txBody>
      </p:sp>
      <p:sp>
        <p:nvSpPr>
          <p:cNvPr id="36"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xmlns="" val="0"/>
            </a:ext>
          </a:extLst>
        </p:spPr>
        <p:txBody>
          <a:bodyPr/>
          <a:lstStyle>
            <a:lvl1pPr>
              <a:defRPr sz="800">
                <a:solidFill>
                  <a:srgbClr val="8A9AB0"/>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457200" y="256032"/>
            <a:ext cx="1720901" cy="237744"/>
          </a:xfrm>
          <a:prstGeom prst="roundRect">
            <a:avLst>
              <a:gd name="adj" fmla="val 50000"/>
            </a:avLst>
          </a:prstGeom>
          <a:solidFill>
            <a:srgbClr val="071B3F"/>
          </a:solidFill>
          <a:ln w="12700">
            <a:solidFill>
              <a:srgbClr val="071B3F"/>
            </a:solidFill>
            <a:prstDash val="solid"/>
          </a:ln>
        </p:spPr>
      </p:sp>
      <p:sp>
        <p:nvSpPr>
          <p:cNvPr id="3" name="Text 1"/>
          <p:cNvSpPr txBox="1"/>
          <p:nvPr/>
        </p:nvSpPr>
        <p:spPr>
          <a:xfrm>
            <a:off x="457200" y="256032"/>
            <a:ext cx="1720901" cy="237744"/>
          </a:xfrm>
          <a:prstGeom prst="rect">
            <a:avLst/>
          </a:prstGeom>
          <a:noFill/>
          <a:ln/>
        </p:spPr>
        <p:txBody>
          <a:bodyPr wrap="square" lIns="0" tIns="0" rIns="0" bIns="0" rtlCol="0" anchor="ctr"/>
          <a:lstStyle/>
          <a:p>
            <a:pPr marL="0" indent="0" algn="ctr">
              <a:buNone/>
            </a:pPr>
            <a:r>
              <a:rPr lang="en-US" sz="850" b="1" kern="0" spc="100" dirty="0">
                <a:solidFill>
                  <a:srgbClr val="F5A800"/>
                </a:solidFill>
                <a:latin typeface="Segoe UI" pitchFamily="34" charset="0"/>
                <a:ea typeface="Segoe UI" pitchFamily="34" charset="-122"/>
                <a:cs typeface="Segoe UI" pitchFamily="34" charset="-120"/>
              </a:rPr>
              <a:t>01  ·  INTRODUCCIÓN</a:t>
            </a:r>
            <a:endParaRPr lang="en-US" sz="850" dirty="0"/>
          </a:p>
        </p:txBody>
      </p:sp>
      <p:sp>
        <p:nvSpPr>
          <p:cNvPr id="4" name="Text 2"/>
          <p:cNvSpPr txBox="1"/>
          <p:nvPr/>
        </p:nvSpPr>
        <p:spPr>
          <a:xfrm>
            <a:off x="457200" y="566928"/>
            <a:ext cx="8229600" cy="502920"/>
          </a:xfrm>
          <a:prstGeom prst="rect">
            <a:avLst/>
          </a:prstGeom>
          <a:noFill/>
          <a:ln/>
        </p:spPr>
        <p:txBody>
          <a:bodyPr wrap="square" lIns="0" tIns="0" rIns="0" bIns="0" rtlCol="0" anchor="ctr"/>
          <a:lstStyle/>
          <a:p>
            <a:pPr marL="0" indent="0">
              <a:buNone/>
            </a:pPr>
            <a:r>
              <a:rPr lang="en-US" sz="2400" b="1" dirty="0">
                <a:solidFill>
                  <a:srgbClr val="071B3F"/>
                </a:solidFill>
                <a:latin typeface="Segoe UI" pitchFamily="34" charset="0"/>
                <a:ea typeface="Segoe UI" pitchFamily="34" charset="-122"/>
                <a:cs typeface="Segoe UI" pitchFamily="34" charset="-120"/>
              </a:rPr>
              <a:t>¿Dónde está la documentación?</a:t>
            </a:r>
            <a:endParaRPr lang="en-US" sz="2400" dirty="0"/>
          </a:p>
        </p:txBody>
      </p:sp>
      <p:sp>
        <p:nvSpPr>
          <p:cNvPr id="5" name="Text 3"/>
          <p:cNvSpPr txBox="1"/>
          <p:nvPr/>
        </p:nvSpPr>
        <p:spPr>
          <a:xfrm>
            <a:off x="457200" y="1051560"/>
            <a:ext cx="8229600" cy="274320"/>
          </a:xfrm>
          <a:prstGeom prst="rect">
            <a:avLst/>
          </a:prstGeom>
          <a:noFill/>
          <a:ln/>
        </p:spPr>
        <p:txBody>
          <a:bodyPr wrap="square" lIns="0" tIns="0" rIns="0" bIns="0" rtlCol="0" anchor="ctr"/>
          <a:lstStyle/>
          <a:p>
            <a:pPr marL="0" indent="0">
              <a:buNone/>
            </a:pPr>
            <a:r>
              <a:rPr lang="en-US" sz="1250" dirty="0">
                <a:solidFill>
                  <a:srgbClr val="5B6B82"/>
                </a:solidFill>
                <a:latin typeface="Calibri" pitchFamily="34" charset="0"/>
                <a:ea typeface="Calibri" pitchFamily="34" charset="-122"/>
                <a:cs typeface="Calibri" pitchFamily="34" charset="-120"/>
              </a:rPr>
              <a:t>Fuentes oficiales que usaremos durante el curso</a:t>
            </a:r>
            <a:endParaRPr lang="en-US" sz="1250" dirty="0"/>
          </a:p>
        </p:txBody>
      </p:sp>
      <p:sp>
        <p:nvSpPr>
          <p:cNvPr id="6" name="Text 4"/>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00" dirty="0">
                <a:solidFill>
                  <a:srgbClr val="8A9AB0"/>
                </a:solidFill>
                <a:latin typeface="Calibri" pitchFamily="34" charset="0"/>
                <a:ea typeface="Calibri" pitchFamily="34" charset="-122"/>
                <a:cs typeface="Calibri" pitchFamily="34" charset="-120"/>
              </a:rPr>
              <a:t>Ventura Soluciones  |  SAP Business One · Service Layer</a:t>
            </a:r>
            <a:endParaRPr lang="en-US" sz="800" dirty="0"/>
          </a:p>
        </p:txBody>
      </p:sp>
      <p:sp>
        <p:nvSpPr>
          <p:cNvPr id="7" name="Shape 5"/>
          <p:cNvSpPr/>
          <p:nvPr/>
        </p:nvSpPr>
        <p:spPr>
          <a:xfrm>
            <a:off x="457200" y="1463040"/>
            <a:ext cx="4069080" cy="1298448"/>
          </a:xfrm>
          <a:prstGeom prst="roundRect">
            <a:avLst>
              <a:gd name="adj" fmla="val 5634"/>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8" name="Shape 6"/>
          <p:cNvSpPr/>
          <p:nvPr/>
        </p:nvSpPr>
        <p:spPr>
          <a:xfrm>
            <a:off x="640080" y="1664208"/>
            <a:ext cx="502920" cy="502920"/>
          </a:xfrm>
          <a:prstGeom prst="ellipse">
            <a:avLst/>
          </a:prstGeom>
          <a:solidFill>
            <a:srgbClr val="0B4DA2"/>
          </a:solidFill>
          <a:ln w="12700">
            <a:solidFill>
              <a:srgbClr val="0B4DA2"/>
            </a:solidFill>
            <a:prstDash val="solid"/>
          </a:ln>
        </p:spPr>
      </p:sp>
      <p:pic>
        <p:nvPicPr>
          <p:cNvPr id="9" name="Image 0" descr="preencoded.png"/>
          <p:cNvPicPr>
            <a:picLocks noChangeAspect="1"/>
          </p:cNvPicPr>
          <p:nvPr/>
        </p:nvPicPr>
        <p:blipFill>
          <a:blip r:embed="rId3"/>
          <a:stretch>
            <a:fillRect/>
          </a:stretch>
        </p:blipFill>
        <p:spPr>
          <a:xfrm>
            <a:off x="770839" y="1794967"/>
            <a:ext cx="241402" cy="241402"/>
          </a:xfrm>
          <a:prstGeom prst="rect">
            <a:avLst/>
          </a:prstGeom>
        </p:spPr>
      </p:pic>
      <p:sp>
        <p:nvSpPr>
          <p:cNvPr id="10" name="Text 7"/>
          <p:cNvSpPr txBox="1"/>
          <p:nvPr/>
        </p:nvSpPr>
        <p:spPr>
          <a:xfrm>
            <a:off x="1325880" y="1627632"/>
            <a:ext cx="3063240" cy="274320"/>
          </a:xfrm>
          <a:prstGeom prst="rect">
            <a:avLst/>
          </a:prstGeom>
          <a:noFill/>
          <a:ln/>
        </p:spPr>
        <p:txBody>
          <a:bodyPr wrap="square" lIns="0" tIns="0" rIns="0" bIns="0" rtlCol="0" anchor="t"/>
          <a:lstStyle/>
          <a:p>
            <a:pPr marL="0" indent="0">
              <a:buNone/>
            </a:pPr>
            <a:r>
              <a:rPr lang="en-US" sz="1300" b="1" dirty="0">
                <a:solidFill>
                  <a:srgbClr val="071B3F"/>
                </a:solidFill>
                <a:latin typeface="Segoe UI" pitchFamily="34" charset="0"/>
                <a:ea typeface="Segoe UI" pitchFamily="34" charset="-122"/>
                <a:cs typeface="Segoe UI" pitchFamily="34" charset="-120"/>
              </a:rPr>
              <a:t>SAP Help Portal</a:t>
            </a:r>
            <a:endParaRPr lang="en-US" sz="1300" dirty="0"/>
          </a:p>
        </p:txBody>
      </p:sp>
      <p:sp>
        <p:nvSpPr>
          <p:cNvPr id="11" name="Text 8"/>
          <p:cNvSpPr txBox="1"/>
          <p:nvPr/>
        </p:nvSpPr>
        <p:spPr>
          <a:xfrm>
            <a:off x="1325880" y="1920240"/>
            <a:ext cx="3063240" cy="457200"/>
          </a:xfrm>
          <a:prstGeom prst="rect">
            <a:avLst/>
          </a:prstGeom>
          <a:noFill/>
          <a:ln/>
        </p:spPr>
        <p:txBody>
          <a:bodyPr wrap="square" lIns="0" tIns="0" rIns="0" bIns="0" rtlCol="0" anchor="t"/>
          <a:lstStyle/>
          <a:p>
            <a:pPr marL="0" indent="0">
              <a:buNone/>
            </a:pPr>
            <a:r>
              <a:rPr lang="en-US" sz="1050" dirty="0">
                <a:solidFill>
                  <a:srgbClr val="5B6B82"/>
                </a:solidFill>
                <a:latin typeface="Calibri" pitchFamily="34" charset="0"/>
                <a:ea typeface="Calibri" pitchFamily="34" charset="-122"/>
                <a:cs typeface="Calibri" pitchFamily="34" charset="-120"/>
              </a:rPr>
              <a:t>Service Layer API Reference: entidades, propiedades, enumeraciones y acciones por versión.</a:t>
            </a:r>
            <a:endParaRPr lang="en-US" sz="1050" dirty="0"/>
          </a:p>
        </p:txBody>
      </p:sp>
      <p:sp>
        <p:nvSpPr>
          <p:cNvPr id="12" name="Text 9"/>
          <p:cNvSpPr txBox="1"/>
          <p:nvPr/>
        </p:nvSpPr>
        <p:spPr>
          <a:xfrm>
            <a:off x="1325880" y="2414016"/>
            <a:ext cx="3108960" cy="228600"/>
          </a:xfrm>
          <a:prstGeom prst="rect">
            <a:avLst/>
          </a:prstGeom>
          <a:noFill/>
          <a:ln/>
        </p:spPr>
        <p:txBody>
          <a:bodyPr wrap="square" lIns="0" tIns="0" rIns="0" bIns="0" rtlCol="0" anchor="t"/>
          <a:lstStyle/>
          <a:p>
            <a:pPr marL="0" indent="0">
              <a:buNone/>
            </a:pPr>
            <a:r>
              <a:rPr lang="en-US" sz="900" dirty="0">
                <a:solidFill>
                  <a:srgbClr val="0B4DA2"/>
                </a:solidFill>
                <a:latin typeface="Consolas" pitchFamily="34" charset="0"/>
                <a:ea typeface="Consolas" pitchFamily="34" charset="-122"/>
                <a:cs typeface="Consolas" pitchFamily="34" charset="-120"/>
              </a:rPr>
              <a:t>help.sap.com  →  SAP Business One  →  Service Layer</a:t>
            </a:r>
            <a:endParaRPr lang="en-US" sz="900" dirty="0"/>
          </a:p>
        </p:txBody>
      </p:sp>
      <p:sp>
        <p:nvSpPr>
          <p:cNvPr id="13" name="Shape 10"/>
          <p:cNvSpPr/>
          <p:nvPr/>
        </p:nvSpPr>
        <p:spPr>
          <a:xfrm>
            <a:off x="4617720" y="1463040"/>
            <a:ext cx="4069080" cy="1298448"/>
          </a:xfrm>
          <a:prstGeom prst="roundRect">
            <a:avLst>
              <a:gd name="adj" fmla="val 5634"/>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14" name="Shape 11"/>
          <p:cNvSpPr/>
          <p:nvPr/>
        </p:nvSpPr>
        <p:spPr>
          <a:xfrm>
            <a:off x="4800600" y="1664208"/>
            <a:ext cx="502920" cy="502920"/>
          </a:xfrm>
          <a:prstGeom prst="ellipse">
            <a:avLst/>
          </a:prstGeom>
          <a:solidFill>
            <a:srgbClr val="0B4DA2"/>
          </a:solidFill>
          <a:ln w="12700">
            <a:solidFill>
              <a:srgbClr val="0B4DA2"/>
            </a:solidFill>
            <a:prstDash val="solid"/>
          </a:ln>
        </p:spPr>
      </p:sp>
      <p:pic>
        <p:nvPicPr>
          <p:cNvPr id="15" name="Image 1" descr="preencoded.png"/>
          <p:cNvPicPr>
            <a:picLocks noChangeAspect="1"/>
          </p:cNvPicPr>
          <p:nvPr/>
        </p:nvPicPr>
        <p:blipFill>
          <a:blip r:embed="rId4"/>
          <a:stretch>
            <a:fillRect/>
          </a:stretch>
        </p:blipFill>
        <p:spPr>
          <a:xfrm>
            <a:off x="4931359" y="1794967"/>
            <a:ext cx="241402" cy="241402"/>
          </a:xfrm>
          <a:prstGeom prst="rect">
            <a:avLst/>
          </a:prstGeom>
        </p:spPr>
      </p:pic>
      <p:sp>
        <p:nvSpPr>
          <p:cNvPr id="16" name="Text 12"/>
          <p:cNvSpPr txBox="1"/>
          <p:nvPr/>
        </p:nvSpPr>
        <p:spPr>
          <a:xfrm>
            <a:off x="5486400" y="1627632"/>
            <a:ext cx="3063240" cy="274320"/>
          </a:xfrm>
          <a:prstGeom prst="rect">
            <a:avLst/>
          </a:prstGeom>
          <a:noFill/>
          <a:ln/>
        </p:spPr>
        <p:txBody>
          <a:bodyPr wrap="square" lIns="0" tIns="0" rIns="0" bIns="0" rtlCol="0" anchor="t"/>
          <a:lstStyle/>
          <a:p>
            <a:pPr marL="0" indent="0">
              <a:buNone/>
            </a:pPr>
            <a:r>
              <a:rPr lang="en-US" sz="1300" b="1" dirty="0">
                <a:solidFill>
                  <a:srgbClr val="071B3F"/>
                </a:solidFill>
                <a:latin typeface="Segoe UI" pitchFamily="34" charset="0"/>
                <a:ea typeface="Segoe UI" pitchFamily="34" charset="-122"/>
                <a:cs typeface="Segoe UI" pitchFamily="34" charset="-120"/>
              </a:rPr>
              <a:t>Metadata del servidor</a:t>
            </a:r>
            <a:endParaRPr lang="en-US" sz="1300" dirty="0"/>
          </a:p>
        </p:txBody>
      </p:sp>
      <p:sp>
        <p:nvSpPr>
          <p:cNvPr id="17" name="Text 13"/>
          <p:cNvSpPr txBox="1"/>
          <p:nvPr/>
        </p:nvSpPr>
        <p:spPr>
          <a:xfrm>
            <a:off x="5486400" y="1920240"/>
            <a:ext cx="3063240" cy="457200"/>
          </a:xfrm>
          <a:prstGeom prst="rect">
            <a:avLst/>
          </a:prstGeom>
          <a:noFill/>
          <a:ln/>
        </p:spPr>
        <p:txBody>
          <a:bodyPr wrap="square" lIns="0" tIns="0" rIns="0" bIns="0" rtlCol="0" anchor="t"/>
          <a:lstStyle/>
          <a:p>
            <a:pPr marL="0" indent="0">
              <a:buNone/>
            </a:pPr>
            <a:r>
              <a:rPr lang="en-US" sz="1050" dirty="0">
                <a:solidFill>
                  <a:srgbClr val="5B6B82"/>
                </a:solidFill>
                <a:latin typeface="Calibri" pitchFamily="34" charset="0"/>
                <a:ea typeface="Calibri" pitchFamily="34" charset="-122"/>
                <a:cs typeface="Calibri" pitchFamily="34" charset="-120"/>
              </a:rPr>
              <a:t>Documento OData con todas las entidades de TU versión y TUS campos de usuario.</a:t>
            </a:r>
            <a:endParaRPr lang="en-US" sz="1050" dirty="0"/>
          </a:p>
        </p:txBody>
      </p:sp>
      <p:sp>
        <p:nvSpPr>
          <p:cNvPr id="18" name="Text 14"/>
          <p:cNvSpPr txBox="1"/>
          <p:nvPr/>
        </p:nvSpPr>
        <p:spPr>
          <a:xfrm>
            <a:off x="5486400" y="2414016"/>
            <a:ext cx="3108960" cy="228600"/>
          </a:xfrm>
          <a:prstGeom prst="rect">
            <a:avLst/>
          </a:prstGeom>
          <a:noFill/>
          <a:ln/>
        </p:spPr>
        <p:txBody>
          <a:bodyPr wrap="square" lIns="0" tIns="0" rIns="0" bIns="0" rtlCol="0" anchor="t"/>
          <a:lstStyle/>
          <a:p>
            <a:pPr marL="0" indent="0">
              <a:buNone/>
            </a:pPr>
            <a:r>
              <a:rPr lang="en-US" sz="900" dirty="0">
                <a:solidFill>
                  <a:srgbClr val="0B4DA2"/>
                </a:solidFill>
                <a:latin typeface="Consolas" pitchFamily="34" charset="0"/>
                <a:ea typeface="Consolas" pitchFamily="34" charset="-122"/>
                <a:cs typeface="Consolas" pitchFamily="34" charset="-120"/>
              </a:rPr>
              <a:t>https://&lt;servidor&gt;:50000/b1s/v1/$metadata</a:t>
            </a:r>
            <a:endParaRPr lang="en-US" sz="900" dirty="0"/>
          </a:p>
        </p:txBody>
      </p:sp>
      <p:sp>
        <p:nvSpPr>
          <p:cNvPr id="19" name="Shape 15"/>
          <p:cNvSpPr/>
          <p:nvPr/>
        </p:nvSpPr>
        <p:spPr>
          <a:xfrm>
            <a:off x="457200" y="2926080"/>
            <a:ext cx="4069080" cy="1298448"/>
          </a:xfrm>
          <a:prstGeom prst="roundRect">
            <a:avLst>
              <a:gd name="adj" fmla="val 5634"/>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20" name="Shape 16"/>
          <p:cNvSpPr/>
          <p:nvPr/>
        </p:nvSpPr>
        <p:spPr>
          <a:xfrm>
            <a:off x="640080" y="3127248"/>
            <a:ext cx="502920" cy="502920"/>
          </a:xfrm>
          <a:prstGeom prst="ellipse">
            <a:avLst/>
          </a:prstGeom>
          <a:solidFill>
            <a:srgbClr val="0B4DA2"/>
          </a:solidFill>
          <a:ln w="12700">
            <a:solidFill>
              <a:srgbClr val="0B4DA2"/>
            </a:solidFill>
            <a:prstDash val="solid"/>
          </a:ln>
        </p:spPr>
      </p:sp>
      <p:pic>
        <p:nvPicPr>
          <p:cNvPr id="21" name="Image 2" descr="preencoded.png"/>
          <p:cNvPicPr>
            <a:picLocks noChangeAspect="1"/>
          </p:cNvPicPr>
          <p:nvPr/>
        </p:nvPicPr>
        <p:blipFill>
          <a:blip r:embed="rId5"/>
          <a:stretch>
            <a:fillRect/>
          </a:stretch>
        </p:blipFill>
        <p:spPr>
          <a:xfrm>
            <a:off x="770839" y="3258007"/>
            <a:ext cx="241402" cy="241402"/>
          </a:xfrm>
          <a:prstGeom prst="rect">
            <a:avLst/>
          </a:prstGeom>
        </p:spPr>
      </p:pic>
      <p:sp>
        <p:nvSpPr>
          <p:cNvPr id="22" name="Text 17"/>
          <p:cNvSpPr txBox="1"/>
          <p:nvPr/>
        </p:nvSpPr>
        <p:spPr>
          <a:xfrm>
            <a:off x="1325880" y="3090672"/>
            <a:ext cx="3063240" cy="274320"/>
          </a:xfrm>
          <a:prstGeom prst="rect">
            <a:avLst/>
          </a:prstGeom>
          <a:noFill/>
          <a:ln/>
        </p:spPr>
        <p:txBody>
          <a:bodyPr wrap="square" lIns="0" tIns="0" rIns="0" bIns="0" rtlCol="0" anchor="t"/>
          <a:lstStyle/>
          <a:p>
            <a:pPr marL="0" indent="0">
              <a:buNone/>
            </a:pPr>
            <a:r>
              <a:rPr lang="en-US" sz="1300" b="1" dirty="0">
                <a:solidFill>
                  <a:srgbClr val="071B3F"/>
                </a:solidFill>
                <a:latin typeface="Segoe UI" pitchFamily="34" charset="0"/>
                <a:ea typeface="Segoe UI" pitchFamily="34" charset="-122"/>
                <a:cs typeface="Segoe UI" pitchFamily="34" charset="-120"/>
              </a:rPr>
              <a:t>Working with Service Layer</a:t>
            </a:r>
            <a:endParaRPr lang="en-US" sz="1300" dirty="0"/>
          </a:p>
        </p:txBody>
      </p:sp>
      <p:sp>
        <p:nvSpPr>
          <p:cNvPr id="23" name="Text 18"/>
          <p:cNvSpPr txBox="1"/>
          <p:nvPr/>
        </p:nvSpPr>
        <p:spPr>
          <a:xfrm>
            <a:off x="1325880" y="3383280"/>
            <a:ext cx="3063240" cy="457200"/>
          </a:xfrm>
          <a:prstGeom prst="rect">
            <a:avLst/>
          </a:prstGeom>
          <a:noFill/>
          <a:ln/>
        </p:spPr>
        <p:txBody>
          <a:bodyPr wrap="square" lIns="0" tIns="0" rIns="0" bIns="0" rtlCol="0" anchor="t"/>
          <a:lstStyle/>
          <a:p>
            <a:pPr marL="0" indent="0">
              <a:buNone/>
            </a:pPr>
            <a:r>
              <a:rPr lang="en-US" sz="1050" dirty="0">
                <a:solidFill>
                  <a:srgbClr val="5B6B82"/>
                </a:solidFill>
                <a:latin typeface="Calibri" pitchFamily="34" charset="0"/>
                <a:ea typeface="Calibri" pitchFamily="34" charset="-122"/>
                <a:cs typeface="Calibri" pitchFamily="34" charset="-120"/>
              </a:rPr>
              <a:t>Guía oficial (PDF) de la versión: conceptos, sesión, batch, UDO, configuración.</a:t>
            </a:r>
            <a:endParaRPr lang="en-US" sz="1050" dirty="0"/>
          </a:p>
        </p:txBody>
      </p:sp>
      <p:sp>
        <p:nvSpPr>
          <p:cNvPr id="24" name="Text 19"/>
          <p:cNvSpPr txBox="1"/>
          <p:nvPr/>
        </p:nvSpPr>
        <p:spPr>
          <a:xfrm>
            <a:off x="1325880" y="3877056"/>
            <a:ext cx="3108960" cy="228600"/>
          </a:xfrm>
          <a:prstGeom prst="rect">
            <a:avLst/>
          </a:prstGeom>
          <a:noFill/>
          <a:ln/>
        </p:spPr>
        <p:txBody>
          <a:bodyPr wrap="square" lIns="0" tIns="0" rIns="0" bIns="0" rtlCol="0" anchor="t"/>
          <a:lstStyle/>
          <a:p>
            <a:pPr marL="0" indent="0">
              <a:buNone/>
            </a:pPr>
            <a:r>
              <a:rPr lang="en-US" sz="900" dirty="0">
                <a:solidFill>
                  <a:srgbClr val="0B4DA2"/>
                </a:solidFill>
                <a:latin typeface="Consolas" pitchFamily="34" charset="0"/>
                <a:ea typeface="Consolas" pitchFamily="34" charset="-122"/>
                <a:cs typeface="Consolas" pitchFamily="34" charset="-120"/>
              </a:rPr>
              <a:t>Documentación de instalación / SAP Help</a:t>
            </a:r>
            <a:endParaRPr lang="en-US" sz="900" dirty="0"/>
          </a:p>
        </p:txBody>
      </p:sp>
      <p:sp>
        <p:nvSpPr>
          <p:cNvPr id="25" name="Shape 20"/>
          <p:cNvSpPr/>
          <p:nvPr/>
        </p:nvSpPr>
        <p:spPr>
          <a:xfrm>
            <a:off x="4617720" y="2926080"/>
            <a:ext cx="4069080" cy="1298448"/>
          </a:xfrm>
          <a:prstGeom prst="roundRect">
            <a:avLst>
              <a:gd name="adj" fmla="val 5634"/>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26" name="Shape 21"/>
          <p:cNvSpPr/>
          <p:nvPr/>
        </p:nvSpPr>
        <p:spPr>
          <a:xfrm>
            <a:off x="4800600" y="3127248"/>
            <a:ext cx="502920" cy="502920"/>
          </a:xfrm>
          <a:prstGeom prst="ellipse">
            <a:avLst/>
          </a:prstGeom>
          <a:solidFill>
            <a:srgbClr val="0B4DA2"/>
          </a:solidFill>
          <a:ln w="12700">
            <a:solidFill>
              <a:srgbClr val="0B4DA2"/>
            </a:solidFill>
            <a:prstDash val="solid"/>
          </a:ln>
        </p:spPr>
      </p:sp>
      <p:pic>
        <p:nvPicPr>
          <p:cNvPr id="27" name="Image 3" descr="preencoded.png"/>
          <p:cNvPicPr>
            <a:picLocks noChangeAspect="1"/>
          </p:cNvPicPr>
          <p:nvPr/>
        </p:nvPicPr>
        <p:blipFill>
          <a:blip r:embed="rId6"/>
          <a:stretch>
            <a:fillRect/>
          </a:stretch>
        </p:blipFill>
        <p:spPr>
          <a:xfrm>
            <a:off x="4931359" y="3258007"/>
            <a:ext cx="241402" cy="241402"/>
          </a:xfrm>
          <a:prstGeom prst="rect">
            <a:avLst/>
          </a:prstGeom>
        </p:spPr>
      </p:pic>
      <p:sp>
        <p:nvSpPr>
          <p:cNvPr id="28" name="Text 22"/>
          <p:cNvSpPr txBox="1"/>
          <p:nvPr/>
        </p:nvSpPr>
        <p:spPr>
          <a:xfrm>
            <a:off x="5486400" y="3090672"/>
            <a:ext cx="3063240" cy="274320"/>
          </a:xfrm>
          <a:prstGeom prst="rect">
            <a:avLst/>
          </a:prstGeom>
          <a:noFill/>
          <a:ln/>
        </p:spPr>
        <p:txBody>
          <a:bodyPr wrap="square" lIns="0" tIns="0" rIns="0" bIns="0" rtlCol="0" anchor="t"/>
          <a:lstStyle/>
          <a:p>
            <a:pPr marL="0" indent="0">
              <a:buNone/>
            </a:pPr>
            <a:r>
              <a:rPr lang="en-US" sz="1300" b="1" dirty="0">
                <a:solidFill>
                  <a:srgbClr val="071B3F"/>
                </a:solidFill>
                <a:latin typeface="Segoe UI" pitchFamily="34" charset="0"/>
                <a:ea typeface="Segoe UI" pitchFamily="34" charset="-122"/>
                <a:cs typeface="Segoe UI" pitchFamily="34" charset="-120"/>
              </a:rPr>
              <a:t>SAP Community y Notas</a:t>
            </a:r>
            <a:endParaRPr lang="en-US" sz="1300" dirty="0"/>
          </a:p>
        </p:txBody>
      </p:sp>
      <p:sp>
        <p:nvSpPr>
          <p:cNvPr id="29" name="Text 23"/>
          <p:cNvSpPr txBox="1"/>
          <p:nvPr/>
        </p:nvSpPr>
        <p:spPr>
          <a:xfrm>
            <a:off x="5486400" y="3383280"/>
            <a:ext cx="3063240" cy="457200"/>
          </a:xfrm>
          <a:prstGeom prst="rect">
            <a:avLst/>
          </a:prstGeom>
          <a:noFill/>
          <a:ln/>
        </p:spPr>
        <p:txBody>
          <a:bodyPr wrap="square" lIns="0" tIns="0" rIns="0" bIns="0" rtlCol="0" anchor="t"/>
          <a:lstStyle/>
          <a:p>
            <a:pPr marL="0" indent="0">
              <a:buNone/>
            </a:pPr>
            <a:r>
              <a:rPr lang="en-US" sz="1050" dirty="0">
                <a:solidFill>
                  <a:srgbClr val="5B6B82"/>
                </a:solidFill>
                <a:latin typeface="Calibri" pitchFamily="34" charset="0"/>
                <a:ea typeface="Calibri" pitchFamily="34" charset="-122"/>
                <a:cs typeface="Calibri" pitchFamily="34" charset="-120"/>
              </a:rPr>
              <a:t>Blogs, preguntas resueltas y notas SAP con correcciones por patch.</a:t>
            </a:r>
            <a:endParaRPr lang="en-US" sz="1050" dirty="0"/>
          </a:p>
        </p:txBody>
      </p:sp>
      <p:sp>
        <p:nvSpPr>
          <p:cNvPr id="30" name="Text 24"/>
          <p:cNvSpPr txBox="1"/>
          <p:nvPr/>
        </p:nvSpPr>
        <p:spPr>
          <a:xfrm>
            <a:off x="5486400" y="3877056"/>
            <a:ext cx="3108960" cy="228600"/>
          </a:xfrm>
          <a:prstGeom prst="rect">
            <a:avLst/>
          </a:prstGeom>
          <a:noFill/>
          <a:ln/>
        </p:spPr>
        <p:txBody>
          <a:bodyPr wrap="square" lIns="0" tIns="0" rIns="0" bIns="0" rtlCol="0" anchor="t"/>
          <a:lstStyle/>
          <a:p>
            <a:pPr marL="0" indent="0">
              <a:buNone/>
            </a:pPr>
            <a:r>
              <a:rPr lang="en-US" sz="900" dirty="0">
                <a:solidFill>
                  <a:srgbClr val="0B4DA2"/>
                </a:solidFill>
                <a:latin typeface="Consolas" pitchFamily="34" charset="0"/>
                <a:ea typeface="Consolas" pitchFamily="34" charset="-122"/>
                <a:cs typeface="Consolas" pitchFamily="34" charset="-120"/>
              </a:rPr>
              <a:t>community.sap.com  ·  me.sap.com</a:t>
            </a:r>
            <a:endParaRPr lang="en-US" sz="900" dirty="0"/>
          </a:p>
        </p:txBody>
      </p:sp>
      <p:sp>
        <p:nvSpPr>
          <p:cNvPr id="31" name="Shape 25"/>
          <p:cNvSpPr/>
          <p:nvPr/>
        </p:nvSpPr>
        <p:spPr>
          <a:xfrm>
            <a:off x="457200" y="4407408"/>
            <a:ext cx="8229600" cy="347472"/>
          </a:xfrm>
          <a:prstGeom prst="roundRect">
            <a:avLst>
              <a:gd name="adj" fmla="val 21053"/>
            </a:avLst>
          </a:prstGeom>
          <a:solidFill>
            <a:srgbClr val="FFF4D6"/>
          </a:solidFill>
          <a:ln w="12700">
            <a:solidFill>
              <a:srgbClr val="FFF4D6"/>
            </a:solidFill>
            <a:prstDash val="solid"/>
          </a:ln>
        </p:spPr>
      </p:sp>
      <p:sp>
        <p:nvSpPr>
          <p:cNvPr id="32" name="Text 26"/>
          <p:cNvSpPr txBox="1"/>
          <p:nvPr/>
        </p:nvSpPr>
        <p:spPr>
          <a:xfrm>
            <a:off x="640080" y="4407408"/>
            <a:ext cx="7955280" cy="347472"/>
          </a:xfrm>
          <a:prstGeom prst="rect">
            <a:avLst/>
          </a:prstGeom>
          <a:noFill/>
          <a:ln/>
        </p:spPr>
        <p:txBody>
          <a:bodyPr wrap="square" lIns="0" tIns="0" rIns="0" bIns="0" rtlCol="0" anchor="ctr"/>
          <a:lstStyle/>
          <a:p>
            <a:pPr marL="0" indent="0">
              <a:buNone/>
            </a:pPr>
            <a:r>
              <a:rPr lang="en-US" sz="1050" b="1" dirty="0">
                <a:solidFill>
                  <a:srgbClr val="B07A00"/>
                </a:solidFill>
                <a:latin typeface="Calibri" pitchFamily="34" charset="0"/>
                <a:ea typeface="Calibri" pitchFamily="34" charset="-122"/>
                <a:cs typeface="Calibri" pitchFamily="34" charset="-120"/>
              </a:rPr>
              <a:t>Tip: </a:t>
            </a:r>
            <a:r>
              <a:rPr lang="en-US" sz="1050" dirty="0">
                <a:solidFill>
                  <a:srgbClr val="1B2433"/>
                </a:solidFill>
                <a:latin typeface="Calibri" pitchFamily="34" charset="0"/>
                <a:ea typeface="Calibri" pitchFamily="34" charset="-122"/>
                <a:cs typeface="Calibri" pitchFamily="34" charset="-120"/>
              </a:rPr>
              <a:t>el $metadata es la fuente de verdad: si un campo o UDO no aparece ahí, Service Layer no lo reconoce (reinicia SL tras crear campos/UDO).</a:t>
            </a:r>
            <a:endParaRPr lang="en-US" sz="1050" dirty="0"/>
          </a:p>
        </p:txBody>
      </p:sp>
      <p:sp>
        <p:nvSpPr>
          <p:cNvPr id="33"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xmlns="" val="0"/>
            </a:ext>
          </a:extLst>
        </p:spPr>
        <p:txBody>
          <a:bodyPr/>
          <a:lstStyle>
            <a:lvl1pPr>
              <a:defRPr sz="800">
                <a:solidFill>
                  <a:srgbClr val="8A9AB0"/>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457200" y="256032"/>
            <a:ext cx="1720901" cy="237744"/>
          </a:xfrm>
          <a:prstGeom prst="roundRect">
            <a:avLst>
              <a:gd name="adj" fmla="val 50000"/>
            </a:avLst>
          </a:prstGeom>
          <a:solidFill>
            <a:srgbClr val="071B3F"/>
          </a:solidFill>
          <a:ln w="12700">
            <a:solidFill>
              <a:srgbClr val="071B3F"/>
            </a:solidFill>
            <a:prstDash val="solid"/>
          </a:ln>
        </p:spPr>
      </p:sp>
      <p:sp>
        <p:nvSpPr>
          <p:cNvPr id="3" name="Text 1"/>
          <p:cNvSpPr txBox="1"/>
          <p:nvPr/>
        </p:nvSpPr>
        <p:spPr>
          <a:xfrm>
            <a:off x="457200" y="256032"/>
            <a:ext cx="1720901" cy="237744"/>
          </a:xfrm>
          <a:prstGeom prst="rect">
            <a:avLst/>
          </a:prstGeom>
          <a:noFill/>
          <a:ln/>
        </p:spPr>
        <p:txBody>
          <a:bodyPr wrap="square" lIns="0" tIns="0" rIns="0" bIns="0" rtlCol="0" anchor="ctr"/>
          <a:lstStyle/>
          <a:p>
            <a:pPr marL="0" indent="0" algn="ctr">
              <a:buNone/>
            </a:pPr>
            <a:r>
              <a:rPr lang="en-US" sz="850" b="1" kern="0" spc="100" dirty="0">
                <a:solidFill>
                  <a:srgbClr val="F5A800"/>
                </a:solidFill>
                <a:latin typeface="Segoe UI" pitchFamily="34" charset="0"/>
                <a:ea typeface="Segoe UI" pitchFamily="34" charset="-122"/>
                <a:cs typeface="Segoe UI" pitchFamily="34" charset="-120"/>
              </a:rPr>
              <a:t>01  ·  INTRODUCCIÓN</a:t>
            </a:r>
            <a:endParaRPr lang="en-US" sz="850" dirty="0"/>
          </a:p>
        </p:txBody>
      </p:sp>
      <p:sp>
        <p:nvSpPr>
          <p:cNvPr id="4" name="Text 2"/>
          <p:cNvSpPr txBox="1"/>
          <p:nvPr/>
        </p:nvSpPr>
        <p:spPr>
          <a:xfrm>
            <a:off x="457200" y="566928"/>
            <a:ext cx="8229600" cy="502920"/>
          </a:xfrm>
          <a:prstGeom prst="rect">
            <a:avLst/>
          </a:prstGeom>
          <a:noFill/>
          <a:ln/>
        </p:spPr>
        <p:txBody>
          <a:bodyPr wrap="square" lIns="0" tIns="0" rIns="0" bIns="0" rtlCol="0" anchor="ctr"/>
          <a:lstStyle/>
          <a:p>
            <a:pPr marL="0" indent="0">
              <a:buNone/>
            </a:pPr>
            <a:r>
              <a:rPr lang="en-US" sz="2400" b="1" dirty="0">
                <a:solidFill>
                  <a:srgbClr val="071B3F"/>
                </a:solidFill>
                <a:latin typeface="Segoe UI" pitchFamily="34" charset="0"/>
                <a:ea typeface="Segoe UI" pitchFamily="34" charset="-122"/>
                <a:cs typeface="Segoe UI" pitchFamily="34" charset="-120"/>
              </a:rPr>
              <a:t>Casos de uso</a:t>
            </a:r>
            <a:endParaRPr lang="en-US" sz="2400" dirty="0"/>
          </a:p>
        </p:txBody>
      </p:sp>
      <p:sp>
        <p:nvSpPr>
          <p:cNvPr id="5" name="Text 3"/>
          <p:cNvSpPr txBox="1"/>
          <p:nvPr/>
        </p:nvSpPr>
        <p:spPr>
          <a:xfrm>
            <a:off x="457200" y="1051560"/>
            <a:ext cx="8229600" cy="274320"/>
          </a:xfrm>
          <a:prstGeom prst="rect">
            <a:avLst/>
          </a:prstGeom>
          <a:noFill/>
          <a:ln/>
        </p:spPr>
        <p:txBody>
          <a:bodyPr wrap="square" lIns="0" tIns="0" rIns="0" bIns="0" rtlCol="0" anchor="ctr"/>
          <a:lstStyle/>
          <a:p>
            <a:pPr marL="0" indent="0">
              <a:buNone/>
            </a:pPr>
            <a:r>
              <a:rPr lang="en-US" sz="1250" dirty="0">
                <a:solidFill>
                  <a:srgbClr val="5B6B82"/>
                </a:solidFill>
                <a:latin typeface="Calibri" pitchFamily="34" charset="0"/>
                <a:ea typeface="Calibri" pitchFamily="34" charset="-122"/>
                <a:cs typeface="Calibri" pitchFamily="34" charset="-120"/>
              </a:rPr>
              <a:t>Dónde aporta valor Service Layer en proyectos reales</a:t>
            </a:r>
            <a:endParaRPr lang="en-US" sz="1250" dirty="0"/>
          </a:p>
        </p:txBody>
      </p:sp>
      <p:sp>
        <p:nvSpPr>
          <p:cNvPr id="6" name="Text 4"/>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00" dirty="0">
                <a:solidFill>
                  <a:srgbClr val="8A9AB0"/>
                </a:solidFill>
                <a:latin typeface="Calibri" pitchFamily="34" charset="0"/>
                <a:ea typeface="Calibri" pitchFamily="34" charset="-122"/>
                <a:cs typeface="Calibri" pitchFamily="34" charset="-120"/>
              </a:rPr>
              <a:t>Ventura Soluciones  |  SAP Business One · Service Layer</a:t>
            </a:r>
            <a:endParaRPr lang="en-US" sz="800" dirty="0"/>
          </a:p>
        </p:txBody>
      </p:sp>
      <p:sp>
        <p:nvSpPr>
          <p:cNvPr id="7" name="Shape 5"/>
          <p:cNvSpPr/>
          <p:nvPr/>
        </p:nvSpPr>
        <p:spPr>
          <a:xfrm>
            <a:off x="457200" y="1463040"/>
            <a:ext cx="2651760" cy="1463040"/>
          </a:xfrm>
          <a:prstGeom prst="roundRect">
            <a:avLst>
              <a:gd name="adj" fmla="val 5000"/>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8" name="Shape 6"/>
          <p:cNvSpPr/>
          <p:nvPr/>
        </p:nvSpPr>
        <p:spPr>
          <a:xfrm>
            <a:off x="640080" y="1664208"/>
            <a:ext cx="502920" cy="502920"/>
          </a:xfrm>
          <a:prstGeom prst="ellipse">
            <a:avLst/>
          </a:prstGeom>
          <a:solidFill>
            <a:srgbClr val="E8F1FC"/>
          </a:solidFill>
          <a:ln w="12700">
            <a:solidFill>
              <a:srgbClr val="E8F1FC"/>
            </a:solidFill>
            <a:prstDash val="solid"/>
          </a:ln>
        </p:spPr>
      </p:sp>
      <p:pic>
        <p:nvPicPr>
          <p:cNvPr id="9" name="Image 0" descr="preencoded.png"/>
          <p:cNvPicPr>
            <a:picLocks noChangeAspect="1"/>
          </p:cNvPicPr>
          <p:nvPr/>
        </p:nvPicPr>
        <p:blipFill>
          <a:blip r:embed="rId3"/>
          <a:stretch>
            <a:fillRect/>
          </a:stretch>
        </p:blipFill>
        <p:spPr>
          <a:xfrm>
            <a:off x="770839" y="1794967"/>
            <a:ext cx="241402" cy="241402"/>
          </a:xfrm>
          <a:prstGeom prst="rect">
            <a:avLst/>
          </a:prstGeom>
        </p:spPr>
      </p:pic>
      <p:sp>
        <p:nvSpPr>
          <p:cNvPr id="10" name="Text 7"/>
          <p:cNvSpPr txBox="1"/>
          <p:nvPr/>
        </p:nvSpPr>
        <p:spPr>
          <a:xfrm>
            <a:off x="1280160" y="1737360"/>
            <a:ext cx="1737360" cy="365760"/>
          </a:xfrm>
          <a:prstGeom prst="rect">
            <a:avLst/>
          </a:prstGeom>
          <a:noFill/>
          <a:ln/>
        </p:spPr>
        <p:txBody>
          <a:bodyPr wrap="square" lIns="0" tIns="0" rIns="0" bIns="0" rtlCol="0" anchor="ctr"/>
          <a:lstStyle/>
          <a:p>
            <a:pPr marL="0" indent="0">
              <a:buNone/>
            </a:pPr>
            <a:r>
              <a:rPr lang="en-US" sz="1400" b="1" dirty="0">
                <a:solidFill>
                  <a:srgbClr val="071B3F"/>
                </a:solidFill>
                <a:latin typeface="Segoe UI" pitchFamily="34" charset="0"/>
                <a:ea typeface="Segoe UI" pitchFamily="34" charset="-122"/>
                <a:cs typeface="Segoe UI" pitchFamily="34" charset="-120"/>
              </a:rPr>
              <a:t>E-commerce</a:t>
            </a:r>
            <a:endParaRPr lang="en-US" sz="1400" dirty="0"/>
          </a:p>
        </p:txBody>
      </p:sp>
      <p:sp>
        <p:nvSpPr>
          <p:cNvPr id="11" name="Text 8"/>
          <p:cNvSpPr txBox="1"/>
          <p:nvPr/>
        </p:nvSpPr>
        <p:spPr>
          <a:xfrm>
            <a:off x="640080" y="2286000"/>
            <a:ext cx="2331720" cy="548640"/>
          </a:xfrm>
          <a:prstGeom prst="rect">
            <a:avLst/>
          </a:prstGeom>
          <a:noFill/>
          <a:ln/>
        </p:spPr>
        <p:txBody>
          <a:bodyPr wrap="square" lIns="0" tIns="0" rIns="0" bIns="0" rtlCol="0" anchor="t"/>
          <a:lstStyle/>
          <a:p>
            <a:pPr marL="0" indent="0">
              <a:buNone/>
            </a:pPr>
            <a:r>
              <a:rPr lang="en-US" sz="1100" dirty="0">
                <a:solidFill>
                  <a:srgbClr val="5B6B82"/>
                </a:solidFill>
                <a:latin typeface="Calibri" pitchFamily="34" charset="0"/>
                <a:ea typeface="Calibri" pitchFamily="34" charset="-122"/>
                <a:cs typeface="Calibri" pitchFamily="34" charset="-120"/>
              </a:rPr>
              <a:t>Sincroniza artículos, precios y stock; crea pedidos y clientes en línea.</a:t>
            </a:r>
            <a:endParaRPr lang="en-US" sz="1100" dirty="0"/>
          </a:p>
        </p:txBody>
      </p:sp>
      <p:sp>
        <p:nvSpPr>
          <p:cNvPr id="12" name="Shape 9"/>
          <p:cNvSpPr/>
          <p:nvPr/>
        </p:nvSpPr>
        <p:spPr>
          <a:xfrm>
            <a:off x="3246120" y="1463040"/>
            <a:ext cx="2651760" cy="1463040"/>
          </a:xfrm>
          <a:prstGeom prst="roundRect">
            <a:avLst>
              <a:gd name="adj" fmla="val 5000"/>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13" name="Shape 10"/>
          <p:cNvSpPr/>
          <p:nvPr/>
        </p:nvSpPr>
        <p:spPr>
          <a:xfrm>
            <a:off x="3429000" y="1664208"/>
            <a:ext cx="502920" cy="502920"/>
          </a:xfrm>
          <a:prstGeom prst="ellipse">
            <a:avLst/>
          </a:prstGeom>
          <a:solidFill>
            <a:srgbClr val="E8F1FC"/>
          </a:solidFill>
          <a:ln w="12700">
            <a:solidFill>
              <a:srgbClr val="E8F1FC"/>
            </a:solidFill>
            <a:prstDash val="solid"/>
          </a:ln>
        </p:spPr>
      </p:sp>
      <p:pic>
        <p:nvPicPr>
          <p:cNvPr id="14" name="Image 1" descr="preencoded.png"/>
          <p:cNvPicPr>
            <a:picLocks noChangeAspect="1"/>
          </p:cNvPicPr>
          <p:nvPr/>
        </p:nvPicPr>
        <p:blipFill>
          <a:blip r:embed="rId4"/>
          <a:stretch>
            <a:fillRect/>
          </a:stretch>
        </p:blipFill>
        <p:spPr>
          <a:xfrm>
            <a:off x="3559759" y="1794967"/>
            <a:ext cx="241402" cy="241402"/>
          </a:xfrm>
          <a:prstGeom prst="rect">
            <a:avLst/>
          </a:prstGeom>
        </p:spPr>
      </p:pic>
      <p:sp>
        <p:nvSpPr>
          <p:cNvPr id="15" name="Text 11"/>
          <p:cNvSpPr txBox="1"/>
          <p:nvPr/>
        </p:nvSpPr>
        <p:spPr>
          <a:xfrm>
            <a:off x="4069080" y="1737360"/>
            <a:ext cx="1737360" cy="365760"/>
          </a:xfrm>
          <a:prstGeom prst="rect">
            <a:avLst/>
          </a:prstGeom>
          <a:noFill/>
          <a:ln/>
        </p:spPr>
        <p:txBody>
          <a:bodyPr wrap="square" lIns="0" tIns="0" rIns="0" bIns="0" rtlCol="0" anchor="ctr"/>
          <a:lstStyle/>
          <a:p>
            <a:pPr marL="0" indent="0">
              <a:buNone/>
            </a:pPr>
            <a:r>
              <a:rPr lang="en-US" sz="1400" b="1" dirty="0">
                <a:solidFill>
                  <a:srgbClr val="071B3F"/>
                </a:solidFill>
                <a:latin typeface="Segoe UI" pitchFamily="34" charset="0"/>
                <a:ea typeface="Segoe UI" pitchFamily="34" charset="-122"/>
                <a:cs typeface="Segoe UI" pitchFamily="34" charset="-120"/>
              </a:rPr>
              <a:t>Apps móviles</a:t>
            </a:r>
            <a:endParaRPr lang="en-US" sz="1400" dirty="0"/>
          </a:p>
        </p:txBody>
      </p:sp>
      <p:sp>
        <p:nvSpPr>
          <p:cNvPr id="16" name="Text 12"/>
          <p:cNvSpPr txBox="1"/>
          <p:nvPr/>
        </p:nvSpPr>
        <p:spPr>
          <a:xfrm>
            <a:off x="3429000" y="2286000"/>
            <a:ext cx="2331720" cy="548640"/>
          </a:xfrm>
          <a:prstGeom prst="rect">
            <a:avLst/>
          </a:prstGeom>
          <a:noFill/>
          <a:ln/>
        </p:spPr>
        <p:txBody>
          <a:bodyPr wrap="square" lIns="0" tIns="0" rIns="0" bIns="0" rtlCol="0" anchor="t"/>
          <a:lstStyle/>
          <a:p>
            <a:pPr marL="0" indent="0">
              <a:buNone/>
            </a:pPr>
            <a:r>
              <a:rPr lang="en-US" sz="1100" dirty="0">
                <a:solidFill>
                  <a:srgbClr val="5B6B82"/>
                </a:solidFill>
                <a:latin typeface="Calibri" pitchFamily="34" charset="0"/>
                <a:ea typeface="Calibri" pitchFamily="34" charset="-122"/>
                <a:cs typeface="Calibri" pitchFamily="34" charset="-120"/>
              </a:rPr>
              <a:t>Fuerza de ventas, cobranza y despacho desde el celular.</a:t>
            </a:r>
            <a:endParaRPr lang="en-US" sz="1100" dirty="0"/>
          </a:p>
        </p:txBody>
      </p:sp>
      <p:sp>
        <p:nvSpPr>
          <p:cNvPr id="17" name="Shape 13"/>
          <p:cNvSpPr/>
          <p:nvPr/>
        </p:nvSpPr>
        <p:spPr>
          <a:xfrm>
            <a:off x="6035040" y="1463040"/>
            <a:ext cx="2651760" cy="1463040"/>
          </a:xfrm>
          <a:prstGeom prst="roundRect">
            <a:avLst>
              <a:gd name="adj" fmla="val 5000"/>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18" name="Shape 14"/>
          <p:cNvSpPr/>
          <p:nvPr/>
        </p:nvSpPr>
        <p:spPr>
          <a:xfrm>
            <a:off x="6217920" y="1664208"/>
            <a:ext cx="502920" cy="502920"/>
          </a:xfrm>
          <a:prstGeom prst="ellipse">
            <a:avLst/>
          </a:prstGeom>
          <a:solidFill>
            <a:srgbClr val="E8F1FC"/>
          </a:solidFill>
          <a:ln w="12700">
            <a:solidFill>
              <a:srgbClr val="E8F1FC"/>
            </a:solidFill>
            <a:prstDash val="solid"/>
          </a:ln>
        </p:spPr>
      </p:sp>
      <p:pic>
        <p:nvPicPr>
          <p:cNvPr id="19" name="Image 2" descr="preencoded.png"/>
          <p:cNvPicPr>
            <a:picLocks noChangeAspect="1"/>
          </p:cNvPicPr>
          <p:nvPr/>
        </p:nvPicPr>
        <p:blipFill>
          <a:blip r:embed="rId5"/>
          <a:stretch>
            <a:fillRect/>
          </a:stretch>
        </p:blipFill>
        <p:spPr>
          <a:xfrm>
            <a:off x="6348679" y="1794967"/>
            <a:ext cx="241402" cy="241402"/>
          </a:xfrm>
          <a:prstGeom prst="rect">
            <a:avLst/>
          </a:prstGeom>
        </p:spPr>
      </p:pic>
      <p:sp>
        <p:nvSpPr>
          <p:cNvPr id="20" name="Text 15"/>
          <p:cNvSpPr txBox="1"/>
          <p:nvPr/>
        </p:nvSpPr>
        <p:spPr>
          <a:xfrm>
            <a:off x="6858000" y="1737360"/>
            <a:ext cx="1737360" cy="365760"/>
          </a:xfrm>
          <a:prstGeom prst="rect">
            <a:avLst/>
          </a:prstGeom>
          <a:noFill/>
          <a:ln/>
        </p:spPr>
        <p:txBody>
          <a:bodyPr wrap="square" lIns="0" tIns="0" rIns="0" bIns="0" rtlCol="0" anchor="ctr"/>
          <a:lstStyle/>
          <a:p>
            <a:pPr marL="0" indent="0">
              <a:buNone/>
            </a:pPr>
            <a:r>
              <a:rPr lang="en-US" sz="1400" b="1" dirty="0">
                <a:solidFill>
                  <a:srgbClr val="071B3F"/>
                </a:solidFill>
                <a:latin typeface="Segoe UI" pitchFamily="34" charset="0"/>
                <a:ea typeface="Segoe UI" pitchFamily="34" charset="-122"/>
                <a:cs typeface="Segoe UI" pitchFamily="34" charset="-120"/>
              </a:rPr>
              <a:t>Portales B2B</a:t>
            </a:r>
            <a:endParaRPr lang="en-US" sz="1400" dirty="0"/>
          </a:p>
        </p:txBody>
      </p:sp>
      <p:sp>
        <p:nvSpPr>
          <p:cNvPr id="21" name="Text 16"/>
          <p:cNvSpPr txBox="1"/>
          <p:nvPr/>
        </p:nvSpPr>
        <p:spPr>
          <a:xfrm>
            <a:off x="6217920" y="2286000"/>
            <a:ext cx="2331720" cy="548640"/>
          </a:xfrm>
          <a:prstGeom prst="rect">
            <a:avLst/>
          </a:prstGeom>
          <a:noFill/>
          <a:ln/>
        </p:spPr>
        <p:txBody>
          <a:bodyPr wrap="square" lIns="0" tIns="0" rIns="0" bIns="0" rtlCol="0" anchor="t"/>
          <a:lstStyle/>
          <a:p>
            <a:pPr marL="0" indent="0">
              <a:buNone/>
            </a:pPr>
            <a:r>
              <a:rPr lang="en-US" sz="1100" dirty="0">
                <a:solidFill>
                  <a:srgbClr val="5B6B82"/>
                </a:solidFill>
                <a:latin typeface="Calibri" pitchFamily="34" charset="0"/>
                <a:ea typeface="Calibri" pitchFamily="34" charset="-122"/>
                <a:cs typeface="Calibri" pitchFamily="34" charset="-120"/>
              </a:rPr>
              <a:t>Clientes y proveedores consultan estados, facturas y pagos.</a:t>
            </a:r>
            <a:endParaRPr lang="en-US" sz="1100" dirty="0"/>
          </a:p>
        </p:txBody>
      </p:sp>
      <p:sp>
        <p:nvSpPr>
          <p:cNvPr id="22" name="Shape 17"/>
          <p:cNvSpPr/>
          <p:nvPr/>
        </p:nvSpPr>
        <p:spPr>
          <a:xfrm>
            <a:off x="457200" y="3108960"/>
            <a:ext cx="2651760" cy="1463040"/>
          </a:xfrm>
          <a:prstGeom prst="roundRect">
            <a:avLst>
              <a:gd name="adj" fmla="val 5000"/>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23" name="Shape 18"/>
          <p:cNvSpPr/>
          <p:nvPr/>
        </p:nvSpPr>
        <p:spPr>
          <a:xfrm>
            <a:off x="640080" y="3310128"/>
            <a:ext cx="502920" cy="502920"/>
          </a:xfrm>
          <a:prstGeom prst="ellipse">
            <a:avLst/>
          </a:prstGeom>
          <a:solidFill>
            <a:srgbClr val="E8F1FC"/>
          </a:solidFill>
          <a:ln w="12700">
            <a:solidFill>
              <a:srgbClr val="E8F1FC"/>
            </a:solidFill>
            <a:prstDash val="solid"/>
          </a:ln>
        </p:spPr>
      </p:sp>
      <p:pic>
        <p:nvPicPr>
          <p:cNvPr id="24" name="Image 3" descr="preencoded.png"/>
          <p:cNvPicPr>
            <a:picLocks noChangeAspect="1"/>
          </p:cNvPicPr>
          <p:nvPr/>
        </p:nvPicPr>
        <p:blipFill>
          <a:blip r:embed="rId6"/>
          <a:stretch>
            <a:fillRect/>
          </a:stretch>
        </p:blipFill>
        <p:spPr>
          <a:xfrm>
            <a:off x="770839" y="3440887"/>
            <a:ext cx="241402" cy="241402"/>
          </a:xfrm>
          <a:prstGeom prst="rect">
            <a:avLst/>
          </a:prstGeom>
        </p:spPr>
      </p:pic>
      <p:sp>
        <p:nvSpPr>
          <p:cNvPr id="25" name="Text 19"/>
          <p:cNvSpPr txBox="1"/>
          <p:nvPr/>
        </p:nvSpPr>
        <p:spPr>
          <a:xfrm>
            <a:off x="1280160" y="3383280"/>
            <a:ext cx="1737360" cy="365760"/>
          </a:xfrm>
          <a:prstGeom prst="rect">
            <a:avLst/>
          </a:prstGeom>
          <a:noFill/>
          <a:ln/>
        </p:spPr>
        <p:txBody>
          <a:bodyPr wrap="square" lIns="0" tIns="0" rIns="0" bIns="0" rtlCol="0" anchor="ctr"/>
          <a:lstStyle/>
          <a:p>
            <a:pPr marL="0" indent="0">
              <a:buNone/>
            </a:pPr>
            <a:r>
              <a:rPr lang="en-US" sz="1400" b="1" dirty="0">
                <a:solidFill>
                  <a:srgbClr val="071B3F"/>
                </a:solidFill>
                <a:latin typeface="Segoe UI" pitchFamily="34" charset="0"/>
                <a:ea typeface="Segoe UI" pitchFamily="34" charset="-122"/>
                <a:cs typeface="Segoe UI" pitchFamily="34" charset="-120"/>
              </a:rPr>
              <a:t>Integraciones</a:t>
            </a:r>
            <a:endParaRPr lang="en-US" sz="1400" dirty="0"/>
          </a:p>
        </p:txBody>
      </p:sp>
      <p:sp>
        <p:nvSpPr>
          <p:cNvPr id="26" name="Text 20"/>
          <p:cNvSpPr txBox="1"/>
          <p:nvPr/>
        </p:nvSpPr>
        <p:spPr>
          <a:xfrm>
            <a:off x="640080" y="3931920"/>
            <a:ext cx="2331720" cy="548640"/>
          </a:xfrm>
          <a:prstGeom prst="rect">
            <a:avLst/>
          </a:prstGeom>
          <a:noFill/>
          <a:ln/>
        </p:spPr>
        <p:txBody>
          <a:bodyPr wrap="square" lIns="0" tIns="0" rIns="0" bIns="0" rtlCol="0" anchor="t"/>
          <a:lstStyle/>
          <a:p>
            <a:pPr marL="0" indent="0">
              <a:buNone/>
            </a:pPr>
            <a:r>
              <a:rPr lang="en-US" sz="1100" dirty="0">
                <a:solidFill>
                  <a:srgbClr val="5B6B82"/>
                </a:solidFill>
                <a:latin typeface="Calibri" pitchFamily="34" charset="0"/>
                <a:ea typeface="Calibri" pitchFamily="34" charset="-122"/>
                <a:cs typeface="Calibri" pitchFamily="34" charset="-120"/>
              </a:rPr>
              <a:t>WMS, TMS, CRM, bancos, facturación electrónica y marketplaces.</a:t>
            </a:r>
            <a:endParaRPr lang="en-US" sz="1100" dirty="0"/>
          </a:p>
        </p:txBody>
      </p:sp>
      <p:sp>
        <p:nvSpPr>
          <p:cNvPr id="27" name="Shape 21"/>
          <p:cNvSpPr/>
          <p:nvPr/>
        </p:nvSpPr>
        <p:spPr>
          <a:xfrm>
            <a:off x="3246120" y="3108960"/>
            <a:ext cx="2651760" cy="1463040"/>
          </a:xfrm>
          <a:prstGeom prst="roundRect">
            <a:avLst>
              <a:gd name="adj" fmla="val 5000"/>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28" name="Shape 22"/>
          <p:cNvSpPr/>
          <p:nvPr/>
        </p:nvSpPr>
        <p:spPr>
          <a:xfrm>
            <a:off x="3429000" y="3310128"/>
            <a:ext cx="502920" cy="502920"/>
          </a:xfrm>
          <a:prstGeom prst="ellipse">
            <a:avLst/>
          </a:prstGeom>
          <a:solidFill>
            <a:srgbClr val="E8F1FC"/>
          </a:solidFill>
          <a:ln w="12700">
            <a:solidFill>
              <a:srgbClr val="E8F1FC"/>
            </a:solidFill>
            <a:prstDash val="solid"/>
          </a:ln>
        </p:spPr>
      </p:sp>
      <p:pic>
        <p:nvPicPr>
          <p:cNvPr id="29" name="Image 4" descr="preencoded.png"/>
          <p:cNvPicPr>
            <a:picLocks noChangeAspect="1"/>
          </p:cNvPicPr>
          <p:nvPr/>
        </p:nvPicPr>
        <p:blipFill>
          <a:blip r:embed="rId7"/>
          <a:stretch>
            <a:fillRect/>
          </a:stretch>
        </p:blipFill>
        <p:spPr>
          <a:xfrm>
            <a:off x="3559759" y="3440887"/>
            <a:ext cx="241402" cy="241402"/>
          </a:xfrm>
          <a:prstGeom prst="rect">
            <a:avLst/>
          </a:prstGeom>
        </p:spPr>
      </p:pic>
      <p:sp>
        <p:nvSpPr>
          <p:cNvPr id="30" name="Text 23"/>
          <p:cNvSpPr txBox="1"/>
          <p:nvPr/>
        </p:nvSpPr>
        <p:spPr>
          <a:xfrm>
            <a:off x="4069080" y="3383280"/>
            <a:ext cx="1737360" cy="365760"/>
          </a:xfrm>
          <a:prstGeom prst="rect">
            <a:avLst/>
          </a:prstGeom>
          <a:noFill/>
          <a:ln/>
        </p:spPr>
        <p:txBody>
          <a:bodyPr wrap="square" lIns="0" tIns="0" rIns="0" bIns="0" rtlCol="0" anchor="ctr"/>
          <a:lstStyle/>
          <a:p>
            <a:pPr marL="0" indent="0">
              <a:buNone/>
            </a:pPr>
            <a:r>
              <a:rPr lang="en-US" sz="1400" b="1" dirty="0">
                <a:solidFill>
                  <a:srgbClr val="071B3F"/>
                </a:solidFill>
                <a:latin typeface="Segoe UI" pitchFamily="34" charset="0"/>
                <a:ea typeface="Segoe UI" pitchFamily="34" charset="-122"/>
                <a:cs typeface="Segoe UI" pitchFamily="34" charset="-120"/>
              </a:rPr>
              <a:t>Automatización e IA</a:t>
            </a:r>
            <a:endParaRPr lang="en-US" sz="1400" dirty="0"/>
          </a:p>
        </p:txBody>
      </p:sp>
      <p:sp>
        <p:nvSpPr>
          <p:cNvPr id="31" name="Text 24"/>
          <p:cNvSpPr txBox="1"/>
          <p:nvPr/>
        </p:nvSpPr>
        <p:spPr>
          <a:xfrm>
            <a:off x="3429000" y="3931920"/>
            <a:ext cx="2331720" cy="548640"/>
          </a:xfrm>
          <a:prstGeom prst="rect">
            <a:avLst/>
          </a:prstGeom>
          <a:noFill/>
          <a:ln/>
        </p:spPr>
        <p:txBody>
          <a:bodyPr wrap="square" lIns="0" tIns="0" rIns="0" bIns="0" rtlCol="0" anchor="t"/>
          <a:lstStyle/>
          <a:p>
            <a:pPr marL="0" indent="0">
              <a:buNone/>
            </a:pPr>
            <a:r>
              <a:rPr lang="en-US" sz="1100" dirty="0">
                <a:solidFill>
                  <a:srgbClr val="5B6B82"/>
                </a:solidFill>
                <a:latin typeface="Calibri" pitchFamily="34" charset="0"/>
                <a:ea typeface="Calibri" pitchFamily="34" charset="-122"/>
                <a:cs typeface="Calibri" pitchFamily="34" charset="-120"/>
              </a:rPr>
              <a:t>RPA y agentes que leen y registran documentos automáticamente.</a:t>
            </a:r>
            <a:endParaRPr lang="en-US" sz="1100" dirty="0"/>
          </a:p>
        </p:txBody>
      </p:sp>
      <p:sp>
        <p:nvSpPr>
          <p:cNvPr id="32" name="Shape 25"/>
          <p:cNvSpPr/>
          <p:nvPr/>
        </p:nvSpPr>
        <p:spPr>
          <a:xfrm>
            <a:off x="6035040" y="3108960"/>
            <a:ext cx="2651760" cy="1463040"/>
          </a:xfrm>
          <a:prstGeom prst="roundRect">
            <a:avLst>
              <a:gd name="adj" fmla="val 5000"/>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33" name="Shape 26"/>
          <p:cNvSpPr/>
          <p:nvPr/>
        </p:nvSpPr>
        <p:spPr>
          <a:xfrm>
            <a:off x="6217920" y="3310128"/>
            <a:ext cx="502920" cy="502920"/>
          </a:xfrm>
          <a:prstGeom prst="ellipse">
            <a:avLst/>
          </a:prstGeom>
          <a:solidFill>
            <a:srgbClr val="E8F1FC"/>
          </a:solidFill>
          <a:ln w="12700">
            <a:solidFill>
              <a:srgbClr val="E8F1FC"/>
            </a:solidFill>
            <a:prstDash val="solid"/>
          </a:ln>
        </p:spPr>
      </p:sp>
      <p:pic>
        <p:nvPicPr>
          <p:cNvPr id="34" name="Image 5" descr="preencoded.png"/>
          <p:cNvPicPr>
            <a:picLocks noChangeAspect="1"/>
          </p:cNvPicPr>
          <p:nvPr/>
        </p:nvPicPr>
        <p:blipFill>
          <a:blip r:embed="rId8"/>
          <a:stretch>
            <a:fillRect/>
          </a:stretch>
        </p:blipFill>
        <p:spPr>
          <a:xfrm>
            <a:off x="6348679" y="3440887"/>
            <a:ext cx="241402" cy="241402"/>
          </a:xfrm>
          <a:prstGeom prst="rect">
            <a:avLst/>
          </a:prstGeom>
        </p:spPr>
      </p:pic>
      <p:sp>
        <p:nvSpPr>
          <p:cNvPr id="35" name="Text 27"/>
          <p:cNvSpPr txBox="1"/>
          <p:nvPr/>
        </p:nvSpPr>
        <p:spPr>
          <a:xfrm>
            <a:off x="6858000" y="3383280"/>
            <a:ext cx="1737360" cy="365760"/>
          </a:xfrm>
          <a:prstGeom prst="rect">
            <a:avLst/>
          </a:prstGeom>
          <a:noFill/>
          <a:ln/>
        </p:spPr>
        <p:txBody>
          <a:bodyPr wrap="square" lIns="0" tIns="0" rIns="0" bIns="0" rtlCol="0" anchor="ctr"/>
          <a:lstStyle/>
          <a:p>
            <a:pPr marL="0" indent="0">
              <a:buNone/>
            </a:pPr>
            <a:r>
              <a:rPr lang="en-US" sz="1400" b="1" dirty="0">
                <a:solidFill>
                  <a:srgbClr val="071B3F"/>
                </a:solidFill>
                <a:latin typeface="Segoe UI" pitchFamily="34" charset="0"/>
                <a:ea typeface="Segoe UI" pitchFamily="34" charset="-122"/>
                <a:cs typeface="Segoe UI" pitchFamily="34" charset="-120"/>
              </a:rPr>
              <a:t>Add-ons</a:t>
            </a:r>
            <a:endParaRPr lang="en-US" sz="1400" dirty="0"/>
          </a:p>
        </p:txBody>
      </p:sp>
      <p:sp>
        <p:nvSpPr>
          <p:cNvPr id="36" name="Text 28"/>
          <p:cNvSpPr txBox="1"/>
          <p:nvPr/>
        </p:nvSpPr>
        <p:spPr>
          <a:xfrm>
            <a:off x="6217920" y="3931920"/>
            <a:ext cx="2331720" cy="548640"/>
          </a:xfrm>
          <a:prstGeom prst="rect">
            <a:avLst/>
          </a:prstGeom>
          <a:noFill/>
          <a:ln/>
        </p:spPr>
        <p:txBody>
          <a:bodyPr wrap="square" lIns="0" tIns="0" rIns="0" bIns="0" rtlCol="0" anchor="t"/>
          <a:lstStyle/>
          <a:p>
            <a:pPr marL="0" indent="0">
              <a:buNone/>
            </a:pPr>
            <a:r>
              <a:rPr lang="en-US" sz="1100" dirty="0">
                <a:solidFill>
                  <a:srgbClr val="5B6B82"/>
                </a:solidFill>
                <a:latin typeface="Calibri" pitchFamily="34" charset="0"/>
                <a:ea typeface="Calibri" pitchFamily="34" charset="-122"/>
                <a:cs typeface="Calibri" pitchFamily="34" charset="-120"/>
              </a:rPr>
              <a:t>Lógica de extensiones sobre REST, conectada por SSO desde el cliente.</a:t>
            </a:r>
            <a:endParaRPr lang="en-US" sz="1100" dirty="0"/>
          </a:p>
        </p:txBody>
      </p:sp>
      <p:sp>
        <p:nvSpPr>
          <p:cNvPr id="37"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xmlns="" val="0"/>
            </a:ext>
          </a:extLst>
        </p:spPr>
        <p:txBody>
          <a:bodyPr/>
          <a:lstStyle>
            <a:lvl1pPr>
              <a:defRPr sz="800">
                <a:solidFill>
                  <a:srgbClr val="8A9AB0"/>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1097280"/>
            <a:ext cx="2743200" cy="1280160"/>
          </a:xfrm>
          <a:prstGeom prst="rect">
            <a:avLst/>
          </a:prstGeom>
          <a:noFill/>
          <a:ln/>
        </p:spPr>
        <p:txBody>
          <a:bodyPr wrap="square" lIns="0" tIns="0" rIns="0" bIns="0" rtlCol="0" anchor="t"/>
          <a:lstStyle/>
          <a:p>
            <a:pPr marL="0" indent="0">
              <a:buNone/>
            </a:pPr>
            <a:r>
              <a:rPr lang="en-US" sz="8800" b="1" dirty="0">
                <a:solidFill>
                  <a:srgbClr val="F5A800"/>
                </a:solidFill>
                <a:latin typeface="Segoe UI" pitchFamily="34" charset="0"/>
                <a:ea typeface="Segoe UI" pitchFamily="34" charset="-122"/>
                <a:cs typeface="Segoe UI" pitchFamily="34" charset="-120"/>
              </a:rPr>
              <a:t>02</a:t>
            </a:r>
            <a:endParaRPr lang="en-US" sz="8800" dirty="0"/>
          </a:p>
        </p:txBody>
      </p:sp>
      <p:sp>
        <p:nvSpPr>
          <p:cNvPr id="3" name="Text 1"/>
          <p:cNvSpPr txBox="1"/>
          <p:nvPr/>
        </p:nvSpPr>
        <p:spPr>
          <a:xfrm>
            <a:off x="685800" y="914400"/>
            <a:ext cx="2743200" cy="274320"/>
          </a:xfrm>
          <a:prstGeom prst="rect">
            <a:avLst/>
          </a:prstGeom>
          <a:noFill/>
          <a:ln/>
        </p:spPr>
        <p:txBody>
          <a:bodyPr wrap="square" lIns="0" tIns="0" rIns="0" bIns="0" rtlCol="0" anchor="t"/>
          <a:lstStyle/>
          <a:p>
            <a:pPr marL="0" indent="0">
              <a:buNone/>
            </a:pPr>
            <a:r>
              <a:rPr lang="en-US" sz="1100" b="1" kern="0" spc="400" dirty="0">
                <a:solidFill>
                  <a:srgbClr val="29B6F6"/>
                </a:solidFill>
                <a:latin typeface="Segoe UI" pitchFamily="34" charset="0"/>
                <a:ea typeface="Segoe UI" pitchFamily="34" charset="-122"/>
                <a:cs typeface="Segoe UI" pitchFamily="34" charset="-120"/>
              </a:rPr>
              <a:t>CAPÍTULO</a:t>
            </a:r>
            <a:endParaRPr lang="en-US" sz="1100" dirty="0"/>
          </a:p>
        </p:txBody>
      </p:sp>
      <p:sp>
        <p:nvSpPr>
          <p:cNvPr id="4" name="Text 2"/>
          <p:cNvSpPr txBox="1"/>
          <p:nvPr/>
        </p:nvSpPr>
        <p:spPr>
          <a:xfrm>
            <a:off x="640080" y="2423160"/>
            <a:ext cx="7772400" cy="731520"/>
          </a:xfrm>
          <a:prstGeom prst="rect">
            <a:avLst/>
          </a:prstGeom>
          <a:noFill/>
          <a:ln/>
        </p:spPr>
        <p:txBody>
          <a:bodyPr wrap="square" lIns="0" tIns="0" rIns="0" bIns="0" rtlCol="0" anchor="t"/>
          <a:lstStyle/>
          <a:p>
            <a:pPr marL="0" indent="0">
              <a:buNone/>
            </a:pPr>
            <a:r>
              <a:rPr lang="en-US" sz="3400" b="1" dirty="0">
                <a:solidFill>
                  <a:srgbClr val="FFFFFF"/>
                </a:solidFill>
                <a:latin typeface="Segoe UI" pitchFamily="34" charset="0"/>
                <a:ea typeface="Segoe UI" pitchFamily="34" charset="-122"/>
                <a:cs typeface="Segoe UI" pitchFamily="34" charset="-120"/>
              </a:rPr>
              <a:t>Arquitectura</a:t>
            </a:r>
            <a:endParaRPr lang="en-US" sz="3400" dirty="0"/>
          </a:p>
        </p:txBody>
      </p:sp>
      <p:sp>
        <p:nvSpPr>
          <p:cNvPr id="5" name="Text 3"/>
          <p:cNvSpPr txBox="1"/>
          <p:nvPr/>
        </p:nvSpPr>
        <p:spPr>
          <a:xfrm>
            <a:off x="658368" y="3200400"/>
            <a:ext cx="7772400" cy="548640"/>
          </a:xfrm>
          <a:prstGeom prst="rect">
            <a:avLst/>
          </a:prstGeom>
          <a:noFill/>
          <a:ln/>
        </p:spPr>
        <p:txBody>
          <a:bodyPr wrap="square" lIns="0" tIns="0" rIns="0" bIns="0" rtlCol="0" anchor="t"/>
          <a:lstStyle/>
          <a:p>
            <a:pPr marL="0" indent="0">
              <a:buNone/>
            </a:pPr>
            <a:r>
              <a:rPr lang="en-US" sz="1400" dirty="0">
                <a:solidFill>
                  <a:srgbClr val="B9D3F0"/>
                </a:solidFill>
                <a:latin typeface="Calibri" pitchFamily="34" charset="0"/>
                <a:ea typeface="Calibri" pitchFamily="34" charset="-122"/>
                <a:cs typeface="Calibri" pitchFamily="34" charset="-120"/>
              </a:rPr>
              <a:t>Componentes   •   Balanceador y nodos   •   Configuración según uso   •   Performance</a:t>
            </a:r>
            <a:endParaRPr lang="en-US" sz="1400" dirty="0"/>
          </a:p>
        </p:txBody>
      </p:sp>
      <p:sp>
        <p:nvSpPr>
          <p:cNvPr id="6" name="Text 4"/>
          <p:cNvSpPr txBox="1"/>
          <p:nvPr/>
        </p:nvSpPr>
        <p:spPr>
          <a:xfrm>
            <a:off x="658368" y="4709160"/>
            <a:ext cx="4572000" cy="228600"/>
          </a:xfrm>
          <a:prstGeom prst="rect">
            <a:avLst/>
          </a:prstGeom>
          <a:noFill/>
          <a:ln/>
        </p:spPr>
        <p:txBody>
          <a:bodyPr wrap="square" lIns="0" tIns="0" rIns="0" bIns="0" rtlCol="0" anchor="t"/>
          <a:lstStyle/>
          <a:p>
            <a:pPr marL="0" indent="0">
              <a:buNone/>
            </a:pPr>
            <a:r>
              <a:rPr lang="en-US" sz="900" dirty="0">
                <a:solidFill>
                  <a:srgbClr val="8FB0D6"/>
                </a:solidFill>
                <a:latin typeface="Calibri" pitchFamily="34" charset="0"/>
                <a:ea typeface="Calibri" pitchFamily="34" charset="-122"/>
                <a:cs typeface="Calibri" pitchFamily="34" charset="-120"/>
              </a:rPr>
              <a:t>Ventura Soluciones  |  Capacitación técnica</a:t>
            </a:r>
            <a:endParaRPr lang="en-US" sz="9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457200" y="256032"/>
            <a:ext cx="1720901" cy="237744"/>
          </a:xfrm>
          <a:prstGeom prst="roundRect">
            <a:avLst>
              <a:gd name="adj" fmla="val 50000"/>
            </a:avLst>
          </a:prstGeom>
          <a:solidFill>
            <a:srgbClr val="071B3F"/>
          </a:solidFill>
          <a:ln w="12700">
            <a:solidFill>
              <a:srgbClr val="071B3F"/>
            </a:solidFill>
            <a:prstDash val="solid"/>
          </a:ln>
        </p:spPr>
      </p:sp>
      <p:sp>
        <p:nvSpPr>
          <p:cNvPr id="3" name="Text 1"/>
          <p:cNvSpPr txBox="1"/>
          <p:nvPr/>
        </p:nvSpPr>
        <p:spPr>
          <a:xfrm>
            <a:off x="457200" y="256032"/>
            <a:ext cx="1720901" cy="237744"/>
          </a:xfrm>
          <a:prstGeom prst="rect">
            <a:avLst/>
          </a:prstGeom>
          <a:noFill/>
          <a:ln/>
        </p:spPr>
        <p:txBody>
          <a:bodyPr wrap="square" lIns="0" tIns="0" rIns="0" bIns="0" rtlCol="0" anchor="ctr"/>
          <a:lstStyle/>
          <a:p>
            <a:pPr marL="0" indent="0" algn="ctr">
              <a:buNone/>
            </a:pPr>
            <a:r>
              <a:rPr lang="en-US" sz="850" b="1" kern="0" spc="100" dirty="0">
                <a:solidFill>
                  <a:srgbClr val="F5A800"/>
                </a:solidFill>
                <a:latin typeface="Segoe UI" pitchFamily="34" charset="0"/>
                <a:ea typeface="Segoe UI" pitchFamily="34" charset="-122"/>
                <a:cs typeface="Segoe UI" pitchFamily="34" charset="-120"/>
              </a:rPr>
              <a:t>02  ·  ARQUITECTURA</a:t>
            </a:r>
            <a:endParaRPr lang="en-US" sz="850" dirty="0"/>
          </a:p>
        </p:txBody>
      </p:sp>
      <p:sp>
        <p:nvSpPr>
          <p:cNvPr id="4" name="Text 2"/>
          <p:cNvSpPr txBox="1"/>
          <p:nvPr/>
        </p:nvSpPr>
        <p:spPr>
          <a:xfrm>
            <a:off x="457200" y="566928"/>
            <a:ext cx="8229600" cy="502920"/>
          </a:xfrm>
          <a:prstGeom prst="rect">
            <a:avLst/>
          </a:prstGeom>
          <a:noFill/>
          <a:ln/>
        </p:spPr>
        <p:txBody>
          <a:bodyPr wrap="square" lIns="0" tIns="0" rIns="0" bIns="0" rtlCol="0" anchor="ctr"/>
          <a:lstStyle/>
          <a:p>
            <a:pPr marL="0" indent="0">
              <a:buNone/>
            </a:pPr>
            <a:r>
              <a:rPr lang="en-US" sz="2400" b="1" dirty="0">
                <a:solidFill>
                  <a:srgbClr val="071B3F"/>
                </a:solidFill>
                <a:latin typeface="Segoe UI" pitchFamily="34" charset="0"/>
                <a:ea typeface="Segoe UI" pitchFamily="34" charset="-122"/>
                <a:cs typeface="Segoe UI" pitchFamily="34" charset="-120"/>
              </a:rPr>
              <a:t>Componentes de Service Layer</a:t>
            </a:r>
            <a:endParaRPr lang="en-US" sz="2400" dirty="0"/>
          </a:p>
        </p:txBody>
      </p:sp>
      <p:sp>
        <p:nvSpPr>
          <p:cNvPr id="5" name="Text 3"/>
          <p:cNvSpPr txBox="1"/>
          <p:nvPr/>
        </p:nvSpPr>
        <p:spPr>
          <a:xfrm>
            <a:off x="457200" y="1051560"/>
            <a:ext cx="8229600" cy="274320"/>
          </a:xfrm>
          <a:prstGeom prst="rect">
            <a:avLst/>
          </a:prstGeom>
          <a:noFill/>
          <a:ln/>
        </p:spPr>
        <p:txBody>
          <a:bodyPr wrap="square" lIns="0" tIns="0" rIns="0" bIns="0" rtlCol="0" anchor="ctr"/>
          <a:lstStyle/>
          <a:p>
            <a:pPr marL="0" indent="0">
              <a:buNone/>
            </a:pPr>
            <a:r>
              <a:rPr lang="en-US" sz="1250" dirty="0">
                <a:solidFill>
                  <a:srgbClr val="5B6B82"/>
                </a:solidFill>
                <a:latin typeface="Calibri" pitchFamily="34" charset="0"/>
                <a:ea typeface="Calibri" pitchFamily="34" charset="-122"/>
                <a:cs typeface="Calibri" pitchFamily="34" charset="-120"/>
              </a:rPr>
              <a:t>Del cliente a la base de datos: quién hace qué</a:t>
            </a:r>
            <a:endParaRPr lang="en-US" sz="1250" dirty="0"/>
          </a:p>
        </p:txBody>
      </p:sp>
      <p:sp>
        <p:nvSpPr>
          <p:cNvPr id="6" name="Text 4"/>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00" dirty="0">
                <a:solidFill>
                  <a:srgbClr val="8A9AB0"/>
                </a:solidFill>
                <a:latin typeface="Calibri" pitchFamily="34" charset="0"/>
                <a:ea typeface="Calibri" pitchFamily="34" charset="-122"/>
                <a:cs typeface="Calibri" pitchFamily="34" charset="-120"/>
              </a:rPr>
              <a:t>Ventura Soluciones  |  SAP Business One · Service Layer</a:t>
            </a:r>
            <a:endParaRPr lang="en-US" sz="800" dirty="0"/>
          </a:p>
        </p:txBody>
      </p:sp>
      <p:sp>
        <p:nvSpPr>
          <p:cNvPr id="7" name="Shape 5"/>
          <p:cNvSpPr/>
          <p:nvPr/>
        </p:nvSpPr>
        <p:spPr>
          <a:xfrm>
            <a:off x="457200" y="1508760"/>
            <a:ext cx="1280160" cy="1600200"/>
          </a:xfrm>
          <a:prstGeom prst="roundRect">
            <a:avLst>
              <a:gd name="adj" fmla="val 5714"/>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8" name="Shape 6"/>
          <p:cNvSpPr/>
          <p:nvPr/>
        </p:nvSpPr>
        <p:spPr>
          <a:xfrm>
            <a:off x="822960" y="1673352"/>
            <a:ext cx="548640" cy="548640"/>
          </a:xfrm>
          <a:prstGeom prst="ellipse">
            <a:avLst/>
          </a:prstGeom>
          <a:solidFill>
            <a:srgbClr val="5B6B82"/>
          </a:solidFill>
          <a:ln w="12700">
            <a:solidFill>
              <a:srgbClr val="5B6B82"/>
            </a:solidFill>
            <a:prstDash val="solid"/>
          </a:ln>
        </p:spPr>
      </p:sp>
      <p:pic>
        <p:nvPicPr>
          <p:cNvPr id="9" name="Image 0" descr="preencoded.png"/>
          <p:cNvPicPr>
            <a:picLocks noChangeAspect="1"/>
          </p:cNvPicPr>
          <p:nvPr/>
        </p:nvPicPr>
        <p:blipFill>
          <a:blip r:embed="rId3"/>
          <a:stretch>
            <a:fillRect/>
          </a:stretch>
        </p:blipFill>
        <p:spPr>
          <a:xfrm>
            <a:off x="965606" y="1815998"/>
            <a:ext cx="263347" cy="263347"/>
          </a:xfrm>
          <a:prstGeom prst="rect">
            <a:avLst/>
          </a:prstGeom>
        </p:spPr>
      </p:pic>
      <p:sp>
        <p:nvSpPr>
          <p:cNvPr id="10" name="Text 7"/>
          <p:cNvSpPr txBox="1"/>
          <p:nvPr/>
        </p:nvSpPr>
        <p:spPr>
          <a:xfrm>
            <a:off x="502920" y="2313432"/>
            <a:ext cx="1188720" cy="274320"/>
          </a:xfrm>
          <a:prstGeom prst="rect">
            <a:avLst/>
          </a:prstGeom>
          <a:noFill/>
          <a:ln/>
        </p:spPr>
        <p:txBody>
          <a:bodyPr wrap="square" lIns="0" tIns="0" rIns="0" bIns="0" rtlCol="0" anchor="t"/>
          <a:lstStyle/>
          <a:p>
            <a:pPr marL="0" indent="0" algn="ctr">
              <a:buNone/>
            </a:pPr>
            <a:r>
              <a:rPr lang="en-US" sz="1150" b="1" dirty="0">
                <a:solidFill>
                  <a:srgbClr val="071B3F"/>
                </a:solidFill>
                <a:latin typeface="Segoe UI" pitchFamily="34" charset="0"/>
                <a:ea typeface="Segoe UI" pitchFamily="34" charset="-122"/>
                <a:cs typeface="Segoe UI" pitchFamily="34" charset="-120"/>
              </a:rPr>
              <a:t>Clientes</a:t>
            </a:r>
            <a:endParaRPr lang="en-US" sz="1150" dirty="0"/>
          </a:p>
        </p:txBody>
      </p:sp>
      <p:sp>
        <p:nvSpPr>
          <p:cNvPr id="11" name="Text 8"/>
          <p:cNvSpPr txBox="1"/>
          <p:nvPr/>
        </p:nvSpPr>
        <p:spPr>
          <a:xfrm>
            <a:off x="502920" y="2587752"/>
            <a:ext cx="1188720" cy="457200"/>
          </a:xfrm>
          <a:prstGeom prst="rect">
            <a:avLst/>
          </a:prstGeom>
          <a:noFill/>
          <a:ln/>
        </p:spPr>
        <p:txBody>
          <a:bodyPr wrap="square" lIns="0" tIns="0" rIns="0" bIns="0" rtlCol="0" anchor="t"/>
          <a:lstStyle/>
          <a:p>
            <a:pPr marL="0" indent="0" algn="ctr">
              <a:buNone/>
            </a:pPr>
            <a:r>
              <a:rPr lang="en-US" sz="900" dirty="0">
                <a:solidFill>
                  <a:srgbClr val="5B6B82"/>
                </a:solidFill>
                <a:latin typeface="Calibri" pitchFamily="34" charset="0"/>
                <a:ea typeface="Calibri" pitchFamily="34" charset="-122"/>
                <a:cs typeface="Calibri" pitchFamily="34" charset="-120"/>
              </a:rPr>
              <a:t>Postman · Apps web</a:t>
            </a:r>
            <a:endParaRPr lang="en-US" sz="900" dirty="0"/>
          </a:p>
          <a:p>
            <a:pPr marL="0" indent="0" algn="ctr">
              <a:buNone/>
            </a:pPr>
            <a:r>
              <a:rPr lang="en-US" sz="900" dirty="0">
                <a:solidFill>
                  <a:srgbClr val="5B6B82"/>
                </a:solidFill>
                <a:latin typeface="Calibri" pitchFamily="34" charset="0"/>
                <a:ea typeface="Calibri" pitchFamily="34" charset="-122"/>
                <a:cs typeface="Calibri" pitchFamily="34" charset="-120"/>
              </a:rPr>
              <a:t>Add-ons · Integraciones</a:t>
            </a:r>
            <a:endParaRPr lang="en-US" sz="900" dirty="0"/>
          </a:p>
        </p:txBody>
      </p:sp>
      <p:sp>
        <p:nvSpPr>
          <p:cNvPr id="12" name="Shape 9"/>
          <p:cNvSpPr/>
          <p:nvPr/>
        </p:nvSpPr>
        <p:spPr>
          <a:xfrm>
            <a:off x="1783080" y="2308860"/>
            <a:ext cx="365760" cy="0"/>
          </a:xfrm>
          <a:prstGeom prst="line">
            <a:avLst/>
          </a:prstGeom>
          <a:noFill/>
          <a:ln w="22225">
            <a:solidFill>
              <a:srgbClr val="0B4DA2"/>
            </a:solidFill>
            <a:prstDash val="solid"/>
            <a:tailEnd type="triangle"/>
          </a:ln>
        </p:spPr>
      </p:sp>
      <p:sp>
        <p:nvSpPr>
          <p:cNvPr id="13" name="Shape 10"/>
          <p:cNvSpPr/>
          <p:nvPr/>
        </p:nvSpPr>
        <p:spPr>
          <a:xfrm>
            <a:off x="2194560" y="1508760"/>
            <a:ext cx="1280160" cy="1600200"/>
          </a:xfrm>
          <a:prstGeom prst="roundRect">
            <a:avLst>
              <a:gd name="adj" fmla="val 5714"/>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14" name="Shape 11"/>
          <p:cNvSpPr/>
          <p:nvPr/>
        </p:nvSpPr>
        <p:spPr>
          <a:xfrm>
            <a:off x="2560320" y="1673352"/>
            <a:ext cx="548640" cy="548640"/>
          </a:xfrm>
          <a:prstGeom prst="ellipse">
            <a:avLst/>
          </a:prstGeom>
          <a:solidFill>
            <a:srgbClr val="0B4DA2"/>
          </a:solidFill>
          <a:ln w="12700">
            <a:solidFill>
              <a:srgbClr val="0B4DA2"/>
            </a:solidFill>
            <a:prstDash val="solid"/>
          </a:ln>
        </p:spPr>
      </p:sp>
      <p:pic>
        <p:nvPicPr>
          <p:cNvPr id="15" name="Image 1" descr="preencoded.png"/>
          <p:cNvPicPr>
            <a:picLocks noChangeAspect="1"/>
          </p:cNvPicPr>
          <p:nvPr/>
        </p:nvPicPr>
        <p:blipFill>
          <a:blip r:embed="rId4"/>
          <a:stretch>
            <a:fillRect/>
          </a:stretch>
        </p:blipFill>
        <p:spPr>
          <a:xfrm>
            <a:off x="2702966" y="1815998"/>
            <a:ext cx="263347" cy="263347"/>
          </a:xfrm>
          <a:prstGeom prst="rect">
            <a:avLst/>
          </a:prstGeom>
        </p:spPr>
      </p:pic>
      <p:sp>
        <p:nvSpPr>
          <p:cNvPr id="16" name="Text 12"/>
          <p:cNvSpPr txBox="1"/>
          <p:nvPr/>
        </p:nvSpPr>
        <p:spPr>
          <a:xfrm>
            <a:off x="2240280" y="2313432"/>
            <a:ext cx="1188720" cy="274320"/>
          </a:xfrm>
          <a:prstGeom prst="rect">
            <a:avLst/>
          </a:prstGeom>
          <a:noFill/>
          <a:ln/>
        </p:spPr>
        <p:txBody>
          <a:bodyPr wrap="square" lIns="0" tIns="0" rIns="0" bIns="0" rtlCol="0" anchor="t"/>
          <a:lstStyle/>
          <a:p>
            <a:pPr marL="0" indent="0" algn="ctr">
              <a:buNone/>
            </a:pPr>
            <a:r>
              <a:rPr lang="en-US" sz="1150" b="1" dirty="0">
                <a:solidFill>
                  <a:srgbClr val="071B3F"/>
                </a:solidFill>
                <a:latin typeface="Segoe UI" pitchFamily="34" charset="0"/>
                <a:ea typeface="Segoe UI" pitchFamily="34" charset="-122"/>
                <a:cs typeface="Segoe UI" pitchFamily="34" charset="-120"/>
              </a:rPr>
              <a:t>Load Balancer</a:t>
            </a:r>
            <a:endParaRPr lang="en-US" sz="1150" dirty="0"/>
          </a:p>
        </p:txBody>
      </p:sp>
      <p:sp>
        <p:nvSpPr>
          <p:cNvPr id="17" name="Text 13"/>
          <p:cNvSpPr txBox="1"/>
          <p:nvPr/>
        </p:nvSpPr>
        <p:spPr>
          <a:xfrm>
            <a:off x="2240280" y="2587752"/>
            <a:ext cx="1188720" cy="457200"/>
          </a:xfrm>
          <a:prstGeom prst="rect">
            <a:avLst/>
          </a:prstGeom>
          <a:noFill/>
          <a:ln/>
        </p:spPr>
        <p:txBody>
          <a:bodyPr wrap="square" lIns="0" tIns="0" rIns="0" bIns="0" rtlCol="0" anchor="t"/>
          <a:lstStyle/>
          <a:p>
            <a:pPr marL="0" indent="0" algn="ctr">
              <a:buNone/>
            </a:pPr>
            <a:r>
              <a:rPr lang="en-US" sz="900" dirty="0">
                <a:solidFill>
                  <a:srgbClr val="5B6B82"/>
                </a:solidFill>
                <a:latin typeface="Calibri" pitchFamily="34" charset="0"/>
                <a:ea typeface="Calibri" pitchFamily="34" charset="-122"/>
                <a:cs typeface="Calibri" pitchFamily="34" charset="-120"/>
              </a:rPr>
              <a:t>Apache HTTP Server</a:t>
            </a:r>
            <a:endParaRPr lang="en-US" sz="900" dirty="0"/>
          </a:p>
          <a:p>
            <a:pPr marL="0" indent="0" algn="ctr">
              <a:buNone/>
            </a:pPr>
            <a:r>
              <a:rPr lang="en-US" sz="900" dirty="0">
                <a:solidFill>
                  <a:srgbClr val="5B6B82"/>
                </a:solidFill>
                <a:latin typeface="Calibri" pitchFamily="34" charset="0"/>
                <a:ea typeface="Calibri" pitchFamily="34" charset="-122"/>
                <a:cs typeface="Calibri" pitchFamily="34" charset="-120"/>
              </a:rPr>
              <a:t>:50000 HTTPS</a:t>
            </a:r>
            <a:endParaRPr lang="en-US" sz="900" dirty="0"/>
          </a:p>
        </p:txBody>
      </p:sp>
      <p:sp>
        <p:nvSpPr>
          <p:cNvPr id="18" name="Shape 14"/>
          <p:cNvSpPr/>
          <p:nvPr/>
        </p:nvSpPr>
        <p:spPr>
          <a:xfrm>
            <a:off x="3520440" y="2308860"/>
            <a:ext cx="365760" cy="0"/>
          </a:xfrm>
          <a:prstGeom prst="line">
            <a:avLst/>
          </a:prstGeom>
          <a:noFill/>
          <a:ln w="22225">
            <a:solidFill>
              <a:srgbClr val="0B4DA2"/>
            </a:solidFill>
            <a:prstDash val="solid"/>
            <a:tailEnd type="triangle"/>
          </a:ln>
        </p:spPr>
      </p:sp>
      <p:sp>
        <p:nvSpPr>
          <p:cNvPr id="19" name="Shape 15"/>
          <p:cNvSpPr/>
          <p:nvPr/>
        </p:nvSpPr>
        <p:spPr>
          <a:xfrm>
            <a:off x="3931920" y="1508760"/>
            <a:ext cx="1280160" cy="1600200"/>
          </a:xfrm>
          <a:prstGeom prst="roundRect">
            <a:avLst>
              <a:gd name="adj" fmla="val 5714"/>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20" name="Shape 16"/>
          <p:cNvSpPr/>
          <p:nvPr/>
        </p:nvSpPr>
        <p:spPr>
          <a:xfrm>
            <a:off x="4297680" y="1673352"/>
            <a:ext cx="548640" cy="548640"/>
          </a:xfrm>
          <a:prstGeom prst="ellipse">
            <a:avLst/>
          </a:prstGeom>
          <a:solidFill>
            <a:srgbClr val="0B4DA2"/>
          </a:solidFill>
          <a:ln w="12700">
            <a:solidFill>
              <a:srgbClr val="0B4DA2"/>
            </a:solidFill>
            <a:prstDash val="solid"/>
          </a:ln>
        </p:spPr>
      </p:sp>
      <p:pic>
        <p:nvPicPr>
          <p:cNvPr id="21" name="Image 2" descr="preencoded.png"/>
          <p:cNvPicPr>
            <a:picLocks noChangeAspect="1"/>
          </p:cNvPicPr>
          <p:nvPr/>
        </p:nvPicPr>
        <p:blipFill>
          <a:blip r:embed="rId5"/>
          <a:stretch>
            <a:fillRect/>
          </a:stretch>
        </p:blipFill>
        <p:spPr>
          <a:xfrm>
            <a:off x="4440326" y="1815998"/>
            <a:ext cx="263347" cy="263347"/>
          </a:xfrm>
          <a:prstGeom prst="rect">
            <a:avLst/>
          </a:prstGeom>
        </p:spPr>
      </p:pic>
      <p:sp>
        <p:nvSpPr>
          <p:cNvPr id="22" name="Text 17"/>
          <p:cNvSpPr txBox="1"/>
          <p:nvPr/>
        </p:nvSpPr>
        <p:spPr>
          <a:xfrm>
            <a:off x="3977640" y="2313432"/>
            <a:ext cx="1188720" cy="274320"/>
          </a:xfrm>
          <a:prstGeom prst="rect">
            <a:avLst/>
          </a:prstGeom>
          <a:noFill/>
          <a:ln/>
        </p:spPr>
        <p:txBody>
          <a:bodyPr wrap="square" lIns="0" tIns="0" rIns="0" bIns="0" rtlCol="0" anchor="t"/>
          <a:lstStyle/>
          <a:p>
            <a:pPr marL="0" indent="0" algn="ctr">
              <a:buNone/>
            </a:pPr>
            <a:r>
              <a:rPr lang="en-US" sz="1150" b="1" dirty="0">
                <a:solidFill>
                  <a:srgbClr val="071B3F"/>
                </a:solidFill>
                <a:latin typeface="Segoe UI" pitchFamily="34" charset="0"/>
                <a:ea typeface="Segoe UI" pitchFamily="34" charset="-122"/>
                <a:cs typeface="Segoe UI" pitchFamily="34" charset="-120"/>
              </a:rPr>
              <a:t>Nodos SL</a:t>
            </a:r>
            <a:endParaRPr lang="en-US" sz="1150" dirty="0"/>
          </a:p>
        </p:txBody>
      </p:sp>
      <p:sp>
        <p:nvSpPr>
          <p:cNvPr id="23" name="Text 18"/>
          <p:cNvSpPr txBox="1"/>
          <p:nvPr/>
        </p:nvSpPr>
        <p:spPr>
          <a:xfrm>
            <a:off x="3977640" y="2587752"/>
            <a:ext cx="1188720" cy="457200"/>
          </a:xfrm>
          <a:prstGeom prst="rect">
            <a:avLst/>
          </a:prstGeom>
          <a:noFill/>
          <a:ln/>
        </p:spPr>
        <p:txBody>
          <a:bodyPr wrap="square" lIns="0" tIns="0" rIns="0" bIns="0" rtlCol="0" anchor="t"/>
          <a:lstStyle/>
          <a:p>
            <a:pPr marL="0" indent="0" algn="ctr">
              <a:buNone/>
            </a:pPr>
            <a:r>
              <a:rPr lang="en-US" sz="900" dirty="0">
                <a:solidFill>
                  <a:srgbClr val="5B6B82"/>
                </a:solidFill>
                <a:latin typeface="Calibri" pitchFamily="34" charset="0"/>
                <a:ea typeface="Calibri" pitchFamily="34" charset="-122"/>
                <a:cs typeface="Calibri" pitchFamily="34" charset="-120"/>
              </a:rPr>
              <a:t>Procesos de trabajo</a:t>
            </a:r>
            <a:endParaRPr lang="en-US" sz="900" dirty="0"/>
          </a:p>
          <a:p>
            <a:pPr marL="0" indent="0" algn="ctr">
              <a:buNone/>
            </a:pPr>
            <a:r>
              <a:rPr lang="en-US" sz="900" dirty="0">
                <a:solidFill>
                  <a:srgbClr val="5B6B82"/>
                </a:solidFill>
                <a:latin typeface="Calibri" pitchFamily="34" charset="0"/>
                <a:ea typeface="Calibri" pitchFamily="34" charset="-122"/>
                <a:cs typeface="Calibri" pitchFamily="34" charset="-120"/>
              </a:rPr>
              <a:t>1…N por servidor</a:t>
            </a:r>
            <a:endParaRPr lang="en-US" sz="900" dirty="0"/>
          </a:p>
        </p:txBody>
      </p:sp>
      <p:sp>
        <p:nvSpPr>
          <p:cNvPr id="24" name="Shape 19"/>
          <p:cNvSpPr/>
          <p:nvPr/>
        </p:nvSpPr>
        <p:spPr>
          <a:xfrm>
            <a:off x="5257800" y="2308860"/>
            <a:ext cx="365760" cy="0"/>
          </a:xfrm>
          <a:prstGeom prst="line">
            <a:avLst/>
          </a:prstGeom>
          <a:noFill/>
          <a:ln w="22225">
            <a:solidFill>
              <a:srgbClr val="0B4DA2"/>
            </a:solidFill>
            <a:prstDash val="solid"/>
            <a:tailEnd type="triangle"/>
          </a:ln>
        </p:spPr>
      </p:sp>
      <p:sp>
        <p:nvSpPr>
          <p:cNvPr id="25" name="Shape 20"/>
          <p:cNvSpPr/>
          <p:nvPr/>
        </p:nvSpPr>
        <p:spPr>
          <a:xfrm>
            <a:off x="5669280" y="1508760"/>
            <a:ext cx="1280160" cy="1600200"/>
          </a:xfrm>
          <a:prstGeom prst="roundRect">
            <a:avLst>
              <a:gd name="adj" fmla="val 5714"/>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26" name="Shape 21"/>
          <p:cNvSpPr/>
          <p:nvPr/>
        </p:nvSpPr>
        <p:spPr>
          <a:xfrm>
            <a:off x="6035040" y="1673352"/>
            <a:ext cx="548640" cy="548640"/>
          </a:xfrm>
          <a:prstGeom prst="ellipse">
            <a:avLst/>
          </a:prstGeom>
          <a:solidFill>
            <a:srgbClr val="0B4DA2"/>
          </a:solidFill>
          <a:ln w="12700">
            <a:solidFill>
              <a:srgbClr val="0B4DA2"/>
            </a:solidFill>
            <a:prstDash val="solid"/>
          </a:ln>
        </p:spPr>
      </p:sp>
      <p:pic>
        <p:nvPicPr>
          <p:cNvPr id="27" name="Image 3" descr="preencoded.png"/>
          <p:cNvPicPr>
            <a:picLocks noChangeAspect="1"/>
          </p:cNvPicPr>
          <p:nvPr/>
        </p:nvPicPr>
        <p:blipFill>
          <a:blip r:embed="rId6"/>
          <a:stretch>
            <a:fillRect/>
          </a:stretch>
        </p:blipFill>
        <p:spPr>
          <a:xfrm>
            <a:off x="6177686" y="1815998"/>
            <a:ext cx="263347" cy="263347"/>
          </a:xfrm>
          <a:prstGeom prst="rect">
            <a:avLst/>
          </a:prstGeom>
        </p:spPr>
      </p:pic>
      <p:sp>
        <p:nvSpPr>
          <p:cNvPr id="28" name="Text 22"/>
          <p:cNvSpPr txBox="1"/>
          <p:nvPr/>
        </p:nvSpPr>
        <p:spPr>
          <a:xfrm>
            <a:off x="5715000" y="2313432"/>
            <a:ext cx="1188720" cy="274320"/>
          </a:xfrm>
          <a:prstGeom prst="rect">
            <a:avLst/>
          </a:prstGeom>
          <a:noFill/>
          <a:ln/>
        </p:spPr>
        <p:txBody>
          <a:bodyPr wrap="square" lIns="0" tIns="0" rIns="0" bIns="0" rtlCol="0" anchor="t"/>
          <a:lstStyle/>
          <a:p>
            <a:pPr marL="0" indent="0" algn="ctr">
              <a:buNone/>
            </a:pPr>
            <a:r>
              <a:rPr lang="en-US" sz="1150" b="1" dirty="0">
                <a:solidFill>
                  <a:srgbClr val="071B3F"/>
                </a:solidFill>
                <a:latin typeface="Segoe UI" pitchFamily="34" charset="0"/>
                <a:ea typeface="Segoe UI" pitchFamily="34" charset="-122"/>
                <a:cs typeface="Segoe UI" pitchFamily="34" charset="-120"/>
              </a:rPr>
              <a:t>DI Core</a:t>
            </a:r>
            <a:endParaRPr lang="en-US" sz="1150" dirty="0"/>
          </a:p>
        </p:txBody>
      </p:sp>
      <p:sp>
        <p:nvSpPr>
          <p:cNvPr id="29" name="Text 23"/>
          <p:cNvSpPr txBox="1"/>
          <p:nvPr/>
        </p:nvSpPr>
        <p:spPr>
          <a:xfrm>
            <a:off x="5715000" y="2587752"/>
            <a:ext cx="1188720" cy="457200"/>
          </a:xfrm>
          <a:prstGeom prst="rect">
            <a:avLst/>
          </a:prstGeom>
          <a:noFill/>
          <a:ln/>
        </p:spPr>
        <p:txBody>
          <a:bodyPr wrap="square" lIns="0" tIns="0" rIns="0" bIns="0" rtlCol="0" anchor="t"/>
          <a:lstStyle/>
          <a:p>
            <a:pPr marL="0" indent="0" algn="ctr">
              <a:buNone/>
            </a:pPr>
            <a:r>
              <a:rPr lang="en-US" sz="900" dirty="0">
                <a:solidFill>
                  <a:srgbClr val="5B6B82"/>
                </a:solidFill>
                <a:latin typeface="Calibri" pitchFamily="34" charset="0"/>
                <a:ea typeface="Calibri" pitchFamily="34" charset="-122"/>
                <a:cs typeface="Calibri" pitchFamily="34" charset="-120"/>
              </a:rPr>
              <a:t>Motor de reglas</a:t>
            </a:r>
            <a:endParaRPr lang="en-US" sz="900" dirty="0"/>
          </a:p>
          <a:p>
            <a:pPr marL="0" indent="0" algn="ctr">
              <a:buNone/>
            </a:pPr>
            <a:r>
              <a:rPr lang="en-US" sz="900" dirty="0">
                <a:solidFill>
                  <a:srgbClr val="5B6B82"/>
                </a:solidFill>
                <a:latin typeface="Calibri" pitchFamily="34" charset="0"/>
                <a:ea typeface="Calibri" pitchFamily="34" charset="-122"/>
                <a:cs typeface="Calibri" pitchFamily="34" charset="-120"/>
              </a:rPr>
              <a:t>(el mismo de DI API)</a:t>
            </a:r>
            <a:endParaRPr lang="en-US" sz="900" dirty="0"/>
          </a:p>
        </p:txBody>
      </p:sp>
      <p:sp>
        <p:nvSpPr>
          <p:cNvPr id="30" name="Shape 24"/>
          <p:cNvSpPr/>
          <p:nvPr/>
        </p:nvSpPr>
        <p:spPr>
          <a:xfrm>
            <a:off x="6995160" y="2308860"/>
            <a:ext cx="365760" cy="0"/>
          </a:xfrm>
          <a:prstGeom prst="line">
            <a:avLst/>
          </a:prstGeom>
          <a:noFill/>
          <a:ln w="22225">
            <a:solidFill>
              <a:srgbClr val="0B4DA2"/>
            </a:solidFill>
            <a:prstDash val="solid"/>
            <a:tailEnd type="triangle"/>
          </a:ln>
        </p:spPr>
      </p:sp>
      <p:sp>
        <p:nvSpPr>
          <p:cNvPr id="31" name="Shape 25"/>
          <p:cNvSpPr/>
          <p:nvPr/>
        </p:nvSpPr>
        <p:spPr>
          <a:xfrm>
            <a:off x="7406640" y="1508760"/>
            <a:ext cx="1280160" cy="1600200"/>
          </a:xfrm>
          <a:prstGeom prst="roundRect">
            <a:avLst>
              <a:gd name="adj" fmla="val 5714"/>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32" name="Shape 26"/>
          <p:cNvSpPr/>
          <p:nvPr/>
        </p:nvSpPr>
        <p:spPr>
          <a:xfrm>
            <a:off x="7772400" y="1673352"/>
            <a:ext cx="548640" cy="548640"/>
          </a:xfrm>
          <a:prstGeom prst="ellipse">
            <a:avLst/>
          </a:prstGeom>
          <a:solidFill>
            <a:srgbClr val="071B3F"/>
          </a:solidFill>
          <a:ln w="12700">
            <a:solidFill>
              <a:srgbClr val="071B3F"/>
            </a:solidFill>
            <a:prstDash val="solid"/>
          </a:ln>
        </p:spPr>
      </p:sp>
      <p:pic>
        <p:nvPicPr>
          <p:cNvPr id="33" name="Image 4" descr="preencoded.png"/>
          <p:cNvPicPr>
            <a:picLocks noChangeAspect="1"/>
          </p:cNvPicPr>
          <p:nvPr/>
        </p:nvPicPr>
        <p:blipFill>
          <a:blip r:embed="rId7"/>
          <a:stretch>
            <a:fillRect/>
          </a:stretch>
        </p:blipFill>
        <p:spPr>
          <a:xfrm>
            <a:off x="7915046" y="1815998"/>
            <a:ext cx="263347" cy="263347"/>
          </a:xfrm>
          <a:prstGeom prst="rect">
            <a:avLst/>
          </a:prstGeom>
        </p:spPr>
      </p:pic>
      <p:sp>
        <p:nvSpPr>
          <p:cNvPr id="34" name="Text 27"/>
          <p:cNvSpPr txBox="1"/>
          <p:nvPr/>
        </p:nvSpPr>
        <p:spPr>
          <a:xfrm>
            <a:off x="7452360" y="2313432"/>
            <a:ext cx="1188720" cy="274320"/>
          </a:xfrm>
          <a:prstGeom prst="rect">
            <a:avLst/>
          </a:prstGeom>
          <a:noFill/>
          <a:ln/>
        </p:spPr>
        <p:txBody>
          <a:bodyPr wrap="square" lIns="0" tIns="0" rIns="0" bIns="0" rtlCol="0" anchor="t"/>
          <a:lstStyle/>
          <a:p>
            <a:pPr marL="0" indent="0" algn="ctr">
              <a:buNone/>
            </a:pPr>
            <a:r>
              <a:rPr lang="en-US" sz="1150" b="1" dirty="0">
                <a:solidFill>
                  <a:srgbClr val="071B3F"/>
                </a:solidFill>
                <a:latin typeface="Segoe UI" pitchFamily="34" charset="0"/>
                <a:ea typeface="Segoe UI" pitchFamily="34" charset="-122"/>
                <a:cs typeface="Segoe UI" pitchFamily="34" charset="-120"/>
              </a:rPr>
              <a:t>Base de datos</a:t>
            </a:r>
            <a:endParaRPr lang="en-US" sz="1150" dirty="0"/>
          </a:p>
        </p:txBody>
      </p:sp>
      <p:sp>
        <p:nvSpPr>
          <p:cNvPr id="35" name="Text 28"/>
          <p:cNvSpPr txBox="1"/>
          <p:nvPr/>
        </p:nvSpPr>
        <p:spPr>
          <a:xfrm>
            <a:off x="7452360" y="2587752"/>
            <a:ext cx="1188720" cy="457200"/>
          </a:xfrm>
          <a:prstGeom prst="rect">
            <a:avLst/>
          </a:prstGeom>
          <a:noFill/>
          <a:ln/>
        </p:spPr>
        <p:txBody>
          <a:bodyPr wrap="square" lIns="0" tIns="0" rIns="0" bIns="0" rtlCol="0" anchor="t"/>
          <a:lstStyle/>
          <a:p>
            <a:pPr marL="0" indent="0" algn="ctr">
              <a:buNone/>
            </a:pPr>
            <a:r>
              <a:rPr lang="en-US" sz="900" dirty="0">
                <a:solidFill>
                  <a:srgbClr val="5B6B82"/>
                </a:solidFill>
                <a:latin typeface="Calibri" pitchFamily="34" charset="0"/>
                <a:ea typeface="Calibri" pitchFamily="34" charset="-122"/>
                <a:cs typeface="Calibri" pitchFamily="34" charset="-120"/>
              </a:rPr>
              <a:t>SAP HANA /</a:t>
            </a:r>
            <a:endParaRPr lang="en-US" sz="900" dirty="0"/>
          </a:p>
          <a:p>
            <a:pPr marL="0" indent="0" algn="ctr">
              <a:buNone/>
            </a:pPr>
            <a:r>
              <a:rPr lang="en-US" sz="900" dirty="0">
                <a:solidFill>
                  <a:srgbClr val="5B6B82"/>
                </a:solidFill>
                <a:latin typeface="Calibri" pitchFamily="34" charset="0"/>
                <a:ea typeface="Calibri" pitchFamily="34" charset="-122"/>
                <a:cs typeface="Calibri" pitchFamily="34" charset="-120"/>
              </a:rPr>
              <a:t>SQL Server</a:t>
            </a:r>
            <a:endParaRPr lang="en-US" sz="900" dirty="0"/>
          </a:p>
        </p:txBody>
      </p:sp>
      <p:sp>
        <p:nvSpPr>
          <p:cNvPr id="36" name="Shape 29"/>
          <p:cNvSpPr/>
          <p:nvPr/>
        </p:nvSpPr>
        <p:spPr>
          <a:xfrm>
            <a:off x="3931920" y="3611880"/>
            <a:ext cx="1280160" cy="685800"/>
          </a:xfrm>
          <a:prstGeom prst="roundRect">
            <a:avLst>
              <a:gd name="adj" fmla="val 10667"/>
            </a:avLst>
          </a:prstGeom>
          <a:solidFill>
            <a:srgbClr val="FFF8E6"/>
          </a:solidFill>
          <a:ln w="9525">
            <a:solidFill>
              <a:srgbClr val="D5DFEC"/>
            </a:solidFill>
            <a:prstDash val="solid"/>
          </a:ln>
          <a:effectLst>
            <a:outerShdw blurRad="101600" dist="25400" dir="5400000" algn="bl" rotWithShape="0">
              <a:srgbClr val="0B2A55">
                <a:alpha val="12000"/>
              </a:srgbClr>
            </a:outerShdw>
          </a:effectLst>
        </p:spPr>
      </p:sp>
      <p:sp>
        <p:nvSpPr>
          <p:cNvPr id="37" name="Text 30"/>
          <p:cNvSpPr txBox="1"/>
          <p:nvPr/>
        </p:nvSpPr>
        <p:spPr>
          <a:xfrm>
            <a:off x="3977640" y="3657600"/>
            <a:ext cx="1188720" cy="594360"/>
          </a:xfrm>
          <a:prstGeom prst="rect">
            <a:avLst/>
          </a:prstGeom>
          <a:noFill/>
          <a:ln/>
        </p:spPr>
        <p:txBody>
          <a:bodyPr wrap="square" lIns="0" tIns="0" rIns="0" bIns="0" rtlCol="0" anchor="ctr"/>
          <a:lstStyle/>
          <a:p>
            <a:pPr marL="0" indent="0" algn="ctr">
              <a:buNone/>
            </a:pPr>
            <a:r>
              <a:rPr lang="en-US" sz="1050" b="1" dirty="0">
                <a:solidFill>
                  <a:srgbClr val="071B3F"/>
                </a:solidFill>
                <a:latin typeface="Calibri" pitchFamily="34" charset="0"/>
                <a:ea typeface="Calibri" pitchFamily="34" charset="-122"/>
                <a:cs typeface="Calibri" pitchFamily="34" charset="-120"/>
              </a:rPr>
              <a:t>SLD + License</a:t>
            </a:r>
            <a:endParaRPr lang="en-US" sz="1050" dirty="0"/>
          </a:p>
          <a:p>
            <a:pPr marL="0" indent="0" algn="ctr">
              <a:buNone/>
            </a:pPr>
            <a:r>
              <a:rPr lang="en-US" sz="900" dirty="0">
                <a:solidFill>
                  <a:srgbClr val="5B6B82"/>
                </a:solidFill>
                <a:latin typeface="Calibri" pitchFamily="34" charset="0"/>
                <a:ea typeface="Calibri" pitchFamily="34" charset="-122"/>
                <a:cs typeface="Calibri" pitchFamily="34" charset="-120"/>
              </a:rPr>
              <a:t>Autenticación y licencias</a:t>
            </a:r>
            <a:endParaRPr lang="en-US" sz="1050" dirty="0"/>
          </a:p>
        </p:txBody>
      </p:sp>
      <p:sp>
        <p:nvSpPr>
          <p:cNvPr id="38" name="Shape 31"/>
          <p:cNvSpPr/>
          <p:nvPr/>
        </p:nvSpPr>
        <p:spPr>
          <a:xfrm>
            <a:off x="4572000" y="3127248"/>
            <a:ext cx="0" cy="457200"/>
          </a:xfrm>
          <a:prstGeom prst="line">
            <a:avLst/>
          </a:prstGeom>
          <a:noFill/>
          <a:ln w="22225">
            <a:solidFill>
              <a:srgbClr val="F5A800"/>
            </a:solidFill>
            <a:prstDash val="dash"/>
            <a:headEnd type="triangle"/>
            <a:tailEnd type="triangle"/>
          </a:ln>
        </p:spPr>
      </p:sp>
      <p:sp>
        <p:nvSpPr>
          <p:cNvPr id="39" name="Text 32"/>
          <p:cNvSpPr txBox="1"/>
          <p:nvPr/>
        </p:nvSpPr>
        <p:spPr>
          <a:xfrm>
            <a:off x="457200" y="3611880"/>
            <a:ext cx="3017520" cy="685800"/>
          </a:xfrm>
          <a:prstGeom prst="rect">
            <a:avLst/>
          </a:prstGeom>
          <a:noFill/>
          <a:ln/>
        </p:spPr>
        <p:txBody>
          <a:bodyPr wrap="square" lIns="0" tIns="0" rIns="0" bIns="0" rtlCol="0" anchor="t"/>
          <a:lstStyle/>
          <a:p>
            <a:pPr marL="0" indent="0">
              <a:buNone/>
            </a:pPr>
            <a:r>
              <a:rPr lang="en-US" sz="1050" b="1" dirty="0">
                <a:solidFill>
                  <a:srgbClr val="0B4DA2"/>
                </a:solidFill>
                <a:latin typeface="Calibri" pitchFamily="34" charset="0"/>
                <a:ea typeface="Calibri" pitchFamily="34" charset="-122"/>
                <a:cs typeface="Calibri" pitchFamily="34" charset="-120"/>
              </a:rPr>
              <a:t>Balanceador: </a:t>
            </a:r>
            <a:r>
              <a:rPr lang="en-US" sz="1050" dirty="0">
                <a:solidFill>
                  <a:srgbClr val="1B2433"/>
                </a:solidFill>
                <a:latin typeface="Calibri" pitchFamily="34" charset="0"/>
                <a:ea typeface="Calibri" pitchFamily="34" charset="-122"/>
                <a:cs typeface="Calibri" pitchFamily="34" charset="-120"/>
              </a:rPr>
              <a:t>Reparte peticiones y mantiene la afinidad de sesión (cookie ROUTEID).</a:t>
            </a:r>
            <a:endParaRPr lang="en-US" sz="1050" dirty="0"/>
          </a:p>
        </p:txBody>
      </p:sp>
      <p:sp>
        <p:nvSpPr>
          <p:cNvPr id="40" name="Text 33"/>
          <p:cNvSpPr txBox="1"/>
          <p:nvPr/>
        </p:nvSpPr>
        <p:spPr>
          <a:xfrm>
            <a:off x="5669280" y="3611880"/>
            <a:ext cx="3017520" cy="685800"/>
          </a:xfrm>
          <a:prstGeom prst="rect">
            <a:avLst/>
          </a:prstGeom>
          <a:noFill/>
          <a:ln/>
        </p:spPr>
        <p:txBody>
          <a:bodyPr wrap="square" lIns="0" tIns="0" rIns="0" bIns="0" rtlCol="0" anchor="t"/>
          <a:lstStyle/>
          <a:p>
            <a:pPr marL="0" indent="0">
              <a:buNone/>
            </a:pPr>
            <a:r>
              <a:rPr lang="en-US" sz="1050" b="1" dirty="0">
                <a:solidFill>
                  <a:srgbClr val="0B4DA2"/>
                </a:solidFill>
                <a:latin typeface="Calibri" pitchFamily="34" charset="0"/>
                <a:ea typeface="Calibri" pitchFamily="34" charset="-122"/>
                <a:cs typeface="Calibri" pitchFamily="34" charset="-120"/>
              </a:rPr>
              <a:t>Nodo: </a:t>
            </a:r>
            <a:r>
              <a:rPr lang="en-US" sz="1050" dirty="0">
                <a:solidFill>
                  <a:srgbClr val="1B2433"/>
                </a:solidFill>
                <a:latin typeface="Calibri" pitchFamily="34" charset="0"/>
                <a:ea typeface="Calibri" pitchFamily="34" charset="-122"/>
                <a:cs typeface="Calibri" pitchFamily="34" charset="-120"/>
              </a:rPr>
              <a:t>Cada nodo es un proceso independiente con sus propias sesiones y memoria.</a:t>
            </a:r>
            <a:endParaRPr lang="en-US" sz="1050" dirty="0"/>
          </a:p>
        </p:txBody>
      </p:sp>
      <p:sp>
        <p:nvSpPr>
          <p:cNvPr id="41"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xmlns="" val="0"/>
            </a:ext>
          </a:extLst>
        </p:spPr>
        <p:txBody>
          <a:bodyPr/>
          <a:lstStyle>
            <a:lvl1pPr>
              <a:defRPr sz="800">
                <a:solidFill>
                  <a:srgbClr val="8A9AB0"/>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457200" y="256032"/>
            <a:ext cx="1720901" cy="237744"/>
          </a:xfrm>
          <a:prstGeom prst="roundRect">
            <a:avLst>
              <a:gd name="adj" fmla="val 50000"/>
            </a:avLst>
          </a:prstGeom>
          <a:solidFill>
            <a:srgbClr val="071B3F"/>
          </a:solidFill>
          <a:ln w="12700">
            <a:solidFill>
              <a:srgbClr val="071B3F"/>
            </a:solidFill>
            <a:prstDash val="solid"/>
          </a:ln>
        </p:spPr>
      </p:sp>
      <p:sp>
        <p:nvSpPr>
          <p:cNvPr id="3" name="Text 1"/>
          <p:cNvSpPr txBox="1"/>
          <p:nvPr/>
        </p:nvSpPr>
        <p:spPr>
          <a:xfrm>
            <a:off x="457200" y="256032"/>
            <a:ext cx="1720901" cy="237744"/>
          </a:xfrm>
          <a:prstGeom prst="rect">
            <a:avLst/>
          </a:prstGeom>
          <a:noFill/>
          <a:ln/>
        </p:spPr>
        <p:txBody>
          <a:bodyPr wrap="square" lIns="0" tIns="0" rIns="0" bIns="0" rtlCol="0" anchor="ctr"/>
          <a:lstStyle/>
          <a:p>
            <a:pPr marL="0" indent="0" algn="ctr">
              <a:buNone/>
            </a:pPr>
            <a:r>
              <a:rPr lang="en-US" sz="850" b="1" kern="0" spc="100" dirty="0">
                <a:solidFill>
                  <a:srgbClr val="F5A800"/>
                </a:solidFill>
                <a:latin typeface="Segoe UI" pitchFamily="34" charset="0"/>
                <a:ea typeface="Segoe UI" pitchFamily="34" charset="-122"/>
                <a:cs typeface="Segoe UI" pitchFamily="34" charset="-120"/>
              </a:rPr>
              <a:t>02  ·  ARQUITECTURA</a:t>
            </a:r>
            <a:endParaRPr lang="en-US" sz="850" dirty="0"/>
          </a:p>
        </p:txBody>
      </p:sp>
      <p:sp>
        <p:nvSpPr>
          <p:cNvPr id="4" name="Text 2"/>
          <p:cNvSpPr txBox="1"/>
          <p:nvPr/>
        </p:nvSpPr>
        <p:spPr>
          <a:xfrm>
            <a:off x="457200" y="566928"/>
            <a:ext cx="8229600" cy="502920"/>
          </a:xfrm>
          <a:prstGeom prst="rect">
            <a:avLst/>
          </a:prstGeom>
          <a:noFill/>
          <a:ln/>
        </p:spPr>
        <p:txBody>
          <a:bodyPr wrap="square" lIns="0" tIns="0" rIns="0" bIns="0" rtlCol="0" anchor="ctr"/>
          <a:lstStyle/>
          <a:p>
            <a:pPr marL="0" indent="0">
              <a:buNone/>
            </a:pPr>
            <a:r>
              <a:rPr lang="en-US" sz="2400" b="1" dirty="0">
                <a:solidFill>
                  <a:srgbClr val="071B3F"/>
                </a:solidFill>
                <a:latin typeface="Segoe UI" pitchFamily="34" charset="0"/>
                <a:ea typeface="Segoe UI" pitchFamily="34" charset="-122"/>
                <a:cs typeface="Segoe UI" pitchFamily="34" charset="-120"/>
              </a:rPr>
              <a:t>Balanceador de carga y nodos</a:t>
            </a:r>
            <a:endParaRPr lang="en-US" sz="2400" dirty="0"/>
          </a:p>
        </p:txBody>
      </p:sp>
      <p:sp>
        <p:nvSpPr>
          <p:cNvPr id="5" name="Text 3"/>
          <p:cNvSpPr txBox="1"/>
          <p:nvPr/>
        </p:nvSpPr>
        <p:spPr>
          <a:xfrm>
            <a:off x="457200" y="1051560"/>
            <a:ext cx="8229600" cy="274320"/>
          </a:xfrm>
          <a:prstGeom prst="rect">
            <a:avLst/>
          </a:prstGeom>
          <a:noFill/>
          <a:ln/>
        </p:spPr>
        <p:txBody>
          <a:bodyPr wrap="square" lIns="0" tIns="0" rIns="0" bIns="0" rtlCol="0" anchor="ctr"/>
          <a:lstStyle/>
          <a:p>
            <a:pPr marL="0" indent="0">
              <a:buNone/>
            </a:pPr>
            <a:r>
              <a:rPr lang="en-US" sz="1250" dirty="0">
                <a:solidFill>
                  <a:srgbClr val="5B6B82"/>
                </a:solidFill>
                <a:latin typeface="Calibri" pitchFamily="34" charset="0"/>
                <a:ea typeface="Calibri" pitchFamily="34" charset="-122"/>
                <a:cs typeface="Calibri" pitchFamily="34" charset="-120"/>
              </a:rPr>
              <a:t>Escalar vertical u horizontalmente sin cambiar el código cliente</a:t>
            </a:r>
            <a:endParaRPr lang="en-US" sz="1250" dirty="0"/>
          </a:p>
        </p:txBody>
      </p:sp>
      <p:sp>
        <p:nvSpPr>
          <p:cNvPr id="6" name="Text 4"/>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00" dirty="0">
                <a:solidFill>
                  <a:srgbClr val="8A9AB0"/>
                </a:solidFill>
                <a:latin typeface="Calibri" pitchFamily="34" charset="0"/>
                <a:ea typeface="Calibri" pitchFamily="34" charset="-122"/>
                <a:cs typeface="Calibri" pitchFamily="34" charset="-120"/>
              </a:rPr>
              <a:t>Ventura Soluciones  |  SAP Business One · Service Layer</a:t>
            </a:r>
            <a:endParaRPr lang="en-US" sz="800" dirty="0"/>
          </a:p>
        </p:txBody>
      </p:sp>
      <p:sp>
        <p:nvSpPr>
          <p:cNvPr id="7" name="Shape 5"/>
          <p:cNvSpPr/>
          <p:nvPr/>
        </p:nvSpPr>
        <p:spPr>
          <a:xfrm>
            <a:off x="457200" y="1417320"/>
            <a:ext cx="4023360" cy="3246120"/>
          </a:xfrm>
          <a:prstGeom prst="roundRect">
            <a:avLst>
              <a:gd name="adj" fmla="val 2254"/>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8" name="Shape 6"/>
          <p:cNvSpPr/>
          <p:nvPr/>
        </p:nvSpPr>
        <p:spPr>
          <a:xfrm>
            <a:off x="1417320" y="1600200"/>
            <a:ext cx="2103120" cy="548640"/>
          </a:xfrm>
          <a:prstGeom prst="roundRect">
            <a:avLst>
              <a:gd name="adj" fmla="val 13333"/>
            </a:avLst>
          </a:prstGeom>
          <a:solidFill>
            <a:srgbClr val="071B3F"/>
          </a:solidFill>
          <a:ln w="12700">
            <a:solidFill>
              <a:srgbClr val="071B3F"/>
            </a:solidFill>
            <a:prstDash val="solid"/>
          </a:ln>
        </p:spPr>
      </p:sp>
      <p:sp>
        <p:nvSpPr>
          <p:cNvPr id="9" name="Text 7"/>
          <p:cNvSpPr txBox="1"/>
          <p:nvPr/>
        </p:nvSpPr>
        <p:spPr>
          <a:xfrm>
            <a:off x="1417320" y="1600200"/>
            <a:ext cx="2103120" cy="548640"/>
          </a:xfrm>
          <a:prstGeom prst="rect">
            <a:avLst/>
          </a:prstGeom>
          <a:noFill/>
          <a:ln/>
        </p:spPr>
        <p:txBody>
          <a:bodyPr wrap="square" lIns="0" tIns="0" rIns="0" bIns="0" rtlCol="0" anchor="ctr"/>
          <a:lstStyle/>
          <a:p>
            <a:pPr marL="0" indent="0" algn="ctr">
              <a:buNone/>
            </a:pPr>
            <a:r>
              <a:rPr lang="en-US" sz="1150" b="1" dirty="0">
                <a:solidFill>
                  <a:srgbClr val="FFFFFF"/>
                </a:solidFill>
                <a:latin typeface="Segoe UI" pitchFamily="34" charset="0"/>
                <a:ea typeface="Segoe UI" pitchFamily="34" charset="-122"/>
                <a:cs typeface="Segoe UI" pitchFamily="34" charset="-120"/>
              </a:rPr>
              <a:t>Load Balancer</a:t>
            </a:r>
            <a:endParaRPr lang="en-US" sz="1150" dirty="0"/>
          </a:p>
          <a:p>
            <a:pPr marL="0" indent="0" algn="ctr">
              <a:buNone/>
            </a:pPr>
            <a:r>
              <a:rPr lang="en-US" sz="900" dirty="0">
                <a:solidFill>
                  <a:srgbClr val="F5A800"/>
                </a:solidFill>
                <a:latin typeface="Segoe UI" pitchFamily="34" charset="0"/>
                <a:ea typeface="Segoe UI" pitchFamily="34" charset="-122"/>
                <a:cs typeface="Segoe UI" pitchFamily="34" charset="-120"/>
              </a:rPr>
              <a:t>:50000 HTTPS</a:t>
            </a:r>
            <a:endParaRPr lang="en-US" sz="1150" dirty="0"/>
          </a:p>
        </p:txBody>
      </p:sp>
      <p:sp>
        <p:nvSpPr>
          <p:cNvPr id="10" name="Text 8"/>
          <p:cNvSpPr txBox="1"/>
          <p:nvPr/>
        </p:nvSpPr>
        <p:spPr>
          <a:xfrm>
            <a:off x="640080" y="2487168"/>
            <a:ext cx="1828800" cy="182880"/>
          </a:xfrm>
          <a:prstGeom prst="rect">
            <a:avLst/>
          </a:prstGeom>
          <a:noFill/>
          <a:ln/>
        </p:spPr>
        <p:txBody>
          <a:bodyPr wrap="square" lIns="0" tIns="0" rIns="0" bIns="0" rtlCol="0" anchor="t"/>
          <a:lstStyle/>
          <a:p>
            <a:pPr marL="0" indent="0">
              <a:buNone/>
            </a:pPr>
            <a:r>
              <a:rPr lang="en-US" sz="900" b="1" dirty="0">
                <a:solidFill>
                  <a:srgbClr val="5B6B82"/>
                </a:solidFill>
                <a:latin typeface="Calibri" pitchFamily="34" charset="0"/>
                <a:ea typeface="Calibri" pitchFamily="34" charset="-122"/>
                <a:cs typeface="Calibri" pitchFamily="34" charset="-120"/>
              </a:rPr>
              <a:t>Servidor A</a:t>
            </a:r>
            <a:endParaRPr lang="en-US" sz="900" dirty="0"/>
          </a:p>
        </p:txBody>
      </p:sp>
      <p:sp>
        <p:nvSpPr>
          <p:cNvPr id="11" name="Text 9"/>
          <p:cNvSpPr txBox="1"/>
          <p:nvPr/>
        </p:nvSpPr>
        <p:spPr>
          <a:xfrm>
            <a:off x="2788920" y="2487168"/>
            <a:ext cx="1645920" cy="182880"/>
          </a:xfrm>
          <a:prstGeom prst="rect">
            <a:avLst/>
          </a:prstGeom>
          <a:noFill/>
          <a:ln/>
        </p:spPr>
        <p:txBody>
          <a:bodyPr wrap="square" lIns="0" tIns="0" rIns="0" bIns="0" rtlCol="0" anchor="t"/>
          <a:lstStyle/>
          <a:p>
            <a:pPr marL="0" indent="0">
              <a:buNone/>
            </a:pPr>
            <a:r>
              <a:rPr lang="en-US" sz="900" b="1" dirty="0">
                <a:solidFill>
                  <a:srgbClr val="5B6B82"/>
                </a:solidFill>
                <a:latin typeface="Calibri" pitchFamily="34" charset="0"/>
                <a:ea typeface="Calibri" pitchFamily="34" charset="-122"/>
                <a:cs typeface="Calibri" pitchFamily="34" charset="-120"/>
              </a:rPr>
              <a:t>Servidor B (cluster)</a:t>
            </a:r>
            <a:endParaRPr lang="en-US" sz="900" dirty="0"/>
          </a:p>
        </p:txBody>
      </p:sp>
      <p:sp>
        <p:nvSpPr>
          <p:cNvPr id="12" name="Shape 10"/>
          <p:cNvSpPr/>
          <p:nvPr/>
        </p:nvSpPr>
        <p:spPr>
          <a:xfrm>
            <a:off x="594360" y="2697480"/>
            <a:ext cx="2103120" cy="1234440"/>
          </a:xfrm>
          <a:prstGeom prst="roundRect">
            <a:avLst>
              <a:gd name="adj" fmla="val 4444"/>
            </a:avLst>
          </a:prstGeom>
          <a:solidFill>
            <a:srgbClr val="F5F8FC"/>
          </a:solidFill>
          <a:ln w="12700">
            <a:solidFill>
              <a:srgbClr val="D5DFEC"/>
            </a:solidFill>
            <a:prstDash val="dash"/>
          </a:ln>
        </p:spPr>
      </p:sp>
      <p:sp>
        <p:nvSpPr>
          <p:cNvPr id="13" name="Shape 11"/>
          <p:cNvSpPr/>
          <p:nvPr/>
        </p:nvSpPr>
        <p:spPr>
          <a:xfrm>
            <a:off x="2788920" y="2697480"/>
            <a:ext cx="1554480" cy="1234440"/>
          </a:xfrm>
          <a:prstGeom prst="roundRect">
            <a:avLst>
              <a:gd name="adj" fmla="val 4444"/>
            </a:avLst>
          </a:prstGeom>
          <a:solidFill>
            <a:srgbClr val="F5F8FC"/>
          </a:solidFill>
          <a:ln w="12700">
            <a:solidFill>
              <a:srgbClr val="D5DFEC"/>
            </a:solidFill>
            <a:prstDash val="dash"/>
          </a:ln>
        </p:spPr>
      </p:sp>
      <p:sp>
        <p:nvSpPr>
          <p:cNvPr id="14" name="Shape 12"/>
          <p:cNvSpPr/>
          <p:nvPr/>
        </p:nvSpPr>
        <p:spPr>
          <a:xfrm>
            <a:off x="685800" y="2834640"/>
            <a:ext cx="566928" cy="685800"/>
          </a:xfrm>
          <a:prstGeom prst="roundRect">
            <a:avLst>
              <a:gd name="adj" fmla="val 9677"/>
            </a:avLst>
          </a:prstGeom>
          <a:solidFill>
            <a:srgbClr val="0B4DA2"/>
          </a:solidFill>
          <a:ln w="12700">
            <a:solidFill>
              <a:srgbClr val="0B4DA2"/>
            </a:solidFill>
            <a:prstDash val="solid"/>
          </a:ln>
        </p:spPr>
      </p:sp>
      <p:sp>
        <p:nvSpPr>
          <p:cNvPr id="15" name="Text 13"/>
          <p:cNvSpPr txBox="1"/>
          <p:nvPr/>
        </p:nvSpPr>
        <p:spPr>
          <a:xfrm>
            <a:off x="685800" y="2834640"/>
            <a:ext cx="566928" cy="68580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Nodo 1</a:t>
            </a:r>
            <a:endParaRPr lang="en-US" sz="850" dirty="0"/>
          </a:p>
          <a:p>
            <a:pPr marL="0" indent="0" algn="ctr">
              <a:buNone/>
            </a:pPr>
            <a:r>
              <a:rPr lang="en-US" sz="750" dirty="0">
                <a:solidFill>
                  <a:srgbClr val="FFFFFF"/>
                </a:solidFill>
                <a:latin typeface="Calibri" pitchFamily="34" charset="0"/>
                <a:ea typeface="Calibri" pitchFamily="34" charset="-122"/>
                <a:cs typeface="Calibri" pitchFamily="34" charset="-120"/>
              </a:rPr>
              <a:t>:50002</a:t>
            </a:r>
            <a:endParaRPr lang="en-US" sz="850" dirty="0"/>
          </a:p>
        </p:txBody>
      </p:sp>
      <p:sp>
        <p:nvSpPr>
          <p:cNvPr id="16" name="Shape 14"/>
          <p:cNvSpPr/>
          <p:nvPr/>
        </p:nvSpPr>
        <p:spPr>
          <a:xfrm flipH="1">
            <a:off x="969264" y="2148840"/>
            <a:ext cx="1499616" cy="685800"/>
          </a:xfrm>
          <a:prstGeom prst="line">
            <a:avLst/>
          </a:prstGeom>
          <a:noFill/>
          <a:ln w="12700">
            <a:solidFill>
              <a:srgbClr val="9FB3CC"/>
            </a:solidFill>
            <a:prstDash val="solid"/>
          </a:ln>
        </p:spPr>
      </p:sp>
      <p:sp>
        <p:nvSpPr>
          <p:cNvPr id="17" name="Shape 15"/>
          <p:cNvSpPr/>
          <p:nvPr/>
        </p:nvSpPr>
        <p:spPr>
          <a:xfrm>
            <a:off x="1371600" y="2834640"/>
            <a:ext cx="566928" cy="685800"/>
          </a:xfrm>
          <a:prstGeom prst="roundRect">
            <a:avLst>
              <a:gd name="adj" fmla="val 9677"/>
            </a:avLst>
          </a:prstGeom>
          <a:solidFill>
            <a:srgbClr val="F5A800"/>
          </a:solidFill>
          <a:ln w="12700">
            <a:solidFill>
              <a:srgbClr val="F5A800"/>
            </a:solidFill>
            <a:prstDash val="solid"/>
          </a:ln>
        </p:spPr>
      </p:sp>
      <p:sp>
        <p:nvSpPr>
          <p:cNvPr id="18" name="Text 16"/>
          <p:cNvSpPr txBox="1"/>
          <p:nvPr/>
        </p:nvSpPr>
        <p:spPr>
          <a:xfrm>
            <a:off x="1371600" y="2834640"/>
            <a:ext cx="566928" cy="685800"/>
          </a:xfrm>
          <a:prstGeom prst="rect">
            <a:avLst/>
          </a:prstGeom>
          <a:noFill/>
          <a:ln/>
        </p:spPr>
        <p:txBody>
          <a:bodyPr wrap="square" lIns="0" tIns="0" rIns="0" bIns="0" rtlCol="0" anchor="ctr"/>
          <a:lstStyle/>
          <a:p>
            <a:pPr marL="0" indent="0" algn="ctr">
              <a:buNone/>
            </a:pPr>
            <a:r>
              <a:rPr lang="en-US" sz="850" b="1" dirty="0">
                <a:solidFill>
                  <a:srgbClr val="071B3F"/>
                </a:solidFill>
                <a:latin typeface="Calibri" pitchFamily="34" charset="0"/>
                <a:ea typeface="Calibri" pitchFamily="34" charset="-122"/>
                <a:cs typeface="Calibri" pitchFamily="34" charset="-120"/>
              </a:rPr>
              <a:t>Nodo 2</a:t>
            </a:r>
            <a:endParaRPr lang="en-US" sz="850" dirty="0"/>
          </a:p>
          <a:p>
            <a:pPr marL="0" indent="0" algn="ctr">
              <a:buNone/>
            </a:pPr>
            <a:r>
              <a:rPr lang="en-US" sz="750" dirty="0">
                <a:solidFill>
                  <a:srgbClr val="071B3F"/>
                </a:solidFill>
                <a:latin typeface="Calibri" pitchFamily="34" charset="0"/>
                <a:ea typeface="Calibri" pitchFamily="34" charset="-122"/>
                <a:cs typeface="Calibri" pitchFamily="34" charset="-120"/>
              </a:rPr>
              <a:t>:50003</a:t>
            </a:r>
            <a:endParaRPr lang="en-US" sz="850" dirty="0"/>
          </a:p>
        </p:txBody>
      </p:sp>
      <p:sp>
        <p:nvSpPr>
          <p:cNvPr id="19" name="Shape 17"/>
          <p:cNvSpPr/>
          <p:nvPr/>
        </p:nvSpPr>
        <p:spPr>
          <a:xfrm flipH="1">
            <a:off x="1655064" y="2148840"/>
            <a:ext cx="813816" cy="685800"/>
          </a:xfrm>
          <a:prstGeom prst="line">
            <a:avLst/>
          </a:prstGeom>
          <a:noFill/>
          <a:ln w="12700">
            <a:solidFill>
              <a:srgbClr val="9FB3CC"/>
            </a:solidFill>
            <a:prstDash val="solid"/>
          </a:ln>
        </p:spPr>
      </p:sp>
      <p:sp>
        <p:nvSpPr>
          <p:cNvPr id="20" name="Shape 18"/>
          <p:cNvSpPr/>
          <p:nvPr/>
        </p:nvSpPr>
        <p:spPr>
          <a:xfrm>
            <a:off x="2057400" y="2834640"/>
            <a:ext cx="566928" cy="685800"/>
          </a:xfrm>
          <a:prstGeom prst="roundRect">
            <a:avLst>
              <a:gd name="adj" fmla="val 9677"/>
            </a:avLst>
          </a:prstGeom>
          <a:solidFill>
            <a:srgbClr val="0B4DA2"/>
          </a:solidFill>
          <a:ln w="12700">
            <a:solidFill>
              <a:srgbClr val="0B4DA2"/>
            </a:solidFill>
            <a:prstDash val="solid"/>
          </a:ln>
        </p:spPr>
      </p:sp>
      <p:sp>
        <p:nvSpPr>
          <p:cNvPr id="21" name="Text 19"/>
          <p:cNvSpPr txBox="1"/>
          <p:nvPr/>
        </p:nvSpPr>
        <p:spPr>
          <a:xfrm>
            <a:off x="2057400" y="2834640"/>
            <a:ext cx="566928" cy="68580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Nodo 3</a:t>
            </a:r>
            <a:endParaRPr lang="en-US" sz="850" dirty="0"/>
          </a:p>
          <a:p>
            <a:pPr marL="0" indent="0" algn="ctr">
              <a:buNone/>
            </a:pPr>
            <a:r>
              <a:rPr lang="en-US" sz="750" dirty="0">
                <a:solidFill>
                  <a:srgbClr val="FFFFFF"/>
                </a:solidFill>
                <a:latin typeface="Calibri" pitchFamily="34" charset="0"/>
                <a:ea typeface="Calibri" pitchFamily="34" charset="-122"/>
                <a:cs typeface="Calibri" pitchFamily="34" charset="-120"/>
              </a:rPr>
              <a:t>:50004</a:t>
            </a:r>
            <a:endParaRPr lang="en-US" sz="850" dirty="0"/>
          </a:p>
        </p:txBody>
      </p:sp>
      <p:sp>
        <p:nvSpPr>
          <p:cNvPr id="22" name="Shape 20"/>
          <p:cNvSpPr/>
          <p:nvPr/>
        </p:nvSpPr>
        <p:spPr>
          <a:xfrm flipH="1">
            <a:off x="2340864" y="2148840"/>
            <a:ext cx="128016" cy="685800"/>
          </a:xfrm>
          <a:prstGeom prst="line">
            <a:avLst/>
          </a:prstGeom>
          <a:noFill/>
          <a:ln w="12700">
            <a:solidFill>
              <a:srgbClr val="9FB3CC"/>
            </a:solidFill>
            <a:prstDash val="solid"/>
          </a:ln>
        </p:spPr>
      </p:sp>
      <p:sp>
        <p:nvSpPr>
          <p:cNvPr id="23" name="Shape 21"/>
          <p:cNvSpPr/>
          <p:nvPr/>
        </p:nvSpPr>
        <p:spPr>
          <a:xfrm>
            <a:off x="2880360" y="2834640"/>
            <a:ext cx="566928" cy="685800"/>
          </a:xfrm>
          <a:prstGeom prst="roundRect">
            <a:avLst>
              <a:gd name="adj" fmla="val 9677"/>
            </a:avLst>
          </a:prstGeom>
          <a:solidFill>
            <a:srgbClr val="0B4DA2"/>
          </a:solidFill>
          <a:ln w="12700">
            <a:solidFill>
              <a:srgbClr val="0B4DA2"/>
            </a:solidFill>
            <a:prstDash val="solid"/>
          </a:ln>
        </p:spPr>
      </p:sp>
      <p:sp>
        <p:nvSpPr>
          <p:cNvPr id="24" name="Text 22"/>
          <p:cNvSpPr txBox="1"/>
          <p:nvPr/>
        </p:nvSpPr>
        <p:spPr>
          <a:xfrm>
            <a:off x="2880360" y="2834640"/>
            <a:ext cx="566928" cy="68580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Nodo 4</a:t>
            </a:r>
            <a:endParaRPr lang="en-US" sz="850" dirty="0"/>
          </a:p>
          <a:p>
            <a:pPr marL="0" indent="0" algn="ctr">
              <a:buNone/>
            </a:pPr>
            <a:r>
              <a:rPr lang="en-US" sz="750" dirty="0">
                <a:solidFill>
                  <a:srgbClr val="FFFFFF"/>
                </a:solidFill>
                <a:latin typeface="Calibri" pitchFamily="34" charset="0"/>
                <a:ea typeface="Calibri" pitchFamily="34" charset="-122"/>
                <a:cs typeface="Calibri" pitchFamily="34" charset="-120"/>
              </a:rPr>
              <a:t>:50002</a:t>
            </a:r>
            <a:endParaRPr lang="en-US" sz="850" dirty="0"/>
          </a:p>
        </p:txBody>
      </p:sp>
      <p:sp>
        <p:nvSpPr>
          <p:cNvPr id="25" name="Shape 23"/>
          <p:cNvSpPr/>
          <p:nvPr/>
        </p:nvSpPr>
        <p:spPr>
          <a:xfrm>
            <a:off x="2468880" y="2148840"/>
            <a:ext cx="694944" cy="685800"/>
          </a:xfrm>
          <a:prstGeom prst="line">
            <a:avLst/>
          </a:prstGeom>
          <a:noFill/>
          <a:ln w="12700">
            <a:solidFill>
              <a:srgbClr val="9FB3CC"/>
            </a:solidFill>
            <a:prstDash val="solid"/>
          </a:ln>
        </p:spPr>
      </p:sp>
      <p:sp>
        <p:nvSpPr>
          <p:cNvPr id="26" name="Shape 24"/>
          <p:cNvSpPr/>
          <p:nvPr/>
        </p:nvSpPr>
        <p:spPr>
          <a:xfrm>
            <a:off x="3566160" y="2834640"/>
            <a:ext cx="566928" cy="685800"/>
          </a:xfrm>
          <a:prstGeom prst="roundRect">
            <a:avLst>
              <a:gd name="adj" fmla="val 9677"/>
            </a:avLst>
          </a:prstGeom>
          <a:solidFill>
            <a:srgbClr val="0B4DA2"/>
          </a:solidFill>
          <a:ln w="12700">
            <a:solidFill>
              <a:srgbClr val="0B4DA2"/>
            </a:solidFill>
            <a:prstDash val="solid"/>
          </a:ln>
        </p:spPr>
      </p:sp>
      <p:sp>
        <p:nvSpPr>
          <p:cNvPr id="27" name="Text 25"/>
          <p:cNvSpPr txBox="1"/>
          <p:nvPr/>
        </p:nvSpPr>
        <p:spPr>
          <a:xfrm>
            <a:off x="3566160" y="2834640"/>
            <a:ext cx="566928" cy="68580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Nodo 5</a:t>
            </a:r>
            <a:endParaRPr lang="en-US" sz="850" dirty="0"/>
          </a:p>
          <a:p>
            <a:pPr marL="0" indent="0" algn="ctr">
              <a:buNone/>
            </a:pPr>
            <a:r>
              <a:rPr lang="en-US" sz="750" dirty="0">
                <a:solidFill>
                  <a:srgbClr val="FFFFFF"/>
                </a:solidFill>
                <a:latin typeface="Calibri" pitchFamily="34" charset="0"/>
                <a:ea typeface="Calibri" pitchFamily="34" charset="-122"/>
                <a:cs typeface="Calibri" pitchFamily="34" charset="-120"/>
              </a:rPr>
              <a:t>:50003</a:t>
            </a:r>
            <a:endParaRPr lang="en-US" sz="850" dirty="0"/>
          </a:p>
        </p:txBody>
      </p:sp>
      <p:sp>
        <p:nvSpPr>
          <p:cNvPr id="28" name="Shape 26"/>
          <p:cNvSpPr/>
          <p:nvPr/>
        </p:nvSpPr>
        <p:spPr>
          <a:xfrm>
            <a:off x="2468880" y="2148840"/>
            <a:ext cx="1380744" cy="685800"/>
          </a:xfrm>
          <a:prstGeom prst="line">
            <a:avLst/>
          </a:prstGeom>
          <a:noFill/>
          <a:ln w="12700">
            <a:solidFill>
              <a:srgbClr val="9FB3CC"/>
            </a:solidFill>
            <a:prstDash val="solid"/>
          </a:ln>
        </p:spPr>
      </p:sp>
      <p:sp>
        <p:nvSpPr>
          <p:cNvPr id="29" name="Text 27"/>
          <p:cNvSpPr txBox="1"/>
          <p:nvPr/>
        </p:nvSpPr>
        <p:spPr>
          <a:xfrm>
            <a:off x="640080" y="4041648"/>
            <a:ext cx="3749040" cy="228600"/>
          </a:xfrm>
          <a:prstGeom prst="rect">
            <a:avLst/>
          </a:prstGeom>
          <a:noFill/>
          <a:ln/>
        </p:spPr>
        <p:txBody>
          <a:bodyPr wrap="square" lIns="0" tIns="0" rIns="0" bIns="0" rtlCol="0" anchor="t"/>
          <a:lstStyle/>
          <a:p>
            <a:pPr marL="0" indent="0">
              <a:buNone/>
            </a:pPr>
            <a:r>
              <a:rPr lang="en-US" sz="900" dirty="0">
                <a:solidFill>
                  <a:srgbClr val="B07A00"/>
                </a:solidFill>
                <a:latin typeface="Consolas" pitchFamily="34" charset="0"/>
                <a:ea typeface="Consolas" pitchFamily="34" charset="-122"/>
                <a:cs typeface="Consolas" pitchFamily="34" charset="-120"/>
              </a:rPr>
              <a:t>ROUTEID=.node2  →  siempre al Nodo 2</a:t>
            </a:r>
            <a:endParaRPr lang="en-US" sz="900" dirty="0"/>
          </a:p>
        </p:txBody>
      </p:sp>
      <p:sp>
        <p:nvSpPr>
          <p:cNvPr id="30" name="Text 28"/>
          <p:cNvSpPr txBox="1"/>
          <p:nvPr/>
        </p:nvSpPr>
        <p:spPr>
          <a:xfrm>
            <a:off x="640080" y="4297680"/>
            <a:ext cx="3749040" cy="228600"/>
          </a:xfrm>
          <a:prstGeom prst="rect">
            <a:avLst/>
          </a:prstGeom>
          <a:noFill/>
          <a:ln/>
        </p:spPr>
        <p:txBody>
          <a:bodyPr wrap="square" lIns="0" tIns="0" rIns="0" bIns="0" rtlCol="0" anchor="t"/>
          <a:lstStyle/>
          <a:p>
            <a:pPr marL="0" indent="0">
              <a:buNone/>
            </a:pPr>
            <a:r>
              <a:rPr lang="en-US" sz="900" i="1" dirty="0">
                <a:solidFill>
                  <a:srgbClr val="5B6B82"/>
                </a:solidFill>
                <a:latin typeface="Calibri" pitchFamily="34" charset="0"/>
                <a:ea typeface="Calibri" pitchFamily="34" charset="-122"/>
                <a:cs typeface="Calibri" pitchFamily="34" charset="-120"/>
              </a:rPr>
              <a:t>Puertos de nodos referenciales: se definen en la instalación.</a:t>
            </a:r>
            <a:endParaRPr lang="en-US" sz="900" dirty="0"/>
          </a:p>
        </p:txBody>
      </p:sp>
      <p:sp>
        <p:nvSpPr>
          <p:cNvPr id="31" name="Shape 29"/>
          <p:cNvSpPr/>
          <p:nvPr/>
        </p:nvSpPr>
        <p:spPr>
          <a:xfrm>
            <a:off x="4754880" y="1463040"/>
            <a:ext cx="420624" cy="420624"/>
          </a:xfrm>
          <a:prstGeom prst="ellipse">
            <a:avLst/>
          </a:prstGeom>
          <a:solidFill>
            <a:srgbClr val="E8F1FC"/>
          </a:solidFill>
          <a:ln w="12700">
            <a:solidFill>
              <a:srgbClr val="E8F1FC"/>
            </a:solidFill>
            <a:prstDash val="solid"/>
          </a:ln>
        </p:spPr>
      </p:sp>
      <p:pic>
        <p:nvPicPr>
          <p:cNvPr id="32" name="Image 0" descr="preencoded.png"/>
          <p:cNvPicPr>
            <a:picLocks noChangeAspect="1"/>
          </p:cNvPicPr>
          <p:nvPr/>
        </p:nvPicPr>
        <p:blipFill>
          <a:blip r:embed="rId3"/>
          <a:stretch>
            <a:fillRect/>
          </a:stretch>
        </p:blipFill>
        <p:spPr>
          <a:xfrm>
            <a:off x="4864242" y="1572402"/>
            <a:ext cx="201900" cy="201900"/>
          </a:xfrm>
          <a:prstGeom prst="rect">
            <a:avLst/>
          </a:prstGeom>
        </p:spPr>
      </p:pic>
      <p:sp>
        <p:nvSpPr>
          <p:cNvPr id="33" name="Text 30"/>
          <p:cNvSpPr txBox="1"/>
          <p:nvPr/>
        </p:nvSpPr>
        <p:spPr>
          <a:xfrm>
            <a:off x="5303520" y="1417320"/>
            <a:ext cx="3383280" cy="256032"/>
          </a:xfrm>
          <a:prstGeom prst="rect">
            <a:avLst/>
          </a:prstGeom>
          <a:noFill/>
          <a:ln/>
        </p:spPr>
        <p:txBody>
          <a:bodyPr wrap="square" lIns="0" tIns="0" rIns="0" bIns="0" rtlCol="0" anchor="t"/>
          <a:lstStyle/>
          <a:p>
            <a:pPr marL="0" indent="0">
              <a:buNone/>
            </a:pPr>
            <a:r>
              <a:rPr lang="en-US" sz="1200" b="1" dirty="0">
                <a:solidFill>
                  <a:srgbClr val="071B3F"/>
                </a:solidFill>
                <a:latin typeface="Segoe UI" pitchFamily="34" charset="0"/>
                <a:ea typeface="Segoe UI" pitchFamily="34" charset="-122"/>
                <a:cs typeface="Segoe UI" pitchFamily="34" charset="-120"/>
              </a:rPr>
              <a:t>Entrada única</a:t>
            </a:r>
            <a:endParaRPr lang="en-US" sz="1200" dirty="0"/>
          </a:p>
        </p:txBody>
      </p:sp>
      <p:sp>
        <p:nvSpPr>
          <p:cNvPr id="34" name="Text 31"/>
          <p:cNvSpPr txBox="1"/>
          <p:nvPr/>
        </p:nvSpPr>
        <p:spPr>
          <a:xfrm>
            <a:off x="5303520" y="1673352"/>
            <a:ext cx="3383280" cy="502920"/>
          </a:xfrm>
          <a:prstGeom prst="rect">
            <a:avLst/>
          </a:prstGeom>
          <a:noFill/>
          <a:ln/>
        </p:spPr>
        <p:txBody>
          <a:bodyPr wrap="square" lIns="0" tIns="0" rIns="0" bIns="0" rtlCol="0" anchor="t"/>
          <a:lstStyle/>
          <a:p>
            <a:pPr marL="0" indent="0">
              <a:buNone/>
            </a:pPr>
            <a:r>
              <a:rPr lang="en-US" sz="1050" dirty="0">
                <a:solidFill>
                  <a:srgbClr val="5B6B82"/>
                </a:solidFill>
                <a:latin typeface="Calibri" pitchFamily="34" charset="0"/>
                <a:ea typeface="Calibri" pitchFamily="34" charset="-122"/>
                <a:cs typeface="Calibri" pitchFamily="34" charset="-120"/>
              </a:rPr>
              <a:t>Apache (mod_proxy_balancer) recibe todo en :50000 y reparte entre nodos miembros.</a:t>
            </a:r>
            <a:endParaRPr lang="en-US" sz="1050" dirty="0"/>
          </a:p>
        </p:txBody>
      </p:sp>
      <p:sp>
        <p:nvSpPr>
          <p:cNvPr id="35" name="Shape 32"/>
          <p:cNvSpPr/>
          <p:nvPr/>
        </p:nvSpPr>
        <p:spPr>
          <a:xfrm>
            <a:off x="4754880" y="2286000"/>
            <a:ext cx="420624" cy="420624"/>
          </a:xfrm>
          <a:prstGeom prst="ellipse">
            <a:avLst/>
          </a:prstGeom>
          <a:solidFill>
            <a:srgbClr val="E8F1FC"/>
          </a:solidFill>
          <a:ln w="12700">
            <a:solidFill>
              <a:srgbClr val="E8F1FC"/>
            </a:solidFill>
            <a:prstDash val="solid"/>
          </a:ln>
        </p:spPr>
      </p:sp>
      <p:pic>
        <p:nvPicPr>
          <p:cNvPr id="36" name="Image 1" descr="preencoded.png"/>
          <p:cNvPicPr>
            <a:picLocks noChangeAspect="1"/>
          </p:cNvPicPr>
          <p:nvPr/>
        </p:nvPicPr>
        <p:blipFill>
          <a:blip r:embed="rId4"/>
          <a:stretch>
            <a:fillRect/>
          </a:stretch>
        </p:blipFill>
        <p:spPr>
          <a:xfrm>
            <a:off x="4864242" y="2395362"/>
            <a:ext cx="201900" cy="201900"/>
          </a:xfrm>
          <a:prstGeom prst="rect">
            <a:avLst/>
          </a:prstGeom>
        </p:spPr>
      </p:pic>
      <p:sp>
        <p:nvSpPr>
          <p:cNvPr id="37" name="Text 33"/>
          <p:cNvSpPr txBox="1"/>
          <p:nvPr/>
        </p:nvSpPr>
        <p:spPr>
          <a:xfrm>
            <a:off x="5303520" y="2240280"/>
            <a:ext cx="3383280" cy="256032"/>
          </a:xfrm>
          <a:prstGeom prst="rect">
            <a:avLst/>
          </a:prstGeom>
          <a:noFill/>
          <a:ln/>
        </p:spPr>
        <p:txBody>
          <a:bodyPr wrap="square" lIns="0" tIns="0" rIns="0" bIns="0" rtlCol="0" anchor="t"/>
          <a:lstStyle/>
          <a:p>
            <a:pPr marL="0" indent="0">
              <a:buNone/>
            </a:pPr>
            <a:r>
              <a:rPr lang="en-US" sz="1200" b="1" dirty="0">
                <a:solidFill>
                  <a:srgbClr val="071B3F"/>
                </a:solidFill>
                <a:latin typeface="Segoe UI" pitchFamily="34" charset="0"/>
                <a:ea typeface="Segoe UI" pitchFamily="34" charset="-122"/>
                <a:cs typeface="Segoe UI" pitchFamily="34" charset="-120"/>
              </a:rPr>
              <a:t>Afinidad de sesión</a:t>
            </a:r>
            <a:endParaRPr lang="en-US" sz="1200" dirty="0"/>
          </a:p>
        </p:txBody>
      </p:sp>
      <p:sp>
        <p:nvSpPr>
          <p:cNvPr id="38" name="Text 34"/>
          <p:cNvSpPr txBox="1"/>
          <p:nvPr/>
        </p:nvSpPr>
        <p:spPr>
          <a:xfrm>
            <a:off x="5303520" y="2496312"/>
            <a:ext cx="3383280" cy="502920"/>
          </a:xfrm>
          <a:prstGeom prst="rect">
            <a:avLst/>
          </a:prstGeom>
          <a:noFill/>
          <a:ln/>
        </p:spPr>
        <p:txBody>
          <a:bodyPr wrap="square" lIns="0" tIns="0" rIns="0" bIns="0" rtlCol="0" anchor="t"/>
          <a:lstStyle/>
          <a:p>
            <a:pPr marL="0" indent="0">
              <a:buNone/>
            </a:pPr>
            <a:r>
              <a:rPr lang="en-US" sz="1050" dirty="0">
                <a:solidFill>
                  <a:srgbClr val="5B6B82"/>
                </a:solidFill>
                <a:latin typeface="Calibri" pitchFamily="34" charset="0"/>
                <a:ea typeface="Calibri" pitchFamily="34" charset="-122"/>
                <a:cs typeface="Calibri" pitchFamily="34" charset="-120"/>
              </a:rPr>
              <a:t>La sesión vive en el nodo del login; la cookie ROUTEID dirige las siguientes peticiones a ese nodo.</a:t>
            </a:r>
            <a:endParaRPr lang="en-US" sz="1050" dirty="0"/>
          </a:p>
        </p:txBody>
      </p:sp>
      <p:sp>
        <p:nvSpPr>
          <p:cNvPr id="39" name="Shape 35"/>
          <p:cNvSpPr/>
          <p:nvPr/>
        </p:nvSpPr>
        <p:spPr>
          <a:xfrm>
            <a:off x="4754880" y="3108960"/>
            <a:ext cx="420624" cy="420624"/>
          </a:xfrm>
          <a:prstGeom prst="ellipse">
            <a:avLst/>
          </a:prstGeom>
          <a:solidFill>
            <a:srgbClr val="E8F1FC"/>
          </a:solidFill>
          <a:ln w="12700">
            <a:solidFill>
              <a:srgbClr val="E8F1FC"/>
            </a:solidFill>
            <a:prstDash val="solid"/>
          </a:ln>
        </p:spPr>
      </p:sp>
      <p:pic>
        <p:nvPicPr>
          <p:cNvPr id="40" name="Image 2" descr="preencoded.png"/>
          <p:cNvPicPr>
            <a:picLocks noChangeAspect="1"/>
          </p:cNvPicPr>
          <p:nvPr/>
        </p:nvPicPr>
        <p:blipFill>
          <a:blip r:embed="rId5"/>
          <a:stretch>
            <a:fillRect/>
          </a:stretch>
        </p:blipFill>
        <p:spPr>
          <a:xfrm>
            <a:off x="4864242" y="3218322"/>
            <a:ext cx="201900" cy="201900"/>
          </a:xfrm>
          <a:prstGeom prst="rect">
            <a:avLst/>
          </a:prstGeom>
        </p:spPr>
      </p:pic>
      <p:sp>
        <p:nvSpPr>
          <p:cNvPr id="41" name="Text 36"/>
          <p:cNvSpPr txBox="1"/>
          <p:nvPr/>
        </p:nvSpPr>
        <p:spPr>
          <a:xfrm>
            <a:off x="5303520" y="3063240"/>
            <a:ext cx="3383280" cy="256032"/>
          </a:xfrm>
          <a:prstGeom prst="rect">
            <a:avLst/>
          </a:prstGeom>
          <a:noFill/>
          <a:ln/>
        </p:spPr>
        <p:txBody>
          <a:bodyPr wrap="square" lIns="0" tIns="0" rIns="0" bIns="0" rtlCol="0" anchor="t"/>
          <a:lstStyle/>
          <a:p>
            <a:pPr marL="0" indent="0">
              <a:buNone/>
            </a:pPr>
            <a:r>
              <a:rPr lang="en-US" sz="1200" b="1" dirty="0">
                <a:solidFill>
                  <a:srgbClr val="071B3F"/>
                </a:solidFill>
                <a:latin typeface="Segoe UI" pitchFamily="34" charset="0"/>
                <a:ea typeface="Segoe UI" pitchFamily="34" charset="-122"/>
                <a:cs typeface="Segoe UI" pitchFamily="34" charset="-120"/>
              </a:rPr>
              <a:t>Escalado</a:t>
            </a:r>
            <a:endParaRPr lang="en-US" sz="1200" dirty="0"/>
          </a:p>
        </p:txBody>
      </p:sp>
      <p:sp>
        <p:nvSpPr>
          <p:cNvPr id="42" name="Text 37"/>
          <p:cNvSpPr txBox="1"/>
          <p:nvPr/>
        </p:nvSpPr>
        <p:spPr>
          <a:xfrm>
            <a:off x="5303520" y="3319272"/>
            <a:ext cx="3383280" cy="502920"/>
          </a:xfrm>
          <a:prstGeom prst="rect">
            <a:avLst/>
          </a:prstGeom>
          <a:noFill/>
          <a:ln/>
        </p:spPr>
        <p:txBody>
          <a:bodyPr wrap="square" lIns="0" tIns="0" rIns="0" bIns="0" rtlCol="0" anchor="t"/>
          <a:lstStyle/>
          <a:p>
            <a:pPr marL="0" indent="0">
              <a:buNone/>
            </a:pPr>
            <a:r>
              <a:rPr lang="en-US" sz="1050" dirty="0">
                <a:solidFill>
                  <a:srgbClr val="5B6B82"/>
                </a:solidFill>
                <a:latin typeface="Calibri" pitchFamily="34" charset="0"/>
                <a:ea typeface="Calibri" pitchFamily="34" charset="-122"/>
                <a:cs typeface="Calibri" pitchFamily="34" charset="-120"/>
              </a:rPr>
              <a:t>Vertical: más nodos en el mismo servidor. Horizontal: nodos en otros servidores (cluster).</a:t>
            </a:r>
            <a:endParaRPr lang="en-US" sz="1050" dirty="0"/>
          </a:p>
        </p:txBody>
      </p:sp>
      <p:sp>
        <p:nvSpPr>
          <p:cNvPr id="43" name="Shape 38"/>
          <p:cNvSpPr/>
          <p:nvPr/>
        </p:nvSpPr>
        <p:spPr>
          <a:xfrm>
            <a:off x="4754880" y="3931920"/>
            <a:ext cx="420624" cy="420624"/>
          </a:xfrm>
          <a:prstGeom prst="ellipse">
            <a:avLst/>
          </a:prstGeom>
          <a:solidFill>
            <a:srgbClr val="E8F1FC"/>
          </a:solidFill>
          <a:ln w="12700">
            <a:solidFill>
              <a:srgbClr val="E8F1FC"/>
            </a:solidFill>
            <a:prstDash val="solid"/>
          </a:ln>
        </p:spPr>
      </p:sp>
      <p:pic>
        <p:nvPicPr>
          <p:cNvPr id="44" name="Image 3" descr="preencoded.png"/>
          <p:cNvPicPr>
            <a:picLocks noChangeAspect="1"/>
          </p:cNvPicPr>
          <p:nvPr/>
        </p:nvPicPr>
        <p:blipFill>
          <a:blip r:embed="rId6"/>
          <a:stretch>
            <a:fillRect/>
          </a:stretch>
        </p:blipFill>
        <p:spPr>
          <a:xfrm>
            <a:off x="4864242" y="4041282"/>
            <a:ext cx="201900" cy="201900"/>
          </a:xfrm>
          <a:prstGeom prst="rect">
            <a:avLst/>
          </a:prstGeom>
        </p:spPr>
      </p:pic>
      <p:sp>
        <p:nvSpPr>
          <p:cNvPr id="45" name="Text 39"/>
          <p:cNvSpPr txBox="1"/>
          <p:nvPr/>
        </p:nvSpPr>
        <p:spPr>
          <a:xfrm>
            <a:off x="5303520" y="3886200"/>
            <a:ext cx="3383280" cy="256032"/>
          </a:xfrm>
          <a:prstGeom prst="rect">
            <a:avLst/>
          </a:prstGeom>
          <a:noFill/>
          <a:ln/>
        </p:spPr>
        <p:txBody>
          <a:bodyPr wrap="square" lIns="0" tIns="0" rIns="0" bIns="0" rtlCol="0" anchor="t"/>
          <a:lstStyle/>
          <a:p>
            <a:pPr marL="0" indent="0">
              <a:buNone/>
            </a:pPr>
            <a:r>
              <a:rPr lang="en-US" sz="1200" b="1" dirty="0">
                <a:solidFill>
                  <a:srgbClr val="071B3F"/>
                </a:solidFill>
                <a:latin typeface="Segoe UI" pitchFamily="34" charset="0"/>
                <a:ea typeface="Segoe UI" pitchFamily="34" charset="-122"/>
                <a:cs typeface="Segoe UI" pitchFamily="34" charset="-120"/>
              </a:rPr>
              <a:t>Si un nodo cae</a:t>
            </a:r>
            <a:endParaRPr lang="en-US" sz="1200" dirty="0"/>
          </a:p>
        </p:txBody>
      </p:sp>
      <p:sp>
        <p:nvSpPr>
          <p:cNvPr id="46" name="Text 40"/>
          <p:cNvSpPr txBox="1"/>
          <p:nvPr/>
        </p:nvSpPr>
        <p:spPr>
          <a:xfrm>
            <a:off x="5303520" y="4142232"/>
            <a:ext cx="3383280" cy="502920"/>
          </a:xfrm>
          <a:prstGeom prst="rect">
            <a:avLst/>
          </a:prstGeom>
          <a:noFill/>
          <a:ln/>
        </p:spPr>
        <p:txBody>
          <a:bodyPr wrap="square" lIns="0" tIns="0" rIns="0" bIns="0" rtlCol="0" anchor="t"/>
          <a:lstStyle/>
          <a:p>
            <a:pPr marL="0" indent="0">
              <a:buNone/>
            </a:pPr>
            <a:r>
              <a:rPr lang="en-US" sz="1050" dirty="0">
                <a:solidFill>
                  <a:srgbClr val="5B6B82"/>
                </a:solidFill>
                <a:latin typeface="Calibri" pitchFamily="34" charset="0"/>
                <a:ea typeface="Calibri" pitchFamily="34" charset="-122"/>
                <a:cs typeface="Calibri" pitchFamily="34" charset="-120"/>
              </a:rPr>
              <a:t>Sus sesiones se pierden: el cliente debe detectar 401 y volver a hacer login.</a:t>
            </a:r>
            <a:endParaRPr lang="en-US" sz="1050" dirty="0"/>
          </a:p>
        </p:txBody>
      </p:sp>
      <p:sp>
        <p:nvSpPr>
          <p:cNvPr id="47"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xmlns="" val="0"/>
            </a:ext>
          </a:extLst>
        </p:spPr>
        <p:txBody>
          <a:bodyPr/>
          <a:lstStyle>
            <a:lvl1pPr>
              <a:defRPr sz="800">
                <a:solidFill>
                  <a:srgbClr val="8A9AB0"/>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457200" y="256032"/>
            <a:ext cx="1720901" cy="237744"/>
          </a:xfrm>
          <a:prstGeom prst="roundRect">
            <a:avLst>
              <a:gd name="adj" fmla="val 50000"/>
            </a:avLst>
          </a:prstGeom>
          <a:solidFill>
            <a:srgbClr val="071B3F"/>
          </a:solidFill>
          <a:ln w="12700">
            <a:solidFill>
              <a:srgbClr val="071B3F"/>
            </a:solidFill>
            <a:prstDash val="solid"/>
          </a:ln>
        </p:spPr>
      </p:sp>
      <p:sp>
        <p:nvSpPr>
          <p:cNvPr id="3" name="Text 1"/>
          <p:cNvSpPr txBox="1"/>
          <p:nvPr/>
        </p:nvSpPr>
        <p:spPr>
          <a:xfrm>
            <a:off x="457200" y="256032"/>
            <a:ext cx="1720901" cy="237744"/>
          </a:xfrm>
          <a:prstGeom prst="rect">
            <a:avLst/>
          </a:prstGeom>
          <a:noFill/>
          <a:ln/>
        </p:spPr>
        <p:txBody>
          <a:bodyPr wrap="square" lIns="0" tIns="0" rIns="0" bIns="0" rtlCol="0" anchor="ctr"/>
          <a:lstStyle/>
          <a:p>
            <a:pPr marL="0" indent="0" algn="ctr">
              <a:buNone/>
            </a:pPr>
            <a:r>
              <a:rPr lang="en-US" sz="850" b="1" kern="0" spc="100" dirty="0">
                <a:solidFill>
                  <a:srgbClr val="F5A800"/>
                </a:solidFill>
                <a:latin typeface="Segoe UI" pitchFamily="34" charset="0"/>
                <a:ea typeface="Segoe UI" pitchFamily="34" charset="-122"/>
                <a:cs typeface="Segoe UI" pitchFamily="34" charset="-120"/>
              </a:rPr>
              <a:t>02  ·  ARQUITECTURA</a:t>
            </a:r>
            <a:endParaRPr lang="en-US" sz="850" dirty="0"/>
          </a:p>
        </p:txBody>
      </p:sp>
      <p:sp>
        <p:nvSpPr>
          <p:cNvPr id="4" name="Text 2"/>
          <p:cNvSpPr txBox="1"/>
          <p:nvPr/>
        </p:nvSpPr>
        <p:spPr>
          <a:xfrm>
            <a:off x="457200" y="566928"/>
            <a:ext cx="8229600" cy="502920"/>
          </a:xfrm>
          <a:prstGeom prst="rect">
            <a:avLst/>
          </a:prstGeom>
          <a:noFill/>
          <a:ln/>
        </p:spPr>
        <p:txBody>
          <a:bodyPr wrap="square" lIns="0" tIns="0" rIns="0" bIns="0" rtlCol="0" anchor="ctr"/>
          <a:lstStyle/>
          <a:p>
            <a:pPr marL="0" indent="0">
              <a:buNone/>
            </a:pPr>
            <a:r>
              <a:rPr lang="en-US" sz="2400" b="1" dirty="0">
                <a:solidFill>
                  <a:srgbClr val="071B3F"/>
                </a:solidFill>
                <a:latin typeface="Segoe UI" pitchFamily="34" charset="0"/>
                <a:ea typeface="Segoe UI" pitchFamily="34" charset="-122"/>
                <a:cs typeface="Segoe UI" pitchFamily="34" charset="-120"/>
              </a:rPr>
              <a:t>Sugerencias de configuración según utilidad</a:t>
            </a:r>
            <a:endParaRPr lang="en-US" sz="2400" dirty="0"/>
          </a:p>
        </p:txBody>
      </p:sp>
      <p:sp>
        <p:nvSpPr>
          <p:cNvPr id="5" name="Text 3"/>
          <p:cNvSpPr txBox="1"/>
          <p:nvPr/>
        </p:nvSpPr>
        <p:spPr>
          <a:xfrm>
            <a:off x="457200" y="1051560"/>
            <a:ext cx="8229600" cy="274320"/>
          </a:xfrm>
          <a:prstGeom prst="rect">
            <a:avLst/>
          </a:prstGeom>
          <a:noFill/>
          <a:ln/>
        </p:spPr>
        <p:txBody>
          <a:bodyPr wrap="square" lIns="0" tIns="0" rIns="0" bIns="0" rtlCol="0" anchor="ctr"/>
          <a:lstStyle/>
          <a:p>
            <a:pPr marL="0" indent="0">
              <a:buNone/>
            </a:pPr>
            <a:r>
              <a:rPr lang="en-US" sz="1250" dirty="0">
                <a:solidFill>
                  <a:srgbClr val="5B6B82"/>
                </a:solidFill>
                <a:latin typeface="Calibri" pitchFamily="34" charset="0"/>
                <a:ea typeface="Calibri" pitchFamily="34" charset="-122"/>
                <a:cs typeface="Calibri" pitchFamily="34" charset="-120"/>
              </a:rPr>
              <a:t>Valores orientativos: valida siempre con pruebas de carga en tu infraestructura</a:t>
            </a:r>
            <a:endParaRPr lang="en-US" sz="1250" dirty="0"/>
          </a:p>
        </p:txBody>
      </p:sp>
      <p:sp>
        <p:nvSpPr>
          <p:cNvPr id="6" name="Text 4"/>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00" dirty="0">
                <a:solidFill>
                  <a:srgbClr val="8A9AB0"/>
                </a:solidFill>
                <a:latin typeface="Calibri" pitchFamily="34" charset="0"/>
                <a:ea typeface="Calibri" pitchFamily="34" charset="-122"/>
                <a:cs typeface="Calibri" pitchFamily="34" charset="-120"/>
              </a:rPr>
              <a:t>Ventura Soluciones  |  SAP Business One · Service Layer</a:t>
            </a:r>
            <a:endParaRPr lang="en-US" sz="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8229600" cy="2377440"/>
        </p:xfrm>
        <a:graphic>
          <a:graphicData uri="http://schemas.openxmlformats.org/drawingml/2006/table">
            <a:tbl>
              <a:tblPr/>
              <a:tblGrid>
                <a:gridCol w="16459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2606040">
                  <a:extLst>
                    <a:ext uri="{9D8B030D-6E8A-4147-A177-3AD203B41FA5}">
                      <a16:colId xmlns:a16="http://schemas.microsoft.com/office/drawing/2014/main" val="20004"/>
                    </a:ext>
                  </a:extLst>
                </a:gridCol>
              </a:tblGrid>
              <a:tr h="475488">
                <a:tc>
                  <a:txBody>
                    <a:bodyPr/>
                    <a:lstStyle/>
                    <a:p>
                      <a:pPr marL="0" indent="0">
                        <a:buNone/>
                      </a:pPr>
                      <a:r>
                        <a:rPr lang="en-US" sz="1050" b="1" dirty="0">
                          <a:solidFill>
                            <a:srgbClr val="FFFFFF"/>
                          </a:solidFill>
                          <a:latin typeface="Segoe UI" pitchFamily="34" charset="0"/>
                          <a:ea typeface="Segoe UI" pitchFamily="34" charset="-122"/>
                          <a:cs typeface="Segoe UI" pitchFamily="34" charset="-120"/>
                        </a:rPr>
                        <a:t>Escenario</a:t>
                      </a:r>
                      <a:endParaRPr lang="en-US" sz="1050" dirty="0">
                        <a:latin typeface="Segoe UI" charset="0"/>
                        <a:ea typeface="Segoe UI" charset="0"/>
                        <a:cs typeface="Segoe UI" charset="0"/>
                      </a:endParaRPr>
                    </a:p>
                  </a:txBody>
                  <a:tcPr marL="76200" marR="76200" marT="50800" marB="508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071B3F"/>
                    </a:solidFill>
                  </a:tcPr>
                </a:tc>
                <a:tc>
                  <a:txBody>
                    <a:bodyPr/>
                    <a:lstStyle/>
                    <a:p>
                      <a:pPr marL="0" indent="0">
                        <a:buNone/>
                      </a:pPr>
                      <a:r>
                        <a:rPr lang="en-US" sz="1050" b="1" dirty="0">
                          <a:solidFill>
                            <a:srgbClr val="FFFFFF"/>
                          </a:solidFill>
                          <a:latin typeface="Segoe UI" pitchFamily="34" charset="0"/>
                          <a:ea typeface="Segoe UI" pitchFamily="34" charset="-122"/>
                          <a:cs typeface="Segoe UI" pitchFamily="34" charset="-120"/>
                        </a:rPr>
                        <a:t>Nodos</a:t>
                      </a:r>
                      <a:endParaRPr lang="en-US" sz="1050" dirty="0">
                        <a:latin typeface="Segoe UI" charset="0"/>
                        <a:ea typeface="Segoe UI" charset="0"/>
                        <a:cs typeface="Segoe UI" charset="0"/>
                      </a:endParaRPr>
                    </a:p>
                  </a:txBody>
                  <a:tcPr marL="76200" marR="76200" marT="50800" marB="508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071B3F"/>
                    </a:solidFill>
                  </a:tcPr>
                </a:tc>
                <a:tc>
                  <a:txBody>
                    <a:bodyPr/>
                    <a:lstStyle/>
                    <a:p>
                      <a:pPr marL="0" indent="0">
                        <a:buNone/>
                      </a:pPr>
                      <a:r>
                        <a:rPr lang="en-US" sz="1050" b="1" dirty="0">
                          <a:solidFill>
                            <a:srgbClr val="FFFFFF"/>
                          </a:solidFill>
                          <a:latin typeface="Segoe UI" pitchFamily="34" charset="0"/>
                          <a:ea typeface="Segoe UI" pitchFamily="34" charset="-122"/>
                          <a:cs typeface="Segoe UI" pitchFamily="34" charset="-120"/>
                        </a:rPr>
                        <a:t>SessionTimeout</a:t>
                      </a:r>
                      <a:endParaRPr lang="en-US" sz="1050" dirty="0">
                        <a:latin typeface="Segoe UI" charset="0"/>
                        <a:ea typeface="Segoe UI" charset="0"/>
                        <a:cs typeface="Segoe UI" charset="0"/>
                      </a:endParaRPr>
                    </a:p>
                  </a:txBody>
                  <a:tcPr marL="76200" marR="76200" marT="50800" marB="508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071B3F"/>
                    </a:solidFill>
                  </a:tcPr>
                </a:tc>
                <a:tc>
                  <a:txBody>
                    <a:bodyPr/>
                    <a:lstStyle/>
                    <a:p>
                      <a:pPr marL="0" indent="0">
                        <a:buNone/>
                      </a:pPr>
                      <a:r>
                        <a:rPr lang="en-US" sz="1050" b="1" dirty="0">
                          <a:solidFill>
                            <a:srgbClr val="FFFFFF"/>
                          </a:solidFill>
                          <a:latin typeface="Segoe UI" pitchFamily="34" charset="0"/>
                          <a:ea typeface="Segoe UI" pitchFamily="34" charset="-122"/>
                          <a:cs typeface="Segoe UI" pitchFamily="34" charset="-120"/>
                        </a:rPr>
                        <a:t>Tamaño de página</a:t>
                      </a:r>
                      <a:endParaRPr lang="en-US" sz="1050" dirty="0">
                        <a:latin typeface="Segoe UI" charset="0"/>
                        <a:ea typeface="Segoe UI" charset="0"/>
                        <a:cs typeface="Segoe UI" charset="0"/>
                      </a:endParaRPr>
                    </a:p>
                  </a:txBody>
                  <a:tcPr marL="76200" marR="76200" marT="50800" marB="508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071B3F"/>
                    </a:solidFill>
                  </a:tcPr>
                </a:tc>
                <a:tc>
                  <a:txBody>
                    <a:bodyPr/>
                    <a:lstStyle/>
                    <a:p>
                      <a:pPr marL="0" indent="0">
                        <a:buNone/>
                      </a:pPr>
                      <a:r>
                        <a:rPr lang="en-US" sz="1050" b="1" dirty="0">
                          <a:solidFill>
                            <a:srgbClr val="FFFFFF"/>
                          </a:solidFill>
                          <a:latin typeface="Segoe UI" pitchFamily="34" charset="0"/>
                          <a:ea typeface="Segoe UI" pitchFamily="34" charset="-122"/>
                          <a:cs typeface="Segoe UI" pitchFamily="34" charset="-120"/>
                        </a:rPr>
                        <a:t>Recomendación clave</a:t>
                      </a:r>
                      <a:endParaRPr lang="en-US" sz="1050" dirty="0">
                        <a:latin typeface="Segoe UI" charset="0"/>
                        <a:ea typeface="Segoe UI" charset="0"/>
                        <a:cs typeface="Segoe UI" charset="0"/>
                      </a:endParaRPr>
                    </a:p>
                  </a:txBody>
                  <a:tcPr marL="76200" marR="76200" marT="50800" marB="508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071B3F"/>
                    </a:solidFill>
                  </a:tcPr>
                </a:tc>
                <a:extLst>
                  <a:ext uri="{0D108BD9-81ED-4DB2-BD59-A6C34878D82A}">
                    <a16:rowId xmlns:a16="http://schemas.microsoft.com/office/drawing/2014/main" val="10000"/>
                  </a:ext>
                </a:extLst>
              </a:tr>
              <a:tr h="475488">
                <a:tc>
                  <a:txBody>
                    <a:bodyPr/>
                    <a:lstStyle/>
                    <a:p>
                      <a:pPr marL="0" indent="0">
                        <a:buNone/>
                      </a:pPr>
                      <a:r>
                        <a:rPr lang="en-US" sz="1050" b="1" dirty="0">
                          <a:solidFill>
                            <a:srgbClr val="071B3F"/>
                          </a:solidFill>
                          <a:latin typeface="Calibri" pitchFamily="34" charset="0"/>
                          <a:ea typeface="Calibri" pitchFamily="34" charset="-122"/>
                          <a:cs typeface="Calibri" pitchFamily="34" charset="-120"/>
                        </a:rPr>
                        <a:t>Desarrollo / QA</a:t>
                      </a:r>
                      <a:endParaRPr lang="en-US" sz="1050" dirty="0">
                        <a:latin typeface="Calibri" charset="0"/>
                        <a:ea typeface="Calibri" charset="0"/>
                        <a:cs typeface="Calibri" charset="0"/>
                      </a:endParaRPr>
                    </a:p>
                  </a:txBody>
                  <a:tcPr marL="76200" marR="76200" marT="50800" marB="508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EEF3FA"/>
                    </a:solidFill>
                  </a:tcPr>
                </a:tc>
                <a:tc>
                  <a:txBody>
                    <a:bodyPr/>
                    <a:lstStyle/>
                    <a:p>
                      <a:pPr marL="0" indent="0">
                        <a:buNone/>
                      </a:pPr>
                      <a:r>
                        <a:rPr lang="en-US" sz="1050" dirty="0">
                          <a:solidFill>
                            <a:srgbClr val="1B2433"/>
                          </a:solidFill>
                          <a:latin typeface="Calibri" pitchFamily="34" charset="0"/>
                          <a:ea typeface="Calibri" pitchFamily="34" charset="-122"/>
                          <a:cs typeface="Calibri" pitchFamily="34" charset="-120"/>
                        </a:rPr>
                        <a:t>1 – 2</a:t>
                      </a:r>
                      <a:endParaRPr lang="en-US" sz="1050" dirty="0">
                        <a:latin typeface="Calibri" charset="0"/>
                        <a:ea typeface="Calibri" charset="0"/>
                        <a:cs typeface="Calibri" charset="0"/>
                      </a:endParaRPr>
                    </a:p>
                  </a:txBody>
                  <a:tcPr marL="76200" marR="76200" marT="50800" marB="508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EEF3FA"/>
                    </a:solidFill>
                  </a:tcPr>
                </a:tc>
                <a:tc>
                  <a:txBody>
                    <a:bodyPr/>
                    <a:lstStyle/>
                    <a:p>
                      <a:pPr marL="0" indent="0">
                        <a:buNone/>
                      </a:pPr>
                      <a:r>
                        <a:rPr lang="en-US" sz="1050" dirty="0">
                          <a:solidFill>
                            <a:srgbClr val="1B2433"/>
                          </a:solidFill>
                          <a:latin typeface="Calibri" pitchFamily="34" charset="0"/>
                          <a:ea typeface="Calibri" pitchFamily="34" charset="-122"/>
                          <a:cs typeface="Calibri" pitchFamily="34" charset="-120"/>
                        </a:rPr>
                        <a:t>30 min (defecto)</a:t>
                      </a:r>
                      <a:endParaRPr lang="en-US" sz="1050" dirty="0">
                        <a:latin typeface="Calibri" charset="0"/>
                        <a:ea typeface="Calibri" charset="0"/>
                        <a:cs typeface="Calibri" charset="0"/>
                      </a:endParaRPr>
                    </a:p>
                  </a:txBody>
                  <a:tcPr marL="76200" marR="76200" marT="50800" marB="508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EEF3FA"/>
                    </a:solidFill>
                  </a:tcPr>
                </a:tc>
                <a:tc>
                  <a:txBody>
                    <a:bodyPr/>
                    <a:lstStyle/>
                    <a:p>
                      <a:pPr marL="0" indent="0">
                        <a:buNone/>
                      </a:pPr>
                      <a:r>
                        <a:rPr lang="en-US" sz="1050" dirty="0">
                          <a:solidFill>
                            <a:srgbClr val="1B2433"/>
                          </a:solidFill>
                          <a:latin typeface="Calibri" pitchFamily="34" charset="0"/>
                          <a:ea typeface="Calibri" pitchFamily="34" charset="-122"/>
                          <a:cs typeface="Calibri" pitchFamily="34" charset="-120"/>
                        </a:rPr>
                        <a:t>20 (defecto)</a:t>
                      </a:r>
                      <a:endParaRPr lang="en-US" sz="1050" dirty="0">
                        <a:latin typeface="Calibri" charset="0"/>
                        <a:ea typeface="Calibri" charset="0"/>
                        <a:cs typeface="Calibri" charset="0"/>
                      </a:endParaRPr>
                    </a:p>
                  </a:txBody>
                  <a:tcPr marL="76200" marR="76200" marT="50800" marB="508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EEF3FA"/>
                    </a:solidFill>
                  </a:tcPr>
                </a:tc>
                <a:tc>
                  <a:txBody>
                    <a:bodyPr/>
                    <a:lstStyle/>
                    <a:p>
                      <a:pPr marL="0" indent="0">
                        <a:buNone/>
                      </a:pPr>
                      <a:r>
                        <a:rPr lang="en-US" sz="1050" dirty="0">
                          <a:solidFill>
                            <a:srgbClr val="1B2433"/>
                          </a:solidFill>
                          <a:latin typeface="Calibri" pitchFamily="34" charset="0"/>
                          <a:ea typeface="Calibri" pitchFamily="34" charset="-122"/>
                          <a:cs typeface="Calibri" pitchFamily="34" charset="-120"/>
                        </a:rPr>
                        <a:t>Log detallado para depurar; un solo servidor.</a:t>
                      </a:r>
                      <a:endParaRPr lang="en-US" sz="1050" dirty="0">
                        <a:latin typeface="Calibri" charset="0"/>
                        <a:ea typeface="Calibri" charset="0"/>
                        <a:cs typeface="Calibri" charset="0"/>
                      </a:endParaRPr>
                    </a:p>
                  </a:txBody>
                  <a:tcPr marL="76200" marR="76200" marT="50800" marB="508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EEF3FA"/>
                    </a:solidFill>
                  </a:tcPr>
                </a:tc>
                <a:extLst>
                  <a:ext uri="{0D108BD9-81ED-4DB2-BD59-A6C34878D82A}">
                    <a16:rowId xmlns:a16="http://schemas.microsoft.com/office/drawing/2014/main" val="10001"/>
                  </a:ext>
                </a:extLst>
              </a:tr>
              <a:tr h="475488">
                <a:tc>
                  <a:txBody>
                    <a:bodyPr/>
                    <a:lstStyle/>
                    <a:p>
                      <a:pPr marL="0" indent="0">
                        <a:buNone/>
                      </a:pPr>
                      <a:r>
                        <a:rPr lang="en-US" sz="1050" b="1" dirty="0">
                          <a:solidFill>
                            <a:srgbClr val="071B3F"/>
                          </a:solidFill>
                          <a:latin typeface="Calibri" pitchFamily="34" charset="0"/>
                          <a:ea typeface="Calibri" pitchFamily="34" charset="-122"/>
                          <a:cs typeface="Calibri" pitchFamily="34" charset="-120"/>
                        </a:rPr>
                        <a:t>Integración masiva nocturna</a:t>
                      </a:r>
                      <a:endParaRPr lang="en-US" sz="1050" dirty="0">
                        <a:latin typeface="Calibri" charset="0"/>
                        <a:ea typeface="Calibri" charset="0"/>
                        <a:cs typeface="Calibri" charset="0"/>
                      </a:endParaRPr>
                    </a:p>
                  </a:txBody>
                  <a:tcPr marL="76200" marR="76200" marT="50800" marB="508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FFFFFF"/>
                    </a:solidFill>
                  </a:tcPr>
                </a:tc>
                <a:tc>
                  <a:txBody>
                    <a:bodyPr/>
                    <a:lstStyle/>
                    <a:p>
                      <a:pPr marL="0" indent="0">
                        <a:buNone/>
                      </a:pPr>
                      <a:r>
                        <a:rPr lang="en-US" sz="1050" dirty="0">
                          <a:solidFill>
                            <a:srgbClr val="1B2433"/>
                          </a:solidFill>
                          <a:latin typeface="Calibri" pitchFamily="34" charset="0"/>
                          <a:ea typeface="Calibri" pitchFamily="34" charset="-122"/>
                          <a:cs typeface="Calibri" pitchFamily="34" charset="-120"/>
                        </a:rPr>
                        <a:t>2 – 4</a:t>
                      </a:r>
                      <a:endParaRPr lang="en-US" sz="1050" dirty="0">
                        <a:latin typeface="Calibri" charset="0"/>
                        <a:ea typeface="Calibri" charset="0"/>
                        <a:cs typeface="Calibri" charset="0"/>
                      </a:endParaRPr>
                    </a:p>
                  </a:txBody>
                  <a:tcPr marL="76200" marR="76200" marT="50800" marB="508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FFFFFF"/>
                    </a:solidFill>
                  </a:tcPr>
                </a:tc>
                <a:tc>
                  <a:txBody>
                    <a:bodyPr/>
                    <a:lstStyle/>
                    <a:p>
                      <a:pPr marL="0" indent="0">
                        <a:buNone/>
                      </a:pPr>
                      <a:r>
                        <a:rPr lang="en-US" sz="1050" dirty="0">
                          <a:solidFill>
                            <a:srgbClr val="1B2433"/>
                          </a:solidFill>
                          <a:latin typeface="Calibri" pitchFamily="34" charset="0"/>
                          <a:ea typeface="Calibri" pitchFamily="34" charset="-122"/>
                          <a:cs typeface="Calibri" pitchFamily="34" charset="-120"/>
                        </a:rPr>
                        <a:t>60+ min</a:t>
                      </a:r>
                      <a:endParaRPr lang="en-US" sz="1050" dirty="0">
                        <a:latin typeface="Calibri" charset="0"/>
                        <a:ea typeface="Calibri" charset="0"/>
                        <a:cs typeface="Calibri" charset="0"/>
                      </a:endParaRPr>
                    </a:p>
                  </a:txBody>
                  <a:tcPr marL="76200" marR="76200" marT="50800" marB="508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FFFFFF"/>
                    </a:solidFill>
                  </a:tcPr>
                </a:tc>
                <a:tc>
                  <a:txBody>
                    <a:bodyPr/>
                    <a:lstStyle/>
                    <a:p>
                      <a:pPr marL="0" indent="0">
                        <a:buNone/>
                      </a:pPr>
                      <a:r>
                        <a:rPr lang="en-US" sz="1050" dirty="0">
                          <a:solidFill>
                            <a:srgbClr val="1B2433"/>
                          </a:solidFill>
                          <a:latin typeface="Calibri" pitchFamily="34" charset="0"/>
                          <a:ea typeface="Calibri" pitchFamily="34" charset="-122"/>
                          <a:cs typeface="Calibri" pitchFamily="34" charset="-120"/>
                        </a:rPr>
                        <a:t>100 – 500 con Prefer</a:t>
                      </a:r>
                      <a:endParaRPr lang="en-US" sz="1050" dirty="0">
                        <a:latin typeface="Calibri" charset="0"/>
                        <a:ea typeface="Calibri" charset="0"/>
                        <a:cs typeface="Calibri" charset="0"/>
                      </a:endParaRPr>
                    </a:p>
                  </a:txBody>
                  <a:tcPr marL="76200" marR="76200" marT="50800" marB="508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FFFFFF"/>
                    </a:solidFill>
                  </a:tcPr>
                </a:tc>
                <a:tc>
                  <a:txBody>
                    <a:bodyPr/>
                    <a:lstStyle/>
                    <a:p>
                      <a:pPr marL="0" indent="0">
                        <a:buNone/>
                      </a:pPr>
                      <a:r>
                        <a:rPr lang="en-US" sz="1050" dirty="0">
                          <a:solidFill>
                            <a:srgbClr val="1B2433"/>
                          </a:solidFill>
                          <a:latin typeface="Calibri" pitchFamily="34" charset="0"/>
                          <a:ea typeface="Calibri" pitchFamily="34" charset="-122"/>
                          <a:cs typeface="Calibri" pitchFamily="34" charset="-120"/>
                        </a:rPr>
                        <a:t>Reutilizar una sesión por proceso; $batch en lotes de 50–100.</a:t>
                      </a:r>
                      <a:endParaRPr lang="en-US" sz="1050" dirty="0">
                        <a:latin typeface="Calibri" charset="0"/>
                        <a:ea typeface="Calibri" charset="0"/>
                        <a:cs typeface="Calibri" charset="0"/>
                      </a:endParaRPr>
                    </a:p>
                  </a:txBody>
                  <a:tcPr marL="76200" marR="76200" marT="50800" marB="508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050" b="1" dirty="0">
                          <a:solidFill>
                            <a:srgbClr val="071B3F"/>
                          </a:solidFill>
                          <a:latin typeface="Calibri" pitchFamily="34" charset="0"/>
                          <a:ea typeface="Calibri" pitchFamily="34" charset="-122"/>
                          <a:cs typeface="Calibri" pitchFamily="34" charset="-120"/>
                        </a:rPr>
                        <a:t>E-commerce / apps concurrentes</a:t>
                      </a:r>
                      <a:endParaRPr lang="en-US" sz="1050" dirty="0">
                        <a:latin typeface="Calibri" charset="0"/>
                        <a:ea typeface="Calibri" charset="0"/>
                        <a:cs typeface="Calibri" charset="0"/>
                      </a:endParaRPr>
                    </a:p>
                  </a:txBody>
                  <a:tcPr marL="76200" marR="76200" marT="50800" marB="508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EEF3FA"/>
                    </a:solidFill>
                  </a:tcPr>
                </a:tc>
                <a:tc>
                  <a:txBody>
                    <a:bodyPr/>
                    <a:lstStyle/>
                    <a:p>
                      <a:pPr marL="0" indent="0">
                        <a:buNone/>
                      </a:pPr>
                      <a:r>
                        <a:rPr lang="en-US" sz="1050" dirty="0">
                          <a:solidFill>
                            <a:srgbClr val="1B2433"/>
                          </a:solidFill>
                          <a:latin typeface="Calibri" pitchFamily="34" charset="0"/>
                          <a:ea typeface="Calibri" pitchFamily="34" charset="-122"/>
                          <a:cs typeface="Calibri" pitchFamily="34" charset="-120"/>
                        </a:rPr>
                        <a:t>Según núcleos de CPU (ej. 4 – 8)</a:t>
                      </a:r>
                      <a:endParaRPr lang="en-US" sz="1050" dirty="0">
                        <a:latin typeface="Calibri" charset="0"/>
                        <a:ea typeface="Calibri" charset="0"/>
                        <a:cs typeface="Calibri" charset="0"/>
                      </a:endParaRPr>
                    </a:p>
                  </a:txBody>
                  <a:tcPr marL="76200" marR="76200" marT="50800" marB="508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EEF3FA"/>
                    </a:solidFill>
                  </a:tcPr>
                </a:tc>
                <a:tc>
                  <a:txBody>
                    <a:bodyPr/>
                    <a:lstStyle/>
                    <a:p>
                      <a:pPr marL="0" indent="0">
                        <a:buNone/>
                      </a:pPr>
                      <a:r>
                        <a:rPr lang="en-US" sz="1050" dirty="0">
                          <a:solidFill>
                            <a:srgbClr val="1B2433"/>
                          </a:solidFill>
                          <a:latin typeface="Calibri" pitchFamily="34" charset="0"/>
                          <a:ea typeface="Calibri" pitchFamily="34" charset="-122"/>
                          <a:cs typeface="Calibri" pitchFamily="34" charset="-120"/>
                        </a:rPr>
                        <a:t>15 – 30 min</a:t>
                      </a:r>
                      <a:endParaRPr lang="en-US" sz="1050" dirty="0">
                        <a:latin typeface="Calibri" charset="0"/>
                        <a:ea typeface="Calibri" charset="0"/>
                        <a:cs typeface="Calibri" charset="0"/>
                      </a:endParaRPr>
                    </a:p>
                  </a:txBody>
                  <a:tcPr marL="76200" marR="76200" marT="50800" marB="508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EEF3FA"/>
                    </a:solidFill>
                  </a:tcPr>
                </a:tc>
                <a:tc>
                  <a:txBody>
                    <a:bodyPr/>
                    <a:lstStyle/>
                    <a:p>
                      <a:pPr marL="0" indent="0">
                        <a:buNone/>
                      </a:pPr>
                      <a:r>
                        <a:rPr lang="en-US" sz="1050" dirty="0">
                          <a:solidFill>
                            <a:srgbClr val="1B2433"/>
                          </a:solidFill>
                          <a:latin typeface="Calibri" pitchFamily="34" charset="0"/>
                          <a:ea typeface="Calibri" pitchFamily="34" charset="-122"/>
                          <a:cs typeface="Calibri" pitchFamily="34" charset="-120"/>
                        </a:rPr>
                        <a:t>20 – 50</a:t>
                      </a:r>
                      <a:endParaRPr lang="en-US" sz="1050" dirty="0">
                        <a:latin typeface="Calibri" charset="0"/>
                        <a:ea typeface="Calibri" charset="0"/>
                        <a:cs typeface="Calibri" charset="0"/>
                      </a:endParaRPr>
                    </a:p>
                  </a:txBody>
                  <a:tcPr marL="76200" marR="76200" marT="50800" marB="508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EEF3FA"/>
                    </a:solidFill>
                  </a:tcPr>
                </a:tc>
                <a:tc>
                  <a:txBody>
                    <a:bodyPr/>
                    <a:lstStyle/>
                    <a:p>
                      <a:pPr marL="0" indent="0">
                        <a:buNone/>
                      </a:pPr>
                      <a:r>
                        <a:rPr lang="en-US" sz="1050" dirty="0">
                          <a:solidFill>
                            <a:srgbClr val="1B2433"/>
                          </a:solidFill>
                          <a:latin typeface="Calibri" pitchFamily="34" charset="0"/>
                          <a:ea typeface="Calibri" pitchFamily="34" charset="-122"/>
                          <a:cs typeface="Calibri" pitchFamily="34" charset="-120"/>
                        </a:rPr>
                        <a:t>Pool de sesiones, cluster con 2+ servidores, monitoreo.</a:t>
                      </a:r>
                      <a:endParaRPr lang="en-US" sz="1050" dirty="0">
                        <a:latin typeface="Calibri" charset="0"/>
                        <a:ea typeface="Calibri" charset="0"/>
                        <a:cs typeface="Calibri" charset="0"/>
                      </a:endParaRPr>
                    </a:p>
                  </a:txBody>
                  <a:tcPr marL="76200" marR="76200" marT="50800" marB="508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EEF3FA"/>
                    </a:solidFill>
                  </a:tcPr>
                </a:tc>
                <a:extLst>
                  <a:ext uri="{0D108BD9-81ED-4DB2-BD59-A6C34878D82A}">
                    <a16:rowId xmlns:a16="http://schemas.microsoft.com/office/drawing/2014/main" val="10003"/>
                  </a:ext>
                </a:extLst>
              </a:tr>
              <a:tr h="475488">
                <a:tc>
                  <a:txBody>
                    <a:bodyPr/>
                    <a:lstStyle/>
                    <a:p>
                      <a:pPr marL="0" indent="0">
                        <a:buNone/>
                      </a:pPr>
                      <a:r>
                        <a:rPr lang="en-US" sz="1050" b="1" dirty="0">
                          <a:solidFill>
                            <a:srgbClr val="071B3F"/>
                          </a:solidFill>
                          <a:latin typeface="Calibri" pitchFamily="34" charset="0"/>
                          <a:ea typeface="Calibri" pitchFamily="34" charset="-122"/>
                          <a:cs typeface="Calibri" pitchFamily="34" charset="-120"/>
                        </a:rPr>
                        <a:t>Add-ons con SSO</a:t>
                      </a:r>
                      <a:endParaRPr lang="en-US" sz="1050" dirty="0">
                        <a:latin typeface="Calibri" charset="0"/>
                        <a:ea typeface="Calibri" charset="0"/>
                        <a:cs typeface="Calibri" charset="0"/>
                      </a:endParaRPr>
                    </a:p>
                  </a:txBody>
                  <a:tcPr marL="76200" marR="76200" marT="50800" marB="508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FFFFFF"/>
                    </a:solidFill>
                  </a:tcPr>
                </a:tc>
                <a:tc>
                  <a:txBody>
                    <a:bodyPr/>
                    <a:lstStyle/>
                    <a:p>
                      <a:pPr marL="0" indent="0">
                        <a:buNone/>
                      </a:pPr>
                      <a:r>
                        <a:rPr lang="en-US" sz="1050" dirty="0">
                          <a:solidFill>
                            <a:srgbClr val="1B2433"/>
                          </a:solidFill>
                          <a:latin typeface="Calibri" pitchFamily="34" charset="0"/>
                          <a:ea typeface="Calibri" pitchFamily="34" charset="-122"/>
                          <a:cs typeface="Calibri" pitchFamily="34" charset="-120"/>
                        </a:rPr>
                        <a:t>2 – 4</a:t>
                      </a:r>
                      <a:endParaRPr lang="en-US" sz="1050" dirty="0">
                        <a:latin typeface="Calibri" charset="0"/>
                        <a:ea typeface="Calibri" charset="0"/>
                        <a:cs typeface="Calibri" charset="0"/>
                      </a:endParaRPr>
                    </a:p>
                  </a:txBody>
                  <a:tcPr marL="76200" marR="76200" marT="50800" marB="508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FFFFFF"/>
                    </a:solidFill>
                  </a:tcPr>
                </a:tc>
                <a:tc>
                  <a:txBody>
                    <a:bodyPr/>
                    <a:lstStyle/>
                    <a:p>
                      <a:pPr marL="0" indent="0">
                        <a:buNone/>
                      </a:pPr>
                      <a:r>
                        <a:rPr lang="en-US" sz="1050" dirty="0">
                          <a:solidFill>
                            <a:srgbClr val="1B2433"/>
                          </a:solidFill>
                          <a:latin typeface="Calibri" pitchFamily="34" charset="0"/>
                          <a:ea typeface="Calibri" pitchFamily="34" charset="-122"/>
                          <a:cs typeface="Calibri" pitchFamily="34" charset="-120"/>
                        </a:rPr>
                        <a:t>Igual al cliente B1</a:t>
                      </a:r>
                      <a:endParaRPr lang="en-US" sz="1050" dirty="0">
                        <a:latin typeface="Calibri" charset="0"/>
                        <a:ea typeface="Calibri" charset="0"/>
                        <a:cs typeface="Calibri" charset="0"/>
                      </a:endParaRPr>
                    </a:p>
                  </a:txBody>
                  <a:tcPr marL="76200" marR="76200" marT="50800" marB="508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FFFFFF"/>
                    </a:solidFill>
                  </a:tcPr>
                </a:tc>
                <a:tc>
                  <a:txBody>
                    <a:bodyPr/>
                    <a:lstStyle/>
                    <a:p>
                      <a:pPr marL="0" indent="0">
                        <a:buNone/>
                      </a:pPr>
                      <a:r>
                        <a:rPr lang="en-US" sz="1050" dirty="0">
                          <a:solidFill>
                            <a:srgbClr val="1B2433"/>
                          </a:solidFill>
                          <a:latin typeface="Calibri" pitchFamily="34" charset="0"/>
                          <a:ea typeface="Calibri" pitchFamily="34" charset="-122"/>
                          <a:cs typeface="Calibri" pitchFamily="34" charset="-120"/>
                        </a:rPr>
                        <a:t>20 – 50</a:t>
                      </a:r>
                      <a:endParaRPr lang="en-US" sz="1050" dirty="0">
                        <a:latin typeface="Calibri" charset="0"/>
                        <a:ea typeface="Calibri" charset="0"/>
                        <a:cs typeface="Calibri" charset="0"/>
                      </a:endParaRPr>
                    </a:p>
                  </a:txBody>
                  <a:tcPr marL="76200" marR="76200" marT="50800" marB="508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FFFFFF"/>
                    </a:solidFill>
                  </a:tcPr>
                </a:tc>
                <a:tc>
                  <a:txBody>
                    <a:bodyPr/>
                    <a:lstStyle/>
                    <a:p>
                      <a:pPr marL="0" indent="0">
                        <a:buNone/>
                      </a:pPr>
                      <a:r>
                        <a:rPr lang="en-US" sz="1050" dirty="0">
                          <a:solidFill>
                            <a:srgbClr val="1B2433"/>
                          </a:solidFill>
                          <a:latin typeface="Calibri" pitchFamily="34" charset="0"/>
                          <a:ea typeface="Calibri" pitchFamily="34" charset="-122"/>
                          <a:cs typeface="Calibri" pitchFamily="34" charset="-120"/>
                        </a:rPr>
                        <a:t>Una sesión por usuario; respeta autorizaciones.</a:t>
                      </a:r>
                      <a:endParaRPr lang="en-US" sz="1050" dirty="0">
                        <a:latin typeface="Calibri" charset="0"/>
                        <a:ea typeface="Calibri" charset="0"/>
                        <a:cs typeface="Calibri" charset="0"/>
                      </a:endParaRPr>
                    </a:p>
                  </a:txBody>
                  <a:tcPr marL="76200" marR="76200" marT="50800" marB="508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Shape 5"/>
          <p:cNvSpPr/>
          <p:nvPr/>
        </p:nvSpPr>
        <p:spPr>
          <a:xfrm>
            <a:off x="457200" y="3977640"/>
            <a:ext cx="8229600" cy="731520"/>
          </a:xfrm>
          <a:prstGeom prst="roundRect">
            <a:avLst>
              <a:gd name="adj" fmla="val 10000"/>
            </a:avLst>
          </a:prstGeom>
          <a:solidFill>
            <a:srgbClr val="FFF8E6"/>
          </a:solidFill>
          <a:ln w="9525">
            <a:solidFill>
              <a:srgbClr val="D5DFEC"/>
            </a:solidFill>
            <a:prstDash val="solid"/>
          </a:ln>
          <a:effectLst>
            <a:outerShdw blurRad="101600" dist="25400" dir="5400000" algn="bl" rotWithShape="0">
              <a:srgbClr val="0B2A55">
                <a:alpha val="12000"/>
              </a:srgbClr>
            </a:outerShdw>
          </a:effectLst>
        </p:spPr>
      </p:sp>
      <p:sp>
        <p:nvSpPr>
          <p:cNvPr id="9" name="Shape 6"/>
          <p:cNvSpPr/>
          <p:nvPr/>
        </p:nvSpPr>
        <p:spPr>
          <a:xfrm>
            <a:off x="621792" y="4105656"/>
            <a:ext cx="457200" cy="457200"/>
          </a:xfrm>
          <a:prstGeom prst="ellipse">
            <a:avLst/>
          </a:prstGeom>
          <a:solidFill>
            <a:srgbClr val="F5A800"/>
          </a:solidFill>
          <a:ln w="12700">
            <a:solidFill>
              <a:srgbClr val="F5A800"/>
            </a:solidFill>
            <a:prstDash val="solid"/>
          </a:ln>
        </p:spPr>
      </p:sp>
      <p:pic>
        <p:nvPicPr>
          <p:cNvPr id="10" name="Image 0" descr="preencoded.png"/>
          <p:cNvPicPr>
            <a:picLocks noChangeAspect="1"/>
          </p:cNvPicPr>
          <p:nvPr/>
        </p:nvPicPr>
        <p:blipFill>
          <a:blip r:embed="rId3"/>
          <a:stretch>
            <a:fillRect/>
          </a:stretch>
        </p:blipFill>
        <p:spPr>
          <a:xfrm>
            <a:off x="740664" y="4224528"/>
            <a:ext cx="219456" cy="219456"/>
          </a:xfrm>
          <a:prstGeom prst="rect">
            <a:avLst/>
          </a:prstGeom>
        </p:spPr>
      </p:pic>
      <p:sp>
        <p:nvSpPr>
          <p:cNvPr id="11" name="Text 7"/>
          <p:cNvSpPr txBox="1"/>
          <p:nvPr/>
        </p:nvSpPr>
        <p:spPr>
          <a:xfrm>
            <a:off x="1234440" y="4023360"/>
            <a:ext cx="7315200" cy="640080"/>
          </a:xfrm>
          <a:prstGeom prst="rect">
            <a:avLst/>
          </a:prstGeom>
          <a:noFill/>
          <a:ln/>
        </p:spPr>
        <p:txBody>
          <a:bodyPr wrap="square" lIns="0" tIns="0" rIns="0" bIns="0" rtlCol="0" anchor="ctr"/>
          <a:lstStyle/>
          <a:p>
            <a:pPr marL="0" indent="0">
              <a:buNone/>
            </a:pPr>
            <a:r>
              <a:rPr lang="en-US" sz="1050" b="1" dirty="0">
                <a:solidFill>
                  <a:srgbClr val="071B3F"/>
                </a:solidFill>
                <a:latin typeface="Calibri" pitchFamily="34" charset="0"/>
                <a:ea typeface="Calibri" pitchFamily="34" charset="-122"/>
                <a:cs typeface="Calibri" pitchFamily="34" charset="-120"/>
              </a:rPr>
              <a:t>¿Dónde se ajusta? </a:t>
            </a:r>
            <a:r>
              <a:rPr lang="en-US" sz="1050" dirty="0">
                <a:solidFill>
                  <a:srgbClr val="1B2433"/>
                </a:solidFill>
                <a:latin typeface="Calibri" pitchFamily="34" charset="0"/>
                <a:ea typeface="Calibri" pitchFamily="34" charset="-122"/>
                <a:cs typeface="Calibri" pitchFamily="34" charset="-120"/>
              </a:rPr>
              <a:t>Service Layer Control Center / archivo </a:t>
            </a:r>
            <a:r>
              <a:rPr lang="en-US" sz="1050" dirty="0">
                <a:solidFill>
                  <a:srgbClr val="0B4DA2"/>
                </a:solidFill>
                <a:latin typeface="Consolas" pitchFamily="34" charset="0"/>
                <a:ea typeface="Consolas" pitchFamily="34" charset="-122"/>
                <a:cs typeface="Consolas" pitchFamily="34" charset="-120"/>
              </a:rPr>
              <a:t>b1s.conf</a:t>
            </a:r>
            <a:r>
              <a:rPr lang="en-US" sz="1050" dirty="0">
                <a:solidFill>
                  <a:srgbClr val="1B2433"/>
                </a:solidFill>
                <a:latin typeface="Calibri" pitchFamily="34" charset="0"/>
                <a:ea typeface="Calibri" pitchFamily="34" charset="-122"/>
                <a:cs typeface="Calibri" pitchFamily="34" charset="-120"/>
              </a:rPr>
              <a:t> (SessionTimeout, PageSize, CORS, LogLevel) y la configuración del balanceador para los nodos. Por petición: header </a:t>
            </a:r>
            <a:r>
              <a:rPr lang="en-US" sz="1050" dirty="0">
                <a:solidFill>
                  <a:srgbClr val="0B4DA2"/>
                </a:solidFill>
                <a:latin typeface="Consolas" pitchFamily="34" charset="0"/>
                <a:ea typeface="Consolas" pitchFamily="34" charset="-122"/>
                <a:cs typeface="Consolas" pitchFamily="34" charset="-120"/>
              </a:rPr>
              <a:t>Prefer: odata.maxpagesize=100</a:t>
            </a:r>
            <a:r>
              <a:rPr lang="en-US" sz="1050" dirty="0">
                <a:solidFill>
                  <a:srgbClr val="1B2433"/>
                </a:solidFill>
                <a:latin typeface="Calibri" pitchFamily="34" charset="0"/>
                <a:ea typeface="Calibri" pitchFamily="34" charset="-122"/>
                <a:cs typeface="Calibri" pitchFamily="34" charset="-120"/>
              </a:rPr>
              <a:t>.</a:t>
            </a:r>
            <a:endParaRPr lang="en-US" sz="1050" dirty="0"/>
          </a:p>
        </p:txBody>
      </p:sp>
      <p:sp>
        <p:nvSpPr>
          <p:cNvPr id="25"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xmlns="" val="0"/>
            </a:ext>
          </a:extLst>
        </p:spPr>
        <p:txBody>
          <a:bodyPr/>
          <a:lstStyle>
            <a:lvl1pPr>
              <a:defRPr sz="800">
                <a:solidFill>
                  <a:srgbClr val="8A9AB0"/>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457200" y="256032"/>
            <a:ext cx="1720901" cy="237744"/>
          </a:xfrm>
          <a:prstGeom prst="roundRect">
            <a:avLst>
              <a:gd name="adj" fmla="val 50000"/>
            </a:avLst>
          </a:prstGeom>
          <a:solidFill>
            <a:srgbClr val="071B3F"/>
          </a:solidFill>
          <a:ln w="12700">
            <a:solidFill>
              <a:srgbClr val="071B3F"/>
            </a:solidFill>
            <a:prstDash val="solid"/>
          </a:ln>
        </p:spPr>
      </p:sp>
      <p:sp>
        <p:nvSpPr>
          <p:cNvPr id="3" name="Text 1"/>
          <p:cNvSpPr txBox="1"/>
          <p:nvPr/>
        </p:nvSpPr>
        <p:spPr>
          <a:xfrm>
            <a:off x="457200" y="256032"/>
            <a:ext cx="1720901" cy="237744"/>
          </a:xfrm>
          <a:prstGeom prst="rect">
            <a:avLst/>
          </a:prstGeom>
          <a:noFill/>
          <a:ln/>
        </p:spPr>
        <p:txBody>
          <a:bodyPr wrap="square" lIns="0" tIns="0" rIns="0" bIns="0" rtlCol="0" anchor="ctr"/>
          <a:lstStyle/>
          <a:p>
            <a:pPr marL="0" indent="0" algn="ctr">
              <a:buNone/>
            </a:pPr>
            <a:r>
              <a:rPr lang="en-US" sz="850" b="1" kern="0" spc="100" dirty="0">
                <a:solidFill>
                  <a:srgbClr val="F5A800"/>
                </a:solidFill>
                <a:latin typeface="Segoe UI" pitchFamily="34" charset="0"/>
                <a:ea typeface="Segoe UI" pitchFamily="34" charset="-122"/>
                <a:cs typeface="Segoe UI" pitchFamily="34" charset="-120"/>
              </a:rPr>
              <a:t>02  ·  ARQUITECTURA</a:t>
            </a:r>
            <a:endParaRPr lang="en-US" sz="850" dirty="0"/>
          </a:p>
        </p:txBody>
      </p:sp>
      <p:sp>
        <p:nvSpPr>
          <p:cNvPr id="4" name="Text 2"/>
          <p:cNvSpPr txBox="1"/>
          <p:nvPr/>
        </p:nvSpPr>
        <p:spPr>
          <a:xfrm>
            <a:off x="457200" y="566928"/>
            <a:ext cx="8229600" cy="502920"/>
          </a:xfrm>
          <a:prstGeom prst="rect">
            <a:avLst/>
          </a:prstGeom>
          <a:noFill/>
          <a:ln/>
        </p:spPr>
        <p:txBody>
          <a:bodyPr wrap="square" lIns="0" tIns="0" rIns="0" bIns="0" rtlCol="0" anchor="ctr"/>
          <a:lstStyle/>
          <a:p>
            <a:pPr marL="0" indent="0">
              <a:buNone/>
            </a:pPr>
            <a:r>
              <a:rPr lang="en-US" sz="2400" b="1" dirty="0">
                <a:solidFill>
                  <a:srgbClr val="071B3F"/>
                </a:solidFill>
                <a:latin typeface="Segoe UI" pitchFamily="34" charset="0"/>
                <a:ea typeface="Segoe UI" pitchFamily="34" charset="-122"/>
                <a:cs typeface="Segoe UI" pitchFamily="34" charset="-120"/>
              </a:rPr>
              <a:t>Tips para mejorar el performance</a:t>
            </a:r>
            <a:endParaRPr lang="en-US" sz="2400" dirty="0"/>
          </a:p>
        </p:txBody>
      </p:sp>
      <p:sp>
        <p:nvSpPr>
          <p:cNvPr id="5" name="Text 3"/>
          <p:cNvSpPr txBox="1"/>
          <p:nvPr/>
        </p:nvSpPr>
        <p:spPr>
          <a:xfrm>
            <a:off x="457200" y="1051560"/>
            <a:ext cx="8229600" cy="274320"/>
          </a:xfrm>
          <a:prstGeom prst="rect">
            <a:avLst/>
          </a:prstGeom>
          <a:noFill/>
          <a:ln/>
        </p:spPr>
        <p:txBody>
          <a:bodyPr wrap="square" lIns="0" tIns="0" rIns="0" bIns="0" rtlCol="0" anchor="ctr"/>
          <a:lstStyle/>
          <a:p>
            <a:pPr marL="0" indent="0">
              <a:buNone/>
            </a:pPr>
            <a:r>
              <a:rPr lang="en-US" sz="1250" dirty="0">
                <a:solidFill>
                  <a:srgbClr val="5B6B82"/>
                </a:solidFill>
                <a:latin typeface="Calibri" pitchFamily="34" charset="0"/>
                <a:ea typeface="Calibri" pitchFamily="34" charset="-122"/>
                <a:cs typeface="Calibri" pitchFamily="34" charset="-120"/>
              </a:rPr>
              <a:t>Pequeños hábitos en el cliente que se notan en el servidor</a:t>
            </a:r>
            <a:endParaRPr lang="en-US" sz="1250" dirty="0"/>
          </a:p>
        </p:txBody>
      </p:sp>
      <p:sp>
        <p:nvSpPr>
          <p:cNvPr id="6" name="Text 4"/>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00" dirty="0">
                <a:solidFill>
                  <a:srgbClr val="8A9AB0"/>
                </a:solidFill>
                <a:latin typeface="Calibri" pitchFamily="34" charset="0"/>
                <a:ea typeface="Calibri" pitchFamily="34" charset="-122"/>
                <a:cs typeface="Calibri" pitchFamily="34" charset="-120"/>
              </a:rPr>
              <a:t>Ventura Soluciones  |  SAP Business One · Service Layer</a:t>
            </a:r>
            <a:endParaRPr lang="en-US" sz="800" dirty="0"/>
          </a:p>
        </p:txBody>
      </p:sp>
      <p:sp>
        <p:nvSpPr>
          <p:cNvPr id="7" name="Shape 5"/>
          <p:cNvSpPr/>
          <p:nvPr/>
        </p:nvSpPr>
        <p:spPr>
          <a:xfrm>
            <a:off x="457200" y="1417320"/>
            <a:ext cx="4069080" cy="713232"/>
          </a:xfrm>
          <a:prstGeom prst="roundRect">
            <a:avLst>
              <a:gd name="adj" fmla="val 10256"/>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8" name="Shape 6"/>
          <p:cNvSpPr/>
          <p:nvPr/>
        </p:nvSpPr>
        <p:spPr>
          <a:xfrm>
            <a:off x="594360" y="1554480"/>
            <a:ext cx="438912" cy="438912"/>
          </a:xfrm>
          <a:prstGeom prst="ellipse">
            <a:avLst/>
          </a:prstGeom>
          <a:solidFill>
            <a:srgbClr val="F5A800"/>
          </a:solidFill>
          <a:ln w="12700">
            <a:solidFill>
              <a:srgbClr val="F5A800"/>
            </a:solidFill>
            <a:prstDash val="solid"/>
          </a:ln>
        </p:spPr>
      </p:sp>
      <p:pic>
        <p:nvPicPr>
          <p:cNvPr id="9" name="Image 0" descr="preencoded.png"/>
          <p:cNvPicPr>
            <a:picLocks noChangeAspect="1"/>
          </p:cNvPicPr>
          <p:nvPr/>
        </p:nvPicPr>
        <p:blipFill>
          <a:blip r:embed="rId3"/>
          <a:stretch>
            <a:fillRect/>
          </a:stretch>
        </p:blipFill>
        <p:spPr>
          <a:xfrm>
            <a:off x="708477" y="1668597"/>
            <a:ext cx="210678" cy="210678"/>
          </a:xfrm>
          <a:prstGeom prst="rect">
            <a:avLst/>
          </a:prstGeom>
        </p:spPr>
      </p:pic>
      <p:sp>
        <p:nvSpPr>
          <p:cNvPr id="10" name="Text 7"/>
          <p:cNvSpPr txBox="1"/>
          <p:nvPr/>
        </p:nvSpPr>
        <p:spPr>
          <a:xfrm>
            <a:off x="1170432" y="1490472"/>
            <a:ext cx="3246120" cy="237744"/>
          </a:xfrm>
          <a:prstGeom prst="rect">
            <a:avLst/>
          </a:prstGeom>
          <a:noFill/>
          <a:ln/>
        </p:spPr>
        <p:txBody>
          <a:bodyPr wrap="square" lIns="0" tIns="0" rIns="0" bIns="0" rtlCol="0" anchor="t"/>
          <a:lstStyle/>
          <a:p>
            <a:pPr marL="0" indent="0">
              <a:buNone/>
            </a:pPr>
            <a:r>
              <a:rPr lang="en-US" sz="1150" b="1" dirty="0">
                <a:solidFill>
                  <a:srgbClr val="071B3F"/>
                </a:solidFill>
                <a:latin typeface="Segoe UI" pitchFamily="34" charset="0"/>
                <a:ea typeface="Segoe UI" pitchFamily="34" charset="-122"/>
                <a:cs typeface="Segoe UI" pitchFamily="34" charset="-120"/>
              </a:rPr>
              <a:t>$select siempre</a:t>
            </a:r>
            <a:endParaRPr lang="en-US" sz="1150" dirty="0"/>
          </a:p>
        </p:txBody>
      </p:sp>
      <p:sp>
        <p:nvSpPr>
          <p:cNvPr id="11" name="Text 8"/>
          <p:cNvSpPr txBox="1"/>
          <p:nvPr/>
        </p:nvSpPr>
        <p:spPr>
          <a:xfrm>
            <a:off x="1170432" y="1728216"/>
            <a:ext cx="3291840" cy="384048"/>
          </a:xfrm>
          <a:prstGeom prst="rect">
            <a:avLst/>
          </a:prstGeom>
          <a:noFill/>
          <a:ln/>
        </p:spPr>
        <p:txBody>
          <a:bodyPr wrap="square" lIns="0" tIns="0" rIns="0" bIns="0" rtlCol="0" anchor="t"/>
          <a:lstStyle/>
          <a:p>
            <a:pPr marL="0" indent="0">
              <a:buNone/>
            </a:pPr>
            <a:r>
              <a:rPr lang="en-US" sz="980" dirty="0">
                <a:solidFill>
                  <a:srgbClr val="5B6B82"/>
                </a:solidFill>
                <a:latin typeface="Calibri" pitchFamily="34" charset="0"/>
                <a:ea typeface="Calibri" pitchFamily="34" charset="-122"/>
                <a:cs typeface="Calibri" pitchFamily="34" charset="-120"/>
              </a:rPr>
              <a:t>Pide solo los campos que usas; un documento completo puede pesar decenas de KB.</a:t>
            </a:r>
            <a:endParaRPr lang="en-US" sz="980" dirty="0"/>
          </a:p>
        </p:txBody>
      </p:sp>
      <p:sp>
        <p:nvSpPr>
          <p:cNvPr id="12" name="Shape 9"/>
          <p:cNvSpPr/>
          <p:nvPr/>
        </p:nvSpPr>
        <p:spPr>
          <a:xfrm>
            <a:off x="4617720" y="1417320"/>
            <a:ext cx="4069080" cy="713232"/>
          </a:xfrm>
          <a:prstGeom prst="roundRect">
            <a:avLst>
              <a:gd name="adj" fmla="val 10256"/>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13" name="Shape 10"/>
          <p:cNvSpPr/>
          <p:nvPr/>
        </p:nvSpPr>
        <p:spPr>
          <a:xfrm>
            <a:off x="4754880" y="1554480"/>
            <a:ext cx="438912" cy="438912"/>
          </a:xfrm>
          <a:prstGeom prst="ellipse">
            <a:avLst/>
          </a:prstGeom>
          <a:solidFill>
            <a:srgbClr val="0B4DA2"/>
          </a:solidFill>
          <a:ln w="12700">
            <a:solidFill>
              <a:srgbClr val="0B4DA2"/>
            </a:solidFill>
            <a:prstDash val="solid"/>
          </a:ln>
        </p:spPr>
      </p:sp>
      <p:pic>
        <p:nvPicPr>
          <p:cNvPr id="14" name="Image 1" descr="preencoded.png"/>
          <p:cNvPicPr>
            <a:picLocks noChangeAspect="1"/>
          </p:cNvPicPr>
          <p:nvPr/>
        </p:nvPicPr>
        <p:blipFill>
          <a:blip r:embed="rId4"/>
          <a:stretch>
            <a:fillRect/>
          </a:stretch>
        </p:blipFill>
        <p:spPr>
          <a:xfrm>
            <a:off x="4868997" y="1668597"/>
            <a:ext cx="210678" cy="210678"/>
          </a:xfrm>
          <a:prstGeom prst="rect">
            <a:avLst/>
          </a:prstGeom>
        </p:spPr>
      </p:pic>
      <p:sp>
        <p:nvSpPr>
          <p:cNvPr id="15" name="Text 11"/>
          <p:cNvSpPr txBox="1"/>
          <p:nvPr/>
        </p:nvSpPr>
        <p:spPr>
          <a:xfrm>
            <a:off x="5330952" y="1490472"/>
            <a:ext cx="3246120" cy="237744"/>
          </a:xfrm>
          <a:prstGeom prst="rect">
            <a:avLst/>
          </a:prstGeom>
          <a:noFill/>
          <a:ln/>
        </p:spPr>
        <p:txBody>
          <a:bodyPr wrap="square" lIns="0" tIns="0" rIns="0" bIns="0" rtlCol="0" anchor="t"/>
          <a:lstStyle/>
          <a:p>
            <a:pPr marL="0" indent="0">
              <a:buNone/>
            </a:pPr>
            <a:r>
              <a:rPr lang="en-US" sz="1150" b="1" dirty="0">
                <a:solidFill>
                  <a:srgbClr val="071B3F"/>
                </a:solidFill>
                <a:latin typeface="Segoe UI" pitchFamily="34" charset="0"/>
                <a:ea typeface="Segoe UI" pitchFamily="34" charset="-122"/>
                <a:cs typeface="Segoe UI" pitchFamily="34" charset="-120"/>
              </a:rPr>
              <a:t>Paginación controlada</a:t>
            </a:r>
            <a:endParaRPr lang="en-US" sz="1150" dirty="0"/>
          </a:p>
        </p:txBody>
      </p:sp>
      <p:sp>
        <p:nvSpPr>
          <p:cNvPr id="16" name="Text 12"/>
          <p:cNvSpPr txBox="1"/>
          <p:nvPr/>
        </p:nvSpPr>
        <p:spPr>
          <a:xfrm>
            <a:off x="5330952" y="1728216"/>
            <a:ext cx="3291840" cy="384048"/>
          </a:xfrm>
          <a:prstGeom prst="rect">
            <a:avLst/>
          </a:prstGeom>
          <a:noFill/>
          <a:ln/>
        </p:spPr>
        <p:txBody>
          <a:bodyPr wrap="square" lIns="0" tIns="0" rIns="0" bIns="0" rtlCol="0" anchor="t"/>
          <a:lstStyle/>
          <a:p>
            <a:pPr marL="0" indent="0">
              <a:buNone/>
            </a:pPr>
            <a:r>
              <a:rPr lang="en-US" sz="980" dirty="0">
                <a:solidFill>
                  <a:srgbClr val="5B6B82"/>
                </a:solidFill>
                <a:latin typeface="Calibri" pitchFamily="34" charset="0"/>
                <a:ea typeface="Calibri" pitchFamily="34" charset="-122"/>
                <a:cs typeface="Calibri" pitchFamily="34" charset="-120"/>
              </a:rPr>
              <a:t>Prefer: odata.maxpagesize=N y sigue odata.nextLink en lugar de traer todo.</a:t>
            </a:r>
            <a:endParaRPr lang="en-US" sz="980" dirty="0"/>
          </a:p>
        </p:txBody>
      </p:sp>
      <p:sp>
        <p:nvSpPr>
          <p:cNvPr id="17" name="Shape 13"/>
          <p:cNvSpPr/>
          <p:nvPr/>
        </p:nvSpPr>
        <p:spPr>
          <a:xfrm>
            <a:off x="457200" y="2240280"/>
            <a:ext cx="4069080" cy="713232"/>
          </a:xfrm>
          <a:prstGeom prst="roundRect">
            <a:avLst>
              <a:gd name="adj" fmla="val 10256"/>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18" name="Shape 14"/>
          <p:cNvSpPr/>
          <p:nvPr/>
        </p:nvSpPr>
        <p:spPr>
          <a:xfrm>
            <a:off x="594360" y="2377440"/>
            <a:ext cx="438912" cy="438912"/>
          </a:xfrm>
          <a:prstGeom prst="ellipse">
            <a:avLst/>
          </a:prstGeom>
          <a:solidFill>
            <a:srgbClr val="0B4DA2"/>
          </a:solidFill>
          <a:ln w="12700">
            <a:solidFill>
              <a:srgbClr val="0B4DA2"/>
            </a:solidFill>
            <a:prstDash val="solid"/>
          </a:ln>
        </p:spPr>
      </p:sp>
      <p:pic>
        <p:nvPicPr>
          <p:cNvPr id="19" name="Image 2" descr="preencoded.png"/>
          <p:cNvPicPr>
            <a:picLocks noChangeAspect="1"/>
          </p:cNvPicPr>
          <p:nvPr/>
        </p:nvPicPr>
        <p:blipFill>
          <a:blip r:embed="rId5"/>
          <a:stretch>
            <a:fillRect/>
          </a:stretch>
        </p:blipFill>
        <p:spPr>
          <a:xfrm>
            <a:off x="708477" y="2491557"/>
            <a:ext cx="210678" cy="210678"/>
          </a:xfrm>
          <a:prstGeom prst="rect">
            <a:avLst/>
          </a:prstGeom>
        </p:spPr>
      </p:pic>
      <p:sp>
        <p:nvSpPr>
          <p:cNvPr id="20" name="Text 15"/>
          <p:cNvSpPr txBox="1"/>
          <p:nvPr/>
        </p:nvSpPr>
        <p:spPr>
          <a:xfrm>
            <a:off x="1170432" y="2313432"/>
            <a:ext cx="3246120" cy="237744"/>
          </a:xfrm>
          <a:prstGeom prst="rect">
            <a:avLst/>
          </a:prstGeom>
          <a:noFill/>
          <a:ln/>
        </p:spPr>
        <p:txBody>
          <a:bodyPr wrap="square" lIns="0" tIns="0" rIns="0" bIns="0" rtlCol="0" anchor="t"/>
          <a:lstStyle/>
          <a:p>
            <a:pPr marL="0" indent="0">
              <a:buNone/>
            </a:pPr>
            <a:r>
              <a:rPr lang="en-US" sz="1150" b="1" dirty="0">
                <a:solidFill>
                  <a:srgbClr val="071B3F"/>
                </a:solidFill>
                <a:latin typeface="Segoe UI" pitchFamily="34" charset="0"/>
                <a:ea typeface="Segoe UI" pitchFamily="34" charset="-122"/>
                <a:cs typeface="Segoe UI" pitchFamily="34" charset="-120"/>
              </a:rPr>
              <a:t>Reutiliza la sesión</a:t>
            </a:r>
            <a:endParaRPr lang="en-US" sz="1150" dirty="0"/>
          </a:p>
        </p:txBody>
      </p:sp>
      <p:sp>
        <p:nvSpPr>
          <p:cNvPr id="21" name="Text 16"/>
          <p:cNvSpPr txBox="1"/>
          <p:nvPr/>
        </p:nvSpPr>
        <p:spPr>
          <a:xfrm>
            <a:off x="1170432" y="2551176"/>
            <a:ext cx="3291840" cy="384048"/>
          </a:xfrm>
          <a:prstGeom prst="rect">
            <a:avLst/>
          </a:prstGeom>
          <a:noFill/>
          <a:ln/>
        </p:spPr>
        <p:txBody>
          <a:bodyPr wrap="square" lIns="0" tIns="0" rIns="0" bIns="0" rtlCol="0" anchor="t"/>
          <a:lstStyle/>
          <a:p>
            <a:pPr marL="0" indent="0">
              <a:buNone/>
            </a:pPr>
            <a:r>
              <a:rPr lang="en-US" sz="980" dirty="0">
                <a:solidFill>
                  <a:srgbClr val="5B6B82"/>
                </a:solidFill>
                <a:latin typeface="Calibri" pitchFamily="34" charset="0"/>
                <a:ea typeface="Calibri" pitchFamily="34" charset="-122"/>
                <a:cs typeface="Calibri" pitchFamily="34" charset="-120"/>
              </a:rPr>
              <a:t>Un login por proceso/usuario, no por petición: cada login cuesta tiempo y licencia.</a:t>
            </a:r>
            <a:endParaRPr lang="en-US" sz="980" dirty="0"/>
          </a:p>
        </p:txBody>
      </p:sp>
      <p:sp>
        <p:nvSpPr>
          <p:cNvPr id="22" name="Shape 17"/>
          <p:cNvSpPr/>
          <p:nvPr/>
        </p:nvSpPr>
        <p:spPr>
          <a:xfrm>
            <a:off x="4617720" y="2240280"/>
            <a:ext cx="4069080" cy="713232"/>
          </a:xfrm>
          <a:prstGeom prst="roundRect">
            <a:avLst>
              <a:gd name="adj" fmla="val 10256"/>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23" name="Shape 18"/>
          <p:cNvSpPr/>
          <p:nvPr/>
        </p:nvSpPr>
        <p:spPr>
          <a:xfrm>
            <a:off x="4754880" y="2377440"/>
            <a:ext cx="438912" cy="438912"/>
          </a:xfrm>
          <a:prstGeom prst="ellipse">
            <a:avLst/>
          </a:prstGeom>
          <a:solidFill>
            <a:srgbClr val="F5A800"/>
          </a:solidFill>
          <a:ln w="12700">
            <a:solidFill>
              <a:srgbClr val="F5A800"/>
            </a:solidFill>
            <a:prstDash val="solid"/>
          </a:ln>
        </p:spPr>
      </p:sp>
      <p:pic>
        <p:nvPicPr>
          <p:cNvPr id="24" name="Image 3" descr="preencoded.png"/>
          <p:cNvPicPr>
            <a:picLocks noChangeAspect="1"/>
          </p:cNvPicPr>
          <p:nvPr/>
        </p:nvPicPr>
        <p:blipFill>
          <a:blip r:embed="rId6"/>
          <a:stretch>
            <a:fillRect/>
          </a:stretch>
        </p:blipFill>
        <p:spPr>
          <a:xfrm>
            <a:off x="4868997" y="2491557"/>
            <a:ext cx="210678" cy="210678"/>
          </a:xfrm>
          <a:prstGeom prst="rect">
            <a:avLst/>
          </a:prstGeom>
        </p:spPr>
      </p:pic>
      <p:sp>
        <p:nvSpPr>
          <p:cNvPr id="25" name="Text 19"/>
          <p:cNvSpPr txBox="1"/>
          <p:nvPr/>
        </p:nvSpPr>
        <p:spPr>
          <a:xfrm>
            <a:off x="5330952" y="2313432"/>
            <a:ext cx="3246120" cy="237744"/>
          </a:xfrm>
          <a:prstGeom prst="rect">
            <a:avLst/>
          </a:prstGeom>
          <a:noFill/>
          <a:ln/>
        </p:spPr>
        <p:txBody>
          <a:bodyPr wrap="square" lIns="0" tIns="0" rIns="0" bIns="0" rtlCol="0" anchor="t"/>
          <a:lstStyle/>
          <a:p>
            <a:pPr marL="0" indent="0">
              <a:buNone/>
            </a:pPr>
            <a:r>
              <a:rPr lang="en-US" sz="1150" b="1" dirty="0">
                <a:solidFill>
                  <a:srgbClr val="071B3F"/>
                </a:solidFill>
                <a:latin typeface="Segoe UI" pitchFamily="34" charset="0"/>
                <a:ea typeface="Segoe UI" pitchFamily="34" charset="-122"/>
                <a:cs typeface="Segoe UI" pitchFamily="34" charset="-120"/>
              </a:rPr>
              <a:t>HttpClient único</a:t>
            </a:r>
            <a:endParaRPr lang="en-US" sz="1150" dirty="0"/>
          </a:p>
        </p:txBody>
      </p:sp>
      <p:sp>
        <p:nvSpPr>
          <p:cNvPr id="26" name="Text 20"/>
          <p:cNvSpPr txBox="1"/>
          <p:nvPr/>
        </p:nvSpPr>
        <p:spPr>
          <a:xfrm>
            <a:off x="5330952" y="2551176"/>
            <a:ext cx="3291840" cy="384048"/>
          </a:xfrm>
          <a:prstGeom prst="rect">
            <a:avLst/>
          </a:prstGeom>
          <a:noFill/>
          <a:ln/>
        </p:spPr>
        <p:txBody>
          <a:bodyPr wrap="square" lIns="0" tIns="0" rIns="0" bIns="0" rtlCol="0" anchor="t"/>
          <a:lstStyle/>
          <a:p>
            <a:pPr marL="0" indent="0">
              <a:buNone/>
            </a:pPr>
            <a:r>
              <a:rPr lang="en-US" sz="980" dirty="0">
                <a:solidFill>
                  <a:srgbClr val="5B6B82"/>
                </a:solidFill>
                <a:latin typeface="Calibri" pitchFamily="34" charset="0"/>
                <a:ea typeface="Calibri" pitchFamily="34" charset="-122"/>
                <a:cs typeface="Calibri" pitchFamily="34" charset="-120"/>
              </a:rPr>
              <a:t>Conexiones keep-alive y cookies B1SESSION/ROUTEID persistentes.</a:t>
            </a:r>
            <a:endParaRPr lang="en-US" sz="980" dirty="0"/>
          </a:p>
        </p:txBody>
      </p:sp>
      <p:sp>
        <p:nvSpPr>
          <p:cNvPr id="27" name="Shape 21"/>
          <p:cNvSpPr/>
          <p:nvPr/>
        </p:nvSpPr>
        <p:spPr>
          <a:xfrm>
            <a:off x="457200" y="3063240"/>
            <a:ext cx="4069080" cy="713232"/>
          </a:xfrm>
          <a:prstGeom prst="roundRect">
            <a:avLst>
              <a:gd name="adj" fmla="val 10256"/>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28" name="Shape 22"/>
          <p:cNvSpPr/>
          <p:nvPr/>
        </p:nvSpPr>
        <p:spPr>
          <a:xfrm>
            <a:off x="594360" y="3200400"/>
            <a:ext cx="438912" cy="438912"/>
          </a:xfrm>
          <a:prstGeom prst="ellipse">
            <a:avLst/>
          </a:prstGeom>
          <a:solidFill>
            <a:srgbClr val="0B4DA2"/>
          </a:solidFill>
          <a:ln w="12700">
            <a:solidFill>
              <a:srgbClr val="0B4DA2"/>
            </a:solidFill>
            <a:prstDash val="solid"/>
          </a:ln>
        </p:spPr>
      </p:sp>
      <p:pic>
        <p:nvPicPr>
          <p:cNvPr id="29" name="Image 4" descr="preencoded.png"/>
          <p:cNvPicPr>
            <a:picLocks noChangeAspect="1"/>
          </p:cNvPicPr>
          <p:nvPr/>
        </p:nvPicPr>
        <p:blipFill>
          <a:blip r:embed="rId7"/>
          <a:stretch>
            <a:fillRect/>
          </a:stretch>
        </p:blipFill>
        <p:spPr>
          <a:xfrm>
            <a:off x="708477" y="3314517"/>
            <a:ext cx="210678" cy="210678"/>
          </a:xfrm>
          <a:prstGeom prst="rect">
            <a:avLst/>
          </a:prstGeom>
        </p:spPr>
      </p:pic>
      <p:sp>
        <p:nvSpPr>
          <p:cNvPr id="30" name="Text 23"/>
          <p:cNvSpPr txBox="1"/>
          <p:nvPr/>
        </p:nvSpPr>
        <p:spPr>
          <a:xfrm>
            <a:off x="1170432" y="3136392"/>
            <a:ext cx="3246120" cy="237744"/>
          </a:xfrm>
          <a:prstGeom prst="rect">
            <a:avLst/>
          </a:prstGeom>
          <a:noFill/>
          <a:ln/>
        </p:spPr>
        <p:txBody>
          <a:bodyPr wrap="square" lIns="0" tIns="0" rIns="0" bIns="0" rtlCol="0" anchor="t"/>
          <a:lstStyle/>
          <a:p>
            <a:pPr marL="0" indent="0">
              <a:buNone/>
            </a:pPr>
            <a:r>
              <a:rPr lang="en-US" sz="1150" b="1" dirty="0">
                <a:solidFill>
                  <a:srgbClr val="071B3F"/>
                </a:solidFill>
                <a:latin typeface="Segoe UI" pitchFamily="34" charset="0"/>
                <a:ea typeface="Segoe UI" pitchFamily="34" charset="-122"/>
                <a:cs typeface="Segoe UI" pitchFamily="34" charset="-120"/>
              </a:rPr>
              <a:t>Lecturas complejas</a:t>
            </a:r>
            <a:endParaRPr lang="en-US" sz="1150" dirty="0"/>
          </a:p>
        </p:txBody>
      </p:sp>
      <p:sp>
        <p:nvSpPr>
          <p:cNvPr id="31" name="Text 24"/>
          <p:cNvSpPr txBox="1"/>
          <p:nvPr/>
        </p:nvSpPr>
        <p:spPr>
          <a:xfrm>
            <a:off x="1170432" y="3374136"/>
            <a:ext cx="3291840" cy="384048"/>
          </a:xfrm>
          <a:prstGeom prst="rect">
            <a:avLst/>
          </a:prstGeom>
          <a:noFill/>
          <a:ln/>
        </p:spPr>
        <p:txBody>
          <a:bodyPr wrap="square" lIns="0" tIns="0" rIns="0" bIns="0" rtlCol="0" anchor="t"/>
          <a:lstStyle/>
          <a:p>
            <a:pPr marL="0" indent="0">
              <a:buNone/>
            </a:pPr>
            <a:r>
              <a:rPr lang="en-US" sz="980" dirty="0">
                <a:solidFill>
                  <a:srgbClr val="5B6B82"/>
                </a:solidFill>
                <a:latin typeface="Calibri" pitchFamily="34" charset="0"/>
                <a:ea typeface="Calibri" pitchFamily="34" charset="-122"/>
                <a:cs typeface="Calibri" pitchFamily="34" charset="-120"/>
              </a:rPr>
              <a:t>SQLQueries o vistas semánticas en lugar de $expand anidados sobre documentos.</a:t>
            </a:r>
            <a:endParaRPr lang="en-US" sz="980" dirty="0"/>
          </a:p>
        </p:txBody>
      </p:sp>
      <p:sp>
        <p:nvSpPr>
          <p:cNvPr id="32" name="Shape 25"/>
          <p:cNvSpPr/>
          <p:nvPr/>
        </p:nvSpPr>
        <p:spPr>
          <a:xfrm>
            <a:off x="4617720" y="3063240"/>
            <a:ext cx="4069080" cy="713232"/>
          </a:xfrm>
          <a:prstGeom prst="roundRect">
            <a:avLst>
              <a:gd name="adj" fmla="val 10256"/>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33" name="Shape 26"/>
          <p:cNvSpPr/>
          <p:nvPr/>
        </p:nvSpPr>
        <p:spPr>
          <a:xfrm>
            <a:off x="4754880" y="3200400"/>
            <a:ext cx="438912" cy="438912"/>
          </a:xfrm>
          <a:prstGeom prst="ellipse">
            <a:avLst/>
          </a:prstGeom>
          <a:solidFill>
            <a:srgbClr val="0B4DA2"/>
          </a:solidFill>
          <a:ln w="12700">
            <a:solidFill>
              <a:srgbClr val="0B4DA2"/>
            </a:solidFill>
            <a:prstDash val="solid"/>
          </a:ln>
        </p:spPr>
      </p:sp>
      <p:pic>
        <p:nvPicPr>
          <p:cNvPr id="34" name="Image 5" descr="preencoded.png"/>
          <p:cNvPicPr>
            <a:picLocks noChangeAspect="1"/>
          </p:cNvPicPr>
          <p:nvPr/>
        </p:nvPicPr>
        <p:blipFill>
          <a:blip r:embed="rId8"/>
          <a:stretch>
            <a:fillRect/>
          </a:stretch>
        </p:blipFill>
        <p:spPr>
          <a:xfrm>
            <a:off x="4868997" y="3314517"/>
            <a:ext cx="210678" cy="210678"/>
          </a:xfrm>
          <a:prstGeom prst="rect">
            <a:avLst/>
          </a:prstGeom>
        </p:spPr>
      </p:pic>
      <p:sp>
        <p:nvSpPr>
          <p:cNvPr id="35" name="Text 27"/>
          <p:cNvSpPr txBox="1"/>
          <p:nvPr/>
        </p:nvSpPr>
        <p:spPr>
          <a:xfrm>
            <a:off x="5330952" y="3136392"/>
            <a:ext cx="3246120" cy="237744"/>
          </a:xfrm>
          <a:prstGeom prst="rect">
            <a:avLst/>
          </a:prstGeom>
          <a:noFill/>
          <a:ln/>
        </p:spPr>
        <p:txBody>
          <a:bodyPr wrap="square" lIns="0" tIns="0" rIns="0" bIns="0" rtlCol="0" anchor="t"/>
          <a:lstStyle/>
          <a:p>
            <a:pPr marL="0" indent="0">
              <a:buNone/>
            </a:pPr>
            <a:r>
              <a:rPr lang="en-US" sz="1150" b="1" dirty="0">
                <a:solidFill>
                  <a:srgbClr val="071B3F"/>
                </a:solidFill>
                <a:latin typeface="Segoe UI" pitchFamily="34" charset="0"/>
                <a:ea typeface="Segoe UI" pitchFamily="34" charset="-122"/>
                <a:cs typeface="Segoe UI" pitchFamily="34" charset="-120"/>
              </a:rPr>
              <a:t>return-no-content</a:t>
            </a:r>
            <a:endParaRPr lang="en-US" sz="1150" dirty="0"/>
          </a:p>
        </p:txBody>
      </p:sp>
      <p:sp>
        <p:nvSpPr>
          <p:cNvPr id="36" name="Text 28"/>
          <p:cNvSpPr txBox="1"/>
          <p:nvPr/>
        </p:nvSpPr>
        <p:spPr>
          <a:xfrm>
            <a:off x="5330952" y="3374136"/>
            <a:ext cx="3291840" cy="384048"/>
          </a:xfrm>
          <a:prstGeom prst="rect">
            <a:avLst/>
          </a:prstGeom>
          <a:noFill/>
          <a:ln/>
        </p:spPr>
        <p:txBody>
          <a:bodyPr wrap="square" lIns="0" tIns="0" rIns="0" bIns="0" rtlCol="0" anchor="t"/>
          <a:lstStyle/>
          <a:p>
            <a:pPr marL="0" indent="0">
              <a:buNone/>
            </a:pPr>
            <a:r>
              <a:rPr lang="en-US" sz="980" dirty="0">
                <a:solidFill>
                  <a:srgbClr val="5B6B82"/>
                </a:solidFill>
                <a:latin typeface="Calibri" pitchFamily="34" charset="0"/>
                <a:ea typeface="Calibri" pitchFamily="34" charset="-122"/>
                <a:cs typeface="Calibri" pitchFamily="34" charset="-120"/>
              </a:rPr>
              <a:t>Prefer: return-no-content en POST/PATCH si no necesitas el objeto devuelto.</a:t>
            </a:r>
            <a:endParaRPr lang="en-US" sz="980" dirty="0"/>
          </a:p>
        </p:txBody>
      </p:sp>
      <p:sp>
        <p:nvSpPr>
          <p:cNvPr id="37" name="Shape 29"/>
          <p:cNvSpPr/>
          <p:nvPr/>
        </p:nvSpPr>
        <p:spPr>
          <a:xfrm>
            <a:off x="457200" y="3886200"/>
            <a:ext cx="4069080" cy="713232"/>
          </a:xfrm>
          <a:prstGeom prst="roundRect">
            <a:avLst>
              <a:gd name="adj" fmla="val 10256"/>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38" name="Shape 30"/>
          <p:cNvSpPr/>
          <p:nvPr/>
        </p:nvSpPr>
        <p:spPr>
          <a:xfrm>
            <a:off x="594360" y="4023360"/>
            <a:ext cx="438912" cy="438912"/>
          </a:xfrm>
          <a:prstGeom prst="ellipse">
            <a:avLst/>
          </a:prstGeom>
          <a:solidFill>
            <a:srgbClr val="F5A800"/>
          </a:solidFill>
          <a:ln w="12700">
            <a:solidFill>
              <a:srgbClr val="F5A800"/>
            </a:solidFill>
            <a:prstDash val="solid"/>
          </a:ln>
        </p:spPr>
      </p:sp>
      <p:pic>
        <p:nvPicPr>
          <p:cNvPr id="39" name="Image 6" descr="preencoded.png"/>
          <p:cNvPicPr>
            <a:picLocks noChangeAspect="1"/>
          </p:cNvPicPr>
          <p:nvPr/>
        </p:nvPicPr>
        <p:blipFill>
          <a:blip r:embed="rId9"/>
          <a:stretch>
            <a:fillRect/>
          </a:stretch>
        </p:blipFill>
        <p:spPr>
          <a:xfrm>
            <a:off x="708477" y="4137477"/>
            <a:ext cx="210678" cy="210678"/>
          </a:xfrm>
          <a:prstGeom prst="rect">
            <a:avLst/>
          </a:prstGeom>
        </p:spPr>
      </p:pic>
      <p:sp>
        <p:nvSpPr>
          <p:cNvPr id="40" name="Text 31"/>
          <p:cNvSpPr txBox="1"/>
          <p:nvPr/>
        </p:nvSpPr>
        <p:spPr>
          <a:xfrm>
            <a:off x="1170432" y="3959352"/>
            <a:ext cx="3246120" cy="237744"/>
          </a:xfrm>
          <a:prstGeom prst="rect">
            <a:avLst/>
          </a:prstGeom>
          <a:noFill/>
          <a:ln/>
        </p:spPr>
        <p:txBody>
          <a:bodyPr wrap="square" lIns="0" tIns="0" rIns="0" bIns="0" rtlCol="0" anchor="t"/>
          <a:lstStyle/>
          <a:p>
            <a:pPr marL="0" indent="0">
              <a:buNone/>
            </a:pPr>
            <a:r>
              <a:rPr lang="en-US" sz="1150" b="1" dirty="0">
                <a:solidFill>
                  <a:srgbClr val="071B3F"/>
                </a:solidFill>
                <a:latin typeface="Segoe UI" pitchFamily="34" charset="0"/>
                <a:ea typeface="Segoe UI" pitchFamily="34" charset="-122"/>
                <a:cs typeface="Segoe UI" pitchFamily="34" charset="-120"/>
              </a:rPr>
              <a:t>Agrupa con $batch</a:t>
            </a:r>
            <a:endParaRPr lang="en-US" sz="1150" dirty="0"/>
          </a:p>
        </p:txBody>
      </p:sp>
      <p:sp>
        <p:nvSpPr>
          <p:cNvPr id="41" name="Text 32"/>
          <p:cNvSpPr txBox="1"/>
          <p:nvPr/>
        </p:nvSpPr>
        <p:spPr>
          <a:xfrm>
            <a:off x="1170432" y="4197096"/>
            <a:ext cx="3291840" cy="384048"/>
          </a:xfrm>
          <a:prstGeom prst="rect">
            <a:avLst/>
          </a:prstGeom>
          <a:noFill/>
          <a:ln/>
        </p:spPr>
        <p:txBody>
          <a:bodyPr wrap="square" lIns="0" tIns="0" rIns="0" bIns="0" rtlCol="0" anchor="t"/>
          <a:lstStyle/>
          <a:p>
            <a:pPr marL="0" indent="0">
              <a:buNone/>
            </a:pPr>
            <a:r>
              <a:rPr lang="en-US" sz="980" dirty="0">
                <a:solidFill>
                  <a:srgbClr val="5B6B82"/>
                </a:solidFill>
                <a:latin typeface="Calibri" pitchFamily="34" charset="0"/>
                <a:ea typeface="Calibri" pitchFamily="34" charset="-122"/>
                <a:cs typeface="Calibri" pitchFamily="34" charset="-120"/>
              </a:rPr>
              <a:t>Menos round-trips y transacciones consistentes para operaciones relacionadas.</a:t>
            </a:r>
            <a:endParaRPr lang="en-US" sz="980" dirty="0"/>
          </a:p>
        </p:txBody>
      </p:sp>
      <p:sp>
        <p:nvSpPr>
          <p:cNvPr id="42" name="Shape 33"/>
          <p:cNvSpPr/>
          <p:nvPr/>
        </p:nvSpPr>
        <p:spPr>
          <a:xfrm>
            <a:off x="4617720" y="3886200"/>
            <a:ext cx="4069080" cy="713232"/>
          </a:xfrm>
          <a:prstGeom prst="roundRect">
            <a:avLst>
              <a:gd name="adj" fmla="val 10256"/>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43" name="Shape 34"/>
          <p:cNvSpPr/>
          <p:nvPr/>
        </p:nvSpPr>
        <p:spPr>
          <a:xfrm>
            <a:off x="4754880" y="4023360"/>
            <a:ext cx="438912" cy="438912"/>
          </a:xfrm>
          <a:prstGeom prst="ellipse">
            <a:avLst/>
          </a:prstGeom>
          <a:solidFill>
            <a:srgbClr val="0B4DA2"/>
          </a:solidFill>
          <a:ln w="12700">
            <a:solidFill>
              <a:srgbClr val="0B4DA2"/>
            </a:solidFill>
            <a:prstDash val="solid"/>
          </a:ln>
        </p:spPr>
      </p:sp>
      <p:pic>
        <p:nvPicPr>
          <p:cNvPr id="44" name="Image 7" descr="preencoded.png"/>
          <p:cNvPicPr>
            <a:picLocks noChangeAspect="1"/>
          </p:cNvPicPr>
          <p:nvPr/>
        </p:nvPicPr>
        <p:blipFill>
          <a:blip r:embed="rId10"/>
          <a:stretch>
            <a:fillRect/>
          </a:stretch>
        </p:blipFill>
        <p:spPr>
          <a:xfrm>
            <a:off x="4868997" y="4137477"/>
            <a:ext cx="210678" cy="210678"/>
          </a:xfrm>
          <a:prstGeom prst="rect">
            <a:avLst/>
          </a:prstGeom>
        </p:spPr>
      </p:pic>
      <p:sp>
        <p:nvSpPr>
          <p:cNvPr id="45" name="Text 35"/>
          <p:cNvSpPr txBox="1"/>
          <p:nvPr/>
        </p:nvSpPr>
        <p:spPr>
          <a:xfrm>
            <a:off x="5330952" y="3959352"/>
            <a:ext cx="3246120" cy="237744"/>
          </a:xfrm>
          <a:prstGeom prst="rect">
            <a:avLst/>
          </a:prstGeom>
          <a:noFill/>
          <a:ln/>
        </p:spPr>
        <p:txBody>
          <a:bodyPr wrap="square" lIns="0" tIns="0" rIns="0" bIns="0" rtlCol="0" anchor="t"/>
          <a:lstStyle/>
          <a:p>
            <a:pPr marL="0" indent="0">
              <a:buNone/>
            </a:pPr>
            <a:r>
              <a:rPr lang="en-US" sz="1150" b="1" dirty="0">
                <a:solidFill>
                  <a:srgbClr val="071B3F"/>
                </a:solidFill>
                <a:latin typeface="Segoe UI" pitchFamily="34" charset="0"/>
                <a:ea typeface="Segoe UI" pitchFamily="34" charset="-122"/>
                <a:cs typeface="Segoe UI" pitchFamily="34" charset="-120"/>
              </a:rPr>
              <a:t>Operación del servidor</a:t>
            </a:r>
            <a:endParaRPr lang="en-US" sz="1150" dirty="0"/>
          </a:p>
        </p:txBody>
      </p:sp>
      <p:sp>
        <p:nvSpPr>
          <p:cNvPr id="46" name="Text 36"/>
          <p:cNvSpPr txBox="1"/>
          <p:nvPr/>
        </p:nvSpPr>
        <p:spPr>
          <a:xfrm>
            <a:off x="5330952" y="4197096"/>
            <a:ext cx="3291840" cy="384048"/>
          </a:xfrm>
          <a:prstGeom prst="rect">
            <a:avLst/>
          </a:prstGeom>
          <a:noFill/>
          <a:ln/>
        </p:spPr>
        <p:txBody>
          <a:bodyPr wrap="square" lIns="0" tIns="0" rIns="0" bIns="0" rtlCol="0" anchor="t"/>
          <a:lstStyle/>
          <a:p>
            <a:pPr marL="0" indent="0">
              <a:buNone/>
            </a:pPr>
            <a:r>
              <a:rPr lang="en-US" sz="980" dirty="0">
                <a:solidFill>
                  <a:srgbClr val="5B6B82"/>
                </a:solidFill>
                <a:latin typeface="Calibri" pitchFamily="34" charset="0"/>
                <a:ea typeface="Calibri" pitchFamily="34" charset="-122"/>
                <a:cs typeface="Calibri" pitchFamily="34" charset="-120"/>
              </a:rPr>
              <a:t>Log mínimo en producción, monitoreo de memoria por nodo y reinicios planificados.</a:t>
            </a:r>
            <a:endParaRPr lang="en-US" sz="980" dirty="0"/>
          </a:p>
        </p:txBody>
      </p:sp>
      <p:sp>
        <p:nvSpPr>
          <p:cNvPr id="47"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xmlns="" val="0"/>
            </a:ext>
          </a:extLst>
        </p:spPr>
        <p:txBody>
          <a:bodyPr/>
          <a:lstStyle>
            <a:lvl1pPr>
              <a:defRPr sz="800">
                <a:solidFill>
                  <a:srgbClr val="8A9AB0"/>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1097280"/>
            <a:ext cx="2743200" cy="1280160"/>
          </a:xfrm>
          <a:prstGeom prst="rect">
            <a:avLst/>
          </a:prstGeom>
          <a:noFill/>
          <a:ln/>
        </p:spPr>
        <p:txBody>
          <a:bodyPr wrap="square" lIns="0" tIns="0" rIns="0" bIns="0" rtlCol="0" anchor="t"/>
          <a:lstStyle/>
          <a:p>
            <a:pPr marL="0" indent="0">
              <a:buNone/>
            </a:pPr>
            <a:r>
              <a:rPr lang="en-US" sz="8800" b="1" dirty="0">
                <a:solidFill>
                  <a:srgbClr val="F5A800"/>
                </a:solidFill>
                <a:latin typeface="Segoe UI" pitchFamily="34" charset="0"/>
                <a:ea typeface="Segoe UI" pitchFamily="34" charset="-122"/>
                <a:cs typeface="Segoe UI" pitchFamily="34" charset="-120"/>
              </a:rPr>
              <a:t>03</a:t>
            </a:r>
            <a:endParaRPr lang="en-US" sz="8800" dirty="0"/>
          </a:p>
        </p:txBody>
      </p:sp>
      <p:sp>
        <p:nvSpPr>
          <p:cNvPr id="3" name="Text 1"/>
          <p:cNvSpPr txBox="1"/>
          <p:nvPr/>
        </p:nvSpPr>
        <p:spPr>
          <a:xfrm>
            <a:off x="685800" y="914400"/>
            <a:ext cx="2743200" cy="274320"/>
          </a:xfrm>
          <a:prstGeom prst="rect">
            <a:avLst/>
          </a:prstGeom>
          <a:noFill/>
          <a:ln/>
        </p:spPr>
        <p:txBody>
          <a:bodyPr wrap="square" lIns="0" tIns="0" rIns="0" bIns="0" rtlCol="0" anchor="t"/>
          <a:lstStyle/>
          <a:p>
            <a:pPr marL="0" indent="0">
              <a:buNone/>
            </a:pPr>
            <a:r>
              <a:rPr lang="en-US" sz="1100" b="1" kern="0" spc="400" dirty="0">
                <a:solidFill>
                  <a:srgbClr val="29B6F6"/>
                </a:solidFill>
                <a:latin typeface="Segoe UI" pitchFamily="34" charset="0"/>
                <a:ea typeface="Segoe UI" pitchFamily="34" charset="-122"/>
                <a:cs typeface="Segoe UI" pitchFamily="34" charset="-120"/>
              </a:rPr>
              <a:t>CAPÍTULO</a:t>
            </a:r>
            <a:endParaRPr lang="en-US" sz="1100" dirty="0"/>
          </a:p>
        </p:txBody>
      </p:sp>
      <p:sp>
        <p:nvSpPr>
          <p:cNvPr id="4" name="Text 2"/>
          <p:cNvSpPr txBox="1"/>
          <p:nvPr/>
        </p:nvSpPr>
        <p:spPr>
          <a:xfrm>
            <a:off x="640080" y="2423160"/>
            <a:ext cx="7772400" cy="731520"/>
          </a:xfrm>
          <a:prstGeom prst="rect">
            <a:avLst/>
          </a:prstGeom>
          <a:noFill/>
          <a:ln/>
        </p:spPr>
        <p:txBody>
          <a:bodyPr wrap="square" lIns="0" tIns="0" rIns="0" bIns="0" rtlCol="0" anchor="t"/>
          <a:lstStyle/>
          <a:p>
            <a:pPr marL="0" indent="0">
              <a:buNone/>
            </a:pPr>
            <a:r>
              <a:rPr lang="en-US" sz="3400" b="1" dirty="0">
                <a:solidFill>
                  <a:srgbClr val="FFFFFF"/>
                </a:solidFill>
                <a:latin typeface="Segoe UI" pitchFamily="34" charset="0"/>
                <a:ea typeface="Segoe UI" pitchFamily="34" charset="-122"/>
                <a:cs typeface="Segoe UI" pitchFamily="34" charset="-120"/>
              </a:rPr>
              <a:t>Flujos de operación I</a:t>
            </a:r>
            <a:endParaRPr lang="en-US" sz="3400" dirty="0"/>
          </a:p>
        </p:txBody>
      </p:sp>
      <p:sp>
        <p:nvSpPr>
          <p:cNvPr id="5" name="Text 3"/>
          <p:cNvSpPr txBox="1"/>
          <p:nvPr/>
        </p:nvSpPr>
        <p:spPr>
          <a:xfrm>
            <a:off x="658368" y="3200400"/>
            <a:ext cx="7772400" cy="548640"/>
          </a:xfrm>
          <a:prstGeom prst="rect">
            <a:avLst/>
          </a:prstGeom>
          <a:noFill/>
          <a:ln/>
        </p:spPr>
        <p:txBody>
          <a:bodyPr wrap="square" lIns="0" tIns="0" rIns="0" bIns="0" rtlCol="0" anchor="t"/>
          <a:lstStyle/>
          <a:p>
            <a:pPr marL="0" indent="0">
              <a:buNone/>
            </a:pPr>
            <a:r>
              <a:rPr lang="en-US" sz="1400" dirty="0">
                <a:solidFill>
                  <a:srgbClr val="B9D3F0"/>
                </a:solidFill>
                <a:latin typeface="Calibri" pitchFamily="34" charset="0"/>
                <a:ea typeface="Calibri" pitchFamily="34" charset="-122"/>
                <a:cs typeface="Calibri" pitchFamily="34" charset="-120"/>
              </a:rPr>
              <a:t>Login   •   Autenticación con SLD   •   Token de sesión   •   Consumo de endpoints</a:t>
            </a:r>
            <a:endParaRPr lang="en-US" sz="1400" dirty="0"/>
          </a:p>
        </p:txBody>
      </p:sp>
      <p:sp>
        <p:nvSpPr>
          <p:cNvPr id="6" name="Text 4"/>
          <p:cNvSpPr txBox="1"/>
          <p:nvPr/>
        </p:nvSpPr>
        <p:spPr>
          <a:xfrm>
            <a:off x="658368" y="4709160"/>
            <a:ext cx="4572000" cy="228600"/>
          </a:xfrm>
          <a:prstGeom prst="rect">
            <a:avLst/>
          </a:prstGeom>
          <a:noFill/>
          <a:ln/>
        </p:spPr>
        <p:txBody>
          <a:bodyPr wrap="square" lIns="0" tIns="0" rIns="0" bIns="0" rtlCol="0" anchor="t"/>
          <a:lstStyle/>
          <a:p>
            <a:pPr marL="0" indent="0">
              <a:buNone/>
            </a:pPr>
            <a:r>
              <a:rPr lang="en-US" sz="900" dirty="0">
                <a:solidFill>
                  <a:srgbClr val="8FB0D6"/>
                </a:solidFill>
                <a:latin typeface="Calibri" pitchFamily="34" charset="0"/>
                <a:ea typeface="Calibri" pitchFamily="34" charset="-122"/>
                <a:cs typeface="Calibri" pitchFamily="34" charset="-120"/>
              </a:rPr>
              <a:t>Ventura Soluciones  |  Capacitación técnica</a:t>
            </a:r>
            <a:endParaRPr lang="en-US" sz="9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457200" y="256032"/>
            <a:ext cx="2362810" cy="237744"/>
          </a:xfrm>
          <a:prstGeom prst="roundRect">
            <a:avLst>
              <a:gd name="adj" fmla="val 50000"/>
            </a:avLst>
          </a:prstGeom>
          <a:solidFill>
            <a:srgbClr val="071B3F"/>
          </a:solidFill>
          <a:ln w="12700">
            <a:solidFill>
              <a:srgbClr val="071B3F"/>
            </a:solidFill>
            <a:prstDash val="solid"/>
          </a:ln>
        </p:spPr>
      </p:sp>
      <p:sp>
        <p:nvSpPr>
          <p:cNvPr id="3" name="Text 1"/>
          <p:cNvSpPr txBox="1"/>
          <p:nvPr/>
        </p:nvSpPr>
        <p:spPr>
          <a:xfrm>
            <a:off x="457200" y="256032"/>
            <a:ext cx="2362810" cy="237744"/>
          </a:xfrm>
          <a:prstGeom prst="rect">
            <a:avLst/>
          </a:prstGeom>
          <a:noFill/>
          <a:ln/>
        </p:spPr>
        <p:txBody>
          <a:bodyPr wrap="square" lIns="0" tIns="0" rIns="0" bIns="0" rtlCol="0" anchor="ctr"/>
          <a:lstStyle/>
          <a:p>
            <a:pPr marL="0" indent="0" algn="ctr">
              <a:buNone/>
            </a:pPr>
            <a:r>
              <a:rPr lang="en-US" sz="850" b="1" kern="0" spc="100" dirty="0">
                <a:solidFill>
                  <a:srgbClr val="F5A800"/>
                </a:solidFill>
                <a:latin typeface="Segoe UI" pitchFamily="34" charset="0"/>
                <a:ea typeface="Segoe UI" pitchFamily="34" charset="-122"/>
                <a:cs typeface="Segoe UI" pitchFamily="34" charset="-120"/>
              </a:rPr>
              <a:t>03  ·  FLUJOS DE OPERACIÓN I</a:t>
            </a:r>
            <a:endParaRPr lang="en-US" sz="850" dirty="0"/>
          </a:p>
        </p:txBody>
      </p:sp>
      <p:sp>
        <p:nvSpPr>
          <p:cNvPr id="4" name="Text 2"/>
          <p:cNvSpPr txBox="1"/>
          <p:nvPr/>
        </p:nvSpPr>
        <p:spPr>
          <a:xfrm>
            <a:off x="457200" y="566928"/>
            <a:ext cx="8229600" cy="502920"/>
          </a:xfrm>
          <a:prstGeom prst="rect">
            <a:avLst/>
          </a:prstGeom>
          <a:noFill/>
          <a:ln/>
        </p:spPr>
        <p:txBody>
          <a:bodyPr wrap="square" lIns="0" tIns="0" rIns="0" bIns="0" rtlCol="0" anchor="ctr"/>
          <a:lstStyle/>
          <a:p>
            <a:pPr marL="0" indent="0">
              <a:buNone/>
            </a:pPr>
            <a:r>
              <a:rPr lang="en-US" sz="2400" b="1" dirty="0">
                <a:solidFill>
                  <a:srgbClr val="071B3F"/>
                </a:solidFill>
                <a:latin typeface="Segoe UI" pitchFamily="34" charset="0"/>
                <a:ea typeface="Segoe UI" pitchFamily="34" charset="-122"/>
                <a:cs typeface="Segoe UI" pitchFamily="34" charset="-120"/>
              </a:rPr>
              <a:t>Flujo base de una transacción</a:t>
            </a:r>
            <a:endParaRPr lang="en-US" sz="2400" dirty="0"/>
          </a:p>
        </p:txBody>
      </p:sp>
      <p:sp>
        <p:nvSpPr>
          <p:cNvPr id="5" name="Text 3"/>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00" dirty="0">
                <a:solidFill>
                  <a:srgbClr val="8A9AB0"/>
                </a:solidFill>
                <a:latin typeface="Calibri" pitchFamily="34" charset="0"/>
                <a:ea typeface="Calibri" pitchFamily="34" charset="-122"/>
                <a:cs typeface="Calibri" pitchFamily="34" charset="-120"/>
              </a:rPr>
              <a:t>Ventura Soluciones  |  SAP Business One · Service Layer</a:t>
            </a:r>
            <a:endParaRPr lang="en-US" sz="800" dirty="0"/>
          </a:p>
        </p:txBody>
      </p:sp>
      <p:sp>
        <p:nvSpPr>
          <p:cNvPr id="6" name="Shape 4"/>
          <p:cNvSpPr/>
          <p:nvPr/>
        </p:nvSpPr>
        <p:spPr>
          <a:xfrm>
            <a:off x="365760" y="1188720"/>
            <a:ext cx="8412480" cy="3584448"/>
          </a:xfrm>
          <a:prstGeom prst="roundRect">
            <a:avLst>
              <a:gd name="adj" fmla="val 2041"/>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pic>
        <p:nvPicPr>
          <p:cNvPr id="7" name="Image 0" descr="seq.png"/>
          <p:cNvPicPr>
            <a:picLocks noChangeAspect="1"/>
          </p:cNvPicPr>
          <p:nvPr/>
        </p:nvPicPr>
        <p:blipFill>
          <a:blip r:embed="rId3"/>
          <a:stretch>
            <a:fillRect/>
          </a:stretch>
        </p:blipFill>
        <p:spPr>
          <a:xfrm>
            <a:off x="457200" y="1243584"/>
            <a:ext cx="8229600" cy="3534474"/>
          </a:xfrm>
          <a:prstGeom prst="rect">
            <a:avLst/>
          </a:prstGeom>
        </p:spPr>
      </p:pic>
      <p:sp>
        <p:nvSpPr>
          <p:cNvPr id="25"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xmlns="" val="0"/>
            </a:ext>
          </a:extLst>
        </p:spPr>
        <p:txBody>
          <a:bodyPr/>
          <a:lstStyle>
            <a:lvl1pPr>
              <a:defRPr sz="800">
                <a:solidFill>
                  <a:srgbClr val="8A9AB0"/>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457200" y="256032"/>
            <a:ext cx="2362810" cy="237744"/>
          </a:xfrm>
          <a:prstGeom prst="roundRect">
            <a:avLst>
              <a:gd name="adj" fmla="val 50000"/>
            </a:avLst>
          </a:prstGeom>
          <a:solidFill>
            <a:srgbClr val="071B3F"/>
          </a:solidFill>
          <a:ln w="12700">
            <a:solidFill>
              <a:srgbClr val="071B3F"/>
            </a:solidFill>
            <a:prstDash val="solid"/>
          </a:ln>
        </p:spPr>
      </p:sp>
      <p:sp>
        <p:nvSpPr>
          <p:cNvPr id="3" name="Text 1"/>
          <p:cNvSpPr txBox="1"/>
          <p:nvPr/>
        </p:nvSpPr>
        <p:spPr>
          <a:xfrm>
            <a:off x="457200" y="256032"/>
            <a:ext cx="2362810" cy="237744"/>
          </a:xfrm>
          <a:prstGeom prst="rect">
            <a:avLst/>
          </a:prstGeom>
          <a:noFill/>
          <a:ln/>
        </p:spPr>
        <p:txBody>
          <a:bodyPr wrap="square" lIns="0" tIns="0" rIns="0" bIns="0" rtlCol="0" anchor="ctr"/>
          <a:lstStyle/>
          <a:p>
            <a:pPr marL="0" indent="0" algn="ctr">
              <a:buNone/>
            </a:pPr>
            <a:r>
              <a:rPr lang="en-US" sz="850" b="1" kern="0" spc="100" dirty="0">
                <a:solidFill>
                  <a:srgbClr val="F5A800"/>
                </a:solidFill>
                <a:latin typeface="Segoe UI" pitchFamily="34" charset="0"/>
                <a:ea typeface="Segoe UI" pitchFamily="34" charset="-122"/>
                <a:cs typeface="Segoe UI" pitchFamily="34" charset="-120"/>
              </a:rPr>
              <a:t>03  ·  FLUJOS DE OPERACIÓN I</a:t>
            </a:r>
            <a:endParaRPr lang="en-US" sz="850" dirty="0"/>
          </a:p>
        </p:txBody>
      </p:sp>
      <p:sp>
        <p:nvSpPr>
          <p:cNvPr id="4" name="Text 2"/>
          <p:cNvSpPr txBox="1"/>
          <p:nvPr/>
        </p:nvSpPr>
        <p:spPr>
          <a:xfrm>
            <a:off x="457200" y="566928"/>
            <a:ext cx="8229600" cy="502920"/>
          </a:xfrm>
          <a:prstGeom prst="rect">
            <a:avLst/>
          </a:prstGeom>
          <a:noFill/>
          <a:ln/>
        </p:spPr>
        <p:txBody>
          <a:bodyPr wrap="square" lIns="0" tIns="0" rIns="0" bIns="0" rtlCol="0" anchor="ctr"/>
          <a:lstStyle/>
          <a:p>
            <a:pPr marL="0" indent="0">
              <a:buNone/>
            </a:pPr>
            <a:r>
              <a:rPr lang="en-US" sz="2400" b="1" dirty="0">
                <a:solidFill>
                  <a:srgbClr val="071B3F"/>
                </a:solidFill>
                <a:latin typeface="Segoe UI" pitchFamily="34" charset="0"/>
                <a:ea typeface="Segoe UI" pitchFamily="34" charset="-122"/>
                <a:cs typeface="Segoe UI" pitchFamily="34" charset="-120"/>
              </a:rPr>
              <a:t>Login y token de sesión</a:t>
            </a:r>
            <a:endParaRPr lang="en-US" sz="2400" dirty="0"/>
          </a:p>
        </p:txBody>
      </p:sp>
      <p:sp>
        <p:nvSpPr>
          <p:cNvPr id="5" name="Text 3"/>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00" dirty="0">
                <a:solidFill>
                  <a:srgbClr val="8A9AB0"/>
                </a:solidFill>
                <a:latin typeface="Calibri" pitchFamily="34" charset="0"/>
                <a:ea typeface="Calibri" pitchFamily="34" charset="-122"/>
                <a:cs typeface="Calibri" pitchFamily="34" charset="-120"/>
              </a:rPr>
              <a:t>Ventura Soluciones  |  SAP Business One · Service Layer</a:t>
            </a:r>
            <a:endParaRPr lang="en-US" sz="800" dirty="0"/>
          </a:p>
        </p:txBody>
      </p:sp>
      <p:sp>
        <p:nvSpPr>
          <p:cNvPr id="6" name="Shape 4"/>
          <p:cNvSpPr/>
          <p:nvPr/>
        </p:nvSpPr>
        <p:spPr>
          <a:xfrm>
            <a:off x="457200" y="1234440"/>
            <a:ext cx="4114800" cy="1874520"/>
          </a:xfrm>
          <a:prstGeom prst="roundRect">
            <a:avLst>
              <a:gd name="adj" fmla="val 3415"/>
            </a:avLst>
          </a:prstGeom>
          <a:solidFill>
            <a:srgbClr val="0E1B2E"/>
          </a:solidFill>
          <a:ln w="12700">
            <a:solidFill>
              <a:srgbClr val="0E1B2E"/>
            </a:solidFill>
            <a:prstDash val="solid"/>
          </a:ln>
          <a:effectLst>
            <a:outerShdw blurRad="101600" dist="25400" dir="5400000" algn="bl" rotWithShape="0">
              <a:srgbClr val="0B2A55">
                <a:alpha val="12000"/>
              </a:srgbClr>
            </a:outerShdw>
          </a:effectLst>
        </p:spPr>
      </p:sp>
      <p:sp>
        <p:nvSpPr>
          <p:cNvPr id="7" name="Shape 5"/>
          <p:cNvSpPr/>
          <p:nvPr/>
        </p:nvSpPr>
        <p:spPr>
          <a:xfrm>
            <a:off x="594360" y="1344168"/>
            <a:ext cx="73152" cy="73152"/>
          </a:xfrm>
          <a:prstGeom prst="ellipse">
            <a:avLst/>
          </a:prstGeom>
          <a:solidFill>
            <a:srgbClr val="FF5F56"/>
          </a:solidFill>
          <a:ln w="12700">
            <a:solidFill>
              <a:srgbClr val="FF5F56"/>
            </a:solidFill>
            <a:prstDash val="solid"/>
          </a:ln>
        </p:spPr>
      </p:sp>
      <p:sp>
        <p:nvSpPr>
          <p:cNvPr id="8" name="Shape 6"/>
          <p:cNvSpPr/>
          <p:nvPr/>
        </p:nvSpPr>
        <p:spPr>
          <a:xfrm>
            <a:off x="722376" y="1344168"/>
            <a:ext cx="73152" cy="73152"/>
          </a:xfrm>
          <a:prstGeom prst="ellipse">
            <a:avLst/>
          </a:prstGeom>
          <a:solidFill>
            <a:srgbClr val="FFBD2E"/>
          </a:solidFill>
          <a:ln w="12700">
            <a:solidFill>
              <a:srgbClr val="FFBD2E"/>
            </a:solidFill>
            <a:prstDash val="solid"/>
          </a:ln>
        </p:spPr>
      </p:sp>
      <p:sp>
        <p:nvSpPr>
          <p:cNvPr id="9" name="Shape 7"/>
          <p:cNvSpPr/>
          <p:nvPr/>
        </p:nvSpPr>
        <p:spPr>
          <a:xfrm>
            <a:off x="850392" y="1344168"/>
            <a:ext cx="73152" cy="73152"/>
          </a:xfrm>
          <a:prstGeom prst="ellipse">
            <a:avLst/>
          </a:prstGeom>
          <a:solidFill>
            <a:srgbClr val="27C93F"/>
          </a:solidFill>
          <a:ln w="12700">
            <a:solidFill>
              <a:srgbClr val="27C93F"/>
            </a:solidFill>
            <a:prstDash val="solid"/>
          </a:ln>
        </p:spPr>
      </p:sp>
      <p:sp>
        <p:nvSpPr>
          <p:cNvPr id="10" name="Text 8"/>
          <p:cNvSpPr txBox="1"/>
          <p:nvPr/>
        </p:nvSpPr>
        <p:spPr>
          <a:xfrm>
            <a:off x="1024128" y="1289304"/>
            <a:ext cx="3429000" cy="182880"/>
          </a:xfrm>
          <a:prstGeom prst="rect">
            <a:avLst/>
          </a:prstGeom>
          <a:noFill/>
          <a:ln/>
        </p:spPr>
        <p:txBody>
          <a:bodyPr wrap="square" lIns="0" tIns="0" rIns="0" bIns="0" rtlCol="0" anchor="ctr"/>
          <a:lstStyle/>
          <a:p>
            <a:pPr marL="0" indent="0">
              <a:buNone/>
            </a:pPr>
            <a:r>
              <a:rPr lang="en-US" sz="850" b="1" dirty="0">
                <a:solidFill>
                  <a:srgbClr val="F5A800"/>
                </a:solidFill>
                <a:latin typeface="Segoe UI" pitchFamily="34" charset="0"/>
                <a:ea typeface="Segoe UI" pitchFamily="34" charset="-122"/>
                <a:cs typeface="Segoe UI" pitchFamily="34" charset="-120"/>
              </a:rPr>
              <a:t>REQUEST · POST /Login</a:t>
            </a:r>
            <a:endParaRPr lang="en-US" sz="850" dirty="0"/>
          </a:p>
        </p:txBody>
      </p:sp>
      <p:sp>
        <p:nvSpPr>
          <p:cNvPr id="11" name="Text 9"/>
          <p:cNvSpPr txBox="1"/>
          <p:nvPr/>
        </p:nvSpPr>
        <p:spPr>
          <a:xfrm>
            <a:off x="594360" y="1527048"/>
            <a:ext cx="3840480" cy="1508760"/>
          </a:xfrm>
          <a:prstGeom prst="rect">
            <a:avLst/>
          </a:prstGeom>
          <a:noFill/>
          <a:ln/>
        </p:spPr>
        <p:txBody>
          <a:bodyPr wrap="square" lIns="0" tIns="0" rIns="0" bIns="0" rtlCol="0" anchor="t"/>
          <a:lstStyle/>
          <a:p>
            <a:pPr marL="0" indent="0">
              <a:lnSpc>
                <a:spcPct val="100000"/>
              </a:lnSpc>
              <a:buNone/>
            </a:pPr>
            <a:r>
              <a:rPr lang="en-US" sz="900" b="1" dirty="0">
                <a:solidFill>
                  <a:srgbClr val="F5A800"/>
                </a:solidFill>
                <a:latin typeface="Consolas" pitchFamily="34" charset="0"/>
                <a:ea typeface="Consolas" pitchFamily="34" charset="-122"/>
                <a:cs typeface="Consolas" pitchFamily="34" charset="-120"/>
              </a:rPr>
              <a:t>curl</a:t>
            </a:r>
            <a:r>
              <a:rPr lang="en-US" sz="900" dirty="0">
                <a:solidFill>
                  <a:srgbClr val="DCE6F2"/>
                </a:solidFill>
                <a:latin typeface="Consolas" pitchFamily="34" charset="0"/>
                <a:ea typeface="Consolas" pitchFamily="34" charset="-122"/>
                <a:cs typeface="Consolas" pitchFamily="34" charset="-120"/>
              </a:rPr>
              <a:t> -k -c cookies.txt -X </a:t>
            </a:r>
            <a:r>
              <a:rPr lang="en-US" sz="900" b="1" dirty="0">
                <a:solidFill>
                  <a:srgbClr val="F5A800"/>
                </a:solidFill>
                <a:latin typeface="Consolas" pitchFamily="34" charset="0"/>
                <a:ea typeface="Consolas" pitchFamily="34" charset="-122"/>
                <a:cs typeface="Consolas" pitchFamily="34" charset="-120"/>
              </a:rPr>
              <a:t>POST</a:t>
            </a:r>
            <a:r>
              <a:rPr lang="en-US" sz="900" dirty="0">
                <a:solidFill>
                  <a:srgbClr val="DCE6F2"/>
                </a:solidFill>
                <a:latin typeface="Consolas" pitchFamily="34" charset="0"/>
                <a:ea typeface="Consolas" pitchFamily="34" charset="-122"/>
                <a:cs typeface="Consolas" pitchFamily="34" charset="-120"/>
              </a:rPr>
              <a:t> \</a:t>
            </a:r>
            <a:endParaRPr lang="en-US" sz="900" dirty="0"/>
          </a:p>
          <a:p>
            <a:pPr marL="0" indent="0">
              <a:lnSpc>
                <a:spcPct val="100000"/>
              </a:lnSpc>
              <a:buNone/>
            </a:pPr>
            <a:r>
              <a:rPr lang="en-US" sz="900" dirty="0">
                <a:solidFill>
                  <a:srgbClr val="DCE6F2"/>
                </a:solidFill>
                <a:latin typeface="Consolas" pitchFamily="34" charset="0"/>
                <a:ea typeface="Consolas" pitchFamily="34" charset="-122"/>
                <a:cs typeface="Consolas" pitchFamily="34" charset="-120"/>
              </a:rPr>
              <a:t>  </a:t>
            </a:r>
            <a:r>
              <a:rPr lang="en-US" sz="900" dirty="0">
                <a:solidFill>
                  <a:srgbClr val="B5E48C"/>
                </a:solidFill>
                <a:latin typeface="Consolas" pitchFamily="34" charset="0"/>
                <a:ea typeface="Consolas" pitchFamily="34" charset="-122"/>
                <a:cs typeface="Consolas" pitchFamily="34" charset="-120"/>
              </a:rPr>
              <a:t>"https://sapserver:50000/b1s/v1/Login"</a:t>
            </a:r>
            <a:r>
              <a:rPr lang="en-US" sz="900" dirty="0">
                <a:solidFill>
                  <a:srgbClr val="DCE6F2"/>
                </a:solidFill>
                <a:latin typeface="Consolas" pitchFamily="34" charset="0"/>
                <a:ea typeface="Consolas" pitchFamily="34" charset="-122"/>
                <a:cs typeface="Consolas" pitchFamily="34" charset="-120"/>
              </a:rPr>
              <a:t> \</a:t>
            </a:r>
            <a:endParaRPr lang="en-US" sz="900" dirty="0"/>
          </a:p>
          <a:p>
            <a:pPr marL="0" indent="0">
              <a:lnSpc>
                <a:spcPct val="100000"/>
              </a:lnSpc>
              <a:buNone/>
            </a:pPr>
            <a:r>
              <a:rPr lang="en-US" sz="900" dirty="0">
                <a:solidFill>
                  <a:srgbClr val="DCE6F2"/>
                </a:solidFill>
                <a:latin typeface="Consolas" pitchFamily="34" charset="0"/>
                <a:ea typeface="Consolas" pitchFamily="34" charset="-122"/>
                <a:cs typeface="Consolas" pitchFamily="34" charset="-120"/>
              </a:rPr>
              <a:t>  -H </a:t>
            </a:r>
            <a:r>
              <a:rPr lang="en-US" sz="900" dirty="0">
                <a:solidFill>
                  <a:srgbClr val="B5E48C"/>
                </a:solidFill>
                <a:latin typeface="Consolas" pitchFamily="34" charset="0"/>
                <a:ea typeface="Consolas" pitchFamily="34" charset="-122"/>
                <a:cs typeface="Consolas" pitchFamily="34" charset="-120"/>
              </a:rPr>
              <a:t>"Content-Type: application/json"</a:t>
            </a:r>
            <a:r>
              <a:rPr lang="en-US" sz="900" dirty="0">
                <a:solidFill>
                  <a:srgbClr val="DCE6F2"/>
                </a:solidFill>
                <a:latin typeface="Consolas" pitchFamily="34" charset="0"/>
                <a:ea typeface="Consolas" pitchFamily="34" charset="-122"/>
                <a:cs typeface="Consolas" pitchFamily="34" charset="-120"/>
              </a:rPr>
              <a:t> \</a:t>
            </a:r>
            <a:endParaRPr lang="en-US" sz="900" dirty="0"/>
          </a:p>
          <a:p>
            <a:pPr marL="0" indent="0">
              <a:lnSpc>
                <a:spcPct val="100000"/>
              </a:lnSpc>
              <a:buNone/>
            </a:pPr>
            <a:r>
              <a:rPr lang="en-US" sz="900" dirty="0">
                <a:solidFill>
                  <a:srgbClr val="DCE6F2"/>
                </a:solidFill>
                <a:latin typeface="Consolas" pitchFamily="34" charset="0"/>
                <a:ea typeface="Consolas" pitchFamily="34" charset="-122"/>
                <a:cs typeface="Consolas" pitchFamily="34" charset="-120"/>
              </a:rPr>
              <a:t>  -d '{</a:t>
            </a:r>
            <a:endParaRPr lang="en-US" sz="900" dirty="0"/>
          </a:p>
          <a:p>
            <a:pPr marL="0" indent="0">
              <a:lnSpc>
                <a:spcPct val="100000"/>
              </a:lnSpc>
              <a:buNone/>
            </a:pPr>
            <a:r>
              <a:rPr lang="en-US" sz="900" dirty="0">
                <a:solidFill>
                  <a:srgbClr val="DCE6F2"/>
                </a:solidFill>
                <a:latin typeface="Consolas" pitchFamily="34" charset="0"/>
                <a:ea typeface="Consolas" pitchFamily="34" charset="-122"/>
                <a:cs typeface="Consolas" pitchFamily="34" charset="-120"/>
              </a:rPr>
              <a:t>    </a:t>
            </a:r>
            <a:r>
              <a:rPr lang="en-US" sz="900" dirty="0">
                <a:solidFill>
                  <a:srgbClr val="7FD1FF"/>
                </a:solidFill>
                <a:latin typeface="Consolas" pitchFamily="34" charset="0"/>
                <a:ea typeface="Consolas" pitchFamily="34" charset="-122"/>
                <a:cs typeface="Consolas" pitchFamily="34" charset="-120"/>
              </a:rPr>
              <a:t>"CompanyDB"</a:t>
            </a:r>
            <a:r>
              <a:rPr lang="en-US" sz="900" dirty="0">
                <a:solidFill>
                  <a:srgbClr val="DCE6F2"/>
                </a:solidFill>
                <a:latin typeface="Consolas" pitchFamily="34" charset="0"/>
                <a:ea typeface="Consolas" pitchFamily="34" charset="-122"/>
                <a:cs typeface="Consolas" pitchFamily="34" charset="-120"/>
              </a:rPr>
              <a:t>: </a:t>
            </a:r>
            <a:r>
              <a:rPr lang="en-US" sz="900" dirty="0">
                <a:solidFill>
                  <a:srgbClr val="B5E48C"/>
                </a:solidFill>
                <a:latin typeface="Consolas" pitchFamily="34" charset="0"/>
                <a:ea typeface="Consolas" pitchFamily="34" charset="-122"/>
                <a:cs typeface="Consolas" pitchFamily="34" charset="-120"/>
              </a:rPr>
              <a:t>"SBO_VENTURA_PRD"</a:t>
            </a:r>
            <a:r>
              <a:rPr lang="en-US" sz="900" dirty="0">
                <a:solidFill>
                  <a:srgbClr val="DCE6F2"/>
                </a:solidFill>
                <a:latin typeface="Consolas" pitchFamily="34" charset="0"/>
                <a:ea typeface="Consolas" pitchFamily="34" charset="-122"/>
                <a:cs typeface="Consolas" pitchFamily="34" charset="-120"/>
              </a:rPr>
              <a:t>,</a:t>
            </a:r>
            <a:endParaRPr lang="en-US" sz="900" dirty="0"/>
          </a:p>
          <a:p>
            <a:pPr marL="0" indent="0">
              <a:lnSpc>
                <a:spcPct val="100000"/>
              </a:lnSpc>
              <a:buNone/>
            </a:pPr>
            <a:r>
              <a:rPr lang="en-US" sz="900" dirty="0">
                <a:solidFill>
                  <a:srgbClr val="DCE6F2"/>
                </a:solidFill>
                <a:latin typeface="Consolas" pitchFamily="34" charset="0"/>
                <a:ea typeface="Consolas" pitchFamily="34" charset="-122"/>
                <a:cs typeface="Consolas" pitchFamily="34" charset="-120"/>
              </a:rPr>
              <a:t>    </a:t>
            </a:r>
            <a:r>
              <a:rPr lang="en-US" sz="900" dirty="0">
                <a:solidFill>
                  <a:srgbClr val="7FD1FF"/>
                </a:solidFill>
                <a:latin typeface="Consolas" pitchFamily="34" charset="0"/>
                <a:ea typeface="Consolas" pitchFamily="34" charset="-122"/>
                <a:cs typeface="Consolas" pitchFamily="34" charset="-120"/>
              </a:rPr>
              <a:t>"UserName"</a:t>
            </a:r>
            <a:r>
              <a:rPr lang="en-US" sz="900" dirty="0">
                <a:solidFill>
                  <a:srgbClr val="DCE6F2"/>
                </a:solidFill>
                <a:latin typeface="Consolas" pitchFamily="34" charset="0"/>
                <a:ea typeface="Consolas" pitchFamily="34" charset="-122"/>
                <a:cs typeface="Consolas" pitchFamily="34" charset="-120"/>
              </a:rPr>
              <a:t>: </a:t>
            </a:r>
            <a:r>
              <a:rPr lang="en-US" sz="900" dirty="0">
                <a:solidFill>
                  <a:srgbClr val="B5E48C"/>
                </a:solidFill>
                <a:latin typeface="Consolas" pitchFamily="34" charset="0"/>
                <a:ea typeface="Consolas" pitchFamily="34" charset="-122"/>
                <a:cs typeface="Consolas" pitchFamily="34" charset="-120"/>
              </a:rPr>
              <a:t>"manager"</a:t>
            </a:r>
            <a:r>
              <a:rPr lang="en-US" sz="900" dirty="0">
                <a:solidFill>
                  <a:srgbClr val="DCE6F2"/>
                </a:solidFill>
                <a:latin typeface="Consolas" pitchFamily="34" charset="0"/>
                <a:ea typeface="Consolas" pitchFamily="34" charset="-122"/>
                <a:cs typeface="Consolas" pitchFamily="34" charset="-120"/>
              </a:rPr>
              <a:t>,</a:t>
            </a:r>
            <a:endParaRPr lang="en-US" sz="900" dirty="0"/>
          </a:p>
          <a:p>
            <a:pPr marL="0" indent="0">
              <a:lnSpc>
                <a:spcPct val="100000"/>
              </a:lnSpc>
              <a:buNone/>
            </a:pPr>
            <a:r>
              <a:rPr lang="en-US" sz="900" dirty="0">
                <a:solidFill>
                  <a:srgbClr val="DCE6F2"/>
                </a:solidFill>
                <a:latin typeface="Consolas" pitchFamily="34" charset="0"/>
                <a:ea typeface="Consolas" pitchFamily="34" charset="-122"/>
                <a:cs typeface="Consolas" pitchFamily="34" charset="-120"/>
              </a:rPr>
              <a:t>    </a:t>
            </a:r>
            <a:r>
              <a:rPr lang="en-US" sz="900" dirty="0">
                <a:solidFill>
                  <a:srgbClr val="7FD1FF"/>
                </a:solidFill>
                <a:latin typeface="Consolas" pitchFamily="34" charset="0"/>
                <a:ea typeface="Consolas" pitchFamily="34" charset="-122"/>
                <a:cs typeface="Consolas" pitchFamily="34" charset="-120"/>
              </a:rPr>
              <a:t>"Password"</a:t>
            </a:r>
            <a:r>
              <a:rPr lang="en-US" sz="900" dirty="0">
                <a:solidFill>
                  <a:srgbClr val="DCE6F2"/>
                </a:solidFill>
                <a:latin typeface="Consolas" pitchFamily="34" charset="0"/>
                <a:ea typeface="Consolas" pitchFamily="34" charset="-122"/>
                <a:cs typeface="Consolas" pitchFamily="34" charset="-120"/>
              </a:rPr>
              <a:t>: </a:t>
            </a:r>
            <a:r>
              <a:rPr lang="en-US" sz="900" dirty="0">
                <a:solidFill>
                  <a:srgbClr val="B5E48C"/>
                </a:solidFill>
                <a:latin typeface="Consolas" pitchFamily="34" charset="0"/>
                <a:ea typeface="Consolas" pitchFamily="34" charset="-122"/>
                <a:cs typeface="Consolas" pitchFamily="34" charset="-120"/>
              </a:rPr>
              <a:t>"********"</a:t>
            </a:r>
            <a:endParaRPr lang="en-US" sz="900" dirty="0"/>
          </a:p>
          <a:p>
            <a:pPr marL="0" indent="0">
              <a:lnSpc>
                <a:spcPct val="100000"/>
              </a:lnSpc>
              <a:buNone/>
            </a:pPr>
            <a:r>
              <a:rPr lang="en-US" sz="900" dirty="0">
                <a:solidFill>
                  <a:srgbClr val="DCE6F2"/>
                </a:solidFill>
                <a:latin typeface="Consolas" pitchFamily="34" charset="0"/>
                <a:ea typeface="Consolas" pitchFamily="34" charset="-122"/>
                <a:cs typeface="Consolas" pitchFamily="34" charset="-120"/>
              </a:rPr>
              <a:t>  }'</a:t>
            </a:r>
            <a:endParaRPr lang="en-US" sz="900" dirty="0"/>
          </a:p>
        </p:txBody>
      </p:sp>
      <p:sp>
        <p:nvSpPr>
          <p:cNvPr id="12" name="Shape 10"/>
          <p:cNvSpPr/>
          <p:nvPr/>
        </p:nvSpPr>
        <p:spPr>
          <a:xfrm>
            <a:off x="457200" y="3200400"/>
            <a:ext cx="4114800" cy="1554480"/>
          </a:xfrm>
          <a:prstGeom prst="roundRect">
            <a:avLst>
              <a:gd name="adj" fmla="val 4118"/>
            </a:avLst>
          </a:prstGeom>
          <a:solidFill>
            <a:srgbClr val="0E1B2E"/>
          </a:solidFill>
          <a:ln w="12700">
            <a:solidFill>
              <a:srgbClr val="0E1B2E"/>
            </a:solidFill>
            <a:prstDash val="solid"/>
          </a:ln>
          <a:effectLst>
            <a:outerShdw blurRad="101600" dist="25400" dir="5400000" algn="bl" rotWithShape="0">
              <a:srgbClr val="0B2A55">
                <a:alpha val="12000"/>
              </a:srgbClr>
            </a:outerShdw>
          </a:effectLst>
        </p:spPr>
      </p:sp>
      <p:sp>
        <p:nvSpPr>
          <p:cNvPr id="13" name="Shape 11"/>
          <p:cNvSpPr/>
          <p:nvPr/>
        </p:nvSpPr>
        <p:spPr>
          <a:xfrm>
            <a:off x="594360" y="3310128"/>
            <a:ext cx="73152" cy="73152"/>
          </a:xfrm>
          <a:prstGeom prst="ellipse">
            <a:avLst/>
          </a:prstGeom>
          <a:solidFill>
            <a:srgbClr val="FF5F56"/>
          </a:solidFill>
          <a:ln w="12700">
            <a:solidFill>
              <a:srgbClr val="FF5F56"/>
            </a:solidFill>
            <a:prstDash val="solid"/>
          </a:ln>
        </p:spPr>
      </p:sp>
      <p:sp>
        <p:nvSpPr>
          <p:cNvPr id="14" name="Shape 12"/>
          <p:cNvSpPr/>
          <p:nvPr/>
        </p:nvSpPr>
        <p:spPr>
          <a:xfrm>
            <a:off x="722376" y="3310128"/>
            <a:ext cx="73152" cy="73152"/>
          </a:xfrm>
          <a:prstGeom prst="ellipse">
            <a:avLst/>
          </a:prstGeom>
          <a:solidFill>
            <a:srgbClr val="FFBD2E"/>
          </a:solidFill>
          <a:ln w="12700">
            <a:solidFill>
              <a:srgbClr val="FFBD2E"/>
            </a:solidFill>
            <a:prstDash val="solid"/>
          </a:ln>
        </p:spPr>
      </p:sp>
      <p:sp>
        <p:nvSpPr>
          <p:cNvPr id="15" name="Shape 13"/>
          <p:cNvSpPr/>
          <p:nvPr/>
        </p:nvSpPr>
        <p:spPr>
          <a:xfrm>
            <a:off x="850392" y="3310128"/>
            <a:ext cx="73152" cy="73152"/>
          </a:xfrm>
          <a:prstGeom prst="ellipse">
            <a:avLst/>
          </a:prstGeom>
          <a:solidFill>
            <a:srgbClr val="27C93F"/>
          </a:solidFill>
          <a:ln w="12700">
            <a:solidFill>
              <a:srgbClr val="27C93F"/>
            </a:solidFill>
            <a:prstDash val="solid"/>
          </a:ln>
        </p:spPr>
      </p:sp>
      <p:sp>
        <p:nvSpPr>
          <p:cNvPr id="16" name="Text 14"/>
          <p:cNvSpPr txBox="1"/>
          <p:nvPr/>
        </p:nvSpPr>
        <p:spPr>
          <a:xfrm>
            <a:off x="1024128" y="3255264"/>
            <a:ext cx="3429000" cy="182880"/>
          </a:xfrm>
          <a:prstGeom prst="rect">
            <a:avLst/>
          </a:prstGeom>
          <a:noFill/>
          <a:ln/>
        </p:spPr>
        <p:txBody>
          <a:bodyPr wrap="square" lIns="0" tIns="0" rIns="0" bIns="0" rtlCol="0" anchor="ctr"/>
          <a:lstStyle/>
          <a:p>
            <a:pPr marL="0" indent="0">
              <a:buNone/>
            </a:pPr>
            <a:r>
              <a:rPr lang="en-US" sz="850" b="1" dirty="0">
                <a:solidFill>
                  <a:srgbClr val="F5A800"/>
                </a:solidFill>
                <a:latin typeface="Segoe UI" pitchFamily="34" charset="0"/>
                <a:ea typeface="Segoe UI" pitchFamily="34" charset="-122"/>
                <a:cs typeface="Segoe UI" pitchFamily="34" charset="-120"/>
              </a:rPr>
              <a:t>RESPONSE</a:t>
            </a:r>
            <a:endParaRPr lang="en-US" sz="850" dirty="0"/>
          </a:p>
        </p:txBody>
      </p:sp>
      <p:sp>
        <p:nvSpPr>
          <p:cNvPr id="17" name="Text 15"/>
          <p:cNvSpPr txBox="1"/>
          <p:nvPr/>
        </p:nvSpPr>
        <p:spPr>
          <a:xfrm>
            <a:off x="594360" y="3493008"/>
            <a:ext cx="3840480" cy="1188720"/>
          </a:xfrm>
          <a:prstGeom prst="rect">
            <a:avLst/>
          </a:prstGeom>
          <a:noFill/>
          <a:ln/>
        </p:spPr>
        <p:txBody>
          <a:bodyPr wrap="square" lIns="0" tIns="0" rIns="0" bIns="0" rtlCol="0" anchor="t"/>
          <a:lstStyle/>
          <a:p>
            <a:pPr marL="0" indent="0">
              <a:lnSpc>
                <a:spcPct val="100000"/>
              </a:lnSpc>
              <a:buNone/>
            </a:pPr>
            <a:r>
              <a:rPr lang="en-US" sz="900" dirty="0">
                <a:solidFill>
                  <a:srgbClr val="DCE6F2"/>
                </a:solidFill>
                <a:latin typeface="Consolas" pitchFamily="34" charset="0"/>
                <a:ea typeface="Consolas" pitchFamily="34" charset="-122"/>
                <a:cs typeface="Consolas" pitchFamily="34" charset="-120"/>
              </a:rPr>
              <a:t>HTTP/1.1 200 OK</a:t>
            </a:r>
            <a:endParaRPr lang="en-US" sz="900" dirty="0"/>
          </a:p>
          <a:p>
            <a:pPr marL="0" indent="0">
              <a:lnSpc>
                <a:spcPct val="100000"/>
              </a:lnSpc>
              <a:buNone/>
            </a:pPr>
            <a:r>
              <a:rPr lang="en-US" sz="900" dirty="0">
                <a:solidFill>
                  <a:srgbClr val="DCE6F2"/>
                </a:solidFill>
                <a:latin typeface="Consolas" pitchFamily="34" charset="0"/>
                <a:ea typeface="Consolas" pitchFamily="34" charset="-122"/>
                <a:cs typeface="Consolas" pitchFamily="34" charset="-120"/>
              </a:rPr>
              <a:t>Set-Cookie: B1SESSION=6f4c1a2e-...; HttpOnly</a:t>
            </a:r>
            <a:endParaRPr lang="en-US" sz="900" dirty="0"/>
          </a:p>
          <a:p>
            <a:pPr marL="0" indent="0">
              <a:lnSpc>
                <a:spcPct val="100000"/>
              </a:lnSpc>
              <a:buNone/>
            </a:pPr>
            <a:r>
              <a:rPr lang="en-US" sz="900" dirty="0">
                <a:solidFill>
                  <a:srgbClr val="DCE6F2"/>
                </a:solidFill>
                <a:latin typeface="Consolas" pitchFamily="34" charset="0"/>
                <a:ea typeface="Consolas" pitchFamily="34" charset="-122"/>
                <a:cs typeface="Consolas" pitchFamily="34" charset="-120"/>
              </a:rPr>
              <a:t>Set-Cookie: ROUTEID=.node2; path=/b1s</a:t>
            </a:r>
            <a:endParaRPr lang="en-US" sz="900" dirty="0"/>
          </a:p>
          <a:p>
            <a:pPr marL="0" indent="0">
              <a:lnSpc>
                <a:spcPct val="100000"/>
              </a:lnSpc>
              <a:buNone/>
            </a:pPr>
            <a:r>
              <a:rPr lang="en-US" sz="900" dirty="0">
                <a:solidFill>
                  <a:srgbClr val="DCE6F2"/>
                </a:solidFill>
                <a:latin typeface="Consolas" pitchFamily="34" charset="0"/>
                <a:ea typeface="Consolas" pitchFamily="34" charset="-122"/>
                <a:cs typeface="Consolas" pitchFamily="34" charset="-120"/>
              </a:rPr>
              <a:t>{</a:t>
            </a:r>
            <a:endParaRPr lang="en-US" sz="900" dirty="0"/>
          </a:p>
          <a:p>
            <a:pPr marL="0" indent="0">
              <a:lnSpc>
                <a:spcPct val="100000"/>
              </a:lnSpc>
              <a:buNone/>
            </a:pPr>
            <a:r>
              <a:rPr lang="en-US" sz="900" dirty="0">
                <a:solidFill>
                  <a:srgbClr val="DCE6F2"/>
                </a:solidFill>
                <a:latin typeface="Consolas" pitchFamily="34" charset="0"/>
                <a:ea typeface="Consolas" pitchFamily="34" charset="-122"/>
                <a:cs typeface="Consolas" pitchFamily="34" charset="-120"/>
              </a:rPr>
              <a:t>  </a:t>
            </a:r>
            <a:r>
              <a:rPr lang="en-US" sz="900" dirty="0">
                <a:solidFill>
                  <a:srgbClr val="7FD1FF"/>
                </a:solidFill>
                <a:latin typeface="Consolas" pitchFamily="34" charset="0"/>
                <a:ea typeface="Consolas" pitchFamily="34" charset="-122"/>
                <a:cs typeface="Consolas" pitchFamily="34" charset="-120"/>
              </a:rPr>
              <a:t>"SessionId"</a:t>
            </a:r>
            <a:r>
              <a:rPr lang="en-US" sz="900" dirty="0">
                <a:solidFill>
                  <a:srgbClr val="DCE6F2"/>
                </a:solidFill>
                <a:latin typeface="Consolas" pitchFamily="34" charset="0"/>
                <a:ea typeface="Consolas" pitchFamily="34" charset="-122"/>
                <a:cs typeface="Consolas" pitchFamily="34" charset="-120"/>
              </a:rPr>
              <a:t>: </a:t>
            </a:r>
            <a:r>
              <a:rPr lang="en-US" sz="900" dirty="0">
                <a:solidFill>
                  <a:srgbClr val="B5E48C"/>
                </a:solidFill>
                <a:latin typeface="Consolas" pitchFamily="34" charset="0"/>
                <a:ea typeface="Consolas" pitchFamily="34" charset="-122"/>
                <a:cs typeface="Consolas" pitchFamily="34" charset="-120"/>
              </a:rPr>
              <a:t>"6f4c1a2e-..."</a:t>
            </a:r>
            <a:r>
              <a:rPr lang="en-US" sz="900" dirty="0">
                <a:solidFill>
                  <a:srgbClr val="DCE6F2"/>
                </a:solidFill>
                <a:latin typeface="Consolas" pitchFamily="34" charset="0"/>
                <a:ea typeface="Consolas" pitchFamily="34" charset="-122"/>
                <a:cs typeface="Consolas" pitchFamily="34" charset="-120"/>
              </a:rPr>
              <a:t>,</a:t>
            </a:r>
            <a:endParaRPr lang="en-US" sz="900" dirty="0"/>
          </a:p>
          <a:p>
            <a:pPr marL="0" indent="0">
              <a:lnSpc>
                <a:spcPct val="100000"/>
              </a:lnSpc>
              <a:buNone/>
            </a:pPr>
            <a:r>
              <a:rPr lang="en-US" sz="900" dirty="0">
                <a:solidFill>
                  <a:srgbClr val="DCE6F2"/>
                </a:solidFill>
                <a:latin typeface="Consolas" pitchFamily="34" charset="0"/>
                <a:ea typeface="Consolas" pitchFamily="34" charset="-122"/>
                <a:cs typeface="Consolas" pitchFamily="34" charset="-120"/>
              </a:rPr>
              <a:t>  </a:t>
            </a:r>
            <a:r>
              <a:rPr lang="en-US" sz="900" dirty="0">
                <a:solidFill>
                  <a:srgbClr val="7FD1FF"/>
                </a:solidFill>
                <a:latin typeface="Consolas" pitchFamily="34" charset="0"/>
                <a:ea typeface="Consolas" pitchFamily="34" charset="-122"/>
                <a:cs typeface="Consolas" pitchFamily="34" charset="-120"/>
              </a:rPr>
              <a:t>"Version"</a:t>
            </a:r>
            <a:r>
              <a:rPr lang="en-US" sz="900" dirty="0">
                <a:solidFill>
                  <a:srgbClr val="DCE6F2"/>
                </a:solidFill>
                <a:latin typeface="Consolas" pitchFamily="34" charset="0"/>
                <a:ea typeface="Consolas" pitchFamily="34" charset="-122"/>
                <a:cs typeface="Consolas" pitchFamily="34" charset="-120"/>
              </a:rPr>
              <a:t>: </a:t>
            </a:r>
            <a:r>
              <a:rPr lang="en-US" sz="900" dirty="0">
                <a:solidFill>
                  <a:srgbClr val="B5E48C"/>
                </a:solidFill>
                <a:latin typeface="Consolas" pitchFamily="34" charset="0"/>
                <a:ea typeface="Consolas" pitchFamily="34" charset="-122"/>
                <a:cs typeface="Consolas" pitchFamily="34" charset="-120"/>
              </a:rPr>
              <a:t>"1000xxx"</a:t>
            </a:r>
            <a:r>
              <a:rPr lang="en-US" sz="900" dirty="0">
                <a:solidFill>
                  <a:srgbClr val="DCE6F2"/>
                </a:solidFill>
                <a:latin typeface="Consolas" pitchFamily="34" charset="0"/>
                <a:ea typeface="Consolas" pitchFamily="34" charset="-122"/>
                <a:cs typeface="Consolas" pitchFamily="34" charset="-120"/>
              </a:rPr>
              <a:t>,</a:t>
            </a:r>
            <a:endParaRPr lang="en-US" sz="900" dirty="0"/>
          </a:p>
          <a:p>
            <a:pPr marL="0" indent="0">
              <a:lnSpc>
                <a:spcPct val="100000"/>
              </a:lnSpc>
              <a:buNone/>
            </a:pPr>
            <a:r>
              <a:rPr lang="en-US" sz="900" dirty="0">
                <a:solidFill>
                  <a:srgbClr val="DCE6F2"/>
                </a:solidFill>
                <a:latin typeface="Consolas" pitchFamily="34" charset="0"/>
                <a:ea typeface="Consolas" pitchFamily="34" charset="-122"/>
                <a:cs typeface="Consolas" pitchFamily="34" charset="-120"/>
              </a:rPr>
              <a:t>  </a:t>
            </a:r>
            <a:r>
              <a:rPr lang="en-US" sz="900" dirty="0">
                <a:solidFill>
                  <a:srgbClr val="7FD1FF"/>
                </a:solidFill>
                <a:latin typeface="Consolas" pitchFamily="34" charset="0"/>
                <a:ea typeface="Consolas" pitchFamily="34" charset="-122"/>
                <a:cs typeface="Consolas" pitchFamily="34" charset="-120"/>
              </a:rPr>
              <a:t>"SessionTimeout"</a:t>
            </a:r>
            <a:r>
              <a:rPr lang="en-US" sz="900" dirty="0">
                <a:solidFill>
                  <a:srgbClr val="DCE6F2"/>
                </a:solidFill>
                <a:latin typeface="Consolas" pitchFamily="34" charset="0"/>
                <a:ea typeface="Consolas" pitchFamily="34" charset="-122"/>
                <a:cs typeface="Consolas" pitchFamily="34" charset="-120"/>
              </a:rPr>
              <a:t>: 30</a:t>
            </a:r>
            <a:endParaRPr lang="en-US" sz="900" dirty="0"/>
          </a:p>
          <a:p>
            <a:pPr marL="0" indent="0">
              <a:lnSpc>
                <a:spcPct val="100000"/>
              </a:lnSpc>
              <a:buNone/>
            </a:pPr>
            <a:r>
              <a:rPr lang="en-US" sz="900" dirty="0">
                <a:solidFill>
                  <a:srgbClr val="DCE6F2"/>
                </a:solidFill>
                <a:latin typeface="Consolas" pitchFamily="34" charset="0"/>
                <a:ea typeface="Consolas" pitchFamily="34" charset="-122"/>
                <a:cs typeface="Consolas" pitchFamily="34" charset="-120"/>
              </a:rPr>
              <a:t>}</a:t>
            </a:r>
            <a:endParaRPr lang="en-US" sz="900" dirty="0"/>
          </a:p>
        </p:txBody>
      </p:sp>
      <p:sp>
        <p:nvSpPr>
          <p:cNvPr id="18" name="Shape 16"/>
          <p:cNvSpPr/>
          <p:nvPr/>
        </p:nvSpPr>
        <p:spPr>
          <a:xfrm>
            <a:off x="4800600" y="1234440"/>
            <a:ext cx="3886200" cy="777240"/>
          </a:xfrm>
          <a:prstGeom prst="roundRect">
            <a:avLst>
              <a:gd name="adj" fmla="val 9412"/>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19" name="Shape 17"/>
          <p:cNvSpPr/>
          <p:nvPr/>
        </p:nvSpPr>
        <p:spPr>
          <a:xfrm>
            <a:off x="4937760" y="1389888"/>
            <a:ext cx="457200" cy="457200"/>
          </a:xfrm>
          <a:prstGeom prst="ellipse">
            <a:avLst/>
          </a:prstGeom>
          <a:solidFill>
            <a:srgbClr val="E8F1FC"/>
          </a:solidFill>
          <a:ln w="12700">
            <a:solidFill>
              <a:srgbClr val="E8F1FC"/>
            </a:solidFill>
            <a:prstDash val="solid"/>
          </a:ln>
        </p:spPr>
      </p:sp>
      <p:pic>
        <p:nvPicPr>
          <p:cNvPr id="20" name="Image 0" descr="preencoded.png"/>
          <p:cNvPicPr>
            <a:picLocks noChangeAspect="1"/>
          </p:cNvPicPr>
          <p:nvPr/>
        </p:nvPicPr>
        <p:blipFill>
          <a:blip r:embed="rId3"/>
          <a:stretch>
            <a:fillRect/>
          </a:stretch>
        </p:blipFill>
        <p:spPr>
          <a:xfrm>
            <a:off x="5056632" y="1508760"/>
            <a:ext cx="219456" cy="219456"/>
          </a:xfrm>
          <a:prstGeom prst="rect">
            <a:avLst/>
          </a:prstGeom>
        </p:spPr>
      </p:pic>
      <p:sp>
        <p:nvSpPr>
          <p:cNvPr id="21" name="Text 18"/>
          <p:cNvSpPr txBox="1"/>
          <p:nvPr/>
        </p:nvSpPr>
        <p:spPr>
          <a:xfrm>
            <a:off x="5532120" y="1325880"/>
            <a:ext cx="3017520" cy="256032"/>
          </a:xfrm>
          <a:prstGeom prst="rect">
            <a:avLst/>
          </a:prstGeom>
          <a:noFill/>
          <a:ln/>
        </p:spPr>
        <p:txBody>
          <a:bodyPr wrap="square" lIns="0" tIns="0" rIns="0" bIns="0" rtlCol="0" anchor="t"/>
          <a:lstStyle/>
          <a:p>
            <a:pPr marL="0" indent="0">
              <a:buNone/>
            </a:pPr>
            <a:r>
              <a:rPr lang="en-US" sz="1150" b="1" dirty="0">
                <a:solidFill>
                  <a:srgbClr val="071B3F"/>
                </a:solidFill>
                <a:latin typeface="Consolas" pitchFamily="34" charset="0"/>
                <a:ea typeface="Consolas" pitchFamily="34" charset="-122"/>
                <a:cs typeface="Consolas" pitchFamily="34" charset="-120"/>
              </a:rPr>
              <a:t>B1SESSION</a:t>
            </a:r>
            <a:endParaRPr lang="en-US" sz="1150" dirty="0"/>
          </a:p>
        </p:txBody>
      </p:sp>
      <p:sp>
        <p:nvSpPr>
          <p:cNvPr id="22" name="Text 19"/>
          <p:cNvSpPr txBox="1"/>
          <p:nvPr/>
        </p:nvSpPr>
        <p:spPr>
          <a:xfrm>
            <a:off x="5532120" y="1581912"/>
            <a:ext cx="3063240" cy="411480"/>
          </a:xfrm>
          <a:prstGeom prst="rect">
            <a:avLst/>
          </a:prstGeom>
          <a:noFill/>
          <a:ln/>
        </p:spPr>
        <p:txBody>
          <a:bodyPr wrap="square" lIns="0" tIns="0" rIns="0" bIns="0" rtlCol="0" anchor="t"/>
          <a:lstStyle/>
          <a:p>
            <a:pPr marL="0" indent="0">
              <a:buNone/>
            </a:pPr>
            <a:r>
              <a:rPr lang="en-US" sz="1000" dirty="0">
                <a:solidFill>
                  <a:srgbClr val="5B6B82"/>
                </a:solidFill>
                <a:latin typeface="Calibri" pitchFamily="34" charset="0"/>
                <a:ea typeface="Calibri" pitchFamily="34" charset="-122"/>
                <a:cs typeface="Calibri" pitchFamily="34" charset="-120"/>
              </a:rPr>
              <a:t>Token de sesión. Se envía como cookie en cada petición posterior.</a:t>
            </a:r>
            <a:endParaRPr lang="en-US" sz="1000" dirty="0"/>
          </a:p>
        </p:txBody>
      </p:sp>
      <p:sp>
        <p:nvSpPr>
          <p:cNvPr id="23" name="Shape 20"/>
          <p:cNvSpPr/>
          <p:nvPr/>
        </p:nvSpPr>
        <p:spPr>
          <a:xfrm>
            <a:off x="4800600" y="2121408"/>
            <a:ext cx="3886200" cy="777240"/>
          </a:xfrm>
          <a:prstGeom prst="roundRect">
            <a:avLst>
              <a:gd name="adj" fmla="val 9412"/>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24" name="Shape 21"/>
          <p:cNvSpPr/>
          <p:nvPr/>
        </p:nvSpPr>
        <p:spPr>
          <a:xfrm>
            <a:off x="4937760" y="2276856"/>
            <a:ext cx="457200" cy="457200"/>
          </a:xfrm>
          <a:prstGeom prst="ellipse">
            <a:avLst/>
          </a:prstGeom>
          <a:solidFill>
            <a:srgbClr val="E8F1FC"/>
          </a:solidFill>
          <a:ln w="12700">
            <a:solidFill>
              <a:srgbClr val="E8F1FC"/>
            </a:solidFill>
            <a:prstDash val="solid"/>
          </a:ln>
        </p:spPr>
      </p:sp>
      <p:pic>
        <p:nvPicPr>
          <p:cNvPr id="25" name="Image 1" descr="preencoded.png"/>
          <p:cNvPicPr>
            <a:picLocks noChangeAspect="1"/>
          </p:cNvPicPr>
          <p:nvPr/>
        </p:nvPicPr>
        <p:blipFill>
          <a:blip r:embed="rId4"/>
          <a:stretch>
            <a:fillRect/>
          </a:stretch>
        </p:blipFill>
        <p:spPr>
          <a:xfrm>
            <a:off x="5056632" y="2395728"/>
            <a:ext cx="219456" cy="219456"/>
          </a:xfrm>
          <a:prstGeom prst="rect">
            <a:avLst/>
          </a:prstGeom>
        </p:spPr>
      </p:pic>
      <p:sp>
        <p:nvSpPr>
          <p:cNvPr id="26" name="Text 22"/>
          <p:cNvSpPr txBox="1"/>
          <p:nvPr/>
        </p:nvSpPr>
        <p:spPr>
          <a:xfrm>
            <a:off x="5532120" y="2212848"/>
            <a:ext cx="3017520" cy="256032"/>
          </a:xfrm>
          <a:prstGeom prst="rect">
            <a:avLst/>
          </a:prstGeom>
          <a:noFill/>
          <a:ln/>
        </p:spPr>
        <p:txBody>
          <a:bodyPr wrap="square" lIns="0" tIns="0" rIns="0" bIns="0" rtlCol="0" anchor="t"/>
          <a:lstStyle/>
          <a:p>
            <a:pPr marL="0" indent="0">
              <a:buNone/>
            </a:pPr>
            <a:r>
              <a:rPr lang="en-US" sz="1150" b="1" dirty="0">
                <a:solidFill>
                  <a:srgbClr val="071B3F"/>
                </a:solidFill>
                <a:latin typeface="Consolas" pitchFamily="34" charset="0"/>
                <a:ea typeface="Consolas" pitchFamily="34" charset="-122"/>
                <a:cs typeface="Consolas" pitchFamily="34" charset="-120"/>
              </a:rPr>
              <a:t>ROUTEID</a:t>
            </a:r>
            <a:endParaRPr lang="en-US" sz="1150" dirty="0"/>
          </a:p>
        </p:txBody>
      </p:sp>
      <p:sp>
        <p:nvSpPr>
          <p:cNvPr id="27" name="Text 23"/>
          <p:cNvSpPr txBox="1"/>
          <p:nvPr/>
        </p:nvSpPr>
        <p:spPr>
          <a:xfrm>
            <a:off x="5532120" y="2468880"/>
            <a:ext cx="3063240" cy="411480"/>
          </a:xfrm>
          <a:prstGeom prst="rect">
            <a:avLst/>
          </a:prstGeom>
          <a:noFill/>
          <a:ln/>
        </p:spPr>
        <p:txBody>
          <a:bodyPr wrap="square" lIns="0" tIns="0" rIns="0" bIns="0" rtlCol="0" anchor="t"/>
          <a:lstStyle/>
          <a:p>
            <a:pPr marL="0" indent="0">
              <a:buNone/>
            </a:pPr>
            <a:r>
              <a:rPr lang="en-US" sz="1000" dirty="0">
                <a:solidFill>
                  <a:srgbClr val="5B6B82"/>
                </a:solidFill>
                <a:latin typeface="Calibri" pitchFamily="34" charset="0"/>
                <a:ea typeface="Calibri" pitchFamily="34" charset="-122"/>
                <a:cs typeface="Calibri" pitchFamily="34" charset="-120"/>
              </a:rPr>
              <a:t>Identifica el nodo que creó la sesión (afinidad en el balanceador).</a:t>
            </a:r>
            <a:endParaRPr lang="en-US" sz="1000" dirty="0"/>
          </a:p>
        </p:txBody>
      </p:sp>
      <p:sp>
        <p:nvSpPr>
          <p:cNvPr id="28" name="Shape 24"/>
          <p:cNvSpPr/>
          <p:nvPr/>
        </p:nvSpPr>
        <p:spPr>
          <a:xfrm>
            <a:off x="4800600" y="3008376"/>
            <a:ext cx="3886200" cy="777240"/>
          </a:xfrm>
          <a:prstGeom prst="roundRect">
            <a:avLst>
              <a:gd name="adj" fmla="val 9412"/>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29" name="Shape 25"/>
          <p:cNvSpPr/>
          <p:nvPr/>
        </p:nvSpPr>
        <p:spPr>
          <a:xfrm>
            <a:off x="4937760" y="3163824"/>
            <a:ext cx="457200" cy="457200"/>
          </a:xfrm>
          <a:prstGeom prst="ellipse">
            <a:avLst/>
          </a:prstGeom>
          <a:solidFill>
            <a:srgbClr val="E8F1FC"/>
          </a:solidFill>
          <a:ln w="12700">
            <a:solidFill>
              <a:srgbClr val="E8F1FC"/>
            </a:solidFill>
            <a:prstDash val="solid"/>
          </a:ln>
        </p:spPr>
      </p:sp>
      <p:pic>
        <p:nvPicPr>
          <p:cNvPr id="30" name="Image 2" descr="preencoded.png"/>
          <p:cNvPicPr>
            <a:picLocks noChangeAspect="1"/>
          </p:cNvPicPr>
          <p:nvPr/>
        </p:nvPicPr>
        <p:blipFill>
          <a:blip r:embed="rId5"/>
          <a:stretch>
            <a:fillRect/>
          </a:stretch>
        </p:blipFill>
        <p:spPr>
          <a:xfrm>
            <a:off x="5056632" y="3282696"/>
            <a:ext cx="219456" cy="219456"/>
          </a:xfrm>
          <a:prstGeom prst="rect">
            <a:avLst/>
          </a:prstGeom>
        </p:spPr>
      </p:pic>
      <p:sp>
        <p:nvSpPr>
          <p:cNvPr id="31" name="Text 26"/>
          <p:cNvSpPr txBox="1"/>
          <p:nvPr/>
        </p:nvSpPr>
        <p:spPr>
          <a:xfrm>
            <a:off x="5532120" y="3099816"/>
            <a:ext cx="3017520" cy="256032"/>
          </a:xfrm>
          <a:prstGeom prst="rect">
            <a:avLst/>
          </a:prstGeom>
          <a:noFill/>
          <a:ln/>
        </p:spPr>
        <p:txBody>
          <a:bodyPr wrap="square" lIns="0" tIns="0" rIns="0" bIns="0" rtlCol="0" anchor="t"/>
          <a:lstStyle/>
          <a:p>
            <a:pPr marL="0" indent="0">
              <a:buNone/>
            </a:pPr>
            <a:r>
              <a:rPr lang="en-US" sz="1150" b="1" dirty="0">
                <a:solidFill>
                  <a:srgbClr val="071B3F"/>
                </a:solidFill>
                <a:latin typeface="Consolas" pitchFamily="34" charset="0"/>
                <a:ea typeface="Consolas" pitchFamily="34" charset="-122"/>
                <a:cs typeface="Consolas" pitchFamily="34" charset="-120"/>
              </a:rPr>
              <a:t>SessionTimeout</a:t>
            </a:r>
            <a:endParaRPr lang="en-US" sz="1150" dirty="0"/>
          </a:p>
        </p:txBody>
      </p:sp>
      <p:sp>
        <p:nvSpPr>
          <p:cNvPr id="32" name="Text 27"/>
          <p:cNvSpPr txBox="1"/>
          <p:nvPr/>
        </p:nvSpPr>
        <p:spPr>
          <a:xfrm>
            <a:off x="5532120" y="3355848"/>
            <a:ext cx="3063240" cy="411480"/>
          </a:xfrm>
          <a:prstGeom prst="rect">
            <a:avLst/>
          </a:prstGeom>
          <a:noFill/>
          <a:ln/>
        </p:spPr>
        <p:txBody>
          <a:bodyPr wrap="square" lIns="0" tIns="0" rIns="0" bIns="0" rtlCol="0" anchor="t"/>
          <a:lstStyle/>
          <a:p>
            <a:pPr marL="0" indent="0">
              <a:buNone/>
            </a:pPr>
            <a:r>
              <a:rPr lang="en-US" sz="1000" dirty="0">
                <a:solidFill>
                  <a:srgbClr val="5B6B82"/>
                </a:solidFill>
                <a:latin typeface="Calibri" pitchFamily="34" charset="0"/>
                <a:ea typeface="Calibri" pitchFamily="34" charset="-122"/>
                <a:cs typeface="Calibri" pitchFamily="34" charset="-120"/>
              </a:rPr>
              <a:t>Minutos de inactividad antes de expirar. Luego: 401 → re-login.</a:t>
            </a:r>
            <a:endParaRPr lang="en-US" sz="1000" dirty="0"/>
          </a:p>
        </p:txBody>
      </p:sp>
      <p:sp>
        <p:nvSpPr>
          <p:cNvPr id="33" name="Shape 28"/>
          <p:cNvSpPr/>
          <p:nvPr/>
        </p:nvSpPr>
        <p:spPr>
          <a:xfrm>
            <a:off x="4800600" y="3895344"/>
            <a:ext cx="3886200" cy="777240"/>
          </a:xfrm>
          <a:prstGeom prst="roundRect">
            <a:avLst>
              <a:gd name="adj" fmla="val 9412"/>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34" name="Shape 29"/>
          <p:cNvSpPr/>
          <p:nvPr/>
        </p:nvSpPr>
        <p:spPr>
          <a:xfrm>
            <a:off x="4937760" y="4050792"/>
            <a:ext cx="457200" cy="457200"/>
          </a:xfrm>
          <a:prstGeom prst="ellipse">
            <a:avLst/>
          </a:prstGeom>
          <a:solidFill>
            <a:srgbClr val="E8F1FC"/>
          </a:solidFill>
          <a:ln w="12700">
            <a:solidFill>
              <a:srgbClr val="E8F1FC"/>
            </a:solidFill>
            <a:prstDash val="solid"/>
          </a:ln>
        </p:spPr>
      </p:sp>
      <p:pic>
        <p:nvPicPr>
          <p:cNvPr id="35" name="Image 3" descr="preencoded.png"/>
          <p:cNvPicPr>
            <a:picLocks noChangeAspect="1"/>
          </p:cNvPicPr>
          <p:nvPr/>
        </p:nvPicPr>
        <p:blipFill>
          <a:blip r:embed="rId6"/>
          <a:stretch>
            <a:fillRect/>
          </a:stretch>
        </p:blipFill>
        <p:spPr>
          <a:xfrm>
            <a:off x="5056632" y="4169664"/>
            <a:ext cx="219456" cy="219456"/>
          </a:xfrm>
          <a:prstGeom prst="rect">
            <a:avLst/>
          </a:prstGeom>
        </p:spPr>
      </p:pic>
      <p:sp>
        <p:nvSpPr>
          <p:cNvPr id="36" name="Text 30"/>
          <p:cNvSpPr txBox="1"/>
          <p:nvPr/>
        </p:nvSpPr>
        <p:spPr>
          <a:xfrm>
            <a:off x="5532120" y="3986784"/>
            <a:ext cx="3017520" cy="256032"/>
          </a:xfrm>
          <a:prstGeom prst="rect">
            <a:avLst/>
          </a:prstGeom>
          <a:noFill/>
          <a:ln/>
        </p:spPr>
        <p:txBody>
          <a:bodyPr wrap="square" lIns="0" tIns="0" rIns="0" bIns="0" rtlCol="0" anchor="t"/>
          <a:lstStyle/>
          <a:p>
            <a:pPr marL="0" indent="0">
              <a:buNone/>
            </a:pPr>
            <a:r>
              <a:rPr lang="en-US" sz="1150" b="1" dirty="0">
                <a:solidFill>
                  <a:srgbClr val="071B3F"/>
                </a:solidFill>
                <a:latin typeface="Consolas" pitchFamily="34" charset="0"/>
                <a:ea typeface="Consolas" pitchFamily="34" charset="-122"/>
                <a:cs typeface="Consolas" pitchFamily="34" charset="-120"/>
              </a:rPr>
              <a:t>POST /Logout</a:t>
            </a:r>
            <a:endParaRPr lang="en-US" sz="1150" dirty="0"/>
          </a:p>
        </p:txBody>
      </p:sp>
      <p:sp>
        <p:nvSpPr>
          <p:cNvPr id="37" name="Text 31"/>
          <p:cNvSpPr txBox="1"/>
          <p:nvPr/>
        </p:nvSpPr>
        <p:spPr>
          <a:xfrm>
            <a:off x="5532120" y="4242816"/>
            <a:ext cx="3063240" cy="411480"/>
          </a:xfrm>
          <a:prstGeom prst="rect">
            <a:avLst/>
          </a:prstGeom>
          <a:noFill/>
          <a:ln/>
        </p:spPr>
        <p:txBody>
          <a:bodyPr wrap="square" lIns="0" tIns="0" rIns="0" bIns="0" rtlCol="0" anchor="t"/>
          <a:lstStyle/>
          <a:p>
            <a:pPr marL="0" indent="0">
              <a:buNone/>
            </a:pPr>
            <a:r>
              <a:rPr lang="en-US" sz="1000" dirty="0">
                <a:solidFill>
                  <a:srgbClr val="5B6B82"/>
                </a:solidFill>
                <a:latin typeface="Calibri" pitchFamily="34" charset="0"/>
                <a:ea typeface="Calibri" pitchFamily="34" charset="-122"/>
                <a:cs typeface="Calibri" pitchFamily="34" charset="-120"/>
              </a:rPr>
              <a:t>Cierra la sesión y libera la licencia. Respuesta 204 No Content.</a:t>
            </a:r>
            <a:endParaRPr lang="en-US" sz="1000" dirty="0"/>
          </a:p>
        </p:txBody>
      </p:sp>
      <p:sp>
        <p:nvSpPr>
          <p:cNvPr id="38"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xmlns="" val="0"/>
            </a:ext>
          </a:extLst>
        </p:spPr>
        <p:txBody>
          <a:bodyPr/>
          <a:lstStyle>
            <a:lvl1pPr>
              <a:defRPr sz="800">
                <a:solidFill>
                  <a:srgbClr val="8A9AB0"/>
                </a:solidFill>
                <a:latin typeface="Calibri"/>
                <a:ea typeface="Calibri"/>
                <a:cs typeface="Calibri"/>
              </a:defRPr>
            </a:lvl1pPr>
          </a:lstStyle>
          <a:p>
            <a:pPr algn="r"/>
            <a:fld id="{F7021451-1387-4CA6-816F-3879F97B5CBC}" type="slidenum">
              <a:rPr lang="en-US" b="0"/>
              <a:t>15</a:t>
            </a:fld>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457200" y="256032"/>
            <a:ext cx="2362810" cy="237744"/>
          </a:xfrm>
          <a:prstGeom prst="roundRect">
            <a:avLst>
              <a:gd name="adj" fmla="val 50000"/>
            </a:avLst>
          </a:prstGeom>
          <a:solidFill>
            <a:srgbClr val="071B3F"/>
          </a:solidFill>
          <a:ln w="12700">
            <a:solidFill>
              <a:srgbClr val="071B3F"/>
            </a:solidFill>
            <a:prstDash val="solid"/>
          </a:ln>
        </p:spPr>
      </p:sp>
      <p:sp>
        <p:nvSpPr>
          <p:cNvPr id="3" name="Text 1"/>
          <p:cNvSpPr txBox="1"/>
          <p:nvPr/>
        </p:nvSpPr>
        <p:spPr>
          <a:xfrm>
            <a:off x="457200" y="256032"/>
            <a:ext cx="2362810" cy="237744"/>
          </a:xfrm>
          <a:prstGeom prst="rect">
            <a:avLst/>
          </a:prstGeom>
          <a:noFill/>
          <a:ln/>
        </p:spPr>
        <p:txBody>
          <a:bodyPr wrap="square" lIns="0" tIns="0" rIns="0" bIns="0" rtlCol="0" anchor="ctr"/>
          <a:lstStyle/>
          <a:p>
            <a:pPr marL="0" indent="0" algn="ctr">
              <a:buNone/>
            </a:pPr>
            <a:r>
              <a:rPr lang="en-US" sz="850" b="1" kern="0" spc="100" dirty="0">
                <a:solidFill>
                  <a:srgbClr val="F5A800"/>
                </a:solidFill>
                <a:latin typeface="Segoe UI" pitchFamily="34" charset="0"/>
                <a:ea typeface="Segoe UI" pitchFamily="34" charset="-122"/>
                <a:cs typeface="Segoe UI" pitchFamily="34" charset="-120"/>
              </a:rPr>
              <a:t>03  ·  FLUJOS DE OPERACIÓN I</a:t>
            </a:r>
            <a:endParaRPr lang="en-US" sz="850" dirty="0"/>
          </a:p>
        </p:txBody>
      </p:sp>
      <p:sp>
        <p:nvSpPr>
          <p:cNvPr id="4" name="Text 2"/>
          <p:cNvSpPr txBox="1"/>
          <p:nvPr/>
        </p:nvSpPr>
        <p:spPr>
          <a:xfrm>
            <a:off x="457200" y="566928"/>
            <a:ext cx="8229600" cy="502920"/>
          </a:xfrm>
          <a:prstGeom prst="rect">
            <a:avLst/>
          </a:prstGeom>
          <a:noFill/>
          <a:ln/>
        </p:spPr>
        <p:txBody>
          <a:bodyPr wrap="square" lIns="0" tIns="0" rIns="0" bIns="0" rtlCol="0" anchor="ctr"/>
          <a:lstStyle/>
          <a:p>
            <a:pPr marL="0" indent="0">
              <a:buNone/>
            </a:pPr>
            <a:r>
              <a:rPr lang="en-US" sz="2400" b="1" dirty="0">
                <a:solidFill>
                  <a:srgbClr val="071B3F"/>
                </a:solidFill>
                <a:latin typeface="Segoe UI" pitchFamily="34" charset="0"/>
                <a:ea typeface="Segoe UI" pitchFamily="34" charset="-122"/>
                <a:cs typeface="Segoe UI" pitchFamily="34" charset="-120"/>
              </a:rPr>
              <a:t>Consumo de endpoints: anatomía de una URL</a:t>
            </a:r>
            <a:endParaRPr lang="en-US" sz="2400" dirty="0"/>
          </a:p>
        </p:txBody>
      </p:sp>
      <p:sp>
        <p:nvSpPr>
          <p:cNvPr id="5" name="Text 3"/>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00" dirty="0">
                <a:solidFill>
                  <a:srgbClr val="8A9AB0"/>
                </a:solidFill>
                <a:latin typeface="Calibri" pitchFamily="34" charset="0"/>
                <a:ea typeface="Calibri" pitchFamily="34" charset="-122"/>
                <a:cs typeface="Calibri" pitchFamily="34" charset="-120"/>
              </a:rPr>
              <a:t>Ventura Soluciones  |  SAP Business One · Service Layer</a:t>
            </a:r>
            <a:endParaRPr lang="en-US" sz="800" dirty="0"/>
          </a:p>
        </p:txBody>
      </p:sp>
      <p:sp>
        <p:nvSpPr>
          <p:cNvPr id="6" name="Shape 4"/>
          <p:cNvSpPr/>
          <p:nvPr/>
        </p:nvSpPr>
        <p:spPr>
          <a:xfrm>
            <a:off x="457200" y="1234440"/>
            <a:ext cx="8229600" cy="1234440"/>
          </a:xfrm>
          <a:prstGeom prst="roundRect">
            <a:avLst>
              <a:gd name="adj" fmla="val 5926"/>
            </a:avLst>
          </a:prstGeom>
          <a:solidFill>
            <a:srgbClr val="071B3F"/>
          </a:solidFill>
          <a:ln w="9525">
            <a:solidFill>
              <a:srgbClr val="D5DFEC"/>
            </a:solidFill>
            <a:prstDash val="solid"/>
          </a:ln>
          <a:effectLst>
            <a:outerShdw blurRad="101600" dist="25400" dir="5400000" algn="bl" rotWithShape="0">
              <a:srgbClr val="0B2A55">
                <a:alpha val="12000"/>
              </a:srgbClr>
            </a:outerShdw>
          </a:effectLst>
        </p:spPr>
      </p:sp>
      <p:sp>
        <p:nvSpPr>
          <p:cNvPr id="7" name="Text 5"/>
          <p:cNvSpPr txBox="1"/>
          <p:nvPr/>
        </p:nvSpPr>
        <p:spPr>
          <a:xfrm>
            <a:off x="731520" y="1417320"/>
            <a:ext cx="2406701" cy="365760"/>
          </a:xfrm>
          <a:prstGeom prst="rect">
            <a:avLst/>
          </a:prstGeom>
          <a:noFill/>
          <a:ln/>
        </p:spPr>
        <p:txBody>
          <a:bodyPr wrap="square" lIns="0" tIns="0" rIns="0" bIns="0" rtlCol="0" anchor="ctr"/>
          <a:lstStyle/>
          <a:p>
            <a:pPr marL="0" indent="0">
              <a:buNone/>
            </a:pPr>
            <a:r>
              <a:rPr lang="en-US" sz="1300" b="1" dirty="0">
                <a:solidFill>
                  <a:srgbClr val="FFFFFF"/>
                </a:solidFill>
                <a:latin typeface="Consolas" pitchFamily="34" charset="0"/>
                <a:ea typeface="Consolas" pitchFamily="34" charset="-122"/>
                <a:cs typeface="Consolas" pitchFamily="34" charset="-120"/>
              </a:rPr>
              <a:t>https://sapserver:50000</a:t>
            </a:r>
            <a:endParaRPr lang="en-US" sz="1300" dirty="0"/>
          </a:p>
        </p:txBody>
      </p:sp>
      <p:sp>
        <p:nvSpPr>
          <p:cNvPr id="8" name="Shape 6"/>
          <p:cNvSpPr/>
          <p:nvPr/>
        </p:nvSpPr>
        <p:spPr>
          <a:xfrm>
            <a:off x="749808" y="1847088"/>
            <a:ext cx="2296973" cy="0"/>
          </a:xfrm>
          <a:prstGeom prst="line">
            <a:avLst/>
          </a:prstGeom>
          <a:noFill/>
          <a:ln w="19050">
            <a:solidFill>
              <a:srgbClr val="FFFFFF"/>
            </a:solidFill>
            <a:prstDash val="solid"/>
          </a:ln>
        </p:spPr>
      </p:sp>
      <p:sp>
        <p:nvSpPr>
          <p:cNvPr id="9" name="Text 7"/>
          <p:cNvSpPr txBox="1"/>
          <p:nvPr/>
        </p:nvSpPr>
        <p:spPr>
          <a:xfrm>
            <a:off x="731520" y="1920240"/>
            <a:ext cx="2406701" cy="365760"/>
          </a:xfrm>
          <a:prstGeom prst="rect">
            <a:avLst/>
          </a:prstGeom>
          <a:noFill/>
          <a:ln/>
        </p:spPr>
        <p:txBody>
          <a:bodyPr wrap="square" lIns="0" tIns="0" rIns="0" bIns="0" rtlCol="0" anchor="t"/>
          <a:lstStyle/>
          <a:p>
            <a:pPr marL="0" indent="0">
              <a:buNone/>
            </a:pPr>
            <a:r>
              <a:rPr lang="en-US" sz="950" dirty="0">
                <a:solidFill>
                  <a:srgbClr val="B9D3F0"/>
                </a:solidFill>
                <a:latin typeface="Calibri" pitchFamily="34" charset="0"/>
                <a:ea typeface="Calibri" pitchFamily="34" charset="-122"/>
                <a:cs typeface="Calibri" pitchFamily="34" charset="-120"/>
              </a:rPr>
              <a:t>Host + puerto del balanceador</a:t>
            </a:r>
            <a:endParaRPr lang="en-US" sz="950" dirty="0"/>
          </a:p>
        </p:txBody>
      </p:sp>
      <p:sp>
        <p:nvSpPr>
          <p:cNvPr id="10" name="Text 8"/>
          <p:cNvSpPr txBox="1"/>
          <p:nvPr/>
        </p:nvSpPr>
        <p:spPr>
          <a:xfrm>
            <a:off x="3138221" y="1417320"/>
            <a:ext cx="819302" cy="365760"/>
          </a:xfrm>
          <a:prstGeom prst="rect">
            <a:avLst/>
          </a:prstGeom>
          <a:noFill/>
          <a:ln/>
        </p:spPr>
        <p:txBody>
          <a:bodyPr wrap="square" lIns="0" tIns="0" rIns="0" bIns="0" rtlCol="0" anchor="ctr"/>
          <a:lstStyle/>
          <a:p>
            <a:pPr marL="0" indent="0">
              <a:buNone/>
            </a:pPr>
            <a:r>
              <a:rPr lang="en-US" sz="1300" b="1" dirty="0">
                <a:solidFill>
                  <a:srgbClr val="29B6F6"/>
                </a:solidFill>
                <a:latin typeface="Consolas" pitchFamily="34" charset="0"/>
                <a:ea typeface="Consolas" pitchFamily="34" charset="-122"/>
                <a:cs typeface="Consolas" pitchFamily="34" charset="-120"/>
              </a:rPr>
              <a:t>/b1s/v1</a:t>
            </a:r>
            <a:endParaRPr lang="en-US" sz="1300" dirty="0"/>
          </a:p>
        </p:txBody>
      </p:sp>
      <p:sp>
        <p:nvSpPr>
          <p:cNvPr id="11" name="Shape 9"/>
          <p:cNvSpPr/>
          <p:nvPr/>
        </p:nvSpPr>
        <p:spPr>
          <a:xfrm>
            <a:off x="3156509" y="1847088"/>
            <a:ext cx="709574" cy="0"/>
          </a:xfrm>
          <a:prstGeom prst="line">
            <a:avLst/>
          </a:prstGeom>
          <a:noFill/>
          <a:ln w="19050">
            <a:solidFill>
              <a:srgbClr val="29B6F6"/>
            </a:solidFill>
            <a:prstDash val="solid"/>
          </a:ln>
        </p:spPr>
      </p:sp>
      <p:sp>
        <p:nvSpPr>
          <p:cNvPr id="12" name="Text 10"/>
          <p:cNvSpPr txBox="1"/>
          <p:nvPr/>
        </p:nvSpPr>
        <p:spPr>
          <a:xfrm>
            <a:off x="3138221" y="1920240"/>
            <a:ext cx="819302" cy="365760"/>
          </a:xfrm>
          <a:prstGeom prst="rect">
            <a:avLst/>
          </a:prstGeom>
          <a:noFill/>
          <a:ln/>
        </p:spPr>
        <p:txBody>
          <a:bodyPr wrap="square" lIns="0" tIns="0" rIns="0" bIns="0" rtlCol="0" anchor="t"/>
          <a:lstStyle/>
          <a:p>
            <a:pPr marL="0" indent="0">
              <a:buNone/>
            </a:pPr>
            <a:r>
              <a:rPr lang="en-US" sz="950" dirty="0">
                <a:solidFill>
                  <a:srgbClr val="B9D3F0"/>
                </a:solidFill>
                <a:latin typeface="Calibri" pitchFamily="34" charset="0"/>
                <a:ea typeface="Calibri" pitchFamily="34" charset="-122"/>
                <a:cs typeface="Calibri" pitchFamily="34" charset="-120"/>
              </a:rPr>
              <a:t>Versión (OData v3)</a:t>
            </a:r>
            <a:endParaRPr lang="en-US" sz="950" dirty="0"/>
          </a:p>
        </p:txBody>
      </p:sp>
      <p:sp>
        <p:nvSpPr>
          <p:cNvPr id="13" name="Text 11"/>
          <p:cNvSpPr txBox="1"/>
          <p:nvPr/>
        </p:nvSpPr>
        <p:spPr>
          <a:xfrm>
            <a:off x="3957523" y="1417320"/>
            <a:ext cx="1331366" cy="365760"/>
          </a:xfrm>
          <a:prstGeom prst="rect">
            <a:avLst/>
          </a:prstGeom>
          <a:noFill/>
          <a:ln/>
        </p:spPr>
        <p:txBody>
          <a:bodyPr wrap="square" lIns="0" tIns="0" rIns="0" bIns="0" rtlCol="0" anchor="ctr"/>
          <a:lstStyle/>
          <a:p>
            <a:pPr marL="0" indent="0">
              <a:buNone/>
            </a:pPr>
            <a:r>
              <a:rPr lang="en-US" sz="1300" b="1" dirty="0">
                <a:solidFill>
                  <a:srgbClr val="F5A800"/>
                </a:solidFill>
                <a:latin typeface="Consolas" pitchFamily="34" charset="0"/>
                <a:ea typeface="Consolas" pitchFamily="34" charset="-122"/>
                <a:cs typeface="Consolas" pitchFamily="34" charset="-120"/>
              </a:rPr>
              <a:t>/Orders(125)</a:t>
            </a:r>
            <a:endParaRPr lang="en-US" sz="1300" dirty="0"/>
          </a:p>
        </p:txBody>
      </p:sp>
      <p:sp>
        <p:nvSpPr>
          <p:cNvPr id="14" name="Shape 12"/>
          <p:cNvSpPr/>
          <p:nvPr/>
        </p:nvSpPr>
        <p:spPr>
          <a:xfrm>
            <a:off x="3975811" y="1847088"/>
            <a:ext cx="1221638" cy="0"/>
          </a:xfrm>
          <a:prstGeom prst="line">
            <a:avLst/>
          </a:prstGeom>
          <a:noFill/>
          <a:ln w="19050">
            <a:solidFill>
              <a:srgbClr val="F5A800"/>
            </a:solidFill>
            <a:prstDash val="solid"/>
          </a:ln>
        </p:spPr>
      </p:sp>
      <p:sp>
        <p:nvSpPr>
          <p:cNvPr id="15" name="Text 13"/>
          <p:cNvSpPr txBox="1"/>
          <p:nvPr/>
        </p:nvSpPr>
        <p:spPr>
          <a:xfrm>
            <a:off x="3957523" y="1920240"/>
            <a:ext cx="1331366" cy="365760"/>
          </a:xfrm>
          <a:prstGeom prst="rect">
            <a:avLst/>
          </a:prstGeom>
          <a:noFill/>
          <a:ln/>
        </p:spPr>
        <p:txBody>
          <a:bodyPr wrap="square" lIns="0" tIns="0" rIns="0" bIns="0" rtlCol="0" anchor="t"/>
          <a:lstStyle/>
          <a:p>
            <a:pPr marL="0" indent="0">
              <a:buNone/>
            </a:pPr>
            <a:r>
              <a:rPr lang="en-US" sz="950" dirty="0">
                <a:solidFill>
                  <a:srgbClr val="B9D3F0"/>
                </a:solidFill>
                <a:latin typeface="Calibri" pitchFamily="34" charset="0"/>
                <a:ea typeface="Calibri" pitchFamily="34" charset="-122"/>
                <a:cs typeface="Calibri" pitchFamily="34" charset="-120"/>
              </a:rPr>
              <a:t>Entidad + clave</a:t>
            </a:r>
            <a:endParaRPr lang="en-US" sz="950" dirty="0"/>
          </a:p>
        </p:txBody>
      </p:sp>
      <p:sp>
        <p:nvSpPr>
          <p:cNvPr id="16" name="Text 14"/>
          <p:cNvSpPr txBox="1"/>
          <p:nvPr/>
        </p:nvSpPr>
        <p:spPr>
          <a:xfrm>
            <a:off x="5288890" y="1417320"/>
            <a:ext cx="2611526" cy="365760"/>
          </a:xfrm>
          <a:prstGeom prst="rect">
            <a:avLst/>
          </a:prstGeom>
          <a:noFill/>
          <a:ln/>
        </p:spPr>
        <p:txBody>
          <a:bodyPr wrap="square" lIns="0" tIns="0" rIns="0" bIns="0" rtlCol="0" anchor="ctr"/>
          <a:lstStyle/>
          <a:p>
            <a:pPr marL="0" indent="0">
              <a:buNone/>
            </a:pPr>
            <a:r>
              <a:rPr lang="en-US" sz="1300" b="1" dirty="0">
                <a:solidFill>
                  <a:srgbClr val="B5E48C"/>
                </a:solidFill>
                <a:latin typeface="Consolas" pitchFamily="34" charset="0"/>
                <a:ea typeface="Consolas" pitchFamily="34" charset="-122"/>
                <a:cs typeface="Consolas" pitchFamily="34" charset="-120"/>
              </a:rPr>
              <a:t>?$select=DocNum,CardCode</a:t>
            </a:r>
            <a:endParaRPr lang="en-US" sz="1300" dirty="0"/>
          </a:p>
        </p:txBody>
      </p:sp>
      <p:sp>
        <p:nvSpPr>
          <p:cNvPr id="17" name="Shape 15"/>
          <p:cNvSpPr/>
          <p:nvPr/>
        </p:nvSpPr>
        <p:spPr>
          <a:xfrm>
            <a:off x="5307178" y="1847088"/>
            <a:ext cx="2501798" cy="0"/>
          </a:xfrm>
          <a:prstGeom prst="line">
            <a:avLst/>
          </a:prstGeom>
          <a:noFill/>
          <a:ln w="19050">
            <a:solidFill>
              <a:srgbClr val="B5E48C"/>
            </a:solidFill>
            <a:prstDash val="solid"/>
          </a:ln>
        </p:spPr>
      </p:sp>
      <p:sp>
        <p:nvSpPr>
          <p:cNvPr id="18" name="Text 16"/>
          <p:cNvSpPr txBox="1"/>
          <p:nvPr/>
        </p:nvSpPr>
        <p:spPr>
          <a:xfrm>
            <a:off x="5288890" y="1920240"/>
            <a:ext cx="2611526" cy="365760"/>
          </a:xfrm>
          <a:prstGeom prst="rect">
            <a:avLst/>
          </a:prstGeom>
          <a:noFill/>
          <a:ln/>
        </p:spPr>
        <p:txBody>
          <a:bodyPr wrap="square" lIns="0" tIns="0" rIns="0" bIns="0" rtlCol="0" anchor="t"/>
          <a:lstStyle/>
          <a:p>
            <a:pPr marL="0" indent="0">
              <a:buNone/>
            </a:pPr>
            <a:r>
              <a:rPr lang="en-US" sz="950" dirty="0">
                <a:solidFill>
                  <a:srgbClr val="B9D3F0"/>
                </a:solidFill>
                <a:latin typeface="Calibri" pitchFamily="34" charset="0"/>
                <a:ea typeface="Calibri" pitchFamily="34" charset="-122"/>
                <a:cs typeface="Calibri" pitchFamily="34" charset="-120"/>
              </a:rPr>
              <a:t>Opciones de consulta</a:t>
            </a:r>
            <a:endParaRPr lang="en-US" sz="9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2651760"/>
          <a:ext cx="8229600" cy="1920240"/>
        </p:xfrm>
        <a:graphic>
          <a:graphicData uri="http://schemas.openxmlformats.org/drawingml/2006/table">
            <a:tbl>
              <a:tblPr/>
              <a:tblGrid>
                <a:gridCol w="118872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2468880">
                  <a:extLst>
                    <a:ext uri="{9D8B030D-6E8A-4147-A177-3AD203B41FA5}">
                      <a16:colId xmlns:a16="http://schemas.microsoft.com/office/drawing/2014/main" val="20002"/>
                    </a:ext>
                  </a:extLst>
                </a:gridCol>
              </a:tblGrid>
              <a:tr h="274320">
                <a:tc>
                  <a:txBody>
                    <a:bodyPr/>
                    <a:lstStyle/>
                    <a:p>
                      <a:pPr marL="0" indent="0">
                        <a:buNone/>
                      </a:pPr>
                      <a:r>
                        <a:rPr lang="en-US" sz="1000" b="1" dirty="0">
                          <a:solidFill>
                            <a:srgbClr val="FFFFFF"/>
                          </a:solidFill>
                          <a:latin typeface="Segoe UI" pitchFamily="34" charset="0"/>
                          <a:ea typeface="Segoe UI" pitchFamily="34" charset="-122"/>
                          <a:cs typeface="Segoe UI" pitchFamily="34" charset="-120"/>
                        </a:rPr>
                        <a:t>Opción</a:t>
                      </a:r>
                      <a:endParaRPr lang="en-US" sz="1000" dirty="0">
                        <a:latin typeface="Segoe UI" charset="0"/>
                        <a:ea typeface="Segoe UI" charset="0"/>
                        <a:cs typeface="Segoe UI" charset="0"/>
                      </a:endParaRPr>
                    </a:p>
                  </a:txBody>
                  <a:tcPr marL="76200" marR="76200" marT="25400" marB="254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0B4DA2"/>
                    </a:solidFill>
                  </a:tcPr>
                </a:tc>
                <a:tc>
                  <a:txBody>
                    <a:bodyPr/>
                    <a:lstStyle/>
                    <a:p>
                      <a:pPr marL="0" indent="0">
                        <a:buNone/>
                      </a:pPr>
                      <a:r>
                        <a:rPr lang="en-US" sz="1000" b="1" dirty="0">
                          <a:solidFill>
                            <a:srgbClr val="FFFFFF"/>
                          </a:solidFill>
                          <a:latin typeface="Segoe UI" pitchFamily="34" charset="0"/>
                          <a:ea typeface="Segoe UI" pitchFamily="34" charset="-122"/>
                          <a:cs typeface="Segoe UI" pitchFamily="34" charset="-120"/>
                        </a:rPr>
                        <a:t>Ejemplo</a:t>
                      </a:r>
                      <a:endParaRPr lang="en-US" sz="1000" dirty="0">
                        <a:latin typeface="Segoe UI" charset="0"/>
                        <a:ea typeface="Segoe UI" charset="0"/>
                        <a:cs typeface="Segoe UI" charset="0"/>
                      </a:endParaRPr>
                    </a:p>
                  </a:txBody>
                  <a:tcPr marL="76200" marR="76200" marT="25400" marB="254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0B4DA2"/>
                    </a:solidFill>
                  </a:tcPr>
                </a:tc>
                <a:tc>
                  <a:txBody>
                    <a:bodyPr/>
                    <a:lstStyle/>
                    <a:p>
                      <a:pPr marL="0" indent="0">
                        <a:buNone/>
                      </a:pPr>
                      <a:r>
                        <a:rPr lang="en-US" sz="1000" b="1" dirty="0">
                          <a:solidFill>
                            <a:srgbClr val="FFFFFF"/>
                          </a:solidFill>
                          <a:latin typeface="Segoe UI" pitchFamily="34" charset="0"/>
                          <a:ea typeface="Segoe UI" pitchFamily="34" charset="-122"/>
                          <a:cs typeface="Segoe UI" pitchFamily="34" charset="-120"/>
                        </a:rPr>
                        <a:t>Uso</a:t>
                      </a:r>
                      <a:endParaRPr lang="en-US" sz="1000" dirty="0">
                        <a:latin typeface="Segoe UI" charset="0"/>
                        <a:ea typeface="Segoe UI" charset="0"/>
                        <a:cs typeface="Segoe UI" charset="0"/>
                      </a:endParaRPr>
                    </a:p>
                  </a:txBody>
                  <a:tcPr marL="76200" marR="76200" marT="25400" marB="254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0B4DA2"/>
                    </a:solidFill>
                  </a:tcPr>
                </a:tc>
                <a:extLst>
                  <a:ext uri="{0D108BD9-81ED-4DB2-BD59-A6C34878D82A}">
                    <a16:rowId xmlns:a16="http://schemas.microsoft.com/office/drawing/2014/main" val="10000"/>
                  </a:ext>
                </a:extLst>
              </a:tr>
              <a:tr h="274320">
                <a:tc>
                  <a:txBody>
                    <a:bodyPr/>
                    <a:lstStyle/>
                    <a:p>
                      <a:pPr marL="0" indent="0">
                        <a:buNone/>
                      </a:pPr>
                      <a:r>
                        <a:rPr lang="en-US" sz="1000" b="1" dirty="0">
                          <a:solidFill>
                            <a:srgbClr val="071B3F"/>
                          </a:solidFill>
                          <a:latin typeface="Consolas" pitchFamily="34" charset="0"/>
                          <a:ea typeface="Consolas" pitchFamily="34" charset="-122"/>
                          <a:cs typeface="Consolas" pitchFamily="34" charset="-120"/>
                        </a:rPr>
                        <a:t>$select</a:t>
                      </a:r>
                      <a:endParaRPr lang="en-US" sz="1000" dirty="0">
                        <a:latin typeface="Consolas" charset="0"/>
                        <a:ea typeface="Consolas" charset="0"/>
                        <a:cs typeface="Consolas" charset="0"/>
                      </a:endParaRPr>
                    </a:p>
                  </a:txBody>
                  <a:tcPr marL="76200" marR="76200" marT="25400" marB="254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EEF3FA"/>
                    </a:solidFill>
                  </a:tcPr>
                </a:tc>
                <a:tc>
                  <a:txBody>
                    <a:bodyPr/>
                    <a:lstStyle/>
                    <a:p>
                      <a:pPr marL="0" indent="0">
                        <a:buNone/>
                      </a:pPr>
                      <a:r>
                        <a:rPr lang="en-US" sz="900" dirty="0">
                          <a:solidFill>
                            <a:srgbClr val="0B4DA2"/>
                          </a:solidFill>
                          <a:latin typeface="Consolas" pitchFamily="34" charset="0"/>
                          <a:ea typeface="Consolas" pitchFamily="34" charset="-122"/>
                          <a:cs typeface="Consolas" pitchFamily="34" charset="-120"/>
                        </a:rPr>
                        <a:t>$select=CardCode,CardName</a:t>
                      </a:r>
                      <a:endParaRPr lang="en-US" sz="900" dirty="0">
                        <a:latin typeface="Consolas" charset="0"/>
                        <a:ea typeface="Consolas" charset="0"/>
                        <a:cs typeface="Consolas" charset="0"/>
                      </a:endParaRPr>
                    </a:p>
                  </a:txBody>
                  <a:tcPr marL="76200" marR="76200" marT="25400" marB="254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EEF3FA"/>
                    </a:solidFill>
                  </a:tcPr>
                </a:tc>
                <a:tc>
                  <a:txBody>
                    <a:bodyPr/>
                    <a:lstStyle/>
                    <a:p>
                      <a:pPr marL="0" indent="0">
                        <a:buNone/>
                      </a:pPr>
                      <a:r>
                        <a:rPr lang="en-US" sz="1000" dirty="0">
                          <a:solidFill>
                            <a:srgbClr val="1B2433"/>
                          </a:solidFill>
                          <a:latin typeface="Calibri" pitchFamily="34" charset="0"/>
                          <a:ea typeface="Calibri" pitchFamily="34" charset="-122"/>
                          <a:cs typeface="Calibri" pitchFamily="34" charset="-120"/>
                        </a:rPr>
                        <a:t>Limita los campos devueltos</a:t>
                      </a:r>
                      <a:endParaRPr lang="en-US" sz="1000" dirty="0">
                        <a:latin typeface="Calibri" charset="0"/>
                        <a:ea typeface="Calibri" charset="0"/>
                        <a:cs typeface="Calibri" charset="0"/>
                      </a:endParaRPr>
                    </a:p>
                  </a:txBody>
                  <a:tcPr marL="76200" marR="76200" marT="25400" marB="254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EEF3FA"/>
                    </a:solidFill>
                  </a:tcPr>
                </a:tc>
                <a:extLst>
                  <a:ext uri="{0D108BD9-81ED-4DB2-BD59-A6C34878D82A}">
                    <a16:rowId xmlns:a16="http://schemas.microsoft.com/office/drawing/2014/main" val="10001"/>
                  </a:ext>
                </a:extLst>
              </a:tr>
              <a:tr h="274320">
                <a:tc>
                  <a:txBody>
                    <a:bodyPr/>
                    <a:lstStyle/>
                    <a:p>
                      <a:pPr marL="0" indent="0">
                        <a:buNone/>
                      </a:pPr>
                      <a:r>
                        <a:rPr lang="en-US" sz="1000" b="1" dirty="0">
                          <a:solidFill>
                            <a:srgbClr val="071B3F"/>
                          </a:solidFill>
                          <a:latin typeface="Consolas" pitchFamily="34" charset="0"/>
                          <a:ea typeface="Consolas" pitchFamily="34" charset="-122"/>
                          <a:cs typeface="Consolas" pitchFamily="34" charset="-120"/>
                        </a:rPr>
                        <a:t>$filter</a:t>
                      </a:r>
                      <a:endParaRPr lang="en-US" sz="1000" dirty="0">
                        <a:latin typeface="Consolas" charset="0"/>
                        <a:ea typeface="Consolas" charset="0"/>
                        <a:cs typeface="Consolas" charset="0"/>
                      </a:endParaRPr>
                    </a:p>
                  </a:txBody>
                  <a:tcPr marL="76200" marR="76200" marT="25400" marB="254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FFFFFF"/>
                    </a:solidFill>
                  </a:tcPr>
                </a:tc>
                <a:tc>
                  <a:txBody>
                    <a:bodyPr/>
                    <a:lstStyle/>
                    <a:p>
                      <a:pPr marL="0" indent="0">
                        <a:buNone/>
                      </a:pPr>
                      <a:r>
                        <a:rPr lang="en-US" sz="900" dirty="0">
                          <a:solidFill>
                            <a:srgbClr val="0B4DA2"/>
                          </a:solidFill>
                          <a:latin typeface="Consolas" pitchFamily="34" charset="0"/>
                          <a:ea typeface="Consolas" pitchFamily="34" charset="-122"/>
                          <a:cs typeface="Consolas" pitchFamily="34" charset="-120"/>
                        </a:rPr>
                        <a:t>$filter=DocTotal gt 1000 and DocumentStatus eq 'bost_Open'</a:t>
                      </a:r>
                      <a:endParaRPr lang="en-US" sz="900" dirty="0">
                        <a:latin typeface="Consolas" charset="0"/>
                        <a:ea typeface="Consolas" charset="0"/>
                        <a:cs typeface="Consolas" charset="0"/>
                      </a:endParaRPr>
                    </a:p>
                  </a:txBody>
                  <a:tcPr marL="76200" marR="76200" marT="25400" marB="254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FFFFFF"/>
                    </a:solidFill>
                  </a:tcPr>
                </a:tc>
                <a:tc>
                  <a:txBody>
                    <a:bodyPr/>
                    <a:lstStyle/>
                    <a:p>
                      <a:pPr marL="0" indent="0">
                        <a:buNone/>
                      </a:pPr>
                      <a:r>
                        <a:rPr lang="en-US" sz="1000" dirty="0">
                          <a:solidFill>
                            <a:srgbClr val="1B2433"/>
                          </a:solidFill>
                          <a:latin typeface="Calibri" pitchFamily="34" charset="0"/>
                          <a:ea typeface="Calibri" pitchFamily="34" charset="-122"/>
                          <a:cs typeface="Calibri" pitchFamily="34" charset="-120"/>
                        </a:rPr>
                        <a:t>Filtra registros</a:t>
                      </a:r>
                      <a:endParaRPr lang="en-US" sz="1000" dirty="0">
                        <a:latin typeface="Calibri" charset="0"/>
                        <a:ea typeface="Calibri" charset="0"/>
                        <a:cs typeface="Calibri" charset="0"/>
                      </a:endParaRPr>
                    </a:p>
                  </a:txBody>
                  <a:tcPr marL="76200" marR="76200" marT="25400" marB="254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buNone/>
                      </a:pPr>
                      <a:r>
                        <a:rPr lang="en-US" sz="1000" b="1" dirty="0">
                          <a:solidFill>
                            <a:srgbClr val="071B3F"/>
                          </a:solidFill>
                          <a:latin typeface="Consolas" pitchFamily="34" charset="0"/>
                          <a:ea typeface="Consolas" pitchFamily="34" charset="-122"/>
                          <a:cs typeface="Consolas" pitchFamily="34" charset="-120"/>
                        </a:rPr>
                        <a:t>$orderby</a:t>
                      </a:r>
                      <a:endParaRPr lang="en-US" sz="1000" dirty="0">
                        <a:latin typeface="Consolas" charset="0"/>
                        <a:ea typeface="Consolas" charset="0"/>
                        <a:cs typeface="Consolas" charset="0"/>
                      </a:endParaRPr>
                    </a:p>
                  </a:txBody>
                  <a:tcPr marL="76200" marR="76200" marT="25400" marB="254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EEF3FA"/>
                    </a:solidFill>
                  </a:tcPr>
                </a:tc>
                <a:tc>
                  <a:txBody>
                    <a:bodyPr/>
                    <a:lstStyle/>
                    <a:p>
                      <a:pPr marL="0" indent="0">
                        <a:buNone/>
                      </a:pPr>
                      <a:r>
                        <a:rPr lang="en-US" sz="900" dirty="0">
                          <a:solidFill>
                            <a:srgbClr val="0B4DA2"/>
                          </a:solidFill>
                          <a:latin typeface="Consolas" pitchFamily="34" charset="0"/>
                          <a:ea typeface="Consolas" pitchFamily="34" charset="-122"/>
                          <a:cs typeface="Consolas" pitchFamily="34" charset="-120"/>
                        </a:rPr>
                        <a:t>$orderby=DocDate desc</a:t>
                      </a:r>
                      <a:endParaRPr lang="en-US" sz="900" dirty="0">
                        <a:latin typeface="Consolas" charset="0"/>
                        <a:ea typeface="Consolas" charset="0"/>
                        <a:cs typeface="Consolas" charset="0"/>
                      </a:endParaRPr>
                    </a:p>
                  </a:txBody>
                  <a:tcPr marL="76200" marR="76200" marT="25400" marB="254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EEF3FA"/>
                    </a:solidFill>
                  </a:tcPr>
                </a:tc>
                <a:tc>
                  <a:txBody>
                    <a:bodyPr/>
                    <a:lstStyle/>
                    <a:p>
                      <a:pPr marL="0" indent="0">
                        <a:buNone/>
                      </a:pPr>
                      <a:r>
                        <a:rPr lang="en-US" sz="1000" dirty="0">
                          <a:solidFill>
                            <a:srgbClr val="1B2433"/>
                          </a:solidFill>
                          <a:latin typeface="Calibri" pitchFamily="34" charset="0"/>
                          <a:ea typeface="Calibri" pitchFamily="34" charset="-122"/>
                          <a:cs typeface="Calibri" pitchFamily="34" charset="-120"/>
                        </a:rPr>
                        <a:t>Ordena el resultado</a:t>
                      </a:r>
                      <a:endParaRPr lang="en-US" sz="1000" dirty="0">
                        <a:latin typeface="Calibri" charset="0"/>
                        <a:ea typeface="Calibri" charset="0"/>
                        <a:cs typeface="Calibri" charset="0"/>
                      </a:endParaRPr>
                    </a:p>
                  </a:txBody>
                  <a:tcPr marL="76200" marR="76200" marT="25400" marB="254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EEF3FA"/>
                    </a:solidFill>
                  </a:tcPr>
                </a:tc>
                <a:extLst>
                  <a:ext uri="{0D108BD9-81ED-4DB2-BD59-A6C34878D82A}">
                    <a16:rowId xmlns:a16="http://schemas.microsoft.com/office/drawing/2014/main" val="10003"/>
                  </a:ext>
                </a:extLst>
              </a:tr>
              <a:tr h="274320">
                <a:tc>
                  <a:txBody>
                    <a:bodyPr/>
                    <a:lstStyle/>
                    <a:p>
                      <a:pPr marL="0" indent="0">
                        <a:buNone/>
                      </a:pPr>
                      <a:r>
                        <a:rPr lang="en-US" sz="1000" b="1" dirty="0">
                          <a:solidFill>
                            <a:srgbClr val="071B3F"/>
                          </a:solidFill>
                          <a:latin typeface="Consolas" pitchFamily="34" charset="0"/>
                          <a:ea typeface="Consolas" pitchFamily="34" charset="-122"/>
                          <a:cs typeface="Consolas" pitchFamily="34" charset="-120"/>
                        </a:rPr>
                        <a:t>$top / $skip</a:t>
                      </a:r>
                      <a:endParaRPr lang="en-US" sz="1000" dirty="0">
                        <a:latin typeface="Consolas" charset="0"/>
                        <a:ea typeface="Consolas" charset="0"/>
                        <a:cs typeface="Consolas" charset="0"/>
                      </a:endParaRPr>
                    </a:p>
                  </a:txBody>
                  <a:tcPr marL="76200" marR="76200" marT="25400" marB="254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FFFFFF"/>
                    </a:solidFill>
                  </a:tcPr>
                </a:tc>
                <a:tc>
                  <a:txBody>
                    <a:bodyPr/>
                    <a:lstStyle/>
                    <a:p>
                      <a:pPr marL="0" indent="0">
                        <a:buNone/>
                      </a:pPr>
                      <a:r>
                        <a:rPr lang="en-US" sz="900" dirty="0">
                          <a:solidFill>
                            <a:srgbClr val="0B4DA2"/>
                          </a:solidFill>
                          <a:latin typeface="Consolas" pitchFamily="34" charset="0"/>
                          <a:ea typeface="Consolas" pitchFamily="34" charset="-122"/>
                          <a:cs typeface="Consolas" pitchFamily="34" charset="-120"/>
                        </a:rPr>
                        <a:t>$top=20&amp;$skip=40</a:t>
                      </a:r>
                      <a:endParaRPr lang="en-US" sz="900" dirty="0">
                        <a:latin typeface="Consolas" charset="0"/>
                        <a:ea typeface="Consolas" charset="0"/>
                        <a:cs typeface="Consolas" charset="0"/>
                      </a:endParaRPr>
                    </a:p>
                  </a:txBody>
                  <a:tcPr marL="76200" marR="76200" marT="25400" marB="254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FFFFFF"/>
                    </a:solidFill>
                  </a:tcPr>
                </a:tc>
                <a:tc>
                  <a:txBody>
                    <a:bodyPr/>
                    <a:lstStyle/>
                    <a:p>
                      <a:pPr marL="0" indent="0">
                        <a:buNone/>
                      </a:pPr>
                      <a:r>
                        <a:rPr lang="en-US" sz="1000" dirty="0">
                          <a:solidFill>
                            <a:srgbClr val="1B2433"/>
                          </a:solidFill>
                          <a:latin typeface="Calibri" pitchFamily="34" charset="0"/>
                          <a:ea typeface="Calibri" pitchFamily="34" charset="-122"/>
                          <a:cs typeface="Calibri" pitchFamily="34" charset="-120"/>
                        </a:rPr>
                        <a:t>Paginación manual</a:t>
                      </a:r>
                      <a:endParaRPr lang="en-US" sz="1000" dirty="0">
                        <a:latin typeface="Calibri" charset="0"/>
                        <a:ea typeface="Calibri" charset="0"/>
                        <a:cs typeface="Calibri" charset="0"/>
                      </a:endParaRPr>
                    </a:p>
                  </a:txBody>
                  <a:tcPr marL="76200" marR="76200" marT="25400" marB="254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74320">
                <a:tc>
                  <a:txBody>
                    <a:bodyPr/>
                    <a:lstStyle/>
                    <a:p>
                      <a:pPr marL="0" indent="0">
                        <a:buNone/>
                      </a:pPr>
                      <a:r>
                        <a:rPr lang="en-US" sz="1000" b="1" dirty="0">
                          <a:solidFill>
                            <a:srgbClr val="071B3F"/>
                          </a:solidFill>
                          <a:latin typeface="Consolas" pitchFamily="34" charset="0"/>
                          <a:ea typeface="Consolas" pitchFamily="34" charset="-122"/>
                          <a:cs typeface="Consolas" pitchFamily="34" charset="-120"/>
                        </a:rPr>
                        <a:t>$expand</a:t>
                      </a:r>
                      <a:endParaRPr lang="en-US" sz="1000" dirty="0">
                        <a:latin typeface="Consolas" charset="0"/>
                        <a:ea typeface="Consolas" charset="0"/>
                        <a:cs typeface="Consolas" charset="0"/>
                      </a:endParaRPr>
                    </a:p>
                  </a:txBody>
                  <a:tcPr marL="76200" marR="76200" marT="25400" marB="254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EEF3FA"/>
                    </a:solidFill>
                  </a:tcPr>
                </a:tc>
                <a:tc>
                  <a:txBody>
                    <a:bodyPr/>
                    <a:lstStyle/>
                    <a:p>
                      <a:pPr marL="0" indent="0">
                        <a:buNone/>
                      </a:pPr>
                      <a:r>
                        <a:rPr lang="en-US" sz="900" dirty="0">
                          <a:solidFill>
                            <a:srgbClr val="0B4DA2"/>
                          </a:solidFill>
                          <a:latin typeface="Consolas" pitchFamily="34" charset="0"/>
                          <a:ea typeface="Consolas" pitchFamily="34" charset="-122"/>
                          <a:cs typeface="Consolas" pitchFamily="34" charset="-120"/>
                        </a:rPr>
                        <a:t>Orders(125)?$expand=BusinessPartner</a:t>
                      </a:r>
                      <a:endParaRPr lang="en-US" sz="900" dirty="0">
                        <a:latin typeface="Consolas" charset="0"/>
                        <a:ea typeface="Consolas" charset="0"/>
                        <a:cs typeface="Consolas" charset="0"/>
                      </a:endParaRPr>
                    </a:p>
                  </a:txBody>
                  <a:tcPr marL="76200" marR="76200" marT="25400" marB="254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EEF3FA"/>
                    </a:solidFill>
                  </a:tcPr>
                </a:tc>
                <a:tc>
                  <a:txBody>
                    <a:bodyPr/>
                    <a:lstStyle/>
                    <a:p>
                      <a:pPr marL="0" indent="0">
                        <a:buNone/>
                      </a:pPr>
                      <a:r>
                        <a:rPr lang="en-US" sz="1000" dirty="0">
                          <a:solidFill>
                            <a:srgbClr val="1B2433"/>
                          </a:solidFill>
                          <a:latin typeface="Calibri" pitchFamily="34" charset="0"/>
                          <a:ea typeface="Calibri" pitchFamily="34" charset="-122"/>
                          <a:cs typeface="Calibri" pitchFamily="34" charset="-120"/>
                        </a:rPr>
                        <a:t>Incluye entidades relacionadas</a:t>
                      </a:r>
                      <a:endParaRPr lang="en-US" sz="1000" dirty="0">
                        <a:latin typeface="Calibri" charset="0"/>
                        <a:ea typeface="Calibri" charset="0"/>
                        <a:cs typeface="Calibri" charset="0"/>
                      </a:endParaRPr>
                    </a:p>
                  </a:txBody>
                  <a:tcPr marL="76200" marR="76200" marT="25400" marB="254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EEF3FA"/>
                    </a:solidFill>
                  </a:tcPr>
                </a:tc>
                <a:extLst>
                  <a:ext uri="{0D108BD9-81ED-4DB2-BD59-A6C34878D82A}">
                    <a16:rowId xmlns:a16="http://schemas.microsoft.com/office/drawing/2014/main" val="10005"/>
                  </a:ext>
                </a:extLst>
              </a:tr>
              <a:tr h="274320">
                <a:tc>
                  <a:txBody>
                    <a:bodyPr/>
                    <a:lstStyle/>
                    <a:p>
                      <a:pPr marL="0" indent="0">
                        <a:buNone/>
                      </a:pPr>
                      <a:r>
                        <a:rPr lang="en-US" sz="1000" b="1" dirty="0">
                          <a:solidFill>
                            <a:srgbClr val="071B3F"/>
                          </a:solidFill>
                          <a:latin typeface="Consolas" pitchFamily="34" charset="0"/>
                          <a:ea typeface="Consolas" pitchFamily="34" charset="-122"/>
                          <a:cs typeface="Consolas" pitchFamily="34" charset="-120"/>
                        </a:rPr>
                        <a:t>$count</a:t>
                      </a:r>
                      <a:endParaRPr lang="en-US" sz="1000" dirty="0">
                        <a:latin typeface="Consolas" charset="0"/>
                        <a:ea typeface="Consolas" charset="0"/>
                        <a:cs typeface="Consolas" charset="0"/>
                      </a:endParaRPr>
                    </a:p>
                  </a:txBody>
                  <a:tcPr marL="76200" marR="76200" marT="25400" marB="254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FFFFFF"/>
                    </a:solidFill>
                  </a:tcPr>
                </a:tc>
                <a:tc>
                  <a:txBody>
                    <a:bodyPr/>
                    <a:lstStyle/>
                    <a:p>
                      <a:pPr marL="0" indent="0">
                        <a:buNone/>
                      </a:pPr>
                      <a:r>
                        <a:rPr lang="en-US" sz="900" dirty="0">
                          <a:solidFill>
                            <a:srgbClr val="0B4DA2"/>
                          </a:solidFill>
                          <a:latin typeface="Consolas" pitchFamily="34" charset="0"/>
                          <a:ea typeface="Consolas" pitchFamily="34" charset="-122"/>
                          <a:cs typeface="Consolas" pitchFamily="34" charset="-120"/>
                        </a:rPr>
                        <a:t>Orders/$count?$filter=CardCode eq 'C001'</a:t>
                      </a:r>
                      <a:endParaRPr lang="en-US" sz="900" dirty="0">
                        <a:latin typeface="Consolas" charset="0"/>
                        <a:ea typeface="Consolas" charset="0"/>
                        <a:cs typeface="Consolas" charset="0"/>
                      </a:endParaRPr>
                    </a:p>
                  </a:txBody>
                  <a:tcPr marL="76200" marR="76200" marT="25400" marB="254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FFFFFF"/>
                    </a:solidFill>
                  </a:tcPr>
                </a:tc>
                <a:tc>
                  <a:txBody>
                    <a:bodyPr/>
                    <a:lstStyle/>
                    <a:p>
                      <a:pPr marL="0" indent="0">
                        <a:buNone/>
                      </a:pPr>
                      <a:r>
                        <a:rPr lang="en-US" sz="1000" dirty="0">
                          <a:solidFill>
                            <a:srgbClr val="1B2433"/>
                          </a:solidFill>
                          <a:latin typeface="Calibri" pitchFamily="34" charset="0"/>
                          <a:ea typeface="Calibri" pitchFamily="34" charset="-122"/>
                          <a:cs typeface="Calibri" pitchFamily="34" charset="-120"/>
                        </a:rPr>
                        <a:t>Devuelve solo el total</a:t>
                      </a:r>
                      <a:endParaRPr lang="en-US" sz="1000" dirty="0">
                        <a:latin typeface="Calibri" charset="0"/>
                        <a:ea typeface="Calibri" charset="0"/>
                        <a:cs typeface="Calibri" charset="0"/>
                      </a:endParaRPr>
                    </a:p>
                  </a:txBody>
                  <a:tcPr marL="76200" marR="76200" marT="25400" marB="254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xmlns="" val="0"/>
            </a:ext>
          </a:extLst>
        </p:spPr>
        <p:txBody>
          <a:bodyPr/>
          <a:lstStyle>
            <a:lvl1pPr>
              <a:defRPr sz="800">
                <a:solidFill>
                  <a:srgbClr val="8A9AB0"/>
                </a:solidFill>
                <a:latin typeface="Calibri"/>
                <a:ea typeface="Calibri"/>
                <a:cs typeface="Calibri"/>
              </a:defRPr>
            </a:lvl1pPr>
          </a:lstStyle>
          <a:p>
            <a:pPr algn="r"/>
            <a:fld id="{F7021451-1387-4CA6-816F-3879F97B5CBC}" type="slidenum">
              <a:rPr lang="en-US" b="0"/>
              <a:t>16</a:t>
            </a:fld>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1097280"/>
            <a:ext cx="2743200" cy="1280160"/>
          </a:xfrm>
          <a:prstGeom prst="rect">
            <a:avLst/>
          </a:prstGeom>
          <a:noFill/>
          <a:ln/>
        </p:spPr>
        <p:txBody>
          <a:bodyPr wrap="square" lIns="0" tIns="0" rIns="0" bIns="0" rtlCol="0" anchor="t"/>
          <a:lstStyle/>
          <a:p>
            <a:pPr marL="0" indent="0">
              <a:buNone/>
            </a:pPr>
            <a:r>
              <a:rPr lang="en-US" sz="8800" b="1" dirty="0">
                <a:solidFill>
                  <a:srgbClr val="F5A800"/>
                </a:solidFill>
                <a:latin typeface="Segoe UI" pitchFamily="34" charset="0"/>
                <a:ea typeface="Segoe UI" pitchFamily="34" charset="-122"/>
                <a:cs typeface="Segoe UI" pitchFamily="34" charset="-120"/>
              </a:rPr>
              <a:t>04</a:t>
            </a:r>
            <a:endParaRPr lang="en-US" sz="8800" dirty="0"/>
          </a:p>
        </p:txBody>
      </p:sp>
      <p:sp>
        <p:nvSpPr>
          <p:cNvPr id="3" name="Text 1"/>
          <p:cNvSpPr txBox="1"/>
          <p:nvPr/>
        </p:nvSpPr>
        <p:spPr>
          <a:xfrm>
            <a:off x="685800" y="914400"/>
            <a:ext cx="2743200" cy="274320"/>
          </a:xfrm>
          <a:prstGeom prst="rect">
            <a:avLst/>
          </a:prstGeom>
          <a:noFill/>
          <a:ln/>
        </p:spPr>
        <p:txBody>
          <a:bodyPr wrap="square" lIns="0" tIns="0" rIns="0" bIns="0" rtlCol="0" anchor="t"/>
          <a:lstStyle/>
          <a:p>
            <a:pPr marL="0" indent="0">
              <a:buNone/>
            </a:pPr>
            <a:r>
              <a:rPr lang="en-US" sz="1100" b="1" kern="0" spc="400" dirty="0">
                <a:solidFill>
                  <a:srgbClr val="29B6F6"/>
                </a:solidFill>
                <a:latin typeface="Segoe UI" pitchFamily="34" charset="0"/>
                <a:ea typeface="Segoe UI" pitchFamily="34" charset="-122"/>
                <a:cs typeface="Segoe UI" pitchFamily="34" charset="-120"/>
              </a:rPr>
              <a:t>CAPÍTULO</a:t>
            </a:r>
            <a:endParaRPr lang="en-US" sz="1100" dirty="0"/>
          </a:p>
        </p:txBody>
      </p:sp>
      <p:sp>
        <p:nvSpPr>
          <p:cNvPr id="4" name="Text 2"/>
          <p:cNvSpPr txBox="1"/>
          <p:nvPr/>
        </p:nvSpPr>
        <p:spPr>
          <a:xfrm>
            <a:off x="640080" y="2423160"/>
            <a:ext cx="7772400" cy="731520"/>
          </a:xfrm>
          <a:prstGeom prst="rect">
            <a:avLst/>
          </a:prstGeom>
          <a:noFill/>
          <a:ln/>
        </p:spPr>
        <p:txBody>
          <a:bodyPr wrap="square" lIns="0" tIns="0" rIns="0" bIns="0" rtlCol="0" anchor="t"/>
          <a:lstStyle/>
          <a:p>
            <a:pPr marL="0" indent="0">
              <a:buNone/>
            </a:pPr>
            <a:r>
              <a:rPr lang="en-US" sz="3400" b="1" dirty="0">
                <a:solidFill>
                  <a:srgbClr val="FFFFFF"/>
                </a:solidFill>
                <a:latin typeface="Segoe UI" pitchFamily="34" charset="0"/>
                <a:ea typeface="Segoe UI" pitchFamily="34" charset="-122"/>
                <a:cs typeface="Segoe UI" pitchFamily="34" charset="-120"/>
              </a:rPr>
              <a:t>Flujos de operación II</a:t>
            </a:r>
            <a:endParaRPr lang="en-US" sz="3400" dirty="0"/>
          </a:p>
        </p:txBody>
      </p:sp>
      <p:sp>
        <p:nvSpPr>
          <p:cNvPr id="5" name="Text 3"/>
          <p:cNvSpPr txBox="1"/>
          <p:nvPr/>
        </p:nvSpPr>
        <p:spPr>
          <a:xfrm>
            <a:off x="658368" y="3200400"/>
            <a:ext cx="7772400" cy="548640"/>
          </a:xfrm>
          <a:prstGeom prst="rect">
            <a:avLst/>
          </a:prstGeom>
          <a:noFill/>
          <a:ln/>
        </p:spPr>
        <p:txBody>
          <a:bodyPr wrap="square" lIns="0" tIns="0" rIns="0" bIns="0" rtlCol="0" anchor="t"/>
          <a:lstStyle/>
          <a:p>
            <a:pPr marL="0" indent="0">
              <a:buNone/>
            </a:pPr>
            <a:r>
              <a:rPr lang="en-US" sz="1400" dirty="0">
                <a:solidFill>
                  <a:srgbClr val="B9D3F0"/>
                </a:solidFill>
                <a:latin typeface="Calibri" pitchFamily="34" charset="0"/>
                <a:ea typeface="Calibri" pitchFamily="34" charset="-122"/>
                <a:cs typeface="Calibri" pitchFamily="34" charset="-120"/>
              </a:rPr>
              <a:t>Métodos HTTP   •   PATCH vs PUT   •   Maestros   •   Compras   •   Ventas   •   Bancos   •   Finanzas</a:t>
            </a:r>
            <a:endParaRPr lang="en-US" sz="1400" dirty="0"/>
          </a:p>
        </p:txBody>
      </p:sp>
      <p:sp>
        <p:nvSpPr>
          <p:cNvPr id="6" name="Text 4"/>
          <p:cNvSpPr txBox="1"/>
          <p:nvPr/>
        </p:nvSpPr>
        <p:spPr>
          <a:xfrm>
            <a:off x="658368" y="4709160"/>
            <a:ext cx="4572000" cy="228600"/>
          </a:xfrm>
          <a:prstGeom prst="rect">
            <a:avLst/>
          </a:prstGeom>
          <a:noFill/>
          <a:ln/>
        </p:spPr>
        <p:txBody>
          <a:bodyPr wrap="square" lIns="0" tIns="0" rIns="0" bIns="0" rtlCol="0" anchor="t"/>
          <a:lstStyle/>
          <a:p>
            <a:pPr marL="0" indent="0">
              <a:buNone/>
            </a:pPr>
            <a:r>
              <a:rPr lang="en-US" sz="900" dirty="0">
                <a:solidFill>
                  <a:srgbClr val="8FB0D6"/>
                </a:solidFill>
                <a:latin typeface="Calibri" pitchFamily="34" charset="0"/>
                <a:ea typeface="Calibri" pitchFamily="34" charset="-122"/>
                <a:cs typeface="Calibri" pitchFamily="34" charset="-120"/>
              </a:rPr>
              <a:t>Ventura Soluciones  |  Capacitación técnica</a:t>
            </a:r>
            <a:endParaRPr lang="en-US" sz="9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457200" y="256032"/>
            <a:ext cx="2434133" cy="237744"/>
          </a:xfrm>
          <a:prstGeom prst="roundRect">
            <a:avLst>
              <a:gd name="adj" fmla="val 50000"/>
            </a:avLst>
          </a:prstGeom>
          <a:solidFill>
            <a:srgbClr val="071B3F"/>
          </a:solidFill>
          <a:ln w="12700">
            <a:solidFill>
              <a:srgbClr val="071B3F"/>
            </a:solidFill>
            <a:prstDash val="solid"/>
          </a:ln>
        </p:spPr>
      </p:sp>
      <p:sp>
        <p:nvSpPr>
          <p:cNvPr id="3" name="Text 1"/>
          <p:cNvSpPr txBox="1"/>
          <p:nvPr/>
        </p:nvSpPr>
        <p:spPr>
          <a:xfrm>
            <a:off x="457200" y="256032"/>
            <a:ext cx="2434133" cy="237744"/>
          </a:xfrm>
          <a:prstGeom prst="rect">
            <a:avLst/>
          </a:prstGeom>
          <a:noFill/>
          <a:ln/>
        </p:spPr>
        <p:txBody>
          <a:bodyPr wrap="square" lIns="0" tIns="0" rIns="0" bIns="0" rtlCol="0" anchor="ctr"/>
          <a:lstStyle/>
          <a:p>
            <a:pPr marL="0" indent="0" algn="ctr">
              <a:buNone/>
            </a:pPr>
            <a:r>
              <a:rPr lang="en-US" sz="850" b="1" kern="0" spc="100" dirty="0">
                <a:solidFill>
                  <a:srgbClr val="F5A800"/>
                </a:solidFill>
                <a:latin typeface="Segoe UI" pitchFamily="34" charset="0"/>
                <a:ea typeface="Segoe UI" pitchFamily="34" charset="-122"/>
                <a:cs typeface="Segoe UI" pitchFamily="34" charset="-120"/>
              </a:rPr>
              <a:t>04  ·  FLUJOS DE OPERACIÓN II</a:t>
            </a:r>
            <a:endParaRPr lang="en-US" sz="850" dirty="0"/>
          </a:p>
        </p:txBody>
      </p:sp>
      <p:sp>
        <p:nvSpPr>
          <p:cNvPr id="4" name="Text 2"/>
          <p:cNvSpPr txBox="1"/>
          <p:nvPr/>
        </p:nvSpPr>
        <p:spPr>
          <a:xfrm>
            <a:off x="457200" y="566928"/>
            <a:ext cx="8229600" cy="502920"/>
          </a:xfrm>
          <a:prstGeom prst="rect">
            <a:avLst/>
          </a:prstGeom>
          <a:noFill/>
          <a:ln/>
        </p:spPr>
        <p:txBody>
          <a:bodyPr wrap="square" lIns="0" tIns="0" rIns="0" bIns="0" rtlCol="0" anchor="ctr"/>
          <a:lstStyle/>
          <a:p>
            <a:pPr marL="0" indent="0">
              <a:buNone/>
            </a:pPr>
            <a:r>
              <a:rPr lang="en-US" sz="2400" b="1" dirty="0">
                <a:solidFill>
                  <a:srgbClr val="071B3F"/>
                </a:solidFill>
                <a:latin typeface="Segoe UI" pitchFamily="34" charset="0"/>
                <a:ea typeface="Segoe UI" pitchFamily="34" charset="-122"/>
                <a:cs typeface="Segoe UI" pitchFamily="34" charset="-120"/>
              </a:rPr>
              <a:t>Métodos HTTP en Service Layer</a:t>
            </a:r>
            <a:endParaRPr lang="en-US" sz="2400" dirty="0"/>
          </a:p>
        </p:txBody>
      </p:sp>
      <p:sp>
        <p:nvSpPr>
          <p:cNvPr id="5" name="Text 3"/>
          <p:cNvSpPr txBox="1"/>
          <p:nvPr/>
        </p:nvSpPr>
        <p:spPr>
          <a:xfrm>
            <a:off x="457200" y="1051560"/>
            <a:ext cx="8229600" cy="274320"/>
          </a:xfrm>
          <a:prstGeom prst="rect">
            <a:avLst/>
          </a:prstGeom>
          <a:noFill/>
          <a:ln/>
        </p:spPr>
        <p:txBody>
          <a:bodyPr wrap="square" lIns="0" tIns="0" rIns="0" bIns="0" rtlCol="0" anchor="ctr"/>
          <a:lstStyle/>
          <a:p>
            <a:pPr marL="0" indent="0">
              <a:buNone/>
            </a:pPr>
            <a:r>
              <a:rPr lang="en-US" sz="1250" dirty="0">
                <a:solidFill>
                  <a:srgbClr val="5B6B82"/>
                </a:solidFill>
                <a:latin typeface="Calibri" pitchFamily="34" charset="0"/>
                <a:ea typeface="Calibri" pitchFamily="34" charset="-122"/>
                <a:cs typeface="Calibri" pitchFamily="34" charset="-120"/>
              </a:rPr>
              <a:t>El verbo define la operación; la URL define el objeto</a:t>
            </a:r>
            <a:endParaRPr lang="en-US" sz="1250" dirty="0"/>
          </a:p>
        </p:txBody>
      </p:sp>
      <p:sp>
        <p:nvSpPr>
          <p:cNvPr id="6" name="Text 4"/>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00" dirty="0">
                <a:solidFill>
                  <a:srgbClr val="8A9AB0"/>
                </a:solidFill>
                <a:latin typeface="Calibri" pitchFamily="34" charset="0"/>
                <a:ea typeface="Calibri" pitchFamily="34" charset="-122"/>
                <a:cs typeface="Calibri" pitchFamily="34" charset="-120"/>
              </a:rPr>
              <a:t>Ventura Soluciones  |  SAP Business One · Service Layer</a:t>
            </a:r>
            <a:endParaRPr lang="en-US" sz="800" dirty="0"/>
          </a:p>
        </p:txBody>
      </p:sp>
      <p:sp>
        <p:nvSpPr>
          <p:cNvPr id="7" name="Shape 5"/>
          <p:cNvSpPr/>
          <p:nvPr/>
        </p:nvSpPr>
        <p:spPr>
          <a:xfrm>
            <a:off x="457200" y="1463040"/>
            <a:ext cx="1554480" cy="3200400"/>
          </a:xfrm>
          <a:prstGeom prst="roundRect">
            <a:avLst>
              <a:gd name="adj" fmla="val 4706"/>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8" name="Shape 6"/>
          <p:cNvSpPr/>
          <p:nvPr/>
        </p:nvSpPr>
        <p:spPr>
          <a:xfrm>
            <a:off x="594360" y="1645920"/>
            <a:ext cx="1280160" cy="457200"/>
          </a:xfrm>
          <a:prstGeom prst="roundRect">
            <a:avLst>
              <a:gd name="adj" fmla="val 16000"/>
            </a:avLst>
          </a:prstGeom>
          <a:solidFill>
            <a:srgbClr val="2E9E6A"/>
          </a:solidFill>
          <a:ln w="12700">
            <a:solidFill>
              <a:srgbClr val="2E9E6A"/>
            </a:solidFill>
            <a:prstDash val="solid"/>
          </a:ln>
        </p:spPr>
      </p:sp>
      <p:sp>
        <p:nvSpPr>
          <p:cNvPr id="9" name="Text 7"/>
          <p:cNvSpPr txBox="1"/>
          <p:nvPr/>
        </p:nvSpPr>
        <p:spPr>
          <a:xfrm>
            <a:off x="594360" y="1645920"/>
            <a:ext cx="128016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onsolas" pitchFamily="34" charset="0"/>
                <a:ea typeface="Consolas" pitchFamily="34" charset="-122"/>
                <a:cs typeface="Consolas" pitchFamily="34" charset="-120"/>
              </a:rPr>
              <a:t>GET</a:t>
            </a:r>
            <a:endParaRPr lang="en-US" sz="1600" dirty="0"/>
          </a:p>
        </p:txBody>
      </p:sp>
      <p:sp>
        <p:nvSpPr>
          <p:cNvPr id="10" name="Text 8"/>
          <p:cNvSpPr txBox="1"/>
          <p:nvPr/>
        </p:nvSpPr>
        <p:spPr>
          <a:xfrm>
            <a:off x="594360" y="2240280"/>
            <a:ext cx="1280160" cy="274320"/>
          </a:xfrm>
          <a:prstGeom prst="rect">
            <a:avLst/>
          </a:prstGeom>
          <a:noFill/>
          <a:ln/>
        </p:spPr>
        <p:txBody>
          <a:bodyPr wrap="square" lIns="0" tIns="0" rIns="0" bIns="0" rtlCol="0" anchor="t"/>
          <a:lstStyle/>
          <a:p>
            <a:pPr marL="0" indent="0">
              <a:buNone/>
            </a:pPr>
            <a:r>
              <a:rPr lang="en-US" sz="1200" b="1" dirty="0">
                <a:solidFill>
                  <a:srgbClr val="071B3F"/>
                </a:solidFill>
                <a:latin typeface="Segoe UI" pitchFamily="34" charset="0"/>
                <a:ea typeface="Segoe UI" pitchFamily="34" charset="-122"/>
                <a:cs typeface="Segoe UI" pitchFamily="34" charset="-120"/>
              </a:rPr>
              <a:t>Leer</a:t>
            </a:r>
            <a:endParaRPr lang="en-US" sz="1200" dirty="0"/>
          </a:p>
        </p:txBody>
      </p:sp>
      <p:sp>
        <p:nvSpPr>
          <p:cNvPr id="11" name="Text 9"/>
          <p:cNvSpPr txBox="1"/>
          <p:nvPr/>
        </p:nvSpPr>
        <p:spPr>
          <a:xfrm>
            <a:off x="594360" y="2532888"/>
            <a:ext cx="1280160" cy="1005840"/>
          </a:xfrm>
          <a:prstGeom prst="rect">
            <a:avLst/>
          </a:prstGeom>
          <a:noFill/>
          <a:ln/>
        </p:spPr>
        <p:txBody>
          <a:bodyPr wrap="square" lIns="0" tIns="0" rIns="0" bIns="0" rtlCol="0" anchor="t"/>
          <a:lstStyle/>
          <a:p>
            <a:pPr marL="0" indent="0">
              <a:buNone/>
            </a:pPr>
            <a:r>
              <a:rPr lang="en-US" sz="1000" dirty="0">
                <a:solidFill>
                  <a:srgbClr val="5B6B82"/>
                </a:solidFill>
                <a:latin typeface="Calibri" pitchFamily="34" charset="0"/>
                <a:ea typeface="Calibri" pitchFamily="34" charset="-122"/>
                <a:cs typeface="Calibri" pitchFamily="34" charset="-120"/>
              </a:rPr>
              <a:t>Obtiene una entidad por clave o una colección con filtros.</a:t>
            </a:r>
            <a:endParaRPr lang="en-US" sz="1000" dirty="0"/>
          </a:p>
        </p:txBody>
      </p:sp>
      <p:sp>
        <p:nvSpPr>
          <p:cNvPr id="12" name="Text 10"/>
          <p:cNvSpPr txBox="1"/>
          <p:nvPr/>
        </p:nvSpPr>
        <p:spPr>
          <a:xfrm>
            <a:off x="594360" y="3657600"/>
            <a:ext cx="1325880" cy="411480"/>
          </a:xfrm>
          <a:prstGeom prst="rect">
            <a:avLst/>
          </a:prstGeom>
          <a:noFill/>
          <a:ln/>
        </p:spPr>
        <p:txBody>
          <a:bodyPr wrap="square" lIns="0" tIns="0" rIns="0" bIns="0" rtlCol="0" anchor="t"/>
          <a:lstStyle/>
          <a:p>
            <a:pPr marL="0" indent="0">
              <a:buNone/>
            </a:pPr>
            <a:r>
              <a:rPr lang="en-US" sz="850" dirty="0">
                <a:solidFill>
                  <a:srgbClr val="0B4DA2"/>
                </a:solidFill>
                <a:latin typeface="Consolas" pitchFamily="34" charset="0"/>
                <a:ea typeface="Consolas" pitchFamily="34" charset="-122"/>
                <a:cs typeface="Consolas" pitchFamily="34" charset="-120"/>
              </a:rPr>
              <a:t>GET /Items('A001')</a:t>
            </a:r>
            <a:endParaRPr lang="en-US" sz="850" dirty="0"/>
          </a:p>
        </p:txBody>
      </p:sp>
      <p:sp>
        <p:nvSpPr>
          <p:cNvPr id="13" name="Text 11"/>
          <p:cNvSpPr txBox="1"/>
          <p:nvPr/>
        </p:nvSpPr>
        <p:spPr>
          <a:xfrm>
            <a:off x="594360" y="4160520"/>
            <a:ext cx="1280160" cy="274320"/>
          </a:xfrm>
          <a:prstGeom prst="rect">
            <a:avLst/>
          </a:prstGeom>
          <a:noFill/>
          <a:ln/>
        </p:spPr>
        <p:txBody>
          <a:bodyPr wrap="square" lIns="0" tIns="0" rIns="0" bIns="0" rtlCol="0" anchor="t"/>
          <a:lstStyle/>
          <a:p>
            <a:pPr marL="0" indent="0">
              <a:buNone/>
            </a:pPr>
            <a:r>
              <a:rPr lang="en-US" sz="900" b="1" dirty="0">
                <a:solidFill>
                  <a:srgbClr val="2E9E6A"/>
                </a:solidFill>
                <a:latin typeface="Consolas" pitchFamily="34" charset="0"/>
                <a:ea typeface="Consolas" pitchFamily="34" charset="-122"/>
                <a:cs typeface="Consolas" pitchFamily="34" charset="-120"/>
              </a:rPr>
              <a:t>200 OK</a:t>
            </a:r>
            <a:endParaRPr lang="en-US" sz="900" dirty="0"/>
          </a:p>
        </p:txBody>
      </p:sp>
      <p:sp>
        <p:nvSpPr>
          <p:cNvPr id="14" name="Shape 12"/>
          <p:cNvSpPr/>
          <p:nvPr/>
        </p:nvSpPr>
        <p:spPr>
          <a:xfrm>
            <a:off x="2130552" y="1463040"/>
            <a:ext cx="1554480" cy="3200400"/>
          </a:xfrm>
          <a:prstGeom prst="roundRect">
            <a:avLst>
              <a:gd name="adj" fmla="val 4706"/>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15" name="Shape 13"/>
          <p:cNvSpPr/>
          <p:nvPr/>
        </p:nvSpPr>
        <p:spPr>
          <a:xfrm>
            <a:off x="2267712" y="1645920"/>
            <a:ext cx="1280160" cy="457200"/>
          </a:xfrm>
          <a:prstGeom prst="roundRect">
            <a:avLst>
              <a:gd name="adj" fmla="val 16000"/>
            </a:avLst>
          </a:prstGeom>
          <a:solidFill>
            <a:srgbClr val="0B4DA2"/>
          </a:solidFill>
          <a:ln w="12700">
            <a:solidFill>
              <a:srgbClr val="0B4DA2"/>
            </a:solidFill>
            <a:prstDash val="solid"/>
          </a:ln>
        </p:spPr>
      </p:sp>
      <p:sp>
        <p:nvSpPr>
          <p:cNvPr id="16" name="Text 14"/>
          <p:cNvSpPr txBox="1"/>
          <p:nvPr/>
        </p:nvSpPr>
        <p:spPr>
          <a:xfrm>
            <a:off x="2267712" y="1645920"/>
            <a:ext cx="128016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onsolas" pitchFamily="34" charset="0"/>
                <a:ea typeface="Consolas" pitchFamily="34" charset="-122"/>
                <a:cs typeface="Consolas" pitchFamily="34" charset="-120"/>
              </a:rPr>
              <a:t>POST</a:t>
            </a:r>
            <a:endParaRPr lang="en-US" sz="1600" dirty="0"/>
          </a:p>
        </p:txBody>
      </p:sp>
      <p:sp>
        <p:nvSpPr>
          <p:cNvPr id="17" name="Text 15"/>
          <p:cNvSpPr txBox="1"/>
          <p:nvPr/>
        </p:nvSpPr>
        <p:spPr>
          <a:xfrm>
            <a:off x="2267712" y="2240280"/>
            <a:ext cx="1280160" cy="274320"/>
          </a:xfrm>
          <a:prstGeom prst="rect">
            <a:avLst/>
          </a:prstGeom>
          <a:noFill/>
          <a:ln/>
        </p:spPr>
        <p:txBody>
          <a:bodyPr wrap="square" lIns="0" tIns="0" rIns="0" bIns="0" rtlCol="0" anchor="t"/>
          <a:lstStyle/>
          <a:p>
            <a:pPr marL="0" indent="0">
              <a:buNone/>
            </a:pPr>
            <a:r>
              <a:rPr lang="en-US" sz="1200" b="1" dirty="0">
                <a:solidFill>
                  <a:srgbClr val="071B3F"/>
                </a:solidFill>
                <a:latin typeface="Segoe UI" pitchFamily="34" charset="0"/>
                <a:ea typeface="Segoe UI" pitchFamily="34" charset="-122"/>
                <a:cs typeface="Segoe UI" pitchFamily="34" charset="-120"/>
              </a:rPr>
              <a:t>Crear / Acción</a:t>
            </a:r>
            <a:endParaRPr lang="en-US" sz="1200" dirty="0"/>
          </a:p>
        </p:txBody>
      </p:sp>
      <p:sp>
        <p:nvSpPr>
          <p:cNvPr id="18" name="Text 16"/>
          <p:cNvSpPr txBox="1"/>
          <p:nvPr/>
        </p:nvSpPr>
        <p:spPr>
          <a:xfrm>
            <a:off x="2267712" y="2532888"/>
            <a:ext cx="1280160" cy="1005840"/>
          </a:xfrm>
          <a:prstGeom prst="rect">
            <a:avLst/>
          </a:prstGeom>
          <a:noFill/>
          <a:ln/>
        </p:spPr>
        <p:txBody>
          <a:bodyPr wrap="square" lIns="0" tIns="0" rIns="0" bIns="0" rtlCol="0" anchor="t"/>
          <a:lstStyle/>
          <a:p>
            <a:pPr marL="0" indent="0">
              <a:buNone/>
            </a:pPr>
            <a:r>
              <a:rPr lang="en-US" sz="1000" dirty="0">
                <a:solidFill>
                  <a:srgbClr val="5B6B82"/>
                </a:solidFill>
                <a:latin typeface="Calibri" pitchFamily="34" charset="0"/>
                <a:ea typeface="Calibri" pitchFamily="34" charset="-122"/>
                <a:cs typeface="Calibri" pitchFamily="34" charset="-120"/>
              </a:rPr>
              <a:t>Crea un registro o ejecuta acciones como Cancel o Close.</a:t>
            </a:r>
            <a:endParaRPr lang="en-US" sz="1000" dirty="0"/>
          </a:p>
        </p:txBody>
      </p:sp>
      <p:sp>
        <p:nvSpPr>
          <p:cNvPr id="19" name="Text 17"/>
          <p:cNvSpPr txBox="1"/>
          <p:nvPr/>
        </p:nvSpPr>
        <p:spPr>
          <a:xfrm>
            <a:off x="2267712" y="3657600"/>
            <a:ext cx="1325880" cy="411480"/>
          </a:xfrm>
          <a:prstGeom prst="rect">
            <a:avLst/>
          </a:prstGeom>
          <a:noFill/>
          <a:ln/>
        </p:spPr>
        <p:txBody>
          <a:bodyPr wrap="square" lIns="0" tIns="0" rIns="0" bIns="0" rtlCol="0" anchor="t"/>
          <a:lstStyle/>
          <a:p>
            <a:pPr marL="0" indent="0">
              <a:buNone/>
            </a:pPr>
            <a:r>
              <a:rPr lang="en-US" sz="850" dirty="0">
                <a:solidFill>
                  <a:srgbClr val="0B4DA2"/>
                </a:solidFill>
                <a:latin typeface="Consolas" pitchFamily="34" charset="0"/>
                <a:ea typeface="Consolas" pitchFamily="34" charset="-122"/>
                <a:cs typeface="Consolas" pitchFamily="34" charset="-120"/>
              </a:rPr>
              <a:t>POST /Orders</a:t>
            </a:r>
            <a:endParaRPr lang="en-US" sz="850" dirty="0"/>
          </a:p>
        </p:txBody>
      </p:sp>
      <p:sp>
        <p:nvSpPr>
          <p:cNvPr id="20" name="Text 18"/>
          <p:cNvSpPr txBox="1"/>
          <p:nvPr/>
        </p:nvSpPr>
        <p:spPr>
          <a:xfrm>
            <a:off x="2267712" y="4160520"/>
            <a:ext cx="1280160" cy="274320"/>
          </a:xfrm>
          <a:prstGeom prst="rect">
            <a:avLst/>
          </a:prstGeom>
          <a:noFill/>
          <a:ln/>
        </p:spPr>
        <p:txBody>
          <a:bodyPr wrap="square" lIns="0" tIns="0" rIns="0" bIns="0" rtlCol="0" anchor="t"/>
          <a:lstStyle/>
          <a:p>
            <a:pPr marL="0" indent="0">
              <a:buNone/>
            </a:pPr>
            <a:r>
              <a:rPr lang="en-US" sz="900" b="1" dirty="0">
                <a:solidFill>
                  <a:srgbClr val="0B4DA2"/>
                </a:solidFill>
                <a:latin typeface="Consolas" pitchFamily="34" charset="0"/>
                <a:ea typeface="Consolas" pitchFamily="34" charset="-122"/>
                <a:cs typeface="Consolas" pitchFamily="34" charset="-120"/>
              </a:rPr>
              <a:t>201 Created</a:t>
            </a:r>
            <a:endParaRPr lang="en-US" sz="900" dirty="0"/>
          </a:p>
        </p:txBody>
      </p:sp>
      <p:sp>
        <p:nvSpPr>
          <p:cNvPr id="21" name="Shape 19"/>
          <p:cNvSpPr/>
          <p:nvPr/>
        </p:nvSpPr>
        <p:spPr>
          <a:xfrm>
            <a:off x="3803904" y="1463040"/>
            <a:ext cx="1554480" cy="3200400"/>
          </a:xfrm>
          <a:prstGeom prst="roundRect">
            <a:avLst>
              <a:gd name="adj" fmla="val 4706"/>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22" name="Shape 20"/>
          <p:cNvSpPr/>
          <p:nvPr/>
        </p:nvSpPr>
        <p:spPr>
          <a:xfrm>
            <a:off x="3941064" y="1645920"/>
            <a:ext cx="1280160" cy="457200"/>
          </a:xfrm>
          <a:prstGeom prst="roundRect">
            <a:avLst>
              <a:gd name="adj" fmla="val 16000"/>
            </a:avLst>
          </a:prstGeom>
          <a:solidFill>
            <a:srgbClr val="E08600"/>
          </a:solidFill>
          <a:ln w="12700">
            <a:solidFill>
              <a:srgbClr val="E08600"/>
            </a:solidFill>
            <a:prstDash val="solid"/>
          </a:ln>
        </p:spPr>
      </p:sp>
      <p:sp>
        <p:nvSpPr>
          <p:cNvPr id="23" name="Text 21"/>
          <p:cNvSpPr txBox="1"/>
          <p:nvPr/>
        </p:nvSpPr>
        <p:spPr>
          <a:xfrm>
            <a:off x="3941064" y="1645920"/>
            <a:ext cx="128016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onsolas" pitchFamily="34" charset="0"/>
                <a:ea typeface="Consolas" pitchFamily="34" charset="-122"/>
                <a:cs typeface="Consolas" pitchFamily="34" charset="-120"/>
              </a:rPr>
              <a:t>PATCH</a:t>
            </a:r>
            <a:endParaRPr lang="en-US" sz="1600" dirty="0"/>
          </a:p>
        </p:txBody>
      </p:sp>
      <p:sp>
        <p:nvSpPr>
          <p:cNvPr id="24" name="Text 22"/>
          <p:cNvSpPr txBox="1"/>
          <p:nvPr/>
        </p:nvSpPr>
        <p:spPr>
          <a:xfrm>
            <a:off x="3941064" y="2240280"/>
            <a:ext cx="1280160" cy="274320"/>
          </a:xfrm>
          <a:prstGeom prst="rect">
            <a:avLst/>
          </a:prstGeom>
          <a:noFill/>
          <a:ln/>
        </p:spPr>
        <p:txBody>
          <a:bodyPr wrap="square" lIns="0" tIns="0" rIns="0" bIns="0" rtlCol="0" anchor="t"/>
          <a:lstStyle/>
          <a:p>
            <a:pPr marL="0" indent="0">
              <a:buNone/>
            </a:pPr>
            <a:r>
              <a:rPr lang="en-US" sz="1200" b="1" dirty="0">
                <a:solidFill>
                  <a:srgbClr val="071B3F"/>
                </a:solidFill>
                <a:latin typeface="Segoe UI" pitchFamily="34" charset="0"/>
                <a:ea typeface="Segoe UI" pitchFamily="34" charset="-122"/>
                <a:cs typeface="Segoe UI" pitchFamily="34" charset="-120"/>
              </a:rPr>
              <a:t>Actualizar</a:t>
            </a:r>
            <a:endParaRPr lang="en-US" sz="1200" dirty="0"/>
          </a:p>
        </p:txBody>
      </p:sp>
      <p:sp>
        <p:nvSpPr>
          <p:cNvPr id="25" name="Text 23"/>
          <p:cNvSpPr txBox="1"/>
          <p:nvPr/>
        </p:nvSpPr>
        <p:spPr>
          <a:xfrm>
            <a:off x="3941064" y="2532888"/>
            <a:ext cx="1280160" cy="1005840"/>
          </a:xfrm>
          <a:prstGeom prst="rect">
            <a:avLst/>
          </a:prstGeom>
          <a:noFill/>
          <a:ln/>
        </p:spPr>
        <p:txBody>
          <a:bodyPr wrap="square" lIns="0" tIns="0" rIns="0" bIns="0" rtlCol="0" anchor="t"/>
          <a:lstStyle/>
          <a:p>
            <a:pPr marL="0" indent="0">
              <a:buNone/>
            </a:pPr>
            <a:r>
              <a:rPr lang="en-US" sz="1000" dirty="0">
                <a:solidFill>
                  <a:srgbClr val="5B6B82"/>
                </a:solidFill>
                <a:latin typeface="Calibri" pitchFamily="34" charset="0"/>
                <a:ea typeface="Calibri" pitchFamily="34" charset="-122"/>
                <a:cs typeface="Calibri" pitchFamily="34" charset="-120"/>
              </a:rPr>
              <a:t>Modifica solo las propiedades enviadas. Opción recomendada.</a:t>
            </a:r>
            <a:endParaRPr lang="en-US" sz="1000" dirty="0"/>
          </a:p>
        </p:txBody>
      </p:sp>
      <p:sp>
        <p:nvSpPr>
          <p:cNvPr id="26" name="Text 24"/>
          <p:cNvSpPr txBox="1"/>
          <p:nvPr/>
        </p:nvSpPr>
        <p:spPr>
          <a:xfrm>
            <a:off x="3941064" y="3657600"/>
            <a:ext cx="1325880" cy="411480"/>
          </a:xfrm>
          <a:prstGeom prst="rect">
            <a:avLst/>
          </a:prstGeom>
          <a:noFill/>
          <a:ln/>
        </p:spPr>
        <p:txBody>
          <a:bodyPr wrap="square" lIns="0" tIns="0" rIns="0" bIns="0" rtlCol="0" anchor="t"/>
          <a:lstStyle/>
          <a:p>
            <a:pPr marL="0" indent="0">
              <a:buNone/>
            </a:pPr>
            <a:r>
              <a:rPr lang="en-US" sz="850" dirty="0">
                <a:solidFill>
                  <a:srgbClr val="0B4DA2"/>
                </a:solidFill>
                <a:latin typeface="Consolas" pitchFamily="34" charset="0"/>
                <a:ea typeface="Consolas" pitchFamily="34" charset="-122"/>
                <a:cs typeface="Consolas" pitchFamily="34" charset="-120"/>
              </a:rPr>
              <a:t>PATCH /Items('A001')</a:t>
            </a:r>
            <a:endParaRPr lang="en-US" sz="850" dirty="0"/>
          </a:p>
        </p:txBody>
      </p:sp>
      <p:sp>
        <p:nvSpPr>
          <p:cNvPr id="27" name="Text 25"/>
          <p:cNvSpPr txBox="1"/>
          <p:nvPr/>
        </p:nvSpPr>
        <p:spPr>
          <a:xfrm>
            <a:off x="3941064" y="4160520"/>
            <a:ext cx="1280160" cy="274320"/>
          </a:xfrm>
          <a:prstGeom prst="rect">
            <a:avLst/>
          </a:prstGeom>
          <a:noFill/>
          <a:ln/>
        </p:spPr>
        <p:txBody>
          <a:bodyPr wrap="square" lIns="0" tIns="0" rIns="0" bIns="0" rtlCol="0" anchor="t"/>
          <a:lstStyle/>
          <a:p>
            <a:pPr marL="0" indent="0">
              <a:buNone/>
            </a:pPr>
            <a:r>
              <a:rPr lang="en-US" sz="900" b="1" dirty="0">
                <a:solidFill>
                  <a:srgbClr val="E08600"/>
                </a:solidFill>
                <a:latin typeface="Consolas" pitchFamily="34" charset="0"/>
                <a:ea typeface="Consolas" pitchFamily="34" charset="-122"/>
                <a:cs typeface="Consolas" pitchFamily="34" charset="-120"/>
              </a:rPr>
              <a:t>204 No Content</a:t>
            </a:r>
            <a:endParaRPr lang="en-US" sz="900" dirty="0"/>
          </a:p>
        </p:txBody>
      </p:sp>
      <p:sp>
        <p:nvSpPr>
          <p:cNvPr id="28" name="Shape 26"/>
          <p:cNvSpPr/>
          <p:nvPr/>
        </p:nvSpPr>
        <p:spPr>
          <a:xfrm>
            <a:off x="5477256" y="1463040"/>
            <a:ext cx="1554480" cy="3200400"/>
          </a:xfrm>
          <a:prstGeom prst="roundRect">
            <a:avLst>
              <a:gd name="adj" fmla="val 4706"/>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29" name="Shape 27"/>
          <p:cNvSpPr/>
          <p:nvPr/>
        </p:nvSpPr>
        <p:spPr>
          <a:xfrm>
            <a:off x="5614416" y="1645920"/>
            <a:ext cx="1280160" cy="457200"/>
          </a:xfrm>
          <a:prstGeom prst="roundRect">
            <a:avLst>
              <a:gd name="adj" fmla="val 16000"/>
            </a:avLst>
          </a:prstGeom>
          <a:solidFill>
            <a:srgbClr val="7E57C2"/>
          </a:solidFill>
          <a:ln w="12700">
            <a:solidFill>
              <a:srgbClr val="7E57C2"/>
            </a:solidFill>
            <a:prstDash val="solid"/>
          </a:ln>
        </p:spPr>
      </p:sp>
      <p:sp>
        <p:nvSpPr>
          <p:cNvPr id="30" name="Text 28"/>
          <p:cNvSpPr txBox="1"/>
          <p:nvPr/>
        </p:nvSpPr>
        <p:spPr>
          <a:xfrm>
            <a:off x="5614416" y="1645920"/>
            <a:ext cx="128016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onsolas" pitchFamily="34" charset="0"/>
                <a:ea typeface="Consolas" pitchFamily="34" charset="-122"/>
                <a:cs typeface="Consolas" pitchFamily="34" charset="-120"/>
              </a:rPr>
              <a:t>PUT</a:t>
            </a:r>
            <a:endParaRPr lang="en-US" sz="1600" dirty="0"/>
          </a:p>
        </p:txBody>
      </p:sp>
      <p:sp>
        <p:nvSpPr>
          <p:cNvPr id="31" name="Text 29"/>
          <p:cNvSpPr txBox="1"/>
          <p:nvPr/>
        </p:nvSpPr>
        <p:spPr>
          <a:xfrm>
            <a:off x="5614416" y="2240280"/>
            <a:ext cx="1280160" cy="274320"/>
          </a:xfrm>
          <a:prstGeom prst="rect">
            <a:avLst/>
          </a:prstGeom>
          <a:noFill/>
          <a:ln/>
        </p:spPr>
        <p:txBody>
          <a:bodyPr wrap="square" lIns="0" tIns="0" rIns="0" bIns="0" rtlCol="0" anchor="t"/>
          <a:lstStyle/>
          <a:p>
            <a:pPr marL="0" indent="0">
              <a:buNone/>
            </a:pPr>
            <a:r>
              <a:rPr lang="en-US" sz="1200" b="1" dirty="0">
                <a:solidFill>
                  <a:srgbClr val="071B3F"/>
                </a:solidFill>
                <a:latin typeface="Segoe UI" pitchFamily="34" charset="0"/>
                <a:ea typeface="Segoe UI" pitchFamily="34" charset="-122"/>
                <a:cs typeface="Segoe UI" pitchFamily="34" charset="-120"/>
              </a:rPr>
              <a:t>Reemplazar</a:t>
            </a:r>
            <a:endParaRPr lang="en-US" sz="1200" dirty="0"/>
          </a:p>
        </p:txBody>
      </p:sp>
      <p:sp>
        <p:nvSpPr>
          <p:cNvPr id="32" name="Text 30"/>
          <p:cNvSpPr txBox="1"/>
          <p:nvPr/>
        </p:nvSpPr>
        <p:spPr>
          <a:xfrm>
            <a:off x="5614416" y="2532888"/>
            <a:ext cx="1280160" cy="1005840"/>
          </a:xfrm>
          <a:prstGeom prst="rect">
            <a:avLst/>
          </a:prstGeom>
          <a:noFill/>
          <a:ln/>
        </p:spPr>
        <p:txBody>
          <a:bodyPr wrap="square" lIns="0" tIns="0" rIns="0" bIns="0" rtlCol="0" anchor="t"/>
          <a:lstStyle/>
          <a:p>
            <a:pPr marL="0" indent="0">
              <a:buNone/>
            </a:pPr>
            <a:r>
              <a:rPr lang="en-US" sz="1000" dirty="0">
                <a:solidFill>
                  <a:srgbClr val="5B6B82"/>
                </a:solidFill>
                <a:latin typeface="Calibri" pitchFamily="34" charset="0"/>
                <a:ea typeface="Calibri" pitchFamily="34" charset="-122"/>
                <a:cs typeface="Calibri" pitchFamily="34" charset="-120"/>
              </a:rPr>
              <a:t>Sustituye la entidad completa; lo no enviado vuelve a su valor por defecto.</a:t>
            </a:r>
            <a:endParaRPr lang="en-US" sz="1000" dirty="0"/>
          </a:p>
        </p:txBody>
      </p:sp>
      <p:sp>
        <p:nvSpPr>
          <p:cNvPr id="33" name="Text 31"/>
          <p:cNvSpPr txBox="1"/>
          <p:nvPr/>
        </p:nvSpPr>
        <p:spPr>
          <a:xfrm>
            <a:off x="5614416" y="3657600"/>
            <a:ext cx="1325880" cy="411480"/>
          </a:xfrm>
          <a:prstGeom prst="rect">
            <a:avLst/>
          </a:prstGeom>
          <a:noFill/>
          <a:ln/>
        </p:spPr>
        <p:txBody>
          <a:bodyPr wrap="square" lIns="0" tIns="0" rIns="0" bIns="0" rtlCol="0" anchor="t"/>
          <a:lstStyle/>
          <a:p>
            <a:pPr marL="0" indent="0">
              <a:buNone/>
            </a:pPr>
            <a:r>
              <a:rPr lang="en-US" sz="850" dirty="0">
                <a:solidFill>
                  <a:srgbClr val="0B4DA2"/>
                </a:solidFill>
                <a:latin typeface="Consolas" pitchFamily="34" charset="0"/>
                <a:ea typeface="Consolas" pitchFamily="34" charset="-122"/>
                <a:cs typeface="Consolas" pitchFamily="34" charset="-120"/>
              </a:rPr>
              <a:t>PUT /U_TABLA('01')</a:t>
            </a:r>
            <a:endParaRPr lang="en-US" sz="850" dirty="0"/>
          </a:p>
        </p:txBody>
      </p:sp>
      <p:sp>
        <p:nvSpPr>
          <p:cNvPr id="34" name="Text 32"/>
          <p:cNvSpPr txBox="1"/>
          <p:nvPr/>
        </p:nvSpPr>
        <p:spPr>
          <a:xfrm>
            <a:off x="5614416" y="4160520"/>
            <a:ext cx="1280160" cy="274320"/>
          </a:xfrm>
          <a:prstGeom prst="rect">
            <a:avLst/>
          </a:prstGeom>
          <a:noFill/>
          <a:ln/>
        </p:spPr>
        <p:txBody>
          <a:bodyPr wrap="square" lIns="0" tIns="0" rIns="0" bIns="0" rtlCol="0" anchor="t"/>
          <a:lstStyle/>
          <a:p>
            <a:pPr marL="0" indent="0">
              <a:buNone/>
            </a:pPr>
            <a:r>
              <a:rPr lang="en-US" sz="900" b="1" dirty="0">
                <a:solidFill>
                  <a:srgbClr val="7E57C2"/>
                </a:solidFill>
                <a:latin typeface="Consolas" pitchFamily="34" charset="0"/>
                <a:ea typeface="Consolas" pitchFamily="34" charset="-122"/>
                <a:cs typeface="Consolas" pitchFamily="34" charset="-120"/>
              </a:rPr>
              <a:t>204 No Content</a:t>
            </a:r>
            <a:endParaRPr lang="en-US" sz="900" dirty="0"/>
          </a:p>
        </p:txBody>
      </p:sp>
      <p:sp>
        <p:nvSpPr>
          <p:cNvPr id="35" name="Shape 33"/>
          <p:cNvSpPr/>
          <p:nvPr/>
        </p:nvSpPr>
        <p:spPr>
          <a:xfrm>
            <a:off x="7150608" y="1463040"/>
            <a:ext cx="1554480" cy="3200400"/>
          </a:xfrm>
          <a:prstGeom prst="roundRect">
            <a:avLst>
              <a:gd name="adj" fmla="val 4706"/>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36" name="Shape 34"/>
          <p:cNvSpPr/>
          <p:nvPr/>
        </p:nvSpPr>
        <p:spPr>
          <a:xfrm>
            <a:off x="7287768" y="1645920"/>
            <a:ext cx="1280160" cy="457200"/>
          </a:xfrm>
          <a:prstGeom prst="roundRect">
            <a:avLst>
              <a:gd name="adj" fmla="val 16000"/>
            </a:avLst>
          </a:prstGeom>
          <a:solidFill>
            <a:srgbClr val="D64545"/>
          </a:solidFill>
          <a:ln w="12700">
            <a:solidFill>
              <a:srgbClr val="D64545"/>
            </a:solidFill>
            <a:prstDash val="solid"/>
          </a:ln>
        </p:spPr>
      </p:sp>
      <p:sp>
        <p:nvSpPr>
          <p:cNvPr id="37" name="Text 35"/>
          <p:cNvSpPr txBox="1"/>
          <p:nvPr/>
        </p:nvSpPr>
        <p:spPr>
          <a:xfrm>
            <a:off x="7287768" y="1645920"/>
            <a:ext cx="128016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onsolas" pitchFamily="34" charset="0"/>
                <a:ea typeface="Consolas" pitchFamily="34" charset="-122"/>
                <a:cs typeface="Consolas" pitchFamily="34" charset="-120"/>
              </a:rPr>
              <a:t>DELETE</a:t>
            </a:r>
            <a:endParaRPr lang="en-US" sz="1600" dirty="0"/>
          </a:p>
        </p:txBody>
      </p:sp>
      <p:sp>
        <p:nvSpPr>
          <p:cNvPr id="38" name="Text 36"/>
          <p:cNvSpPr txBox="1"/>
          <p:nvPr/>
        </p:nvSpPr>
        <p:spPr>
          <a:xfrm>
            <a:off x="7287768" y="2240280"/>
            <a:ext cx="1280160" cy="274320"/>
          </a:xfrm>
          <a:prstGeom prst="rect">
            <a:avLst/>
          </a:prstGeom>
          <a:noFill/>
          <a:ln/>
        </p:spPr>
        <p:txBody>
          <a:bodyPr wrap="square" lIns="0" tIns="0" rIns="0" bIns="0" rtlCol="0" anchor="t"/>
          <a:lstStyle/>
          <a:p>
            <a:pPr marL="0" indent="0">
              <a:buNone/>
            </a:pPr>
            <a:r>
              <a:rPr lang="en-US" sz="1200" b="1" dirty="0">
                <a:solidFill>
                  <a:srgbClr val="071B3F"/>
                </a:solidFill>
                <a:latin typeface="Segoe UI" pitchFamily="34" charset="0"/>
                <a:ea typeface="Segoe UI" pitchFamily="34" charset="-122"/>
                <a:cs typeface="Segoe UI" pitchFamily="34" charset="-120"/>
              </a:rPr>
              <a:t>Eliminar</a:t>
            </a:r>
            <a:endParaRPr lang="en-US" sz="1200" dirty="0"/>
          </a:p>
        </p:txBody>
      </p:sp>
      <p:sp>
        <p:nvSpPr>
          <p:cNvPr id="39" name="Text 37"/>
          <p:cNvSpPr txBox="1"/>
          <p:nvPr/>
        </p:nvSpPr>
        <p:spPr>
          <a:xfrm>
            <a:off x="7287768" y="2532888"/>
            <a:ext cx="1280160" cy="1005840"/>
          </a:xfrm>
          <a:prstGeom prst="rect">
            <a:avLst/>
          </a:prstGeom>
          <a:noFill/>
          <a:ln/>
        </p:spPr>
        <p:txBody>
          <a:bodyPr wrap="square" lIns="0" tIns="0" rIns="0" bIns="0" rtlCol="0" anchor="t"/>
          <a:lstStyle/>
          <a:p>
            <a:pPr marL="0" indent="0">
              <a:buNone/>
            </a:pPr>
            <a:r>
              <a:rPr lang="en-US" sz="1000" dirty="0">
                <a:solidFill>
                  <a:srgbClr val="5B6B82"/>
                </a:solidFill>
                <a:latin typeface="Calibri" pitchFamily="34" charset="0"/>
                <a:ea typeface="Calibri" pitchFamily="34" charset="-122"/>
                <a:cs typeface="Calibri" pitchFamily="34" charset="-120"/>
              </a:rPr>
              <a:t>Borra el registro si el objeto lo permite. Documentos: Cancel/Close.</a:t>
            </a:r>
            <a:endParaRPr lang="en-US" sz="1000" dirty="0"/>
          </a:p>
        </p:txBody>
      </p:sp>
      <p:sp>
        <p:nvSpPr>
          <p:cNvPr id="40" name="Text 38"/>
          <p:cNvSpPr txBox="1"/>
          <p:nvPr/>
        </p:nvSpPr>
        <p:spPr>
          <a:xfrm>
            <a:off x="7287768" y="3657600"/>
            <a:ext cx="1325880" cy="411480"/>
          </a:xfrm>
          <a:prstGeom prst="rect">
            <a:avLst/>
          </a:prstGeom>
          <a:noFill/>
          <a:ln/>
        </p:spPr>
        <p:txBody>
          <a:bodyPr wrap="square" lIns="0" tIns="0" rIns="0" bIns="0" rtlCol="0" anchor="t"/>
          <a:lstStyle/>
          <a:p>
            <a:pPr marL="0" indent="0">
              <a:buNone/>
            </a:pPr>
            <a:r>
              <a:rPr lang="en-US" sz="850" dirty="0">
                <a:solidFill>
                  <a:srgbClr val="0B4DA2"/>
                </a:solidFill>
                <a:latin typeface="Consolas" pitchFamily="34" charset="0"/>
                <a:ea typeface="Consolas" pitchFamily="34" charset="-122"/>
                <a:cs typeface="Consolas" pitchFamily="34" charset="-120"/>
              </a:rPr>
              <a:t>DELETE /Items('A001')</a:t>
            </a:r>
            <a:endParaRPr lang="en-US" sz="850" dirty="0"/>
          </a:p>
        </p:txBody>
      </p:sp>
      <p:sp>
        <p:nvSpPr>
          <p:cNvPr id="41" name="Text 39"/>
          <p:cNvSpPr txBox="1"/>
          <p:nvPr/>
        </p:nvSpPr>
        <p:spPr>
          <a:xfrm>
            <a:off x="7287768" y="4160520"/>
            <a:ext cx="1280160" cy="274320"/>
          </a:xfrm>
          <a:prstGeom prst="rect">
            <a:avLst/>
          </a:prstGeom>
          <a:noFill/>
          <a:ln/>
        </p:spPr>
        <p:txBody>
          <a:bodyPr wrap="square" lIns="0" tIns="0" rIns="0" bIns="0" rtlCol="0" anchor="t"/>
          <a:lstStyle/>
          <a:p>
            <a:pPr marL="0" indent="0">
              <a:buNone/>
            </a:pPr>
            <a:r>
              <a:rPr lang="en-US" sz="900" b="1" dirty="0">
                <a:solidFill>
                  <a:srgbClr val="D64545"/>
                </a:solidFill>
                <a:latin typeface="Consolas" pitchFamily="34" charset="0"/>
                <a:ea typeface="Consolas" pitchFamily="34" charset="-122"/>
                <a:cs typeface="Consolas" pitchFamily="34" charset="-120"/>
              </a:rPr>
              <a:t>204 No Content</a:t>
            </a:r>
            <a:endParaRPr lang="en-US" sz="900" dirty="0"/>
          </a:p>
        </p:txBody>
      </p:sp>
      <p:sp>
        <p:nvSpPr>
          <p:cNvPr id="42"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xmlns="" val="0"/>
            </a:ext>
          </a:extLst>
        </p:spPr>
        <p:txBody>
          <a:bodyPr/>
          <a:lstStyle>
            <a:lvl1pPr>
              <a:defRPr sz="800">
                <a:solidFill>
                  <a:srgbClr val="8A9AB0"/>
                </a:solidFill>
                <a:latin typeface="Calibri"/>
                <a:ea typeface="Calibri"/>
                <a:cs typeface="Calibri"/>
              </a:defRPr>
            </a:lvl1pPr>
          </a:lstStyle>
          <a:p>
            <a:pPr algn="r"/>
            <a:fld id="{F7021451-1387-4CA6-816F-3879F97B5CBC}" type="slidenum">
              <a:rPr lang="en-US" b="0"/>
              <a:t>18</a:t>
            </a:fld>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457200" y="256032"/>
            <a:ext cx="2434133" cy="237744"/>
          </a:xfrm>
          <a:prstGeom prst="roundRect">
            <a:avLst>
              <a:gd name="adj" fmla="val 50000"/>
            </a:avLst>
          </a:prstGeom>
          <a:solidFill>
            <a:srgbClr val="071B3F"/>
          </a:solidFill>
          <a:ln w="12700">
            <a:solidFill>
              <a:srgbClr val="071B3F"/>
            </a:solidFill>
            <a:prstDash val="solid"/>
          </a:ln>
        </p:spPr>
      </p:sp>
      <p:sp>
        <p:nvSpPr>
          <p:cNvPr id="3" name="Text 1"/>
          <p:cNvSpPr txBox="1"/>
          <p:nvPr/>
        </p:nvSpPr>
        <p:spPr>
          <a:xfrm>
            <a:off x="457200" y="256032"/>
            <a:ext cx="2434133" cy="237744"/>
          </a:xfrm>
          <a:prstGeom prst="rect">
            <a:avLst/>
          </a:prstGeom>
          <a:noFill/>
          <a:ln/>
        </p:spPr>
        <p:txBody>
          <a:bodyPr wrap="square" lIns="0" tIns="0" rIns="0" bIns="0" rtlCol="0" anchor="ctr"/>
          <a:lstStyle/>
          <a:p>
            <a:pPr marL="0" indent="0" algn="ctr">
              <a:buNone/>
            </a:pPr>
            <a:r>
              <a:rPr lang="en-US" sz="850" b="1" kern="0" spc="100" dirty="0">
                <a:solidFill>
                  <a:srgbClr val="F5A800"/>
                </a:solidFill>
                <a:latin typeface="Segoe UI" pitchFamily="34" charset="0"/>
                <a:ea typeface="Segoe UI" pitchFamily="34" charset="-122"/>
                <a:cs typeface="Segoe UI" pitchFamily="34" charset="-120"/>
              </a:rPr>
              <a:t>04  ·  FLUJOS DE OPERACIÓN II</a:t>
            </a:r>
            <a:endParaRPr lang="en-US" sz="850" dirty="0"/>
          </a:p>
        </p:txBody>
      </p:sp>
      <p:sp>
        <p:nvSpPr>
          <p:cNvPr id="4" name="Text 2"/>
          <p:cNvSpPr txBox="1"/>
          <p:nvPr/>
        </p:nvSpPr>
        <p:spPr>
          <a:xfrm>
            <a:off x="457200" y="566928"/>
            <a:ext cx="8229600" cy="502920"/>
          </a:xfrm>
          <a:prstGeom prst="rect">
            <a:avLst/>
          </a:prstGeom>
          <a:noFill/>
          <a:ln/>
        </p:spPr>
        <p:txBody>
          <a:bodyPr wrap="square" lIns="0" tIns="0" rIns="0" bIns="0" rtlCol="0" anchor="ctr"/>
          <a:lstStyle/>
          <a:p>
            <a:pPr marL="0" indent="0">
              <a:buNone/>
            </a:pPr>
            <a:r>
              <a:rPr lang="en-US" sz="2400" b="1" dirty="0">
                <a:solidFill>
                  <a:srgbClr val="071B3F"/>
                </a:solidFill>
                <a:latin typeface="Segoe UI" pitchFamily="34" charset="0"/>
                <a:ea typeface="Segoe UI" pitchFamily="34" charset="-122"/>
                <a:cs typeface="Segoe UI" pitchFamily="34" charset="-120"/>
              </a:rPr>
              <a:t>PATCH vs PUT: evita perder datos</a:t>
            </a:r>
            <a:endParaRPr lang="en-US" sz="2400" dirty="0"/>
          </a:p>
        </p:txBody>
      </p:sp>
      <p:sp>
        <p:nvSpPr>
          <p:cNvPr id="5" name="Text 3"/>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00" dirty="0">
                <a:solidFill>
                  <a:srgbClr val="8A9AB0"/>
                </a:solidFill>
                <a:latin typeface="Calibri" pitchFamily="34" charset="0"/>
                <a:ea typeface="Calibri" pitchFamily="34" charset="-122"/>
                <a:cs typeface="Calibri" pitchFamily="34" charset="-120"/>
              </a:rPr>
              <a:t>Ventura Soluciones  |  SAP Business One · Service Layer</a:t>
            </a:r>
            <a:endParaRPr lang="en-US" sz="800" dirty="0"/>
          </a:p>
        </p:txBody>
      </p:sp>
      <p:sp>
        <p:nvSpPr>
          <p:cNvPr id="6" name="Shape 4"/>
          <p:cNvSpPr/>
          <p:nvPr/>
        </p:nvSpPr>
        <p:spPr>
          <a:xfrm>
            <a:off x="457200" y="1234440"/>
            <a:ext cx="8229600" cy="566928"/>
          </a:xfrm>
          <a:prstGeom prst="roundRect">
            <a:avLst>
              <a:gd name="adj" fmla="val 12903"/>
            </a:avLst>
          </a:prstGeom>
          <a:solidFill>
            <a:srgbClr val="E8F1FC"/>
          </a:solidFill>
          <a:ln w="9525">
            <a:solidFill>
              <a:srgbClr val="D5DFEC"/>
            </a:solidFill>
            <a:prstDash val="solid"/>
          </a:ln>
          <a:effectLst>
            <a:outerShdw blurRad="101600" dist="25400" dir="5400000" algn="bl" rotWithShape="0">
              <a:srgbClr val="0B2A55">
                <a:alpha val="12000"/>
              </a:srgbClr>
            </a:outerShdw>
          </a:effectLst>
        </p:spPr>
      </p:sp>
      <p:sp>
        <p:nvSpPr>
          <p:cNvPr id="7" name="Text 5"/>
          <p:cNvSpPr txBox="1"/>
          <p:nvPr/>
        </p:nvSpPr>
        <p:spPr>
          <a:xfrm>
            <a:off x="640080" y="1234440"/>
            <a:ext cx="7955280" cy="566928"/>
          </a:xfrm>
          <a:prstGeom prst="rect">
            <a:avLst/>
          </a:prstGeom>
          <a:noFill/>
          <a:ln/>
        </p:spPr>
        <p:txBody>
          <a:bodyPr wrap="square" lIns="0" tIns="0" rIns="0" bIns="0" rtlCol="0" anchor="ctr"/>
          <a:lstStyle/>
          <a:p>
            <a:pPr marL="0" indent="0">
              <a:buNone/>
            </a:pPr>
            <a:r>
              <a:rPr lang="en-US" sz="1100" b="1" dirty="0">
                <a:solidFill>
                  <a:srgbClr val="071B3F"/>
                </a:solidFill>
                <a:latin typeface="Segoe UI" pitchFamily="34" charset="0"/>
                <a:ea typeface="Segoe UI" pitchFamily="34" charset="-122"/>
                <a:cs typeface="Segoe UI" pitchFamily="34" charset="-120"/>
              </a:rPr>
              <a:t>Registro actual  </a:t>
            </a:r>
            <a:r>
              <a:rPr lang="en-US" sz="950" dirty="0">
                <a:solidFill>
                  <a:srgbClr val="0B4DA2"/>
                </a:solidFill>
                <a:latin typeface="Consolas" pitchFamily="34" charset="0"/>
                <a:ea typeface="Consolas" pitchFamily="34" charset="-122"/>
                <a:cs typeface="Consolas" pitchFamily="34" charset="-120"/>
              </a:rPr>
              <a:t>BusinessPartners('C001') → CardName: "Andina SAC" · Phone1: "014567890" · EmailAddress: "compras@andina.pe"</a:t>
            </a:r>
            <a:endParaRPr lang="en-US" sz="1100" dirty="0"/>
          </a:p>
        </p:txBody>
      </p:sp>
      <p:sp>
        <p:nvSpPr>
          <p:cNvPr id="8" name="Shape 6"/>
          <p:cNvSpPr/>
          <p:nvPr/>
        </p:nvSpPr>
        <p:spPr>
          <a:xfrm>
            <a:off x="457200" y="1938528"/>
            <a:ext cx="1005840" cy="329184"/>
          </a:xfrm>
          <a:prstGeom prst="roundRect">
            <a:avLst>
              <a:gd name="adj" fmla="val 22222"/>
            </a:avLst>
          </a:prstGeom>
          <a:solidFill>
            <a:srgbClr val="E08600"/>
          </a:solidFill>
          <a:ln w="12700">
            <a:solidFill>
              <a:srgbClr val="E08600"/>
            </a:solidFill>
            <a:prstDash val="solid"/>
          </a:ln>
        </p:spPr>
      </p:sp>
      <p:sp>
        <p:nvSpPr>
          <p:cNvPr id="9" name="Text 7"/>
          <p:cNvSpPr txBox="1"/>
          <p:nvPr/>
        </p:nvSpPr>
        <p:spPr>
          <a:xfrm>
            <a:off x="457200" y="1938528"/>
            <a:ext cx="1005840"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PATCH</a:t>
            </a:r>
            <a:endParaRPr lang="en-US" sz="1300" dirty="0"/>
          </a:p>
        </p:txBody>
      </p:sp>
      <p:sp>
        <p:nvSpPr>
          <p:cNvPr id="10" name="Text 8"/>
          <p:cNvSpPr txBox="1"/>
          <p:nvPr/>
        </p:nvSpPr>
        <p:spPr>
          <a:xfrm>
            <a:off x="1600200" y="1938528"/>
            <a:ext cx="2926080" cy="329184"/>
          </a:xfrm>
          <a:prstGeom prst="rect">
            <a:avLst/>
          </a:prstGeom>
          <a:noFill/>
          <a:ln/>
        </p:spPr>
        <p:txBody>
          <a:bodyPr wrap="square" lIns="0" tIns="0" rIns="0" bIns="0" rtlCol="0" anchor="ctr"/>
          <a:lstStyle/>
          <a:p>
            <a:pPr marL="0" indent="0">
              <a:buNone/>
            </a:pPr>
            <a:r>
              <a:rPr lang="en-US" sz="1100" b="1" dirty="0">
                <a:solidFill>
                  <a:srgbClr val="071B3F"/>
                </a:solidFill>
                <a:latin typeface="Calibri" pitchFamily="34" charset="0"/>
                <a:ea typeface="Calibri" pitchFamily="34" charset="-122"/>
                <a:cs typeface="Calibri" pitchFamily="34" charset="-120"/>
              </a:rPr>
              <a:t>Solo cambia lo enviado. Lo demás se conserva.</a:t>
            </a:r>
            <a:endParaRPr lang="en-US" sz="1100" dirty="0"/>
          </a:p>
        </p:txBody>
      </p:sp>
      <p:sp>
        <p:nvSpPr>
          <p:cNvPr id="11" name="Shape 9"/>
          <p:cNvSpPr/>
          <p:nvPr/>
        </p:nvSpPr>
        <p:spPr>
          <a:xfrm>
            <a:off x="457200" y="2377440"/>
            <a:ext cx="2103120" cy="1417320"/>
          </a:xfrm>
          <a:prstGeom prst="roundRect">
            <a:avLst>
              <a:gd name="adj" fmla="val 4516"/>
            </a:avLst>
          </a:prstGeom>
          <a:solidFill>
            <a:srgbClr val="0E1B2E"/>
          </a:solidFill>
          <a:ln w="12700">
            <a:solidFill>
              <a:srgbClr val="0E1B2E"/>
            </a:solidFill>
            <a:prstDash val="solid"/>
          </a:ln>
          <a:effectLst>
            <a:outerShdw blurRad="101600" dist="25400" dir="5400000" algn="bl" rotWithShape="0">
              <a:srgbClr val="0B2A55">
                <a:alpha val="12000"/>
              </a:srgbClr>
            </a:outerShdw>
          </a:effectLst>
        </p:spPr>
      </p:sp>
      <p:sp>
        <p:nvSpPr>
          <p:cNvPr id="12" name="Text 10"/>
          <p:cNvSpPr txBox="1"/>
          <p:nvPr/>
        </p:nvSpPr>
        <p:spPr>
          <a:xfrm>
            <a:off x="594360" y="2487168"/>
            <a:ext cx="1828800" cy="1234440"/>
          </a:xfrm>
          <a:prstGeom prst="rect">
            <a:avLst/>
          </a:prstGeom>
          <a:noFill/>
          <a:ln/>
        </p:spPr>
        <p:txBody>
          <a:bodyPr wrap="square" lIns="0" tIns="0" rIns="0" bIns="0" rtlCol="0" anchor="t"/>
          <a:lstStyle/>
          <a:p>
            <a:pPr marL="0" indent="0">
              <a:lnSpc>
                <a:spcPct val="100000"/>
              </a:lnSpc>
              <a:buNone/>
            </a:pPr>
            <a:r>
              <a:rPr lang="en-US" sz="850" b="1" dirty="0">
                <a:solidFill>
                  <a:srgbClr val="F5A800"/>
                </a:solidFill>
                <a:latin typeface="Consolas" pitchFamily="34" charset="0"/>
                <a:ea typeface="Consolas" pitchFamily="34" charset="-122"/>
                <a:cs typeface="Consolas" pitchFamily="34" charset="-120"/>
              </a:rPr>
              <a:t>PATCH</a:t>
            </a:r>
            <a:r>
              <a:rPr lang="en-US" sz="850" dirty="0">
                <a:solidFill>
                  <a:srgbClr val="DCE6F2"/>
                </a:solidFill>
                <a:latin typeface="Consolas" pitchFamily="34" charset="0"/>
                <a:ea typeface="Consolas" pitchFamily="34" charset="-122"/>
                <a:cs typeface="Consolas" pitchFamily="34" charset="-120"/>
              </a:rPr>
              <a:t> /BusinessPartners('C001')</a:t>
            </a:r>
            <a:endParaRPr lang="en-US" sz="850" dirty="0"/>
          </a:p>
          <a:p>
            <a:pPr marL="0" indent="0">
              <a:lnSpc>
                <a:spcPct val="100000"/>
              </a:lnSpc>
              <a:buNone/>
            </a:pPr>
            <a:r>
              <a:rPr lang="en-US" sz="850" dirty="0">
                <a:solidFill>
                  <a:srgbClr val="DCE6F2"/>
                </a:solidFill>
                <a:latin typeface="Consolas" pitchFamily="34" charset="0"/>
                <a:ea typeface="Consolas" pitchFamily="34" charset="-122"/>
                <a:cs typeface="Consolas" pitchFamily="34" charset="-120"/>
              </a:rPr>
              <a:t>{</a:t>
            </a:r>
            <a:endParaRPr lang="en-US" sz="850" dirty="0"/>
          </a:p>
          <a:p>
            <a:pPr marL="0" indent="0">
              <a:lnSpc>
                <a:spcPct val="100000"/>
              </a:lnSpc>
              <a:buNone/>
            </a:pPr>
            <a:r>
              <a:rPr lang="en-US" sz="850" dirty="0">
                <a:solidFill>
                  <a:srgbClr val="DCE6F2"/>
                </a:solidFill>
                <a:latin typeface="Consolas" pitchFamily="34" charset="0"/>
                <a:ea typeface="Consolas" pitchFamily="34" charset="-122"/>
                <a:cs typeface="Consolas" pitchFamily="34" charset="-120"/>
              </a:rPr>
              <a:t>  </a:t>
            </a:r>
            <a:r>
              <a:rPr lang="en-US" sz="850" dirty="0">
                <a:solidFill>
                  <a:srgbClr val="7FD1FF"/>
                </a:solidFill>
                <a:latin typeface="Consolas" pitchFamily="34" charset="0"/>
                <a:ea typeface="Consolas" pitchFamily="34" charset="-122"/>
                <a:cs typeface="Consolas" pitchFamily="34" charset="-120"/>
              </a:rPr>
              <a:t>"Phone1"</a:t>
            </a:r>
            <a:r>
              <a:rPr lang="en-US" sz="850" dirty="0">
                <a:solidFill>
                  <a:srgbClr val="DCE6F2"/>
                </a:solidFill>
                <a:latin typeface="Consolas" pitchFamily="34" charset="0"/>
                <a:ea typeface="Consolas" pitchFamily="34" charset="-122"/>
                <a:cs typeface="Consolas" pitchFamily="34" charset="-120"/>
              </a:rPr>
              <a:t>: </a:t>
            </a:r>
            <a:r>
              <a:rPr lang="en-US" sz="850" dirty="0">
                <a:solidFill>
                  <a:srgbClr val="B5E48C"/>
                </a:solidFill>
                <a:latin typeface="Consolas" pitchFamily="34" charset="0"/>
                <a:ea typeface="Consolas" pitchFamily="34" charset="-122"/>
                <a:cs typeface="Consolas" pitchFamily="34" charset="-120"/>
              </a:rPr>
              <a:t>"987654321"</a:t>
            </a:r>
            <a:endParaRPr lang="en-US" sz="850" dirty="0"/>
          </a:p>
          <a:p>
            <a:pPr marL="0" indent="0">
              <a:lnSpc>
                <a:spcPct val="100000"/>
              </a:lnSpc>
              <a:buNone/>
            </a:pPr>
            <a:r>
              <a:rPr lang="en-US" sz="850" dirty="0">
                <a:solidFill>
                  <a:srgbClr val="DCE6F2"/>
                </a:solidFill>
                <a:latin typeface="Consolas" pitchFamily="34" charset="0"/>
                <a:ea typeface="Consolas" pitchFamily="34" charset="-122"/>
                <a:cs typeface="Consolas" pitchFamily="34" charset="-120"/>
              </a:rPr>
              <a:t>}</a:t>
            </a:r>
            <a:endParaRPr lang="en-US" sz="850" dirty="0"/>
          </a:p>
        </p:txBody>
      </p:sp>
      <p:sp>
        <p:nvSpPr>
          <p:cNvPr id="13" name="Shape 11"/>
          <p:cNvSpPr/>
          <p:nvPr/>
        </p:nvSpPr>
        <p:spPr>
          <a:xfrm>
            <a:off x="2697480" y="2377440"/>
            <a:ext cx="1783080" cy="1417320"/>
          </a:xfrm>
          <a:prstGeom prst="roundRect">
            <a:avLst>
              <a:gd name="adj" fmla="val 5161"/>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14" name="Text 12"/>
          <p:cNvSpPr txBox="1"/>
          <p:nvPr/>
        </p:nvSpPr>
        <p:spPr>
          <a:xfrm>
            <a:off x="2816352" y="2432304"/>
            <a:ext cx="1554480" cy="228600"/>
          </a:xfrm>
          <a:prstGeom prst="rect">
            <a:avLst/>
          </a:prstGeom>
          <a:noFill/>
          <a:ln/>
        </p:spPr>
        <p:txBody>
          <a:bodyPr wrap="square" lIns="0" tIns="0" rIns="0" bIns="0" rtlCol="0" anchor="t"/>
          <a:lstStyle/>
          <a:p>
            <a:pPr marL="0" indent="0">
              <a:buNone/>
            </a:pPr>
            <a:r>
              <a:rPr lang="en-US" sz="1000" b="1" dirty="0">
                <a:solidFill>
                  <a:srgbClr val="5B6B82"/>
                </a:solidFill>
                <a:latin typeface="Segoe UI" pitchFamily="34" charset="0"/>
                <a:ea typeface="Segoe UI" pitchFamily="34" charset="-122"/>
                <a:cs typeface="Segoe UI" pitchFamily="34" charset="-120"/>
              </a:rPr>
              <a:t>Resultado</a:t>
            </a:r>
            <a:endParaRPr lang="en-US" sz="1000" dirty="0"/>
          </a:p>
        </p:txBody>
      </p:sp>
      <p:sp>
        <p:nvSpPr>
          <p:cNvPr id="15" name="Text 13"/>
          <p:cNvSpPr txBox="1"/>
          <p:nvPr/>
        </p:nvSpPr>
        <p:spPr>
          <a:xfrm>
            <a:off x="2816352" y="2670048"/>
            <a:ext cx="1600200" cy="365760"/>
          </a:xfrm>
          <a:prstGeom prst="rect">
            <a:avLst/>
          </a:prstGeom>
          <a:noFill/>
          <a:ln/>
        </p:spPr>
        <p:txBody>
          <a:bodyPr wrap="square" lIns="0" tIns="0" rIns="0" bIns="0" rtlCol="0" anchor="t"/>
          <a:lstStyle/>
          <a:p>
            <a:pPr marL="0" indent="0">
              <a:buNone/>
            </a:pPr>
            <a:r>
              <a:rPr lang="en-US" sz="900" b="1" dirty="0">
                <a:solidFill>
                  <a:srgbClr val="071B3F"/>
                </a:solidFill>
                <a:latin typeface="Calibri" pitchFamily="34" charset="0"/>
                <a:ea typeface="Calibri" pitchFamily="34" charset="-122"/>
                <a:cs typeface="Calibri" pitchFamily="34" charset="-120"/>
              </a:rPr>
              <a:t>CardName</a:t>
            </a:r>
            <a:endParaRPr lang="en-US" sz="1300" dirty="0"/>
          </a:p>
          <a:p>
            <a:pPr marL="0" indent="0">
              <a:buNone/>
            </a:pPr>
            <a:r>
              <a:rPr lang="en-US" sz="950" dirty="0">
                <a:solidFill>
                  <a:srgbClr val="1B2433"/>
                </a:solidFill>
                <a:latin typeface="Calibri" pitchFamily="34" charset="0"/>
                <a:ea typeface="Calibri" pitchFamily="34" charset="-122"/>
                <a:cs typeface="Calibri" pitchFamily="34" charset="-120"/>
              </a:rPr>
              <a:t>Andina SAC</a:t>
            </a:r>
            <a:endParaRPr lang="en-US" sz="1300" dirty="0"/>
          </a:p>
        </p:txBody>
      </p:sp>
      <p:sp>
        <p:nvSpPr>
          <p:cNvPr id="16" name="Text 14"/>
          <p:cNvSpPr txBox="1"/>
          <p:nvPr/>
        </p:nvSpPr>
        <p:spPr>
          <a:xfrm>
            <a:off x="2816352" y="3035808"/>
            <a:ext cx="1600200" cy="365760"/>
          </a:xfrm>
          <a:prstGeom prst="rect">
            <a:avLst/>
          </a:prstGeom>
          <a:noFill/>
          <a:ln/>
        </p:spPr>
        <p:txBody>
          <a:bodyPr wrap="square" lIns="0" tIns="0" rIns="0" bIns="0" rtlCol="0" anchor="t"/>
          <a:lstStyle/>
          <a:p>
            <a:pPr marL="0" indent="0">
              <a:buNone/>
            </a:pPr>
            <a:r>
              <a:rPr lang="en-US" sz="900" b="1" dirty="0">
                <a:solidFill>
                  <a:srgbClr val="071B3F"/>
                </a:solidFill>
                <a:latin typeface="Calibri" pitchFamily="34" charset="0"/>
                <a:ea typeface="Calibri" pitchFamily="34" charset="-122"/>
                <a:cs typeface="Calibri" pitchFamily="34" charset="-120"/>
              </a:rPr>
              <a:t>Phone1</a:t>
            </a:r>
            <a:endParaRPr lang="en-US" sz="1300" dirty="0"/>
          </a:p>
          <a:p>
            <a:pPr marL="0" indent="0">
              <a:buNone/>
            </a:pPr>
            <a:r>
              <a:rPr lang="en-US" sz="950" b="1" dirty="0">
                <a:solidFill>
                  <a:srgbClr val="2E9E6A"/>
                </a:solidFill>
                <a:latin typeface="Calibri" pitchFamily="34" charset="0"/>
                <a:ea typeface="Calibri" pitchFamily="34" charset="-122"/>
                <a:cs typeface="Calibri" pitchFamily="34" charset="-120"/>
              </a:rPr>
              <a:t>987654321</a:t>
            </a:r>
            <a:endParaRPr lang="en-US" sz="1300" dirty="0"/>
          </a:p>
        </p:txBody>
      </p:sp>
      <p:sp>
        <p:nvSpPr>
          <p:cNvPr id="17" name="Text 15"/>
          <p:cNvSpPr txBox="1"/>
          <p:nvPr/>
        </p:nvSpPr>
        <p:spPr>
          <a:xfrm>
            <a:off x="2816352" y="3401568"/>
            <a:ext cx="1600200" cy="365760"/>
          </a:xfrm>
          <a:prstGeom prst="rect">
            <a:avLst/>
          </a:prstGeom>
          <a:noFill/>
          <a:ln/>
        </p:spPr>
        <p:txBody>
          <a:bodyPr wrap="square" lIns="0" tIns="0" rIns="0" bIns="0" rtlCol="0" anchor="t"/>
          <a:lstStyle/>
          <a:p>
            <a:pPr marL="0" indent="0">
              <a:buNone/>
            </a:pPr>
            <a:r>
              <a:rPr lang="en-US" sz="900" b="1" dirty="0">
                <a:solidFill>
                  <a:srgbClr val="071B3F"/>
                </a:solidFill>
                <a:latin typeface="Calibri" pitchFamily="34" charset="0"/>
                <a:ea typeface="Calibri" pitchFamily="34" charset="-122"/>
                <a:cs typeface="Calibri" pitchFamily="34" charset="-120"/>
              </a:rPr>
              <a:t>EmailAddress</a:t>
            </a:r>
            <a:endParaRPr lang="en-US" sz="1300" dirty="0"/>
          </a:p>
          <a:p>
            <a:pPr marL="0" indent="0">
              <a:buNone/>
            </a:pPr>
            <a:r>
              <a:rPr lang="en-US" sz="950" dirty="0">
                <a:solidFill>
                  <a:srgbClr val="1B2433"/>
                </a:solidFill>
                <a:latin typeface="Calibri" pitchFamily="34" charset="0"/>
                <a:ea typeface="Calibri" pitchFamily="34" charset="-122"/>
                <a:cs typeface="Calibri" pitchFamily="34" charset="-120"/>
              </a:rPr>
              <a:t>compras@andina.pe</a:t>
            </a:r>
            <a:endParaRPr lang="en-US" sz="1300" dirty="0"/>
          </a:p>
        </p:txBody>
      </p:sp>
      <p:sp>
        <p:nvSpPr>
          <p:cNvPr id="18" name="Shape 16"/>
          <p:cNvSpPr/>
          <p:nvPr/>
        </p:nvSpPr>
        <p:spPr>
          <a:xfrm>
            <a:off x="4663440" y="1938528"/>
            <a:ext cx="1005840" cy="329184"/>
          </a:xfrm>
          <a:prstGeom prst="roundRect">
            <a:avLst>
              <a:gd name="adj" fmla="val 22222"/>
            </a:avLst>
          </a:prstGeom>
          <a:solidFill>
            <a:srgbClr val="7E57C2"/>
          </a:solidFill>
          <a:ln w="12700">
            <a:solidFill>
              <a:srgbClr val="7E57C2"/>
            </a:solidFill>
            <a:prstDash val="solid"/>
          </a:ln>
        </p:spPr>
      </p:sp>
      <p:sp>
        <p:nvSpPr>
          <p:cNvPr id="19" name="Text 17"/>
          <p:cNvSpPr txBox="1"/>
          <p:nvPr/>
        </p:nvSpPr>
        <p:spPr>
          <a:xfrm>
            <a:off x="4663440" y="1938528"/>
            <a:ext cx="1005840"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PUT</a:t>
            </a:r>
            <a:endParaRPr lang="en-US" sz="1300" dirty="0"/>
          </a:p>
        </p:txBody>
      </p:sp>
      <p:sp>
        <p:nvSpPr>
          <p:cNvPr id="20" name="Text 18"/>
          <p:cNvSpPr txBox="1"/>
          <p:nvPr/>
        </p:nvSpPr>
        <p:spPr>
          <a:xfrm>
            <a:off x="5806440" y="1938528"/>
            <a:ext cx="2926080" cy="329184"/>
          </a:xfrm>
          <a:prstGeom prst="rect">
            <a:avLst/>
          </a:prstGeom>
          <a:noFill/>
          <a:ln/>
        </p:spPr>
        <p:txBody>
          <a:bodyPr wrap="square" lIns="0" tIns="0" rIns="0" bIns="0" rtlCol="0" anchor="ctr"/>
          <a:lstStyle/>
          <a:p>
            <a:pPr marL="0" indent="0">
              <a:buNone/>
            </a:pPr>
            <a:r>
              <a:rPr lang="en-US" sz="1100" b="1" dirty="0">
                <a:solidFill>
                  <a:srgbClr val="071B3F"/>
                </a:solidFill>
                <a:latin typeface="Calibri" pitchFamily="34" charset="0"/>
                <a:ea typeface="Calibri" pitchFamily="34" charset="-122"/>
                <a:cs typeface="Calibri" pitchFamily="34" charset="-120"/>
              </a:rPr>
              <a:t>Reemplaza todo: lo no enviado se pierde.</a:t>
            </a:r>
            <a:endParaRPr lang="en-US" sz="1100" dirty="0"/>
          </a:p>
        </p:txBody>
      </p:sp>
      <p:sp>
        <p:nvSpPr>
          <p:cNvPr id="21" name="Shape 19"/>
          <p:cNvSpPr/>
          <p:nvPr/>
        </p:nvSpPr>
        <p:spPr>
          <a:xfrm>
            <a:off x="4663440" y="2377440"/>
            <a:ext cx="2103120" cy="1417320"/>
          </a:xfrm>
          <a:prstGeom prst="roundRect">
            <a:avLst>
              <a:gd name="adj" fmla="val 4516"/>
            </a:avLst>
          </a:prstGeom>
          <a:solidFill>
            <a:srgbClr val="0E1B2E"/>
          </a:solidFill>
          <a:ln w="12700">
            <a:solidFill>
              <a:srgbClr val="0E1B2E"/>
            </a:solidFill>
            <a:prstDash val="solid"/>
          </a:ln>
          <a:effectLst>
            <a:outerShdw blurRad="101600" dist="25400" dir="5400000" algn="bl" rotWithShape="0">
              <a:srgbClr val="0B2A55">
                <a:alpha val="12000"/>
              </a:srgbClr>
            </a:outerShdw>
          </a:effectLst>
        </p:spPr>
      </p:sp>
      <p:sp>
        <p:nvSpPr>
          <p:cNvPr id="22" name="Text 20"/>
          <p:cNvSpPr txBox="1"/>
          <p:nvPr/>
        </p:nvSpPr>
        <p:spPr>
          <a:xfrm>
            <a:off x="4800600" y="2487168"/>
            <a:ext cx="1828800" cy="1234440"/>
          </a:xfrm>
          <a:prstGeom prst="rect">
            <a:avLst/>
          </a:prstGeom>
          <a:noFill/>
          <a:ln/>
        </p:spPr>
        <p:txBody>
          <a:bodyPr wrap="square" lIns="0" tIns="0" rIns="0" bIns="0" rtlCol="0" anchor="t"/>
          <a:lstStyle/>
          <a:p>
            <a:pPr marL="0" indent="0">
              <a:lnSpc>
                <a:spcPct val="100000"/>
              </a:lnSpc>
              <a:buNone/>
            </a:pPr>
            <a:r>
              <a:rPr lang="en-US" sz="850" b="1" dirty="0">
                <a:solidFill>
                  <a:srgbClr val="F5A800"/>
                </a:solidFill>
                <a:latin typeface="Consolas" pitchFamily="34" charset="0"/>
                <a:ea typeface="Consolas" pitchFamily="34" charset="-122"/>
                <a:cs typeface="Consolas" pitchFamily="34" charset="-120"/>
              </a:rPr>
              <a:t>PUT</a:t>
            </a:r>
            <a:r>
              <a:rPr lang="en-US" sz="850" dirty="0">
                <a:solidFill>
                  <a:srgbClr val="DCE6F2"/>
                </a:solidFill>
                <a:latin typeface="Consolas" pitchFamily="34" charset="0"/>
                <a:ea typeface="Consolas" pitchFamily="34" charset="-122"/>
                <a:cs typeface="Consolas" pitchFamily="34" charset="-120"/>
              </a:rPr>
              <a:t> /BusinessPartners('C001')</a:t>
            </a:r>
            <a:endParaRPr lang="en-US" sz="850" dirty="0"/>
          </a:p>
          <a:p>
            <a:pPr marL="0" indent="0">
              <a:lnSpc>
                <a:spcPct val="100000"/>
              </a:lnSpc>
              <a:buNone/>
            </a:pPr>
            <a:r>
              <a:rPr lang="en-US" sz="850" dirty="0">
                <a:solidFill>
                  <a:srgbClr val="DCE6F2"/>
                </a:solidFill>
                <a:latin typeface="Consolas" pitchFamily="34" charset="0"/>
                <a:ea typeface="Consolas" pitchFamily="34" charset="-122"/>
                <a:cs typeface="Consolas" pitchFamily="34" charset="-120"/>
              </a:rPr>
              <a:t>{</a:t>
            </a:r>
            <a:endParaRPr lang="en-US" sz="850" dirty="0"/>
          </a:p>
          <a:p>
            <a:pPr marL="0" indent="0">
              <a:lnSpc>
                <a:spcPct val="100000"/>
              </a:lnSpc>
              <a:buNone/>
            </a:pPr>
            <a:r>
              <a:rPr lang="en-US" sz="850" dirty="0">
                <a:solidFill>
                  <a:srgbClr val="DCE6F2"/>
                </a:solidFill>
                <a:latin typeface="Consolas" pitchFamily="34" charset="0"/>
                <a:ea typeface="Consolas" pitchFamily="34" charset="-122"/>
                <a:cs typeface="Consolas" pitchFamily="34" charset="-120"/>
              </a:rPr>
              <a:t>  </a:t>
            </a:r>
            <a:r>
              <a:rPr lang="en-US" sz="850" dirty="0">
                <a:solidFill>
                  <a:srgbClr val="7FD1FF"/>
                </a:solidFill>
                <a:latin typeface="Consolas" pitchFamily="34" charset="0"/>
                <a:ea typeface="Consolas" pitchFamily="34" charset="-122"/>
                <a:cs typeface="Consolas" pitchFamily="34" charset="-120"/>
              </a:rPr>
              <a:t>"CardCode"</a:t>
            </a:r>
            <a:r>
              <a:rPr lang="en-US" sz="850" dirty="0">
                <a:solidFill>
                  <a:srgbClr val="DCE6F2"/>
                </a:solidFill>
                <a:latin typeface="Consolas" pitchFamily="34" charset="0"/>
                <a:ea typeface="Consolas" pitchFamily="34" charset="-122"/>
                <a:cs typeface="Consolas" pitchFamily="34" charset="-120"/>
              </a:rPr>
              <a:t>: </a:t>
            </a:r>
            <a:r>
              <a:rPr lang="en-US" sz="850" dirty="0">
                <a:solidFill>
                  <a:srgbClr val="B5E48C"/>
                </a:solidFill>
                <a:latin typeface="Consolas" pitchFamily="34" charset="0"/>
                <a:ea typeface="Consolas" pitchFamily="34" charset="-122"/>
                <a:cs typeface="Consolas" pitchFamily="34" charset="-120"/>
              </a:rPr>
              <a:t>"C001"</a:t>
            </a:r>
            <a:r>
              <a:rPr lang="en-US" sz="850" dirty="0">
                <a:solidFill>
                  <a:srgbClr val="DCE6F2"/>
                </a:solidFill>
                <a:latin typeface="Consolas" pitchFamily="34" charset="0"/>
                <a:ea typeface="Consolas" pitchFamily="34" charset="-122"/>
                <a:cs typeface="Consolas" pitchFamily="34" charset="-120"/>
              </a:rPr>
              <a:t>,</a:t>
            </a:r>
            <a:endParaRPr lang="en-US" sz="850" dirty="0"/>
          </a:p>
          <a:p>
            <a:pPr marL="0" indent="0">
              <a:lnSpc>
                <a:spcPct val="100000"/>
              </a:lnSpc>
              <a:buNone/>
            </a:pPr>
            <a:r>
              <a:rPr lang="en-US" sz="850" dirty="0">
                <a:solidFill>
                  <a:srgbClr val="DCE6F2"/>
                </a:solidFill>
                <a:latin typeface="Consolas" pitchFamily="34" charset="0"/>
                <a:ea typeface="Consolas" pitchFamily="34" charset="-122"/>
                <a:cs typeface="Consolas" pitchFamily="34" charset="-120"/>
              </a:rPr>
              <a:t>  </a:t>
            </a:r>
            <a:r>
              <a:rPr lang="en-US" sz="850" dirty="0">
                <a:solidFill>
                  <a:srgbClr val="7FD1FF"/>
                </a:solidFill>
                <a:latin typeface="Consolas" pitchFamily="34" charset="0"/>
                <a:ea typeface="Consolas" pitchFamily="34" charset="-122"/>
                <a:cs typeface="Consolas" pitchFamily="34" charset="-120"/>
              </a:rPr>
              <a:t>"CardName"</a:t>
            </a:r>
            <a:r>
              <a:rPr lang="en-US" sz="850" dirty="0">
                <a:solidFill>
                  <a:srgbClr val="DCE6F2"/>
                </a:solidFill>
                <a:latin typeface="Consolas" pitchFamily="34" charset="0"/>
                <a:ea typeface="Consolas" pitchFamily="34" charset="-122"/>
                <a:cs typeface="Consolas" pitchFamily="34" charset="-120"/>
              </a:rPr>
              <a:t>: </a:t>
            </a:r>
            <a:r>
              <a:rPr lang="en-US" sz="850" dirty="0">
                <a:solidFill>
                  <a:srgbClr val="B5E48C"/>
                </a:solidFill>
                <a:latin typeface="Consolas" pitchFamily="34" charset="0"/>
                <a:ea typeface="Consolas" pitchFamily="34" charset="-122"/>
                <a:cs typeface="Consolas" pitchFamily="34" charset="-120"/>
              </a:rPr>
              <a:t>"Andina SAC"</a:t>
            </a:r>
            <a:r>
              <a:rPr lang="en-US" sz="850" dirty="0">
                <a:solidFill>
                  <a:srgbClr val="DCE6F2"/>
                </a:solidFill>
                <a:latin typeface="Consolas" pitchFamily="34" charset="0"/>
                <a:ea typeface="Consolas" pitchFamily="34" charset="-122"/>
                <a:cs typeface="Consolas" pitchFamily="34" charset="-120"/>
              </a:rPr>
              <a:t>,</a:t>
            </a:r>
            <a:endParaRPr lang="en-US" sz="850" dirty="0"/>
          </a:p>
          <a:p>
            <a:pPr marL="0" indent="0">
              <a:lnSpc>
                <a:spcPct val="100000"/>
              </a:lnSpc>
              <a:buNone/>
            </a:pPr>
            <a:r>
              <a:rPr lang="en-US" sz="850" dirty="0">
                <a:solidFill>
                  <a:srgbClr val="DCE6F2"/>
                </a:solidFill>
                <a:latin typeface="Consolas" pitchFamily="34" charset="0"/>
                <a:ea typeface="Consolas" pitchFamily="34" charset="-122"/>
                <a:cs typeface="Consolas" pitchFamily="34" charset="-120"/>
              </a:rPr>
              <a:t>  </a:t>
            </a:r>
            <a:r>
              <a:rPr lang="en-US" sz="850" dirty="0">
                <a:solidFill>
                  <a:srgbClr val="7FD1FF"/>
                </a:solidFill>
                <a:latin typeface="Consolas" pitchFamily="34" charset="0"/>
                <a:ea typeface="Consolas" pitchFamily="34" charset="-122"/>
                <a:cs typeface="Consolas" pitchFamily="34" charset="-120"/>
              </a:rPr>
              <a:t>"Phone1"</a:t>
            </a:r>
            <a:r>
              <a:rPr lang="en-US" sz="850" dirty="0">
                <a:solidFill>
                  <a:srgbClr val="DCE6F2"/>
                </a:solidFill>
                <a:latin typeface="Consolas" pitchFamily="34" charset="0"/>
                <a:ea typeface="Consolas" pitchFamily="34" charset="-122"/>
                <a:cs typeface="Consolas" pitchFamily="34" charset="-120"/>
              </a:rPr>
              <a:t>: </a:t>
            </a:r>
            <a:r>
              <a:rPr lang="en-US" sz="850" dirty="0">
                <a:solidFill>
                  <a:srgbClr val="B5E48C"/>
                </a:solidFill>
                <a:latin typeface="Consolas" pitchFamily="34" charset="0"/>
                <a:ea typeface="Consolas" pitchFamily="34" charset="-122"/>
                <a:cs typeface="Consolas" pitchFamily="34" charset="-120"/>
              </a:rPr>
              <a:t>"987654321"</a:t>
            </a:r>
            <a:endParaRPr lang="en-US" sz="850" dirty="0"/>
          </a:p>
          <a:p>
            <a:pPr marL="0" indent="0">
              <a:lnSpc>
                <a:spcPct val="100000"/>
              </a:lnSpc>
              <a:buNone/>
            </a:pPr>
            <a:r>
              <a:rPr lang="en-US" sz="850" dirty="0">
                <a:solidFill>
                  <a:srgbClr val="DCE6F2"/>
                </a:solidFill>
                <a:latin typeface="Consolas" pitchFamily="34" charset="0"/>
                <a:ea typeface="Consolas" pitchFamily="34" charset="-122"/>
                <a:cs typeface="Consolas" pitchFamily="34" charset="-120"/>
              </a:rPr>
              <a:t>}</a:t>
            </a:r>
            <a:endParaRPr lang="en-US" sz="850" dirty="0"/>
          </a:p>
        </p:txBody>
      </p:sp>
      <p:sp>
        <p:nvSpPr>
          <p:cNvPr id="23" name="Shape 21"/>
          <p:cNvSpPr/>
          <p:nvPr/>
        </p:nvSpPr>
        <p:spPr>
          <a:xfrm>
            <a:off x="6903720" y="2377440"/>
            <a:ext cx="1783080" cy="1417320"/>
          </a:xfrm>
          <a:prstGeom prst="roundRect">
            <a:avLst>
              <a:gd name="adj" fmla="val 5161"/>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24" name="Text 22"/>
          <p:cNvSpPr txBox="1"/>
          <p:nvPr/>
        </p:nvSpPr>
        <p:spPr>
          <a:xfrm>
            <a:off x="7022592" y="2432304"/>
            <a:ext cx="1554480" cy="228600"/>
          </a:xfrm>
          <a:prstGeom prst="rect">
            <a:avLst/>
          </a:prstGeom>
          <a:noFill/>
          <a:ln/>
        </p:spPr>
        <p:txBody>
          <a:bodyPr wrap="square" lIns="0" tIns="0" rIns="0" bIns="0" rtlCol="0" anchor="t"/>
          <a:lstStyle/>
          <a:p>
            <a:pPr marL="0" indent="0">
              <a:buNone/>
            </a:pPr>
            <a:r>
              <a:rPr lang="en-US" sz="1000" b="1" dirty="0">
                <a:solidFill>
                  <a:srgbClr val="5B6B82"/>
                </a:solidFill>
                <a:latin typeface="Segoe UI" pitchFamily="34" charset="0"/>
                <a:ea typeface="Segoe UI" pitchFamily="34" charset="-122"/>
                <a:cs typeface="Segoe UI" pitchFamily="34" charset="-120"/>
              </a:rPr>
              <a:t>Resultado</a:t>
            </a:r>
            <a:endParaRPr lang="en-US" sz="1000" dirty="0"/>
          </a:p>
        </p:txBody>
      </p:sp>
      <p:sp>
        <p:nvSpPr>
          <p:cNvPr id="25" name="Text 23"/>
          <p:cNvSpPr txBox="1"/>
          <p:nvPr/>
        </p:nvSpPr>
        <p:spPr>
          <a:xfrm>
            <a:off x="7022592" y="2670048"/>
            <a:ext cx="1600200" cy="365760"/>
          </a:xfrm>
          <a:prstGeom prst="rect">
            <a:avLst/>
          </a:prstGeom>
          <a:noFill/>
          <a:ln/>
        </p:spPr>
        <p:txBody>
          <a:bodyPr wrap="square" lIns="0" tIns="0" rIns="0" bIns="0" rtlCol="0" anchor="t"/>
          <a:lstStyle/>
          <a:p>
            <a:pPr marL="0" indent="0">
              <a:buNone/>
            </a:pPr>
            <a:r>
              <a:rPr lang="en-US" sz="900" b="1" dirty="0">
                <a:solidFill>
                  <a:srgbClr val="071B3F"/>
                </a:solidFill>
                <a:latin typeface="Calibri" pitchFamily="34" charset="0"/>
                <a:ea typeface="Calibri" pitchFamily="34" charset="-122"/>
                <a:cs typeface="Calibri" pitchFamily="34" charset="-120"/>
              </a:rPr>
              <a:t>CardName</a:t>
            </a:r>
            <a:endParaRPr lang="en-US" sz="1300" dirty="0"/>
          </a:p>
          <a:p>
            <a:pPr marL="0" indent="0">
              <a:buNone/>
            </a:pPr>
            <a:r>
              <a:rPr lang="en-US" sz="950" dirty="0">
                <a:solidFill>
                  <a:srgbClr val="1B2433"/>
                </a:solidFill>
                <a:latin typeface="Calibri" pitchFamily="34" charset="0"/>
                <a:ea typeface="Calibri" pitchFamily="34" charset="-122"/>
                <a:cs typeface="Calibri" pitchFamily="34" charset="-120"/>
              </a:rPr>
              <a:t>Andina SAC</a:t>
            </a:r>
            <a:endParaRPr lang="en-US" sz="1300" dirty="0"/>
          </a:p>
        </p:txBody>
      </p:sp>
      <p:sp>
        <p:nvSpPr>
          <p:cNvPr id="26" name="Text 24"/>
          <p:cNvSpPr txBox="1"/>
          <p:nvPr/>
        </p:nvSpPr>
        <p:spPr>
          <a:xfrm>
            <a:off x="7022592" y="3035808"/>
            <a:ext cx="1600200" cy="365760"/>
          </a:xfrm>
          <a:prstGeom prst="rect">
            <a:avLst/>
          </a:prstGeom>
          <a:noFill/>
          <a:ln/>
        </p:spPr>
        <p:txBody>
          <a:bodyPr wrap="square" lIns="0" tIns="0" rIns="0" bIns="0" rtlCol="0" anchor="t"/>
          <a:lstStyle/>
          <a:p>
            <a:pPr marL="0" indent="0">
              <a:buNone/>
            </a:pPr>
            <a:r>
              <a:rPr lang="en-US" sz="900" b="1" dirty="0">
                <a:solidFill>
                  <a:srgbClr val="071B3F"/>
                </a:solidFill>
                <a:latin typeface="Calibri" pitchFamily="34" charset="0"/>
                <a:ea typeface="Calibri" pitchFamily="34" charset="-122"/>
                <a:cs typeface="Calibri" pitchFamily="34" charset="-120"/>
              </a:rPr>
              <a:t>Phone1</a:t>
            </a:r>
            <a:endParaRPr lang="en-US" sz="1300" dirty="0"/>
          </a:p>
          <a:p>
            <a:pPr marL="0" indent="0">
              <a:buNone/>
            </a:pPr>
            <a:r>
              <a:rPr lang="en-US" sz="950" b="1" dirty="0">
                <a:solidFill>
                  <a:srgbClr val="2E9E6A"/>
                </a:solidFill>
                <a:latin typeface="Calibri" pitchFamily="34" charset="0"/>
                <a:ea typeface="Calibri" pitchFamily="34" charset="-122"/>
                <a:cs typeface="Calibri" pitchFamily="34" charset="-120"/>
              </a:rPr>
              <a:t>987654321</a:t>
            </a:r>
            <a:endParaRPr lang="en-US" sz="1300" dirty="0"/>
          </a:p>
        </p:txBody>
      </p:sp>
      <p:sp>
        <p:nvSpPr>
          <p:cNvPr id="27" name="Text 25"/>
          <p:cNvSpPr txBox="1"/>
          <p:nvPr/>
        </p:nvSpPr>
        <p:spPr>
          <a:xfrm>
            <a:off x="7022592" y="3401568"/>
            <a:ext cx="1600200" cy="365760"/>
          </a:xfrm>
          <a:prstGeom prst="rect">
            <a:avLst/>
          </a:prstGeom>
          <a:noFill/>
          <a:ln/>
        </p:spPr>
        <p:txBody>
          <a:bodyPr wrap="square" lIns="0" tIns="0" rIns="0" bIns="0" rtlCol="0" anchor="t"/>
          <a:lstStyle/>
          <a:p>
            <a:pPr marL="0" indent="0">
              <a:buNone/>
            </a:pPr>
            <a:r>
              <a:rPr lang="en-US" sz="900" b="1" dirty="0">
                <a:solidFill>
                  <a:srgbClr val="071B3F"/>
                </a:solidFill>
                <a:latin typeface="Calibri" pitchFamily="34" charset="0"/>
                <a:ea typeface="Calibri" pitchFamily="34" charset="-122"/>
                <a:cs typeface="Calibri" pitchFamily="34" charset="-120"/>
              </a:rPr>
              <a:t>EmailAddress</a:t>
            </a:r>
            <a:endParaRPr lang="en-US" sz="1300" dirty="0"/>
          </a:p>
          <a:p>
            <a:pPr marL="0" indent="0">
              <a:buNone/>
            </a:pPr>
            <a:r>
              <a:rPr lang="en-US" sz="950" b="1" dirty="0">
                <a:solidFill>
                  <a:srgbClr val="D64545"/>
                </a:solidFill>
                <a:latin typeface="Calibri" pitchFamily="34" charset="0"/>
                <a:ea typeface="Calibri" pitchFamily="34" charset="-122"/>
                <a:cs typeface="Calibri" pitchFamily="34" charset="-120"/>
              </a:rPr>
              <a:t>(vacío)</a:t>
            </a:r>
            <a:endParaRPr lang="en-US" sz="1300" dirty="0"/>
          </a:p>
        </p:txBody>
      </p:sp>
      <p:sp>
        <p:nvSpPr>
          <p:cNvPr id="28" name="Shape 26"/>
          <p:cNvSpPr/>
          <p:nvPr/>
        </p:nvSpPr>
        <p:spPr>
          <a:xfrm>
            <a:off x="457200" y="3977640"/>
            <a:ext cx="8229600" cy="749808"/>
          </a:xfrm>
          <a:prstGeom prst="roundRect">
            <a:avLst>
              <a:gd name="adj" fmla="val 9756"/>
            </a:avLst>
          </a:prstGeom>
          <a:solidFill>
            <a:srgbClr val="FFF8E6"/>
          </a:solidFill>
          <a:ln w="9525">
            <a:solidFill>
              <a:srgbClr val="D5DFEC"/>
            </a:solidFill>
            <a:prstDash val="solid"/>
          </a:ln>
          <a:effectLst>
            <a:outerShdw blurRad="101600" dist="25400" dir="5400000" algn="bl" rotWithShape="0">
              <a:srgbClr val="0B2A55">
                <a:alpha val="12000"/>
              </a:srgbClr>
            </a:outerShdw>
          </a:effectLst>
        </p:spPr>
      </p:sp>
      <p:sp>
        <p:nvSpPr>
          <p:cNvPr id="29" name="Text 27"/>
          <p:cNvSpPr txBox="1"/>
          <p:nvPr/>
        </p:nvSpPr>
        <p:spPr>
          <a:xfrm>
            <a:off x="640080" y="4023360"/>
            <a:ext cx="7863840" cy="658368"/>
          </a:xfrm>
          <a:prstGeom prst="rect">
            <a:avLst/>
          </a:prstGeom>
          <a:noFill/>
          <a:ln/>
        </p:spPr>
        <p:txBody>
          <a:bodyPr wrap="square" lIns="0" tIns="0" rIns="0" bIns="0" rtlCol="0" anchor="ctr"/>
          <a:lstStyle/>
          <a:p>
            <a:pPr marL="0" indent="0">
              <a:buNone/>
            </a:pPr>
            <a:r>
              <a:rPr lang="en-US" sz="1050" b="1" dirty="0">
                <a:solidFill>
                  <a:srgbClr val="071B3F"/>
                </a:solidFill>
                <a:latin typeface="Calibri" pitchFamily="34" charset="0"/>
                <a:ea typeface="Calibri" pitchFamily="34" charset="-122"/>
                <a:cs typeface="Calibri" pitchFamily="34" charset="-120"/>
              </a:rPr>
              <a:t>Colecciones (DocumentLines, UDO hijas): </a:t>
            </a:r>
            <a:r>
              <a:rPr lang="en-US" sz="1050" dirty="0">
                <a:solidFill>
                  <a:srgbClr val="1B2433"/>
                </a:solidFill>
                <a:latin typeface="Calibri" pitchFamily="34" charset="0"/>
                <a:ea typeface="Calibri" pitchFamily="34" charset="-122"/>
                <a:cs typeface="Calibri" pitchFamily="34" charset="-120"/>
              </a:rPr>
              <a:t>con PATCH las líneas enviadas se actualizan (por LineNum/LineId) o se agregan, y las no enviadas se mantienen. Para reemplazar la colección completa usa el header </a:t>
            </a:r>
            <a:r>
              <a:rPr lang="en-US" sz="1050" dirty="0">
                <a:solidFill>
                  <a:srgbClr val="0B4DA2"/>
                </a:solidFill>
                <a:latin typeface="Consolas" pitchFamily="34" charset="0"/>
                <a:ea typeface="Consolas" pitchFamily="34" charset="-122"/>
                <a:cs typeface="Consolas" pitchFamily="34" charset="-120"/>
              </a:rPr>
              <a:t>B1S-ReplaceCollectionsOnPatch: true</a:t>
            </a:r>
            <a:r>
              <a:rPr lang="en-US" sz="1050" b="1" dirty="0">
                <a:solidFill>
                  <a:srgbClr val="1B2433"/>
                </a:solidFill>
                <a:latin typeface="Calibri" pitchFamily="34" charset="0"/>
                <a:ea typeface="Calibri" pitchFamily="34" charset="-122"/>
                <a:cs typeface="Calibri" pitchFamily="34" charset="-120"/>
              </a:rPr>
              <a:t>.  Regla práctica: usa PATCH por defecto.</a:t>
            </a:r>
            <a:endParaRPr lang="en-US" sz="1050" dirty="0"/>
          </a:p>
        </p:txBody>
      </p:sp>
      <p:sp>
        <p:nvSpPr>
          <p:cNvPr id="30"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xmlns="" val="0"/>
            </a:ext>
          </a:extLst>
        </p:spPr>
        <p:txBody>
          <a:bodyPr/>
          <a:lstStyle>
            <a:lvl1pPr>
              <a:defRPr sz="800">
                <a:solidFill>
                  <a:srgbClr val="8A9AB0"/>
                </a:solidFill>
                <a:latin typeface="Calibri"/>
                <a:ea typeface="Calibri"/>
                <a:cs typeface="Calibri"/>
              </a:defRPr>
            </a:lvl1pPr>
          </a:lstStyle>
          <a:p>
            <a:pPr algn="r"/>
            <a:fld id="{F7021451-1387-4CA6-816F-3879F97B5CBC}" type="slidenum">
              <a:rPr lang="en-US" b="0"/>
              <a:t>19</a:t>
            </a:fld>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457200" y="256032"/>
            <a:ext cx="2434133" cy="237744"/>
          </a:xfrm>
          <a:prstGeom prst="roundRect">
            <a:avLst>
              <a:gd name="adj" fmla="val 50000"/>
            </a:avLst>
          </a:prstGeom>
          <a:solidFill>
            <a:srgbClr val="071B3F"/>
          </a:solidFill>
          <a:ln w="12700">
            <a:solidFill>
              <a:srgbClr val="071B3F"/>
            </a:solidFill>
            <a:prstDash val="solid"/>
          </a:ln>
        </p:spPr>
      </p:sp>
      <p:sp>
        <p:nvSpPr>
          <p:cNvPr id="3" name="Text 1"/>
          <p:cNvSpPr txBox="1"/>
          <p:nvPr/>
        </p:nvSpPr>
        <p:spPr>
          <a:xfrm>
            <a:off x="457200" y="256032"/>
            <a:ext cx="2434133" cy="237744"/>
          </a:xfrm>
          <a:prstGeom prst="rect">
            <a:avLst/>
          </a:prstGeom>
          <a:noFill/>
          <a:ln/>
        </p:spPr>
        <p:txBody>
          <a:bodyPr wrap="square" lIns="0" tIns="0" rIns="0" bIns="0" rtlCol="0" anchor="ctr"/>
          <a:lstStyle/>
          <a:p>
            <a:pPr marL="0" indent="0" algn="ctr">
              <a:buNone/>
            </a:pPr>
            <a:r>
              <a:rPr lang="en-US" sz="850" b="1" kern="0" spc="100" dirty="0">
                <a:solidFill>
                  <a:srgbClr val="F5A800"/>
                </a:solidFill>
                <a:latin typeface="Segoe UI" pitchFamily="34" charset="0"/>
                <a:ea typeface="Segoe UI" pitchFamily="34" charset="-122"/>
                <a:cs typeface="Segoe UI" pitchFamily="34" charset="-120"/>
              </a:rPr>
              <a:t>04  ·  FLUJOS DE OPERACIÓN II</a:t>
            </a:r>
            <a:endParaRPr lang="en-US" sz="850" dirty="0"/>
          </a:p>
        </p:txBody>
      </p:sp>
      <p:sp>
        <p:nvSpPr>
          <p:cNvPr id="4" name="Text 2"/>
          <p:cNvSpPr txBox="1"/>
          <p:nvPr/>
        </p:nvSpPr>
        <p:spPr>
          <a:xfrm>
            <a:off x="457200" y="566928"/>
            <a:ext cx="8229600" cy="502920"/>
          </a:xfrm>
          <a:prstGeom prst="rect">
            <a:avLst/>
          </a:prstGeom>
          <a:noFill/>
          <a:ln/>
        </p:spPr>
        <p:txBody>
          <a:bodyPr wrap="square" lIns="0" tIns="0" rIns="0" bIns="0" rtlCol="0" anchor="ctr"/>
          <a:lstStyle/>
          <a:p>
            <a:pPr marL="0" indent="0">
              <a:buNone/>
            </a:pPr>
            <a:r>
              <a:rPr lang="en-US" sz="2400" b="1" dirty="0">
                <a:solidFill>
                  <a:srgbClr val="071B3F"/>
                </a:solidFill>
                <a:latin typeface="Segoe UI" pitchFamily="34" charset="0"/>
                <a:ea typeface="Segoe UI" pitchFamily="34" charset="-122"/>
                <a:cs typeface="Segoe UI" pitchFamily="34" charset="-120"/>
              </a:rPr>
              <a:t>Mapa de endpoints por módulo</a:t>
            </a:r>
            <a:endParaRPr lang="en-US" sz="2400" dirty="0"/>
          </a:p>
        </p:txBody>
      </p:sp>
      <p:sp>
        <p:nvSpPr>
          <p:cNvPr id="5" name="Text 3"/>
          <p:cNvSpPr txBox="1"/>
          <p:nvPr/>
        </p:nvSpPr>
        <p:spPr>
          <a:xfrm>
            <a:off x="457200" y="1051560"/>
            <a:ext cx="8229600" cy="274320"/>
          </a:xfrm>
          <a:prstGeom prst="rect">
            <a:avLst/>
          </a:prstGeom>
          <a:noFill/>
          <a:ln/>
        </p:spPr>
        <p:txBody>
          <a:bodyPr wrap="square" lIns="0" tIns="0" rIns="0" bIns="0" rtlCol="0" anchor="ctr"/>
          <a:lstStyle/>
          <a:p>
            <a:pPr marL="0" indent="0">
              <a:buNone/>
            </a:pPr>
            <a:r>
              <a:rPr lang="en-US" sz="1250" dirty="0">
                <a:solidFill>
                  <a:srgbClr val="5B6B82"/>
                </a:solidFill>
                <a:latin typeface="Calibri" pitchFamily="34" charset="0"/>
                <a:ea typeface="Calibri" pitchFamily="34" charset="-122"/>
                <a:cs typeface="Calibri" pitchFamily="34" charset="-120"/>
              </a:rPr>
              <a:t>Nombre de la entidad en Service Layer y su tipo de objeto (ObjType)</a:t>
            </a:r>
            <a:endParaRPr lang="en-US" sz="1250" dirty="0"/>
          </a:p>
        </p:txBody>
      </p:sp>
      <p:sp>
        <p:nvSpPr>
          <p:cNvPr id="6" name="Text 4"/>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00" dirty="0">
                <a:solidFill>
                  <a:srgbClr val="8A9AB0"/>
                </a:solidFill>
                <a:latin typeface="Calibri" pitchFamily="34" charset="0"/>
                <a:ea typeface="Calibri" pitchFamily="34" charset="-122"/>
                <a:cs typeface="Calibri" pitchFamily="34" charset="-120"/>
              </a:rPr>
              <a:t>Ventura Soluciones  |  SAP Business One · Service Layer</a:t>
            </a:r>
            <a:endParaRPr lang="en-US" sz="800" dirty="0"/>
          </a:p>
        </p:txBody>
      </p:sp>
      <p:sp>
        <p:nvSpPr>
          <p:cNvPr id="7" name="Shape 5"/>
          <p:cNvSpPr/>
          <p:nvPr/>
        </p:nvSpPr>
        <p:spPr>
          <a:xfrm>
            <a:off x="457200" y="1463040"/>
            <a:ext cx="1572768" cy="2971800"/>
          </a:xfrm>
          <a:prstGeom prst="roundRect">
            <a:avLst>
              <a:gd name="adj" fmla="val 4651"/>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8" name="Shape 6"/>
          <p:cNvSpPr/>
          <p:nvPr/>
        </p:nvSpPr>
        <p:spPr>
          <a:xfrm>
            <a:off x="585216" y="1591056"/>
            <a:ext cx="384048" cy="384048"/>
          </a:xfrm>
          <a:prstGeom prst="ellipse">
            <a:avLst/>
          </a:prstGeom>
          <a:solidFill>
            <a:srgbClr val="071B3F"/>
          </a:solidFill>
          <a:ln w="12700">
            <a:solidFill>
              <a:srgbClr val="071B3F"/>
            </a:solidFill>
            <a:prstDash val="solid"/>
          </a:ln>
        </p:spPr>
      </p:sp>
      <p:pic>
        <p:nvPicPr>
          <p:cNvPr id="9" name="Image 0" descr="preencoded.png"/>
          <p:cNvPicPr>
            <a:picLocks noChangeAspect="1"/>
          </p:cNvPicPr>
          <p:nvPr/>
        </p:nvPicPr>
        <p:blipFill>
          <a:blip r:embed="rId3"/>
          <a:stretch>
            <a:fillRect/>
          </a:stretch>
        </p:blipFill>
        <p:spPr>
          <a:xfrm>
            <a:off x="685068" y="1690908"/>
            <a:ext cx="184343" cy="184343"/>
          </a:xfrm>
          <a:prstGeom prst="rect">
            <a:avLst/>
          </a:prstGeom>
        </p:spPr>
      </p:pic>
      <p:sp>
        <p:nvSpPr>
          <p:cNvPr id="10" name="Text 7"/>
          <p:cNvSpPr txBox="1"/>
          <p:nvPr/>
        </p:nvSpPr>
        <p:spPr>
          <a:xfrm>
            <a:off x="1024128" y="1591056"/>
            <a:ext cx="960120" cy="384048"/>
          </a:xfrm>
          <a:prstGeom prst="rect">
            <a:avLst/>
          </a:prstGeom>
          <a:noFill/>
          <a:ln/>
        </p:spPr>
        <p:txBody>
          <a:bodyPr wrap="square" lIns="0" tIns="0" rIns="0" bIns="0" rtlCol="0" anchor="ctr"/>
          <a:lstStyle/>
          <a:p>
            <a:pPr marL="0" indent="0">
              <a:buNone/>
            </a:pPr>
            <a:r>
              <a:rPr lang="en-US" sz="1250" b="1" dirty="0">
                <a:solidFill>
                  <a:srgbClr val="071B3F"/>
                </a:solidFill>
                <a:latin typeface="Segoe UI" pitchFamily="34" charset="0"/>
                <a:ea typeface="Segoe UI" pitchFamily="34" charset="-122"/>
                <a:cs typeface="Segoe UI" pitchFamily="34" charset="-120"/>
              </a:rPr>
              <a:t>Maestros</a:t>
            </a:r>
            <a:endParaRPr lang="en-US" sz="1250" dirty="0"/>
          </a:p>
        </p:txBody>
      </p:sp>
      <p:sp>
        <p:nvSpPr>
          <p:cNvPr id="11" name="Text 8"/>
          <p:cNvSpPr txBox="1"/>
          <p:nvPr/>
        </p:nvSpPr>
        <p:spPr>
          <a:xfrm>
            <a:off x="566928" y="2103120"/>
            <a:ext cx="1207008" cy="420624"/>
          </a:xfrm>
          <a:prstGeom prst="rect">
            <a:avLst/>
          </a:prstGeom>
          <a:noFill/>
          <a:ln/>
        </p:spPr>
        <p:txBody>
          <a:bodyPr wrap="square" lIns="0" tIns="0" rIns="0" bIns="0" rtlCol="0" anchor="t"/>
          <a:lstStyle/>
          <a:p>
            <a:pPr marL="0" indent="0">
              <a:buNone/>
            </a:pPr>
            <a:r>
              <a:rPr lang="en-US" sz="900" dirty="0">
                <a:solidFill>
                  <a:srgbClr val="5B6B82"/>
                </a:solidFill>
                <a:latin typeface="Calibri" pitchFamily="34" charset="0"/>
                <a:ea typeface="Calibri" pitchFamily="34" charset="-122"/>
                <a:cs typeface="Calibri" pitchFamily="34" charset="-120"/>
              </a:rPr>
              <a:t>Socios de negocio</a:t>
            </a:r>
            <a:endParaRPr lang="en-US" sz="1300" dirty="0"/>
          </a:p>
          <a:p>
            <a:pPr marL="0" indent="0">
              <a:buNone/>
            </a:pPr>
            <a:r>
              <a:rPr lang="en-US" sz="750" b="1" dirty="0">
                <a:solidFill>
                  <a:srgbClr val="0B4DA2"/>
                </a:solidFill>
                <a:latin typeface="Consolas" pitchFamily="34" charset="0"/>
                <a:ea typeface="Consolas" pitchFamily="34" charset="-122"/>
                <a:cs typeface="Consolas" pitchFamily="34" charset="-120"/>
              </a:rPr>
              <a:t>BusinessPartners</a:t>
            </a:r>
            <a:endParaRPr lang="en-US" sz="1300" dirty="0"/>
          </a:p>
        </p:txBody>
      </p:sp>
      <p:sp>
        <p:nvSpPr>
          <p:cNvPr id="12" name="Text 9"/>
          <p:cNvSpPr txBox="1"/>
          <p:nvPr/>
        </p:nvSpPr>
        <p:spPr>
          <a:xfrm>
            <a:off x="1755648" y="2212848"/>
            <a:ext cx="201168" cy="237744"/>
          </a:xfrm>
          <a:prstGeom prst="rect">
            <a:avLst/>
          </a:prstGeom>
          <a:noFill/>
          <a:ln/>
        </p:spPr>
        <p:txBody>
          <a:bodyPr wrap="square" lIns="0" tIns="0" rIns="0" bIns="0" rtlCol="0" anchor="ctr"/>
          <a:lstStyle/>
          <a:p>
            <a:pPr marL="0" indent="0" algn="r">
              <a:buNone/>
            </a:pPr>
            <a:r>
              <a:rPr lang="en-US" sz="850" b="1" dirty="0">
                <a:solidFill>
                  <a:srgbClr val="B07A00"/>
                </a:solidFill>
                <a:latin typeface="Consolas" pitchFamily="34" charset="0"/>
                <a:ea typeface="Consolas" pitchFamily="34" charset="-122"/>
                <a:cs typeface="Consolas" pitchFamily="34" charset="-120"/>
              </a:rPr>
              <a:t>2</a:t>
            </a:r>
            <a:endParaRPr lang="en-US" sz="850" dirty="0"/>
          </a:p>
        </p:txBody>
      </p:sp>
      <p:sp>
        <p:nvSpPr>
          <p:cNvPr id="13" name="Text 10"/>
          <p:cNvSpPr txBox="1"/>
          <p:nvPr/>
        </p:nvSpPr>
        <p:spPr>
          <a:xfrm>
            <a:off x="566928" y="2560320"/>
            <a:ext cx="1207008" cy="420624"/>
          </a:xfrm>
          <a:prstGeom prst="rect">
            <a:avLst/>
          </a:prstGeom>
          <a:noFill/>
          <a:ln/>
        </p:spPr>
        <p:txBody>
          <a:bodyPr wrap="square" lIns="0" tIns="0" rIns="0" bIns="0" rtlCol="0" anchor="t"/>
          <a:lstStyle/>
          <a:p>
            <a:pPr marL="0" indent="0">
              <a:buNone/>
            </a:pPr>
            <a:r>
              <a:rPr lang="en-US" sz="900" dirty="0">
                <a:solidFill>
                  <a:srgbClr val="5B6B82"/>
                </a:solidFill>
                <a:latin typeface="Calibri" pitchFamily="34" charset="0"/>
                <a:ea typeface="Calibri" pitchFamily="34" charset="-122"/>
                <a:cs typeface="Calibri" pitchFamily="34" charset="-120"/>
              </a:rPr>
              <a:t>Artículos</a:t>
            </a:r>
            <a:endParaRPr lang="en-US" sz="1300" dirty="0"/>
          </a:p>
          <a:p>
            <a:pPr marL="0" indent="0">
              <a:buNone/>
            </a:pPr>
            <a:r>
              <a:rPr lang="en-US" sz="750" b="1" dirty="0">
                <a:solidFill>
                  <a:srgbClr val="0B4DA2"/>
                </a:solidFill>
                <a:latin typeface="Consolas" pitchFamily="34" charset="0"/>
                <a:ea typeface="Consolas" pitchFamily="34" charset="-122"/>
                <a:cs typeface="Consolas" pitchFamily="34" charset="-120"/>
              </a:rPr>
              <a:t>Items</a:t>
            </a:r>
            <a:endParaRPr lang="en-US" sz="1300" dirty="0"/>
          </a:p>
        </p:txBody>
      </p:sp>
      <p:sp>
        <p:nvSpPr>
          <p:cNvPr id="14" name="Text 11"/>
          <p:cNvSpPr txBox="1"/>
          <p:nvPr/>
        </p:nvSpPr>
        <p:spPr>
          <a:xfrm>
            <a:off x="1755648" y="2670048"/>
            <a:ext cx="201168" cy="237744"/>
          </a:xfrm>
          <a:prstGeom prst="rect">
            <a:avLst/>
          </a:prstGeom>
          <a:noFill/>
          <a:ln/>
        </p:spPr>
        <p:txBody>
          <a:bodyPr wrap="square" lIns="0" tIns="0" rIns="0" bIns="0" rtlCol="0" anchor="ctr"/>
          <a:lstStyle/>
          <a:p>
            <a:pPr marL="0" indent="0" algn="r">
              <a:buNone/>
            </a:pPr>
            <a:r>
              <a:rPr lang="en-US" sz="850" b="1" dirty="0">
                <a:solidFill>
                  <a:srgbClr val="B07A00"/>
                </a:solidFill>
                <a:latin typeface="Consolas" pitchFamily="34" charset="0"/>
                <a:ea typeface="Consolas" pitchFamily="34" charset="-122"/>
                <a:cs typeface="Consolas" pitchFamily="34" charset="-120"/>
              </a:rPr>
              <a:t>4</a:t>
            </a:r>
            <a:endParaRPr lang="en-US" sz="850" dirty="0"/>
          </a:p>
        </p:txBody>
      </p:sp>
      <p:sp>
        <p:nvSpPr>
          <p:cNvPr id="15" name="Shape 12"/>
          <p:cNvSpPr/>
          <p:nvPr/>
        </p:nvSpPr>
        <p:spPr>
          <a:xfrm>
            <a:off x="2130552" y="1463040"/>
            <a:ext cx="1572768" cy="2971800"/>
          </a:xfrm>
          <a:prstGeom prst="roundRect">
            <a:avLst>
              <a:gd name="adj" fmla="val 4651"/>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16" name="Shape 13"/>
          <p:cNvSpPr/>
          <p:nvPr/>
        </p:nvSpPr>
        <p:spPr>
          <a:xfrm>
            <a:off x="2258568" y="1591056"/>
            <a:ext cx="384048" cy="384048"/>
          </a:xfrm>
          <a:prstGeom prst="ellipse">
            <a:avLst/>
          </a:prstGeom>
          <a:solidFill>
            <a:srgbClr val="071B3F"/>
          </a:solidFill>
          <a:ln w="12700">
            <a:solidFill>
              <a:srgbClr val="071B3F"/>
            </a:solidFill>
            <a:prstDash val="solid"/>
          </a:ln>
        </p:spPr>
      </p:sp>
      <p:pic>
        <p:nvPicPr>
          <p:cNvPr id="17" name="Image 1" descr="preencoded.png"/>
          <p:cNvPicPr>
            <a:picLocks noChangeAspect="1"/>
          </p:cNvPicPr>
          <p:nvPr/>
        </p:nvPicPr>
        <p:blipFill>
          <a:blip r:embed="rId4"/>
          <a:stretch>
            <a:fillRect/>
          </a:stretch>
        </p:blipFill>
        <p:spPr>
          <a:xfrm>
            <a:off x="2358420" y="1690908"/>
            <a:ext cx="184343" cy="184343"/>
          </a:xfrm>
          <a:prstGeom prst="rect">
            <a:avLst/>
          </a:prstGeom>
        </p:spPr>
      </p:pic>
      <p:sp>
        <p:nvSpPr>
          <p:cNvPr id="18" name="Text 14"/>
          <p:cNvSpPr txBox="1"/>
          <p:nvPr/>
        </p:nvSpPr>
        <p:spPr>
          <a:xfrm>
            <a:off x="2697480" y="1591056"/>
            <a:ext cx="960120" cy="384048"/>
          </a:xfrm>
          <a:prstGeom prst="rect">
            <a:avLst/>
          </a:prstGeom>
          <a:noFill/>
          <a:ln/>
        </p:spPr>
        <p:txBody>
          <a:bodyPr wrap="square" lIns="0" tIns="0" rIns="0" bIns="0" rtlCol="0" anchor="ctr"/>
          <a:lstStyle/>
          <a:p>
            <a:pPr marL="0" indent="0">
              <a:buNone/>
            </a:pPr>
            <a:r>
              <a:rPr lang="en-US" sz="1250" b="1" dirty="0">
                <a:solidFill>
                  <a:srgbClr val="071B3F"/>
                </a:solidFill>
                <a:latin typeface="Segoe UI" pitchFamily="34" charset="0"/>
                <a:ea typeface="Segoe UI" pitchFamily="34" charset="-122"/>
                <a:cs typeface="Segoe UI" pitchFamily="34" charset="-120"/>
              </a:rPr>
              <a:t>Compras</a:t>
            </a:r>
            <a:endParaRPr lang="en-US" sz="1250" dirty="0"/>
          </a:p>
        </p:txBody>
      </p:sp>
      <p:sp>
        <p:nvSpPr>
          <p:cNvPr id="19" name="Text 15"/>
          <p:cNvSpPr txBox="1"/>
          <p:nvPr/>
        </p:nvSpPr>
        <p:spPr>
          <a:xfrm>
            <a:off x="2240280" y="2103120"/>
            <a:ext cx="1207008" cy="420624"/>
          </a:xfrm>
          <a:prstGeom prst="rect">
            <a:avLst/>
          </a:prstGeom>
          <a:noFill/>
          <a:ln/>
        </p:spPr>
        <p:txBody>
          <a:bodyPr wrap="square" lIns="0" tIns="0" rIns="0" bIns="0" rtlCol="0" anchor="t"/>
          <a:lstStyle/>
          <a:p>
            <a:pPr marL="0" indent="0">
              <a:buNone/>
            </a:pPr>
            <a:r>
              <a:rPr lang="en-US" sz="900" dirty="0">
                <a:solidFill>
                  <a:srgbClr val="5B6B82"/>
                </a:solidFill>
                <a:latin typeface="Calibri" pitchFamily="34" charset="0"/>
                <a:ea typeface="Calibri" pitchFamily="34" charset="-122"/>
                <a:cs typeface="Calibri" pitchFamily="34" charset="-120"/>
              </a:rPr>
              <a:t>Orden de compra</a:t>
            </a:r>
            <a:endParaRPr lang="en-US" sz="1300" dirty="0"/>
          </a:p>
          <a:p>
            <a:pPr marL="0" indent="0">
              <a:buNone/>
            </a:pPr>
            <a:r>
              <a:rPr lang="en-US" sz="750" b="1" dirty="0">
                <a:solidFill>
                  <a:srgbClr val="0B4DA2"/>
                </a:solidFill>
                <a:latin typeface="Consolas" pitchFamily="34" charset="0"/>
                <a:ea typeface="Consolas" pitchFamily="34" charset="-122"/>
                <a:cs typeface="Consolas" pitchFamily="34" charset="-120"/>
              </a:rPr>
              <a:t>PurchaseOrders</a:t>
            </a:r>
            <a:endParaRPr lang="en-US" sz="1300" dirty="0"/>
          </a:p>
        </p:txBody>
      </p:sp>
      <p:sp>
        <p:nvSpPr>
          <p:cNvPr id="20" name="Text 16"/>
          <p:cNvSpPr txBox="1"/>
          <p:nvPr/>
        </p:nvSpPr>
        <p:spPr>
          <a:xfrm>
            <a:off x="3429000" y="2212848"/>
            <a:ext cx="201168" cy="237744"/>
          </a:xfrm>
          <a:prstGeom prst="rect">
            <a:avLst/>
          </a:prstGeom>
          <a:noFill/>
          <a:ln/>
        </p:spPr>
        <p:txBody>
          <a:bodyPr wrap="square" lIns="0" tIns="0" rIns="0" bIns="0" rtlCol="0" anchor="ctr"/>
          <a:lstStyle/>
          <a:p>
            <a:pPr marL="0" indent="0" algn="r">
              <a:buNone/>
            </a:pPr>
            <a:r>
              <a:rPr lang="en-US" sz="850" b="1" dirty="0">
                <a:solidFill>
                  <a:srgbClr val="B07A00"/>
                </a:solidFill>
                <a:latin typeface="Consolas" pitchFamily="34" charset="0"/>
                <a:ea typeface="Consolas" pitchFamily="34" charset="-122"/>
                <a:cs typeface="Consolas" pitchFamily="34" charset="-120"/>
              </a:rPr>
              <a:t>22</a:t>
            </a:r>
            <a:endParaRPr lang="en-US" sz="850" dirty="0"/>
          </a:p>
        </p:txBody>
      </p:sp>
      <p:sp>
        <p:nvSpPr>
          <p:cNvPr id="21" name="Text 17"/>
          <p:cNvSpPr txBox="1"/>
          <p:nvPr/>
        </p:nvSpPr>
        <p:spPr>
          <a:xfrm>
            <a:off x="2240280" y="2560320"/>
            <a:ext cx="1207008" cy="420624"/>
          </a:xfrm>
          <a:prstGeom prst="rect">
            <a:avLst/>
          </a:prstGeom>
          <a:noFill/>
          <a:ln/>
        </p:spPr>
        <p:txBody>
          <a:bodyPr wrap="square" lIns="0" tIns="0" rIns="0" bIns="0" rtlCol="0" anchor="t"/>
          <a:lstStyle/>
          <a:p>
            <a:pPr marL="0" indent="0">
              <a:buNone/>
            </a:pPr>
            <a:r>
              <a:rPr lang="en-US" sz="900" dirty="0">
                <a:solidFill>
                  <a:srgbClr val="5B6B82"/>
                </a:solidFill>
                <a:latin typeface="Calibri" pitchFamily="34" charset="0"/>
                <a:ea typeface="Calibri" pitchFamily="34" charset="-122"/>
                <a:cs typeface="Calibri" pitchFamily="34" charset="-120"/>
              </a:rPr>
              <a:t>Entrada de mercancía</a:t>
            </a:r>
            <a:endParaRPr lang="en-US" sz="1300" dirty="0"/>
          </a:p>
          <a:p>
            <a:pPr marL="0" indent="0">
              <a:buNone/>
            </a:pPr>
            <a:r>
              <a:rPr lang="en-US" sz="750" b="1" dirty="0">
                <a:solidFill>
                  <a:srgbClr val="0B4DA2"/>
                </a:solidFill>
                <a:latin typeface="Consolas" pitchFamily="34" charset="0"/>
                <a:ea typeface="Consolas" pitchFamily="34" charset="-122"/>
                <a:cs typeface="Consolas" pitchFamily="34" charset="-120"/>
              </a:rPr>
              <a:t>PurchaseDeliveryNotes</a:t>
            </a:r>
            <a:endParaRPr lang="en-US" sz="1300" dirty="0"/>
          </a:p>
        </p:txBody>
      </p:sp>
      <p:sp>
        <p:nvSpPr>
          <p:cNvPr id="22" name="Text 18"/>
          <p:cNvSpPr txBox="1"/>
          <p:nvPr/>
        </p:nvSpPr>
        <p:spPr>
          <a:xfrm>
            <a:off x="3429000" y="2670048"/>
            <a:ext cx="201168" cy="237744"/>
          </a:xfrm>
          <a:prstGeom prst="rect">
            <a:avLst/>
          </a:prstGeom>
          <a:noFill/>
          <a:ln/>
        </p:spPr>
        <p:txBody>
          <a:bodyPr wrap="square" lIns="0" tIns="0" rIns="0" bIns="0" rtlCol="0" anchor="ctr"/>
          <a:lstStyle/>
          <a:p>
            <a:pPr marL="0" indent="0" algn="r">
              <a:buNone/>
            </a:pPr>
            <a:r>
              <a:rPr lang="en-US" sz="850" b="1" dirty="0">
                <a:solidFill>
                  <a:srgbClr val="B07A00"/>
                </a:solidFill>
                <a:latin typeface="Consolas" pitchFamily="34" charset="0"/>
                <a:ea typeface="Consolas" pitchFamily="34" charset="-122"/>
                <a:cs typeface="Consolas" pitchFamily="34" charset="-120"/>
              </a:rPr>
              <a:t>20</a:t>
            </a:r>
            <a:endParaRPr lang="en-US" sz="850" dirty="0"/>
          </a:p>
        </p:txBody>
      </p:sp>
      <p:sp>
        <p:nvSpPr>
          <p:cNvPr id="23" name="Text 19"/>
          <p:cNvSpPr txBox="1"/>
          <p:nvPr/>
        </p:nvSpPr>
        <p:spPr>
          <a:xfrm>
            <a:off x="2240280" y="3017520"/>
            <a:ext cx="1207008" cy="420624"/>
          </a:xfrm>
          <a:prstGeom prst="rect">
            <a:avLst/>
          </a:prstGeom>
          <a:noFill/>
          <a:ln/>
        </p:spPr>
        <p:txBody>
          <a:bodyPr wrap="square" lIns="0" tIns="0" rIns="0" bIns="0" rtlCol="0" anchor="t"/>
          <a:lstStyle/>
          <a:p>
            <a:pPr marL="0" indent="0">
              <a:buNone/>
            </a:pPr>
            <a:r>
              <a:rPr lang="en-US" sz="900" dirty="0">
                <a:solidFill>
                  <a:srgbClr val="5B6B82"/>
                </a:solidFill>
                <a:latin typeface="Calibri" pitchFamily="34" charset="0"/>
                <a:ea typeface="Calibri" pitchFamily="34" charset="-122"/>
                <a:cs typeface="Calibri" pitchFamily="34" charset="-120"/>
              </a:rPr>
              <a:t>Factura proveedor</a:t>
            </a:r>
            <a:endParaRPr lang="en-US" sz="1300" dirty="0"/>
          </a:p>
          <a:p>
            <a:pPr marL="0" indent="0">
              <a:buNone/>
            </a:pPr>
            <a:r>
              <a:rPr lang="en-US" sz="750" b="1" dirty="0">
                <a:solidFill>
                  <a:srgbClr val="0B4DA2"/>
                </a:solidFill>
                <a:latin typeface="Consolas" pitchFamily="34" charset="0"/>
                <a:ea typeface="Consolas" pitchFamily="34" charset="-122"/>
                <a:cs typeface="Consolas" pitchFamily="34" charset="-120"/>
              </a:rPr>
              <a:t>PurchaseInvoices</a:t>
            </a:r>
            <a:endParaRPr lang="en-US" sz="1300" dirty="0"/>
          </a:p>
        </p:txBody>
      </p:sp>
      <p:sp>
        <p:nvSpPr>
          <p:cNvPr id="24" name="Text 20"/>
          <p:cNvSpPr txBox="1"/>
          <p:nvPr/>
        </p:nvSpPr>
        <p:spPr>
          <a:xfrm>
            <a:off x="3429000" y="3127248"/>
            <a:ext cx="201168" cy="237744"/>
          </a:xfrm>
          <a:prstGeom prst="rect">
            <a:avLst/>
          </a:prstGeom>
          <a:noFill/>
          <a:ln/>
        </p:spPr>
        <p:txBody>
          <a:bodyPr wrap="square" lIns="0" tIns="0" rIns="0" bIns="0" rtlCol="0" anchor="ctr"/>
          <a:lstStyle/>
          <a:p>
            <a:pPr marL="0" indent="0" algn="r">
              <a:buNone/>
            </a:pPr>
            <a:r>
              <a:rPr lang="en-US" sz="850" b="1" dirty="0">
                <a:solidFill>
                  <a:srgbClr val="B07A00"/>
                </a:solidFill>
                <a:latin typeface="Consolas" pitchFamily="34" charset="0"/>
                <a:ea typeface="Consolas" pitchFamily="34" charset="-122"/>
                <a:cs typeface="Consolas" pitchFamily="34" charset="-120"/>
              </a:rPr>
              <a:t>18</a:t>
            </a:r>
            <a:endParaRPr lang="en-US" sz="850" dirty="0"/>
          </a:p>
        </p:txBody>
      </p:sp>
      <p:sp>
        <p:nvSpPr>
          <p:cNvPr id="25" name="Text 21"/>
          <p:cNvSpPr txBox="1"/>
          <p:nvPr/>
        </p:nvSpPr>
        <p:spPr>
          <a:xfrm>
            <a:off x="2240280" y="3474720"/>
            <a:ext cx="1207008" cy="420624"/>
          </a:xfrm>
          <a:prstGeom prst="rect">
            <a:avLst/>
          </a:prstGeom>
          <a:noFill/>
          <a:ln/>
        </p:spPr>
        <p:txBody>
          <a:bodyPr wrap="square" lIns="0" tIns="0" rIns="0" bIns="0" rtlCol="0" anchor="t"/>
          <a:lstStyle/>
          <a:p>
            <a:pPr marL="0" indent="0">
              <a:buNone/>
            </a:pPr>
            <a:r>
              <a:rPr lang="en-US" sz="900" dirty="0">
                <a:solidFill>
                  <a:srgbClr val="5B6B82"/>
                </a:solidFill>
                <a:latin typeface="Calibri" pitchFamily="34" charset="0"/>
                <a:ea typeface="Calibri" pitchFamily="34" charset="-122"/>
                <a:cs typeface="Calibri" pitchFamily="34" charset="-120"/>
              </a:rPr>
              <a:t>Nota de crédito</a:t>
            </a:r>
            <a:endParaRPr lang="en-US" sz="1300" dirty="0"/>
          </a:p>
          <a:p>
            <a:pPr marL="0" indent="0">
              <a:buNone/>
            </a:pPr>
            <a:r>
              <a:rPr lang="en-US" sz="750" b="1" dirty="0">
                <a:solidFill>
                  <a:srgbClr val="0B4DA2"/>
                </a:solidFill>
                <a:latin typeface="Consolas" pitchFamily="34" charset="0"/>
                <a:ea typeface="Consolas" pitchFamily="34" charset="-122"/>
                <a:cs typeface="Consolas" pitchFamily="34" charset="-120"/>
              </a:rPr>
              <a:t>PurchaseCreditNotes</a:t>
            </a:r>
            <a:endParaRPr lang="en-US" sz="1300" dirty="0"/>
          </a:p>
        </p:txBody>
      </p:sp>
      <p:sp>
        <p:nvSpPr>
          <p:cNvPr id="26" name="Text 22"/>
          <p:cNvSpPr txBox="1"/>
          <p:nvPr/>
        </p:nvSpPr>
        <p:spPr>
          <a:xfrm>
            <a:off x="3429000" y="3584448"/>
            <a:ext cx="201168" cy="237744"/>
          </a:xfrm>
          <a:prstGeom prst="rect">
            <a:avLst/>
          </a:prstGeom>
          <a:noFill/>
          <a:ln/>
        </p:spPr>
        <p:txBody>
          <a:bodyPr wrap="square" lIns="0" tIns="0" rIns="0" bIns="0" rtlCol="0" anchor="ctr"/>
          <a:lstStyle/>
          <a:p>
            <a:pPr marL="0" indent="0" algn="r">
              <a:buNone/>
            </a:pPr>
            <a:r>
              <a:rPr lang="en-US" sz="850" b="1" dirty="0">
                <a:solidFill>
                  <a:srgbClr val="B07A00"/>
                </a:solidFill>
                <a:latin typeface="Consolas" pitchFamily="34" charset="0"/>
                <a:ea typeface="Consolas" pitchFamily="34" charset="-122"/>
                <a:cs typeface="Consolas" pitchFamily="34" charset="-120"/>
              </a:rPr>
              <a:t>19</a:t>
            </a:r>
            <a:endParaRPr lang="en-US" sz="850" dirty="0"/>
          </a:p>
        </p:txBody>
      </p:sp>
      <p:sp>
        <p:nvSpPr>
          <p:cNvPr id="27" name="Text 23"/>
          <p:cNvSpPr txBox="1"/>
          <p:nvPr/>
        </p:nvSpPr>
        <p:spPr>
          <a:xfrm>
            <a:off x="2240280" y="3931920"/>
            <a:ext cx="1207008" cy="420624"/>
          </a:xfrm>
          <a:prstGeom prst="rect">
            <a:avLst/>
          </a:prstGeom>
          <a:noFill/>
          <a:ln/>
        </p:spPr>
        <p:txBody>
          <a:bodyPr wrap="square" lIns="0" tIns="0" rIns="0" bIns="0" rtlCol="0" anchor="t"/>
          <a:lstStyle/>
          <a:p>
            <a:pPr marL="0" indent="0">
              <a:buNone/>
            </a:pPr>
            <a:r>
              <a:rPr lang="en-US" sz="900" dirty="0">
                <a:solidFill>
                  <a:srgbClr val="5B6B82"/>
                </a:solidFill>
                <a:latin typeface="Calibri" pitchFamily="34" charset="0"/>
                <a:ea typeface="Calibri" pitchFamily="34" charset="-122"/>
                <a:cs typeface="Calibri" pitchFamily="34" charset="-120"/>
              </a:rPr>
              <a:t>Nota de débito</a:t>
            </a:r>
            <a:endParaRPr lang="en-US" sz="1300" dirty="0"/>
          </a:p>
          <a:p>
            <a:pPr marL="0" indent="0">
              <a:buNone/>
            </a:pPr>
            <a:r>
              <a:rPr lang="en-US" sz="750" b="1" dirty="0">
                <a:solidFill>
                  <a:srgbClr val="0B4DA2"/>
                </a:solidFill>
                <a:latin typeface="Consolas" pitchFamily="34" charset="0"/>
                <a:ea typeface="Consolas" pitchFamily="34" charset="-122"/>
                <a:cs typeface="Consolas" pitchFamily="34" charset="-120"/>
              </a:rPr>
              <a:t>PurchaseInvoices*</a:t>
            </a:r>
            <a:endParaRPr lang="en-US" sz="1300" dirty="0"/>
          </a:p>
        </p:txBody>
      </p:sp>
      <p:sp>
        <p:nvSpPr>
          <p:cNvPr id="28" name="Text 24"/>
          <p:cNvSpPr txBox="1"/>
          <p:nvPr/>
        </p:nvSpPr>
        <p:spPr>
          <a:xfrm>
            <a:off x="3429000" y="4041648"/>
            <a:ext cx="201168" cy="237744"/>
          </a:xfrm>
          <a:prstGeom prst="rect">
            <a:avLst/>
          </a:prstGeom>
          <a:noFill/>
          <a:ln/>
        </p:spPr>
        <p:txBody>
          <a:bodyPr wrap="square" lIns="0" tIns="0" rIns="0" bIns="0" rtlCol="0" anchor="ctr"/>
          <a:lstStyle/>
          <a:p>
            <a:pPr marL="0" indent="0" algn="r">
              <a:buNone/>
            </a:pPr>
            <a:r>
              <a:rPr lang="en-US" sz="850" b="1" dirty="0">
                <a:solidFill>
                  <a:srgbClr val="B07A00"/>
                </a:solidFill>
                <a:latin typeface="Consolas" pitchFamily="34" charset="0"/>
                <a:ea typeface="Consolas" pitchFamily="34" charset="-122"/>
                <a:cs typeface="Consolas" pitchFamily="34" charset="-120"/>
              </a:rPr>
              <a:t>18</a:t>
            </a:r>
            <a:endParaRPr lang="en-US" sz="850" dirty="0"/>
          </a:p>
        </p:txBody>
      </p:sp>
      <p:sp>
        <p:nvSpPr>
          <p:cNvPr id="29" name="Shape 25"/>
          <p:cNvSpPr/>
          <p:nvPr/>
        </p:nvSpPr>
        <p:spPr>
          <a:xfrm>
            <a:off x="3803904" y="1463040"/>
            <a:ext cx="1572768" cy="2971800"/>
          </a:xfrm>
          <a:prstGeom prst="roundRect">
            <a:avLst>
              <a:gd name="adj" fmla="val 4651"/>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30" name="Shape 26"/>
          <p:cNvSpPr/>
          <p:nvPr/>
        </p:nvSpPr>
        <p:spPr>
          <a:xfrm>
            <a:off x="3931920" y="1591056"/>
            <a:ext cx="384048" cy="384048"/>
          </a:xfrm>
          <a:prstGeom prst="ellipse">
            <a:avLst/>
          </a:prstGeom>
          <a:solidFill>
            <a:srgbClr val="071B3F"/>
          </a:solidFill>
          <a:ln w="12700">
            <a:solidFill>
              <a:srgbClr val="071B3F"/>
            </a:solidFill>
            <a:prstDash val="solid"/>
          </a:ln>
        </p:spPr>
      </p:sp>
      <p:pic>
        <p:nvPicPr>
          <p:cNvPr id="31" name="Image 2" descr="preencoded.png"/>
          <p:cNvPicPr>
            <a:picLocks noChangeAspect="1"/>
          </p:cNvPicPr>
          <p:nvPr/>
        </p:nvPicPr>
        <p:blipFill>
          <a:blip r:embed="rId5"/>
          <a:stretch>
            <a:fillRect/>
          </a:stretch>
        </p:blipFill>
        <p:spPr>
          <a:xfrm>
            <a:off x="4031772" y="1690908"/>
            <a:ext cx="184343" cy="184343"/>
          </a:xfrm>
          <a:prstGeom prst="rect">
            <a:avLst/>
          </a:prstGeom>
        </p:spPr>
      </p:pic>
      <p:sp>
        <p:nvSpPr>
          <p:cNvPr id="32" name="Text 27"/>
          <p:cNvSpPr txBox="1"/>
          <p:nvPr/>
        </p:nvSpPr>
        <p:spPr>
          <a:xfrm>
            <a:off x="4370832" y="1591056"/>
            <a:ext cx="960120" cy="384048"/>
          </a:xfrm>
          <a:prstGeom prst="rect">
            <a:avLst/>
          </a:prstGeom>
          <a:noFill/>
          <a:ln/>
        </p:spPr>
        <p:txBody>
          <a:bodyPr wrap="square" lIns="0" tIns="0" rIns="0" bIns="0" rtlCol="0" anchor="ctr"/>
          <a:lstStyle/>
          <a:p>
            <a:pPr marL="0" indent="0">
              <a:buNone/>
            </a:pPr>
            <a:r>
              <a:rPr lang="en-US" sz="1250" b="1" dirty="0">
                <a:solidFill>
                  <a:srgbClr val="071B3F"/>
                </a:solidFill>
                <a:latin typeface="Segoe UI" pitchFamily="34" charset="0"/>
                <a:ea typeface="Segoe UI" pitchFamily="34" charset="-122"/>
                <a:cs typeface="Segoe UI" pitchFamily="34" charset="-120"/>
              </a:rPr>
              <a:t>Ventas</a:t>
            </a:r>
            <a:endParaRPr lang="en-US" sz="1250" dirty="0"/>
          </a:p>
        </p:txBody>
      </p:sp>
      <p:sp>
        <p:nvSpPr>
          <p:cNvPr id="33" name="Text 28"/>
          <p:cNvSpPr txBox="1"/>
          <p:nvPr/>
        </p:nvSpPr>
        <p:spPr>
          <a:xfrm>
            <a:off x="3913632" y="2103120"/>
            <a:ext cx="1207008" cy="420624"/>
          </a:xfrm>
          <a:prstGeom prst="rect">
            <a:avLst/>
          </a:prstGeom>
          <a:noFill/>
          <a:ln/>
        </p:spPr>
        <p:txBody>
          <a:bodyPr wrap="square" lIns="0" tIns="0" rIns="0" bIns="0" rtlCol="0" anchor="t"/>
          <a:lstStyle/>
          <a:p>
            <a:pPr marL="0" indent="0">
              <a:buNone/>
            </a:pPr>
            <a:r>
              <a:rPr lang="en-US" sz="900" dirty="0">
                <a:solidFill>
                  <a:srgbClr val="5B6B82"/>
                </a:solidFill>
                <a:latin typeface="Calibri" pitchFamily="34" charset="0"/>
                <a:ea typeface="Calibri" pitchFamily="34" charset="-122"/>
                <a:cs typeface="Calibri" pitchFamily="34" charset="-120"/>
              </a:rPr>
              <a:t>Pedido</a:t>
            </a:r>
            <a:endParaRPr lang="en-US" sz="1300" dirty="0"/>
          </a:p>
          <a:p>
            <a:pPr marL="0" indent="0">
              <a:buNone/>
            </a:pPr>
            <a:r>
              <a:rPr lang="en-US" sz="750" b="1" dirty="0">
                <a:solidFill>
                  <a:srgbClr val="0B4DA2"/>
                </a:solidFill>
                <a:latin typeface="Consolas" pitchFamily="34" charset="0"/>
                <a:ea typeface="Consolas" pitchFamily="34" charset="-122"/>
                <a:cs typeface="Consolas" pitchFamily="34" charset="-120"/>
              </a:rPr>
              <a:t>Orders</a:t>
            </a:r>
            <a:endParaRPr lang="en-US" sz="1300" dirty="0"/>
          </a:p>
        </p:txBody>
      </p:sp>
      <p:sp>
        <p:nvSpPr>
          <p:cNvPr id="34" name="Text 29"/>
          <p:cNvSpPr txBox="1"/>
          <p:nvPr/>
        </p:nvSpPr>
        <p:spPr>
          <a:xfrm>
            <a:off x="5102352" y="2212848"/>
            <a:ext cx="201168" cy="237744"/>
          </a:xfrm>
          <a:prstGeom prst="rect">
            <a:avLst/>
          </a:prstGeom>
          <a:noFill/>
          <a:ln/>
        </p:spPr>
        <p:txBody>
          <a:bodyPr wrap="square" lIns="0" tIns="0" rIns="0" bIns="0" rtlCol="0" anchor="ctr"/>
          <a:lstStyle/>
          <a:p>
            <a:pPr marL="0" indent="0" algn="r">
              <a:buNone/>
            </a:pPr>
            <a:r>
              <a:rPr lang="en-US" sz="850" b="1" dirty="0">
                <a:solidFill>
                  <a:srgbClr val="B07A00"/>
                </a:solidFill>
                <a:latin typeface="Consolas" pitchFamily="34" charset="0"/>
                <a:ea typeface="Consolas" pitchFamily="34" charset="-122"/>
                <a:cs typeface="Consolas" pitchFamily="34" charset="-120"/>
              </a:rPr>
              <a:t>17</a:t>
            </a:r>
            <a:endParaRPr lang="en-US" sz="850" dirty="0"/>
          </a:p>
        </p:txBody>
      </p:sp>
      <p:sp>
        <p:nvSpPr>
          <p:cNvPr id="35" name="Text 30"/>
          <p:cNvSpPr txBox="1"/>
          <p:nvPr/>
        </p:nvSpPr>
        <p:spPr>
          <a:xfrm>
            <a:off x="3913632" y="2560320"/>
            <a:ext cx="1207008" cy="420624"/>
          </a:xfrm>
          <a:prstGeom prst="rect">
            <a:avLst/>
          </a:prstGeom>
          <a:noFill/>
          <a:ln/>
        </p:spPr>
        <p:txBody>
          <a:bodyPr wrap="square" lIns="0" tIns="0" rIns="0" bIns="0" rtlCol="0" anchor="t"/>
          <a:lstStyle/>
          <a:p>
            <a:pPr marL="0" indent="0">
              <a:buNone/>
            </a:pPr>
            <a:r>
              <a:rPr lang="en-US" sz="900" dirty="0">
                <a:solidFill>
                  <a:srgbClr val="5B6B82"/>
                </a:solidFill>
                <a:latin typeface="Calibri" pitchFamily="34" charset="0"/>
                <a:ea typeface="Calibri" pitchFamily="34" charset="-122"/>
                <a:cs typeface="Calibri" pitchFamily="34" charset="-120"/>
              </a:rPr>
              <a:t>Entrega</a:t>
            </a:r>
            <a:endParaRPr lang="en-US" sz="1300" dirty="0"/>
          </a:p>
          <a:p>
            <a:pPr marL="0" indent="0">
              <a:buNone/>
            </a:pPr>
            <a:r>
              <a:rPr lang="en-US" sz="750" b="1" dirty="0">
                <a:solidFill>
                  <a:srgbClr val="0B4DA2"/>
                </a:solidFill>
                <a:latin typeface="Consolas" pitchFamily="34" charset="0"/>
                <a:ea typeface="Consolas" pitchFamily="34" charset="-122"/>
                <a:cs typeface="Consolas" pitchFamily="34" charset="-120"/>
              </a:rPr>
              <a:t>DeliveryNotes</a:t>
            </a:r>
            <a:endParaRPr lang="en-US" sz="1300" dirty="0"/>
          </a:p>
        </p:txBody>
      </p:sp>
      <p:sp>
        <p:nvSpPr>
          <p:cNvPr id="36" name="Text 31"/>
          <p:cNvSpPr txBox="1"/>
          <p:nvPr/>
        </p:nvSpPr>
        <p:spPr>
          <a:xfrm>
            <a:off x="5102352" y="2670048"/>
            <a:ext cx="201168" cy="237744"/>
          </a:xfrm>
          <a:prstGeom prst="rect">
            <a:avLst/>
          </a:prstGeom>
          <a:noFill/>
          <a:ln/>
        </p:spPr>
        <p:txBody>
          <a:bodyPr wrap="square" lIns="0" tIns="0" rIns="0" bIns="0" rtlCol="0" anchor="ctr"/>
          <a:lstStyle/>
          <a:p>
            <a:pPr marL="0" indent="0" algn="r">
              <a:buNone/>
            </a:pPr>
            <a:r>
              <a:rPr lang="en-US" sz="850" b="1" dirty="0">
                <a:solidFill>
                  <a:srgbClr val="B07A00"/>
                </a:solidFill>
                <a:latin typeface="Consolas" pitchFamily="34" charset="0"/>
                <a:ea typeface="Consolas" pitchFamily="34" charset="-122"/>
                <a:cs typeface="Consolas" pitchFamily="34" charset="-120"/>
              </a:rPr>
              <a:t>15</a:t>
            </a:r>
            <a:endParaRPr lang="en-US" sz="850" dirty="0"/>
          </a:p>
        </p:txBody>
      </p:sp>
      <p:sp>
        <p:nvSpPr>
          <p:cNvPr id="37" name="Text 32"/>
          <p:cNvSpPr txBox="1"/>
          <p:nvPr/>
        </p:nvSpPr>
        <p:spPr>
          <a:xfrm>
            <a:off x="3913632" y="3017520"/>
            <a:ext cx="1207008" cy="420624"/>
          </a:xfrm>
          <a:prstGeom prst="rect">
            <a:avLst/>
          </a:prstGeom>
          <a:noFill/>
          <a:ln/>
        </p:spPr>
        <p:txBody>
          <a:bodyPr wrap="square" lIns="0" tIns="0" rIns="0" bIns="0" rtlCol="0" anchor="t"/>
          <a:lstStyle/>
          <a:p>
            <a:pPr marL="0" indent="0">
              <a:buNone/>
            </a:pPr>
            <a:r>
              <a:rPr lang="en-US" sz="900" dirty="0">
                <a:solidFill>
                  <a:srgbClr val="5B6B82"/>
                </a:solidFill>
                <a:latin typeface="Calibri" pitchFamily="34" charset="0"/>
                <a:ea typeface="Calibri" pitchFamily="34" charset="-122"/>
                <a:cs typeface="Calibri" pitchFamily="34" charset="-120"/>
              </a:rPr>
              <a:t>Factura</a:t>
            </a:r>
            <a:endParaRPr lang="en-US" sz="1300" dirty="0"/>
          </a:p>
          <a:p>
            <a:pPr marL="0" indent="0">
              <a:buNone/>
            </a:pPr>
            <a:r>
              <a:rPr lang="en-US" sz="750" b="1" dirty="0">
                <a:solidFill>
                  <a:srgbClr val="0B4DA2"/>
                </a:solidFill>
                <a:latin typeface="Consolas" pitchFamily="34" charset="0"/>
                <a:ea typeface="Consolas" pitchFamily="34" charset="-122"/>
                <a:cs typeface="Consolas" pitchFamily="34" charset="-120"/>
              </a:rPr>
              <a:t>Invoices</a:t>
            </a:r>
            <a:endParaRPr lang="en-US" sz="1300" dirty="0"/>
          </a:p>
        </p:txBody>
      </p:sp>
      <p:sp>
        <p:nvSpPr>
          <p:cNvPr id="38" name="Text 33"/>
          <p:cNvSpPr txBox="1"/>
          <p:nvPr/>
        </p:nvSpPr>
        <p:spPr>
          <a:xfrm>
            <a:off x="5102352" y="3127248"/>
            <a:ext cx="201168" cy="237744"/>
          </a:xfrm>
          <a:prstGeom prst="rect">
            <a:avLst/>
          </a:prstGeom>
          <a:noFill/>
          <a:ln/>
        </p:spPr>
        <p:txBody>
          <a:bodyPr wrap="square" lIns="0" tIns="0" rIns="0" bIns="0" rtlCol="0" anchor="ctr"/>
          <a:lstStyle/>
          <a:p>
            <a:pPr marL="0" indent="0" algn="r">
              <a:buNone/>
            </a:pPr>
            <a:r>
              <a:rPr lang="en-US" sz="850" b="1" dirty="0">
                <a:solidFill>
                  <a:srgbClr val="B07A00"/>
                </a:solidFill>
                <a:latin typeface="Consolas" pitchFamily="34" charset="0"/>
                <a:ea typeface="Consolas" pitchFamily="34" charset="-122"/>
                <a:cs typeface="Consolas" pitchFamily="34" charset="-120"/>
              </a:rPr>
              <a:t>13</a:t>
            </a:r>
            <a:endParaRPr lang="en-US" sz="850" dirty="0"/>
          </a:p>
        </p:txBody>
      </p:sp>
      <p:sp>
        <p:nvSpPr>
          <p:cNvPr id="39" name="Text 34"/>
          <p:cNvSpPr txBox="1"/>
          <p:nvPr/>
        </p:nvSpPr>
        <p:spPr>
          <a:xfrm>
            <a:off x="3913632" y="3474720"/>
            <a:ext cx="1207008" cy="420624"/>
          </a:xfrm>
          <a:prstGeom prst="rect">
            <a:avLst/>
          </a:prstGeom>
          <a:noFill/>
          <a:ln/>
        </p:spPr>
        <p:txBody>
          <a:bodyPr wrap="square" lIns="0" tIns="0" rIns="0" bIns="0" rtlCol="0" anchor="t"/>
          <a:lstStyle/>
          <a:p>
            <a:pPr marL="0" indent="0">
              <a:buNone/>
            </a:pPr>
            <a:r>
              <a:rPr lang="en-US" sz="900" dirty="0">
                <a:solidFill>
                  <a:srgbClr val="5B6B82"/>
                </a:solidFill>
                <a:latin typeface="Calibri" pitchFamily="34" charset="0"/>
                <a:ea typeface="Calibri" pitchFamily="34" charset="-122"/>
                <a:cs typeface="Calibri" pitchFamily="34" charset="-120"/>
              </a:rPr>
              <a:t>Nota de crédito</a:t>
            </a:r>
            <a:endParaRPr lang="en-US" sz="1300" dirty="0"/>
          </a:p>
          <a:p>
            <a:pPr marL="0" indent="0">
              <a:buNone/>
            </a:pPr>
            <a:r>
              <a:rPr lang="en-US" sz="750" b="1" dirty="0">
                <a:solidFill>
                  <a:srgbClr val="0B4DA2"/>
                </a:solidFill>
                <a:latin typeface="Consolas" pitchFamily="34" charset="0"/>
                <a:ea typeface="Consolas" pitchFamily="34" charset="-122"/>
                <a:cs typeface="Consolas" pitchFamily="34" charset="-120"/>
              </a:rPr>
              <a:t>CreditNotes</a:t>
            </a:r>
            <a:endParaRPr lang="en-US" sz="1300" dirty="0"/>
          </a:p>
        </p:txBody>
      </p:sp>
      <p:sp>
        <p:nvSpPr>
          <p:cNvPr id="40" name="Text 35"/>
          <p:cNvSpPr txBox="1"/>
          <p:nvPr/>
        </p:nvSpPr>
        <p:spPr>
          <a:xfrm>
            <a:off x="5102352" y="3584448"/>
            <a:ext cx="201168" cy="237744"/>
          </a:xfrm>
          <a:prstGeom prst="rect">
            <a:avLst/>
          </a:prstGeom>
          <a:noFill/>
          <a:ln/>
        </p:spPr>
        <p:txBody>
          <a:bodyPr wrap="square" lIns="0" tIns="0" rIns="0" bIns="0" rtlCol="0" anchor="ctr"/>
          <a:lstStyle/>
          <a:p>
            <a:pPr marL="0" indent="0" algn="r">
              <a:buNone/>
            </a:pPr>
            <a:r>
              <a:rPr lang="en-US" sz="850" b="1" dirty="0">
                <a:solidFill>
                  <a:srgbClr val="B07A00"/>
                </a:solidFill>
                <a:latin typeface="Consolas" pitchFamily="34" charset="0"/>
                <a:ea typeface="Consolas" pitchFamily="34" charset="-122"/>
                <a:cs typeface="Consolas" pitchFamily="34" charset="-120"/>
              </a:rPr>
              <a:t>14</a:t>
            </a:r>
            <a:endParaRPr lang="en-US" sz="850" dirty="0"/>
          </a:p>
        </p:txBody>
      </p:sp>
      <p:sp>
        <p:nvSpPr>
          <p:cNvPr id="41" name="Text 36"/>
          <p:cNvSpPr txBox="1"/>
          <p:nvPr/>
        </p:nvSpPr>
        <p:spPr>
          <a:xfrm>
            <a:off x="3913632" y="3931920"/>
            <a:ext cx="1207008" cy="420624"/>
          </a:xfrm>
          <a:prstGeom prst="rect">
            <a:avLst/>
          </a:prstGeom>
          <a:noFill/>
          <a:ln/>
        </p:spPr>
        <p:txBody>
          <a:bodyPr wrap="square" lIns="0" tIns="0" rIns="0" bIns="0" rtlCol="0" anchor="t"/>
          <a:lstStyle/>
          <a:p>
            <a:pPr marL="0" indent="0">
              <a:buNone/>
            </a:pPr>
            <a:r>
              <a:rPr lang="en-US" sz="900" dirty="0">
                <a:solidFill>
                  <a:srgbClr val="5B6B82"/>
                </a:solidFill>
                <a:latin typeface="Calibri" pitchFamily="34" charset="0"/>
                <a:ea typeface="Calibri" pitchFamily="34" charset="-122"/>
                <a:cs typeface="Calibri" pitchFamily="34" charset="-120"/>
              </a:rPr>
              <a:t>Nota de débito</a:t>
            </a:r>
            <a:endParaRPr lang="en-US" sz="1300" dirty="0"/>
          </a:p>
          <a:p>
            <a:pPr marL="0" indent="0">
              <a:buNone/>
            </a:pPr>
            <a:r>
              <a:rPr lang="en-US" sz="750" b="1" dirty="0">
                <a:solidFill>
                  <a:srgbClr val="0B4DA2"/>
                </a:solidFill>
                <a:latin typeface="Consolas" pitchFamily="34" charset="0"/>
                <a:ea typeface="Consolas" pitchFamily="34" charset="-122"/>
                <a:cs typeface="Consolas" pitchFamily="34" charset="-120"/>
              </a:rPr>
              <a:t>Invoices*</a:t>
            </a:r>
            <a:endParaRPr lang="en-US" sz="1300" dirty="0"/>
          </a:p>
        </p:txBody>
      </p:sp>
      <p:sp>
        <p:nvSpPr>
          <p:cNvPr id="42" name="Text 37"/>
          <p:cNvSpPr txBox="1"/>
          <p:nvPr/>
        </p:nvSpPr>
        <p:spPr>
          <a:xfrm>
            <a:off x="5102352" y="4041648"/>
            <a:ext cx="201168" cy="237744"/>
          </a:xfrm>
          <a:prstGeom prst="rect">
            <a:avLst/>
          </a:prstGeom>
          <a:noFill/>
          <a:ln/>
        </p:spPr>
        <p:txBody>
          <a:bodyPr wrap="square" lIns="0" tIns="0" rIns="0" bIns="0" rtlCol="0" anchor="ctr"/>
          <a:lstStyle/>
          <a:p>
            <a:pPr marL="0" indent="0" algn="r">
              <a:buNone/>
            </a:pPr>
            <a:r>
              <a:rPr lang="en-US" sz="850" b="1" dirty="0">
                <a:solidFill>
                  <a:srgbClr val="B07A00"/>
                </a:solidFill>
                <a:latin typeface="Consolas" pitchFamily="34" charset="0"/>
                <a:ea typeface="Consolas" pitchFamily="34" charset="-122"/>
                <a:cs typeface="Consolas" pitchFamily="34" charset="-120"/>
              </a:rPr>
              <a:t>13</a:t>
            </a:r>
            <a:endParaRPr lang="en-US" sz="850" dirty="0"/>
          </a:p>
        </p:txBody>
      </p:sp>
      <p:sp>
        <p:nvSpPr>
          <p:cNvPr id="43" name="Shape 38"/>
          <p:cNvSpPr/>
          <p:nvPr/>
        </p:nvSpPr>
        <p:spPr>
          <a:xfrm>
            <a:off x="5477256" y="1463040"/>
            <a:ext cx="1572768" cy="2971800"/>
          </a:xfrm>
          <a:prstGeom prst="roundRect">
            <a:avLst>
              <a:gd name="adj" fmla="val 4651"/>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44" name="Shape 39"/>
          <p:cNvSpPr/>
          <p:nvPr/>
        </p:nvSpPr>
        <p:spPr>
          <a:xfrm>
            <a:off x="5605272" y="1591056"/>
            <a:ext cx="384048" cy="384048"/>
          </a:xfrm>
          <a:prstGeom prst="ellipse">
            <a:avLst/>
          </a:prstGeom>
          <a:solidFill>
            <a:srgbClr val="071B3F"/>
          </a:solidFill>
          <a:ln w="12700">
            <a:solidFill>
              <a:srgbClr val="071B3F"/>
            </a:solidFill>
            <a:prstDash val="solid"/>
          </a:ln>
        </p:spPr>
      </p:sp>
      <p:pic>
        <p:nvPicPr>
          <p:cNvPr id="45" name="Image 3" descr="preencoded.png"/>
          <p:cNvPicPr>
            <a:picLocks noChangeAspect="1"/>
          </p:cNvPicPr>
          <p:nvPr/>
        </p:nvPicPr>
        <p:blipFill>
          <a:blip r:embed="rId6"/>
          <a:stretch>
            <a:fillRect/>
          </a:stretch>
        </p:blipFill>
        <p:spPr>
          <a:xfrm>
            <a:off x="5705124" y="1690908"/>
            <a:ext cx="184343" cy="184343"/>
          </a:xfrm>
          <a:prstGeom prst="rect">
            <a:avLst/>
          </a:prstGeom>
        </p:spPr>
      </p:pic>
      <p:sp>
        <p:nvSpPr>
          <p:cNvPr id="46" name="Text 40"/>
          <p:cNvSpPr txBox="1"/>
          <p:nvPr/>
        </p:nvSpPr>
        <p:spPr>
          <a:xfrm>
            <a:off x="6044184" y="1591056"/>
            <a:ext cx="960120" cy="384048"/>
          </a:xfrm>
          <a:prstGeom prst="rect">
            <a:avLst/>
          </a:prstGeom>
          <a:noFill/>
          <a:ln/>
        </p:spPr>
        <p:txBody>
          <a:bodyPr wrap="square" lIns="0" tIns="0" rIns="0" bIns="0" rtlCol="0" anchor="ctr"/>
          <a:lstStyle/>
          <a:p>
            <a:pPr marL="0" indent="0">
              <a:buNone/>
            </a:pPr>
            <a:r>
              <a:rPr lang="en-US" sz="1250" b="1" dirty="0">
                <a:solidFill>
                  <a:srgbClr val="071B3F"/>
                </a:solidFill>
                <a:latin typeface="Segoe UI" pitchFamily="34" charset="0"/>
                <a:ea typeface="Segoe UI" pitchFamily="34" charset="-122"/>
                <a:cs typeface="Segoe UI" pitchFamily="34" charset="-120"/>
              </a:rPr>
              <a:t>Bancos</a:t>
            </a:r>
            <a:endParaRPr lang="en-US" sz="1250" dirty="0"/>
          </a:p>
        </p:txBody>
      </p:sp>
      <p:sp>
        <p:nvSpPr>
          <p:cNvPr id="47" name="Text 41"/>
          <p:cNvSpPr txBox="1"/>
          <p:nvPr/>
        </p:nvSpPr>
        <p:spPr>
          <a:xfrm>
            <a:off x="5586984" y="2103120"/>
            <a:ext cx="1207008" cy="420624"/>
          </a:xfrm>
          <a:prstGeom prst="rect">
            <a:avLst/>
          </a:prstGeom>
          <a:noFill/>
          <a:ln/>
        </p:spPr>
        <p:txBody>
          <a:bodyPr wrap="square" lIns="0" tIns="0" rIns="0" bIns="0" rtlCol="0" anchor="t"/>
          <a:lstStyle/>
          <a:p>
            <a:pPr marL="0" indent="0">
              <a:buNone/>
            </a:pPr>
            <a:r>
              <a:rPr lang="en-US" sz="900" dirty="0">
                <a:solidFill>
                  <a:srgbClr val="5B6B82"/>
                </a:solidFill>
                <a:latin typeface="Calibri" pitchFamily="34" charset="0"/>
                <a:ea typeface="Calibri" pitchFamily="34" charset="-122"/>
                <a:cs typeface="Calibri" pitchFamily="34" charset="-120"/>
              </a:rPr>
              <a:t>Pago recibido</a:t>
            </a:r>
            <a:endParaRPr lang="en-US" sz="1300" dirty="0"/>
          </a:p>
          <a:p>
            <a:pPr marL="0" indent="0">
              <a:buNone/>
            </a:pPr>
            <a:r>
              <a:rPr lang="en-US" sz="750" b="1" dirty="0">
                <a:solidFill>
                  <a:srgbClr val="0B4DA2"/>
                </a:solidFill>
                <a:latin typeface="Consolas" pitchFamily="34" charset="0"/>
                <a:ea typeface="Consolas" pitchFamily="34" charset="-122"/>
                <a:cs typeface="Consolas" pitchFamily="34" charset="-120"/>
              </a:rPr>
              <a:t>IncomingPayments</a:t>
            </a:r>
            <a:endParaRPr lang="en-US" sz="1300" dirty="0"/>
          </a:p>
        </p:txBody>
      </p:sp>
      <p:sp>
        <p:nvSpPr>
          <p:cNvPr id="48" name="Text 42"/>
          <p:cNvSpPr txBox="1"/>
          <p:nvPr/>
        </p:nvSpPr>
        <p:spPr>
          <a:xfrm>
            <a:off x="6775704" y="2212848"/>
            <a:ext cx="201168" cy="237744"/>
          </a:xfrm>
          <a:prstGeom prst="rect">
            <a:avLst/>
          </a:prstGeom>
          <a:noFill/>
          <a:ln/>
        </p:spPr>
        <p:txBody>
          <a:bodyPr wrap="square" lIns="0" tIns="0" rIns="0" bIns="0" rtlCol="0" anchor="ctr"/>
          <a:lstStyle/>
          <a:p>
            <a:pPr marL="0" indent="0" algn="r">
              <a:buNone/>
            </a:pPr>
            <a:r>
              <a:rPr lang="en-US" sz="850" b="1" dirty="0">
                <a:solidFill>
                  <a:srgbClr val="B07A00"/>
                </a:solidFill>
                <a:latin typeface="Consolas" pitchFamily="34" charset="0"/>
                <a:ea typeface="Consolas" pitchFamily="34" charset="-122"/>
                <a:cs typeface="Consolas" pitchFamily="34" charset="-120"/>
              </a:rPr>
              <a:t>24</a:t>
            </a:r>
            <a:endParaRPr lang="en-US" sz="850" dirty="0"/>
          </a:p>
        </p:txBody>
      </p:sp>
      <p:sp>
        <p:nvSpPr>
          <p:cNvPr id="49" name="Text 43"/>
          <p:cNvSpPr txBox="1"/>
          <p:nvPr/>
        </p:nvSpPr>
        <p:spPr>
          <a:xfrm>
            <a:off x="5586984" y="2560320"/>
            <a:ext cx="1207008" cy="420624"/>
          </a:xfrm>
          <a:prstGeom prst="rect">
            <a:avLst/>
          </a:prstGeom>
          <a:noFill/>
          <a:ln/>
        </p:spPr>
        <p:txBody>
          <a:bodyPr wrap="square" lIns="0" tIns="0" rIns="0" bIns="0" rtlCol="0" anchor="t"/>
          <a:lstStyle/>
          <a:p>
            <a:pPr marL="0" indent="0">
              <a:buNone/>
            </a:pPr>
            <a:r>
              <a:rPr lang="en-US" sz="900" dirty="0">
                <a:solidFill>
                  <a:srgbClr val="5B6B82"/>
                </a:solidFill>
                <a:latin typeface="Calibri" pitchFamily="34" charset="0"/>
                <a:ea typeface="Calibri" pitchFamily="34" charset="-122"/>
                <a:cs typeface="Calibri" pitchFamily="34" charset="-120"/>
              </a:rPr>
              <a:t>Pago efectuado</a:t>
            </a:r>
            <a:endParaRPr lang="en-US" sz="1300" dirty="0"/>
          </a:p>
          <a:p>
            <a:pPr marL="0" indent="0">
              <a:buNone/>
            </a:pPr>
            <a:r>
              <a:rPr lang="en-US" sz="750" b="1" dirty="0">
                <a:solidFill>
                  <a:srgbClr val="0B4DA2"/>
                </a:solidFill>
                <a:latin typeface="Consolas" pitchFamily="34" charset="0"/>
                <a:ea typeface="Consolas" pitchFamily="34" charset="-122"/>
                <a:cs typeface="Consolas" pitchFamily="34" charset="-120"/>
              </a:rPr>
              <a:t>VendorPayments</a:t>
            </a:r>
            <a:endParaRPr lang="en-US" sz="1300" dirty="0"/>
          </a:p>
        </p:txBody>
      </p:sp>
      <p:sp>
        <p:nvSpPr>
          <p:cNvPr id="50" name="Text 44"/>
          <p:cNvSpPr txBox="1"/>
          <p:nvPr/>
        </p:nvSpPr>
        <p:spPr>
          <a:xfrm>
            <a:off x="6775704" y="2670048"/>
            <a:ext cx="201168" cy="237744"/>
          </a:xfrm>
          <a:prstGeom prst="rect">
            <a:avLst/>
          </a:prstGeom>
          <a:noFill/>
          <a:ln/>
        </p:spPr>
        <p:txBody>
          <a:bodyPr wrap="square" lIns="0" tIns="0" rIns="0" bIns="0" rtlCol="0" anchor="ctr"/>
          <a:lstStyle/>
          <a:p>
            <a:pPr marL="0" indent="0" algn="r">
              <a:buNone/>
            </a:pPr>
            <a:r>
              <a:rPr lang="en-US" sz="850" b="1" dirty="0">
                <a:solidFill>
                  <a:srgbClr val="B07A00"/>
                </a:solidFill>
                <a:latin typeface="Consolas" pitchFamily="34" charset="0"/>
                <a:ea typeface="Consolas" pitchFamily="34" charset="-122"/>
                <a:cs typeface="Consolas" pitchFamily="34" charset="-120"/>
              </a:rPr>
              <a:t>46</a:t>
            </a:r>
            <a:endParaRPr lang="en-US" sz="850" dirty="0"/>
          </a:p>
        </p:txBody>
      </p:sp>
      <p:sp>
        <p:nvSpPr>
          <p:cNvPr id="51" name="Shape 45"/>
          <p:cNvSpPr/>
          <p:nvPr/>
        </p:nvSpPr>
        <p:spPr>
          <a:xfrm>
            <a:off x="7150608" y="1463040"/>
            <a:ext cx="1572768" cy="2971800"/>
          </a:xfrm>
          <a:prstGeom prst="roundRect">
            <a:avLst>
              <a:gd name="adj" fmla="val 4651"/>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52" name="Shape 46"/>
          <p:cNvSpPr/>
          <p:nvPr/>
        </p:nvSpPr>
        <p:spPr>
          <a:xfrm>
            <a:off x="7278624" y="1591056"/>
            <a:ext cx="384048" cy="384048"/>
          </a:xfrm>
          <a:prstGeom prst="ellipse">
            <a:avLst/>
          </a:prstGeom>
          <a:solidFill>
            <a:srgbClr val="071B3F"/>
          </a:solidFill>
          <a:ln w="12700">
            <a:solidFill>
              <a:srgbClr val="071B3F"/>
            </a:solidFill>
            <a:prstDash val="solid"/>
          </a:ln>
        </p:spPr>
      </p:sp>
      <p:pic>
        <p:nvPicPr>
          <p:cNvPr id="53" name="Image 4" descr="preencoded.png"/>
          <p:cNvPicPr>
            <a:picLocks noChangeAspect="1"/>
          </p:cNvPicPr>
          <p:nvPr/>
        </p:nvPicPr>
        <p:blipFill>
          <a:blip r:embed="rId7"/>
          <a:stretch>
            <a:fillRect/>
          </a:stretch>
        </p:blipFill>
        <p:spPr>
          <a:xfrm>
            <a:off x="7378476" y="1690908"/>
            <a:ext cx="184343" cy="184343"/>
          </a:xfrm>
          <a:prstGeom prst="rect">
            <a:avLst/>
          </a:prstGeom>
        </p:spPr>
      </p:pic>
      <p:sp>
        <p:nvSpPr>
          <p:cNvPr id="54" name="Text 47"/>
          <p:cNvSpPr txBox="1"/>
          <p:nvPr/>
        </p:nvSpPr>
        <p:spPr>
          <a:xfrm>
            <a:off x="7717536" y="1591056"/>
            <a:ext cx="960120" cy="384048"/>
          </a:xfrm>
          <a:prstGeom prst="rect">
            <a:avLst/>
          </a:prstGeom>
          <a:noFill/>
          <a:ln/>
        </p:spPr>
        <p:txBody>
          <a:bodyPr wrap="square" lIns="0" tIns="0" rIns="0" bIns="0" rtlCol="0" anchor="ctr"/>
          <a:lstStyle/>
          <a:p>
            <a:pPr marL="0" indent="0">
              <a:buNone/>
            </a:pPr>
            <a:r>
              <a:rPr lang="en-US" sz="1250" b="1" dirty="0">
                <a:solidFill>
                  <a:srgbClr val="071B3F"/>
                </a:solidFill>
                <a:latin typeface="Segoe UI" pitchFamily="34" charset="0"/>
                <a:ea typeface="Segoe UI" pitchFamily="34" charset="-122"/>
                <a:cs typeface="Segoe UI" pitchFamily="34" charset="-120"/>
              </a:rPr>
              <a:t>Finanzas</a:t>
            </a:r>
            <a:endParaRPr lang="en-US" sz="1250" dirty="0"/>
          </a:p>
        </p:txBody>
      </p:sp>
      <p:sp>
        <p:nvSpPr>
          <p:cNvPr id="55" name="Text 48"/>
          <p:cNvSpPr txBox="1"/>
          <p:nvPr/>
        </p:nvSpPr>
        <p:spPr>
          <a:xfrm>
            <a:off x="7260336" y="2103120"/>
            <a:ext cx="1207008" cy="420624"/>
          </a:xfrm>
          <a:prstGeom prst="rect">
            <a:avLst/>
          </a:prstGeom>
          <a:noFill/>
          <a:ln/>
        </p:spPr>
        <p:txBody>
          <a:bodyPr wrap="square" lIns="0" tIns="0" rIns="0" bIns="0" rtlCol="0" anchor="t"/>
          <a:lstStyle/>
          <a:p>
            <a:pPr marL="0" indent="0">
              <a:buNone/>
            </a:pPr>
            <a:r>
              <a:rPr lang="en-US" sz="900" dirty="0">
                <a:solidFill>
                  <a:srgbClr val="5B6B82"/>
                </a:solidFill>
                <a:latin typeface="Calibri" pitchFamily="34" charset="0"/>
                <a:ea typeface="Calibri" pitchFamily="34" charset="-122"/>
                <a:cs typeface="Calibri" pitchFamily="34" charset="-120"/>
              </a:rPr>
              <a:t>Asiento contable</a:t>
            </a:r>
            <a:endParaRPr lang="en-US" sz="1300" dirty="0"/>
          </a:p>
          <a:p>
            <a:pPr marL="0" indent="0">
              <a:buNone/>
            </a:pPr>
            <a:r>
              <a:rPr lang="en-US" sz="750" b="1" dirty="0">
                <a:solidFill>
                  <a:srgbClr val="0B4DA2"/>
                </a:solidFill>
                <a:latin typeface="Consolas" pitchFamily="34" charset="0"/>
                <a:ea typeface="Consolas" pitchFamily="34" charset="-122"/>
                <a:cs typeface="Consolas" pitchFamily="34" charset="-120"/>
              </a:rPr>
              <a:t>JournalEntries</a:t>
            </a:r>
            <a:endParaRPr lang="en-US" sz="1300" dirty="0"/>
          </a:p>
        </p:txBody>
      </p:sp>
      <p:sp>
        <p:nvSpPr>
          <p:cNvPr id="56" name="Text 49"/>
          <p:cNvSpPr txBox="1"/>
          <p:nvPr/>
        </p:nvSpPr>
        <p:spPr>
          <a:xfrm>
            <a:off x="8449056" y="2212848"/>
            <a:ext cx="201168" cy="237744"/>
          </a:xfrm>
          <a:prstGeom prst="rect">
            <a:avLst/>
          </a:prstGeom>
          <a:noFill/>
          <a:ln/>
        </p:spPr>
        <p:txBody>
          <a:bodyPr wrap="square" lIns="0" tIns="0" rIns="0" bIns="0" rtlCol="0" anchor="ctr"/>
          <a:lstStyle/>
          <a:p>
            <a:pPr marL="0" indent="0" algn="r">
              <a:buNone/>
            </a:pPr>
            <a:r>
              <a:rPr lang="en-US" sz="850" b="1" dirty="0">
                <a:solidFill>
                  <a:srgbClr val="B07A00"/>
                </a:solidFill>
                <a:latin typeface="Consolas" pitchFamily="34" charset="0"/>
                <a:ea typeface="Consolas" pitchFamily="34" charset="-122"/>
                <a:cs typeface="Consolas" pitchFamily="34" charset="-120"/>
              </a:rPr>
              <a:t>30</a:t>
            </a:r>
            <a:endParaRPr lang="en-US" sz="850" dirty="0"/>
          </a:p>
        </p:txBody>
      </p:sp>
      <p:sp>
        <p:nvSpPr>
          <p:cNvPr id="57" name="Text 50"/>
          <p:cNvSpPr txBox="1"/>
          <p:nvPr/>
        </p:nvSpPr>
        <p:spPr>
          <a:xfrm>
            <a:off x="457200" y="4507992"/>
            <a:ext cx="8229600" cy="274320"/>
          </a:xfrm>
          <a:prstGeom prst="rect">
            <a:avLst/>
          </a:prstGeom>
          <a:noFill/>
          <a:ln/>
        </p:spPr>
        <p:txBody>
          <a:bodyPr wrap="square" lIns="0" tIns="0" rIns="0" bIns="0" rtlCol="0" anchor="t"/>
          <a:lstStyle/>
          <a:p>
            <a:pPr marL="0" indent="0">
              <a:buNone/>
            </a:pPr>
            <a:r>
              <a:rPr lang="en-US" sz="1000" b="1" dirty="0">
                <a:solidFill>
                  <a:srgbClr val="071B3F"/>
                </a:solidFill>
                <a:latin typeface="Calibri" pitchFamily="34" charset="0"/>
                <a:ea typeface="Calibri" pitchFamily="34" charset="-122"/>
                <a:cs typeface="Calibri" pitchFamily="34" charset="-120"/>
              </a:rPr>
              <a:t>* Nota de débito: </a:t>
            </a:r>
            <a:r>
              <a:rPr lang="en-US" sz="1000" dirty="0">
                <a:solidFill>
                  <a:srgbClr val="1B2433"/>
                </a:solidFill>
                <a:latin typeface="Calibri" pitchFamily="34" charset="0"/>
                <a:ea typeface="Calibri" pitchFamily="34" charset="-122"/>
                <a:cs typeface="Calibri" pitchFamily="34" charset="-120"/>
              </a:rPr>
              <a:t>se registra sobre la entidad de factura con DocumentSubType.   </a:t>
            </a:r>
            <a:r>
              <a:rPr lang="en-US" sz="1000" b="1" dirty="0">
                <a:solidFill>
                  <a:srgbClr val="071B3F"/>
                </a:solidFill>
                <a:latin typeface="Calibri" pitchFamily="34" charset="0"/>
                <a:ea typeface="Calibri" pitchFamily="34" charset="-122"/>
                <a:cs typeface="Calibri" pitchFamily="34" charset="-120"/>
              </a:rPr>
              <a:t>Copiar documentos: </a:t>
            </a:r>
            <a:r>
              <a:rPr lang="en-US" sz="1000" dirty="0">
                <a:solidFill>
                  <a:srgbClr val="1B2433"/>
                </a:solidFill>
                <a:latin typeface="Calibri" pitchFamily="34" charset="0"/>
                <a:ea typeface="Calibri" pitchFamily="34" charset="-122"/>
                <a:cs typeface="Calibri" pitchFamily="34" charset="-120"/>
              </a:rPr>
              <a:t>cada línea referencia al origen con BaseType + BaseEntry + BaseLine.</a:t>
            </a:r>
            <a:endParaRPr lang="en-US" sz="1000" dirty="0"/>
          </a:p>
        </p:txBody>
      </p:sp>
      <p:sp>
        <p:nvSpPr>
          <p:cNvPr id="58"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xmlns="" val="0"/>
            </a:ext>
          </a:extLst>
        </p:spPr>
        <p:txBody>
          <a:bodyPr/>
          <a:lstStyle>
            <a:lvl1pPr>
              <a:defRPr sz="800">
                <a:solidFill>
                  <a:srgbClr val="8A9AB0"/>
                </a:solidFill>
                <a:latin typeface="Calibri"/>
                <a:ea typeface="Calibri"/>
                <a:cs typeface="Calibri"/>
              </a:defRPr>
            </a:lvl1pPr>
          </a:lstStyle>
          <a:p>
            <a:pPr algn="r"/>
            <a:fld id="{F7021451-1387-4CA6-816F-3879F97B5CBC}" type="slidenum">
              <a:rPr lang="en-US" b="0"/>
              <a:t>20</a:t>
            </a:fld>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457200" y="256032"/>
            <a:ext cx="2434133" cy="237744"/>
          </a:xfrm>
          <a:prstGeom prst="roundRect">
            <a:avLst>
              <a:gd name="adj" fmla="val 50000"/>
            </a:avLst>
          </a:prstGeom>
          <a:solidFill>
            <a:srgbClr val="071B3F"/>
          </a:solidFill>
          <a:ln w="12700">
            <a:solidFill>
              <a:srgbClr val="071B3F"/>
            </a:solidFill>
            <a:prstDash val="solid"/>
          </a:ln>
        </p:spPr>
      </p:sp>
      <p:sp>
        <p:nvSpPr>
          <p:cNvPr id="3" name="Text 1"/>
          <p:cNvSpPr txBox="1"/>
          <p:nvPr/>
        </p:nvSpPr>
        <p:spPr>
          <a:xfrm>
            <a:off x="457200" y="256032"/>
            <a:ext cx="2434133" cy="237744"/>
          </a:xfrm>
          <a:prstGeom prst="rect">
            <a:avLst/>
          </a:prstGeom>
          <a:noFill/>
          <a:ln/>
        </p:spPr>
        <p:txBody>
          <a:bodyPr wrap="square" lIns="0" tIns="0" rIns="0" bIns="0" rtlCol="0" anchor="ctr"/>
          <a:lstStyle/>
          <a:p>
            <a:pPr marL="0" indent="0" algn="ctr">
              <a:buNone/>
            </a:pPr>
            <a:r>
              <a:rPr lang="en-US" sz="850" b="1" kern="0" spc="100" dirty="0">
                <a:solidFill>
                  <a:srgbClr val="F5A800"/>
                </a:solidFill>
                <a:latin typeface="Segoe UI" pitchFamily="34" charset="0"/>
                <a:ea typeface="Segoe UI" pitchFamily="34" charset="-122"/>
                <a:cs typeface="Segoe UI" pitchFamily="34" charset="-120"/>
              </a:rPr>
              <a:t>04  ·  FLUJOS DE OPERACIÓN II</a:t>
            </a:r>
            <a:endParaRPr lang="en-US" sz="850" dirty="0"/>
          </a:p>
        </p:txBody>
      </p:sp>
      <p:sp>
        <p:nvSpPr>
          <p:cNvPr id="4" name="Text 2"/>
          <p:cNvSpPr txBox="1"/>
          <p:nvPr/>
        </p:nvSpPr>
        <p:spPr>
          <a:xfrm>
            <a:off x="457200" y="566928"/>
            <a:ext cx="8229600" cy="502920"/>
          </a:xfrm>
          <a:prstGeom prst="rect">
            <a:avLst/>
          </a:prstGeom>
          <a:noFill/>
          <a:ln/>
        </p:spPr>
        <p:txBody>
          <a:bodyPr wrap="square" lIns="0" tIns="0" rIns="0" bIns="0" rtlCol="0" anchor="ctr"/>
          <a:lstStyle/>
          <a:p>
            <a:pPr marL="0" indent="0">
              <a:buNone/>
            </a:pPr>
            <a:r>
              <a:rPr lang="en-US" sz="2400" b="1" dirty="0">
                <a:solidFill>
                  <a:srgbClr val="071B3F"/>
                </a:solidFill>
                <a:latin typeface="Segoe UI" pitchFamily="34" charset="0"/>
                <a:ea typeface="Segoe UI" pitchFamily="34" charset="-122"/>
                <a:cs typeface="Segoe UI" pitchFamily="34" charset="-120"/>
              </a:rPr>
              <a:t>Maestros: socios de negocio y artículos</a:t>
            </a:r>
            <a:endParaRPr lang="en-US" sz="2400" dirty="0"/>
          </a:p>
        </p:txBody>
      </p:sp>
      <p:sp>
        <p:nvSpPr>
          <p:cNvPr id="5" name="Text 3"/>
          <p:cNvSpPr txBox="1"/>
          <p:nvPr/>
        </p:nvSpPr>
        <p:spPr>
          <a:xfrm>
            <a:off x="457200" y="1051560"/>
            <a:ext cx="8229600" cy="274320"/>
          </a:xfrm>
          <a:prstGeom prst="rect">
            <a:avLst/>
          </a:prstGeom>
          <a:noFill/>
          <a:ln/>
        </p:spPr>
        <p:txBody>
          <a:bodyPr wrap="square" lIns="0" tIns="0" rIns="0" bIns="0" rtlCol="0" anchor="ctr"/>
          <a:lstStyle/>
          <a:p>
            <a:pPr marL="0" indent="0">
              <a:buNone/>
            </a:pPr>
            <a:r>
              <a:rPr lang="en-US" sz="1250" dirty="0">
                <a:solidFill>
                  <a:srgbClr val="5B6B82"/>
                </a:solidFill>
                <a:latin typeface="Calibri" pitchFamily="34" charset="0"/>
                <a:ea typeface="Calibri" pitchFamily="34" charset="-122"/>
                <a:cs typeface="Calibri" pitchFamily="34" charset="-120"/>
              </a:rPr>
              <a:t>Datos base que todos los documentos referencian</a:t>
            </a:r>
            <a:endParaRPr lang="en-US" sz="1250" dirty="0"/>
          </a:p>
        </p:txBody>
      </p:sp>
      <p:sp>
        <p:nvSpPr>
          <p:cNvPr id="6" name="Text 4"/>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00" dirty="0">
                <a:solidFill>
                  <a:srgbClr val="8A9AB0"/>
                </a:solidFill>
                <a:latin typeface="Calibri" pitchFamily="34" charset="0"/>
                <a:ea typeface="Calibri" pitchFamily="34" charset="-122"/>
                <a:cs typeface="Calibri" pitchFamily="34" charset="-120"/>
              </a:rPr>
              <a:t>Ventura Soluciones  |  SAP Business One · Service Layer</a:t>
            </a:r>
            <a:endParaRPr lang="en-US" sz="800" dirty="0"/>
          </a:p>
        </p:txBody>
      </p:sp>
      <p:sp>
        <p:nvSpPr>
          <p:cNvPr id="7" name="Shape 5"/>
          <p:cNvSpPr/>
          <p:nvPr/>
        </p:nvSpPr>
        <p:spPr>
          <a:xfrm>
            <a:off x="457200" y="1417320"/>
            <a:ext cx="4023360" cy="2788920"/>
          </a:xfrm>
          <a:prstGeom prst="roundRect">
            <a:avLst>
              <a:gd name="adj" fmla="val 2295"/>
            </a:avLst>
          </a:prstGeom>
          <a:solidFill>
            <a:srgbClr val="0E1B2E"/>
          </a:solidFill>
          <a:ln w="12700">
            <a:solidFill>
              <a:srgbClr val="0E1B2E"/>
            </a:solidFill>
            <a:prstDash val="solid"/>
          </a:ln>
          <a:effectLst>
            <a:outerShdw blurRad="101600" dist="25400" dir="5400000" algn="bl" rotWithShape="0">
              <a:srgbClr val="0B2A55">
                <a:alpha val="12000"/>
              </a:srgbClr>
            </a:outerShdw>
          </a:effectLst>
        </p:spPr>
      </p:sp>
      <p:sp>
        <p:nvSpPr>
          <p:cNvPr id="8" name="Shape 6"/>
          <p:cNvSpPr/>
          <p:nvPr/>
        </p:nvSpPr>
        <p:spPr>
          <a:xfrm>
            <a:off x="594360" y="1527048"/>
            <a:ext cx="73152" cy="73152"/>
          </a:xfrm>
          <a:prstGeom prst="ellipse">
            <a:avLst/>
          </a:prstGeom>
          <a:solidFill>
            <a:srgbClr val="FF5F56"/>
          </a:solidFill>
          <a:ln w="12700">
            <a:solidFill>
              <a:srgbClr val="FF5F56"/>
            </a:solidFill>
            <a:prstDash val="solid"/>
          </a:ln>
        </p:spPr>
      </p:sp>
      <p:sp>
        <p:nvSpPr>
          <p:cNvPr id="9" name="Shape 7"/>
          <p:cNvSpPr/>
          <p:nvPr/>
        </p:nvSpPr>
        <p:spPr>
          <a:xfrm>
            <a:off x="722376" y="1527048"/>
            <a:ext cx="73152" cy="73152"/>
          </a:xfrm>
          <a:prstGeom prst="ellipse">
            <a:avLst/>
          </a:prstGeom>
          <a:solidFill>
            <a:srgbClr val="FFBD2E"/>
          </a:solidFill>
          <a:ln w="12700">
            <a:solidFill>
              <a:srgbClr val="FFBD2E"/>
            </a:solidFill>
            <a:prstDash val="solid"/>
          </a:ln>
        </p:spPr>
      </p:sp>
      <p:sp>
        <p:nvSpPr>
          <p:cNvPr id="10" name="Shape 8"/>
          <p:cNvSpPr/>
          <p:nvPr/>
        </p:nvSpPr>
        <p:spPr>
          <a:xfrm>
            <a:off x="850392" y="1527048"/>
            <a:ext cx="73152" cy="73152"/>
          </a:xfrm>
          <a:prstGeom prst="ellipse">
            <a:avLst/>
          </a:prstGeom>
          <a:solidFill>
            <a:srgbClr val="27C93F"/>
          </a:solidFill>
          <a:ln w="12700">
            <a:solidFill>
              <a:srgbClr val="27C93F"/>
            </a:solidFill>
            <a:prstDash val="solid"/>
          </a:ln>
        </p:spPr>
      </p:sp>
      <p:sp>
        <p:nvSpPr>
          <p:cNvPr id="11" name="Text 9"/>
          <p:cNvSpPr txBox="1"/>
          <p:nvPr/>
        </p:nvSpPr>
        <p:spPr>
          <a:xfrm>
            <a:off x="1024128" y="1472184"/>
            <a:ext cx="3337560" cy="182880"/>
          </a:xfrm>
          <a:prstGeom prst="rect">
            <a:avLst/>
          </a:prstGeom>
          <a:noFill/>
          <a:ln/>
        </p:spPr>
        <p:txBody>
          <a:bodyPr wrap="square" lIns="0" tIns="0" rIns="0" bIns="0" rtlCol="0" anchor="ctr"/>
          <a:lstStyle/>
          <a:p>
            <a:pPr marL="0" indent="0">
              <a:buNone/>
            </a:pPr>
            <a:r>
              <a:rPr lang="en-US" sz="850" b="1" dirty="0">
                <a:solidFill>
                  <a:srgbClr val="F5A800"/>
                </a:solidFill>
                <a:latin typeface="Segoe UI" pitchFamily="34" charset="0"/>
                <a:ea typeface="Segoe UI" pitchFamily="34" charset="-122"/>
                <a:cs typeface="Segoe UI" pitchFamily="34" charset="-120"/>
              </a:rPr>
              <a:t>POST · BusinessPartners</a:t>
            </a:r>
            <a:endParaRPr lang="en-US" sz="850" dirty="0"/>
          </a:p>
        </p:txBody>
      </p:sp>
      <p:sp>
        <p:nvSpPr>
          <p:cNvPr id="12" name="Text 10"/>
          <p:cNvSpPr txBox="1"/>
          <p:nvPr/>
        </p:nvSpPr>
        <p:spPr>
          <a:xfrm>
            <a:off x="594360" y="1709928"/>
            <a:ext cx="3749040" cy="2423160"/>
          </a:xfrm>
          <a:prstGeom prst="rect">
            <a:avLst/>
          </a:prstGeom>
          <a:noFill/>
          <a:ln/>
        </p:spPr>
        <p:txBody>
          <a:bodyPr wrap="square" lIns="0" tIns="0" rIns="0" bIns="0" rtlCol="0" anchor="t"/>
          <a:lstStyle/>
          <a:p>
            <a:pPr marL="0" indent="0">
              <a:lnSpc>
                <a:spcPct val="100000"/>
              </a:lnSpc>
              <a:buNone/>
            </a:pPr>
            <a:r>
              <a:rPr lang="en-US" sz="850" b="1" dirty="0">
                <a:solidFill>
                  <a:srgbClr val="F5A800"/>
                </a:solidFill>
                <a:latin typeface="Consolas" pitchFamily="34" charset="0"/>
                <a:ea typeface="Consolas" pitchFamily="34" charset="-122"/>
                <a:cs typeface="Consolas" pitchFamily="34" charset="-120"/>
              </a:rPr>
              <a:t>curl</a:t>
            </a:r>
            <a:r>
              <a:rPr lang="en-US" sz="850" dirty="0">
                <a:solidFill>
                  <a:srgbClr val="DCE6F2"/>
                </a:solidFill>
                <a:latin typeface="Consolas" pitchFamily="34" charset="0"/>
                <a:ea typeface="Consolas" pitchFamily="34" charset="-122"/>
                <a:cs typeface="Consolas" pitchFamily="34" charset="-120"/>
              </a:rPr>
              <a:t> -k -X </a:t>
            </a:r>
            <a:r>
              <a:rPr lang="en-US" sz="850" b="1" dirty="0">
                <a:solidFill>
                  <a:srgbClr val="F5A800"/>
                </a:solidFill>
                <a:latin typeface="Consolas" pitchFamily="34" charset="0"/>
                <a:ea typeface="Consolas" pitchFamily="34" charset="-122"/>
                <a:cs typeface="Consolas" pitchFamily="34" charset="-120"/>
              </a:rPr>
              <a:t>POST</a:t>
            </a:r>
            <a:r>
              <a:rPr lang="en-US" sz="850" dirty="0">
                <a:solidFill>
                  <a:srgbClr val="DCE6F2"/>
                </a:solidFill>
                <a:latin typeface="Consolas" pitchFamily="34" charset="0"/>
                <a:ea typeface="Consolas" pitchFamily="34" charset="-122"/>
                <a:cs typeface="Consolas" pitchFamily="34" charset="-120"/>
              </a:rPr>
              <a:t> </a:t>
            </a:r>
            <a:r>
              <a:rPr lang="en-US" sz="850" dirty="0">
                <a:solidFill>
                  <a:srgbClr val="B5E48C"/>
                </a:solidFill>
                <a:latin typeface="Consolas" pitchFamily="34" charset="0"/>
                <a:ea typeface="Consolas" pitchFamily="34" charset="-122"/>
                <a:cs typeface="Consolas" pitchFamily="34" charset="-120"/>
              </a:rPr>
              <a:t>"$SL/BusinessPartners"</a:t>
            </a:r>
            <a:r>
              <a:rPr lang="en-US" sz="850" dirty="0">
                <a:solidFill>
                  <a:srgbClr val="DCE6F2"/>
                </a:solidFill>
                <a:latin typeface="Consolas" pitchFamily="34" charset="0"/>
                <a:ea typeface="Consolas" pitchFamily="34" charset="-122"/>
                <a:cs typeface="Consolas" pitchFamily="34" charset="-120"/>
              </a:rPr>
              <a:t> \</a:t>
            </a:r>
            <a:endParaRPr lang="en-US" sz="850" dirty="0"/>
          </a:p>
          <a:p>
            <a:pPr marL="0" indent="0">
              <a:lnSpc>
                <a:spcPct val="100000"/>
              </a:lnSpc>
              <a:buNone/>
            </a:pPr>
            <a:r>
              <a:rPr lang="en-US" sz="850" dirty="0">
                <a:solidFill>
                  <a:srgbClr val="DCE6F2"/>
                </a:solidFill>
                <a:latin typeface="Consolas" pitchFamily="34" charset="0"/>
                <a:ea typeface="Consolas" pitchFamily="34" charset="-122"/>
                <a:cs typeface="Consolas" pitchFamily="34" charset="-120"/>
              </a:rPr>
              <a:t>  -H </a:t>
            </a:r>
            <a:r>
              <a:rPr lang="en-US" sz="850" dirty="0">
                <a:solidFill>
                  <a:srgbClr val="B5E48C"/>
                </a:solidFill>
                <a:latin typeface="Consolas" pitchFamily="34" charset="0"/>
                <a:ea typeface="Consolas" pitchFamily="34" charset="-122"/>
                <a:cs typeface="Consolas" pitchFamily="34" charset="-120"/>
              </a:rPr>
              <a:t>"Content-Type: application/json"</a:t>
            </a:r>
            <a:r>
              <a:rPr lang="en-US" sz="850" dirty="0">
                <a:solidFill>
                  <a:srgbClr val="DCE6F2"/>
                </a:solidFill>
                <a:latin typeface="Consolas" pitchFamily="34" charset="0"/>
                <a:ea typeface="Consolas" pitchFamily="34" charset="-122"/>
                <a:cs typeface="Consolas" pitchFamily="34" charset="-120"/>
              </a:rPr>
              <a:t> \</a:t>
            </a:r>
            <a:endParaRPr lang="en-US" sz="850" dirty="0"/>
          </a:p>
          <a:p>
            <a:pPr marL="0" indent="0">
              <a:lnSpc>
                <a:spcPct val="100000"/>
              </a:lnSpc>
              <a:buNone/>
            </a:pPr>
            <a:r>
              <a:rPr lang="en-US" sz="850" dirty="0">
                <a:solidFill>
                  <a:srgbClr val="DCE6F2"/>
                </a:solidFill>
                <a:latin typeface="Consolas" pitchFamily="34" charset="0"/>
                <a:ea typeface="Consolas" pitchFamily="34" charset="-122"/>
                <a:cs typeface="Consolas" pitchFamily="34" charset="-120"/>
              </a:rPr>
              <a:t>  -b cookies.txt \</a:t>
            </a:r>
            <a:endParaRPr lang="en-US" sz="850" dirty="0"/>
          </a:p>
          <a:p>
            <a:pPr marL="0" indent="0">
              <a:lnSpc>
                <a:spcPct val="100000"/>
              </a:lnSpc>
              <a:buNone/>
            </a:pPr>
            <a:r>
              <a:rPr lang="en-US" sz="850" dirty="0">
                <a:solidFill>
                  <a:srgbClr val="DCE6F2"/>
                </a:solidFill>
                <a:latin typeface="Consolas" pitchFamily="34" charset="0"/>
                <a:ea typeface="Consolas" pitchFamily="34" charset="-122"/>
                <a:cs typeface="Consolas" pitchFamily="34" charset="-120"/>
              </a:rPr>
              <a:t>  -d '{</a:t>
            </a:r>
            <a:endParaRPr lang="en-US" sz="850" dirty="0"/>
          </a:p>
          <a:p>
            <a:pPr marL="0" indent="0">
              <a:lnSpc>
                <a:spcPct val="100000"/>
              </a:lnSpc>
              <a:buNone/>
            </a:pPr>
            <a:r>
              <a:rPr lang="en-US" sz="850" dirty="0">
                <a:solidFill>
                  <a:srgbClr val="DCE6F2"/>
                </a:solidFill>
                <a:latin typeface="Consolas" pitchFamily="34" charset="0"/>
                <a:ea typeface="Consolas" pitchFamily="34" charset="-122"/>
                <a:cs typeface="Consolas" pitchFamily="34" charset="-120"/>
              </a:rPr>
              <a:t>  </a:t>
            </a:r>
            <a:r>
              <a:rPr lang="en-US" sz="850" dirty="0">
                <a:solidFill>
                  <a:srgbClr val="7FD1FF"/>
                </a:solidFill>
                <a:latin typeface="Consolas" pitchFamily="34" charset="0"/>
                <a:ea typeface="Consolas" pitchFamily="34" charset="-122"/>
                <a:cs typeface="Consolas" pitchFamily="34" charset="-120"/>
              </a:rPr>
              <a:t>"CardCode"</a:t>
            </a:r>
            <a:r>
              <a:rPr lang="en-US" sz="850" dirty="0">
                <a:solidFill>
                  <a:srgbClr val="DCE6F2"/>
                </a:solidFill>
                <a:latin typeface="Consolas" pitchFamily="34" charset="0"/>
                <a:ea typeface="Consolas" pitchFamily="34" charset="-122"/>
                <a:cs typeface="Consolas" pitchFamily="34" charset="-120"/>
              </a:rPr>
              <a:t>: </a:t>
            </a:r>
            <a:r>
              <a:rPr lang="en-US" sz="850" dirty="0">
                <a:solidFill>
                  <a:srgbClr val="B5E48C"/>
                </a:solidFill>
                <a:latin typeface="Consolas" pitchFamily="34" charset="0"/>
                <a:ea typeface="Consolas" pitchFamily="34" charset="-122"/>
                <a:cs typeface="Consolas" pitchFamily="34" charset="-120"/>
              </a:rPr>
              <a:t>"C20601234567"</a:t>
            </a:r>
            <a:r>
              <a:rPr lang="en-US" sz="850" dirty="0">
                <a:solidFill>
                  <a:srgbClr val="DCE6F2"/>
                </a:solidFill>
                <a:latin typeface="Consolas" pitchFamily="34" charset="0"/>
                <a:ea typeface="Consolas" pitchFamily="34" charset="-122"/>
                <a:cs typeface="Consolas" pitchFamily="34" charset="-120"/>
              </a:rPr>
              <a:t>,</a:t>
            </a:r>
            <a:endParaRPr lang="en-US" sz="850" dirty="0"/>
          </a:p>
          <a:p>
            <a:pPr marL="0" indent="0">
              <a:lnSpc>
                <a:spcPct val="100000"/>
              </a:lnSpc>
              <a:buNone/>
            </a:pPr>
            <a:r>
              <a:rPr lang="en-US" sz="850" dirty="0">
                <a:solidFill>
                  <a:srgbClr val="DCE6F2"/>
                </a:solidFill>
                <a:latin typeface="Consolas" pitchFamily="34" charset="0"/>
                <a:ea typeface="Consolas" pitchFamily="34" charset="-122"/>
                <a:cs typeface="Consolas" pitchFamily="34" charset="-120"/>
              </a:rPr>
              <a:t>  </a:t>
            </a:r>
            <a:r>
              <a:rPr lang="en-US" sz="850" dirty="0">
                <a:solidFill>
                  <a:srgbClr val="7FD1FF"/>
                </a:solidFill>
                <a:latin typeface="Consolas" pitchFamily="34" charset="0"/>
                <a:ea typeface="Consolas" pitchFamily="34" charset="-122"/>
                <a:cs typeface="Consolas" pitchFamily="34" charset="-120"/>
              </a:rPr>
              <a:t>"CardName"</a:t>
            </a:r>
            <a:r>
              <a:rPr lang="en-US" sz="850" dirty="0">
                <a:solidFill>
                  <a:srgbClr val="DCE6F2"/>
                </a:solidFill>
                <a:latin typeface="Consolas" pitchFamily="34" charset="0"/>
                <a:ea typeface="Consolas" pitchFamily="34" charset="-122"/>
                <a:cs typeface="Consolas" pitchFamily="34" charset="-120"/>
              </a:rPr>
              <a:t>: </a:t>
            </a:r>
            <a:r>
              <a:rPr lang="en-US" sz="850" dirty="0">
                <a:solidFill>
                  <a:srgbClr val="B5E48C"/>
                </a:solidFill>
                <a:latin typeface="Consolas" pitchFamily="34" charset="0"/>
                <a:ea typeface="Consolas" pitchFamily="34" charset="-122"/>
                <a:cs typeface="Consolas" pitchFamily="34" charset="-120"/>
              </a:rPr>
              <a:t>"Comercial Andina SAC"</a:t>
            </a:r>
            <a:r>
              <a:rPr lang="en-US" sz="850" dirty="0">
                <a:solidFill>
                  <a:srgbClr val="DCE6F2"/>
                </a:solidFill>
                <a:latin typeface="Consolas" pitchFamily="34" charset="0"/>
                <a:ea typeface="Consolas" pitchFamily="34" charset="-122"/>
                <a:cs typeface="Consolas" pitchFamily="34" charset="-120"/>
              </a:rPr>
              <a:t>,</a:t>
            </a:r>
            <a:endParaRPr lang="en-US" sz="850" dirty="0"/>
          </a:p>
          <a:p>
            <a:pPr marL="0" indent="0">
              <a:lnSpc>
                <a:spcPct val="100000"/>
              </a:lnSpc>
              <a:buNone/>
            </a:pPr>
            <a:r>
              <a:rPr lang="en-US" sz="850" dirty="0">
                <a:solidFill>
                  <a:srgbClr val="DCE6F2"/>
                </a:solidFill>
                <a:latin typeface="Consolas" pitchFamily="34" charset="0"/>
                <a:ea typeface="Consolas" pitchFamily="34" charset="-122"/>
                <a:cs typeface="Consolas" pitchFamily="34" charset="-120"/>
              </a:rPr>
              <a:t>  </a:t>
            </a:r>
            <a:r>
              <a:rPr lang="en-US" sz="850" dirty="0">
                <a:solidFill>
                  <a:srgbClr val="7FD1FF"/>
                </a:solidFill>
                <a:latin typeface="Consolas" pitchFamily="34" charset="0"/>
                <a:ea typeface="Consolas" pitchFamily="34" charset="-122"/>
                <a:cs typeface="Consolas" pitchFamily="34" charset="-120"/>
              </a:rPr>
              <a:t>"CardType"</a:t>
            </a:r>
            <a:r>
              <a:rPr lang="en-US" sz="850" dirty="0">
                <a:solidFill>
                  <a:srgbClr val="DCE6F2"/>
                </a:solidFill>
                <a:latin typeface="Consolas" pitchFamily="34" charset="0"/>
                <a:ea typeface="Consolas" pitchFamily="34" charset="-122"/>
                <a:cs typeface="Consolas" pitchFamily="34" charset="-120"/>
              </a:rPr>
              <a:t>: </a:t>
            </a:r>
            <a:r>
              <a:rPr lang="en-US" sz="850" dirty="0">
                <a:solidFill>
                  <a:srgbClr val="B5E48C"/>
                </a:solidFill>
                <a:latin typeface="Consolas" pitchFamily="34" charset="0"/>
                <a:ea typeface="Consolas" pitchFamily="34" charset="-122"/>
                <a:cs typeface="Consolas" pitchFamily="34" charset="-120"/>
              </a:rPr>
              <a:t>"cCustomer"</a:t>
            </a:r>
            <a:r>
              <a:rPr lang="en-US" sz="850" dirty="0">
                <a:solidFill>
                  <a:srgbClr val="DCE6F2"/>
                </a:solidFill>
                <a:latin typeface="Consolas" pitchFamily="34" charset="0"/>
                <a:ea typeface="Consolas" pitchFamily="34" charset="-122"/>
                <a:cs typeface="Consolas" pitchFamily="34" charset="-120"/>
              </a:rPr>
              <a:t>,</a:t>
            </a:r>
            <a:endParaRPr lang="en-US" sz="850" dirty="0"/>
          </a:p>
          <a:p>
            <a:pPr marL="0" indent="0">
              <a:lnSpc>
                <a:spcPct val="100000"/>
              </a:lnSpc>
              <a:buNone/>
            </a:pPr>
            <a:r>
              <a:rPr lang="en-US" sz="850" dirty="0">
                <a:solidFill>
                  <a:srgbClr val="DCE6F2"/>
                </a:solidFill>
                <a:latin typeface="Consolas" pitchFamily="34" charset="0"/>
                <a:ea typeface="Consolas" pitchFamily="34" charset="-122"/>
                <a:cs typeface="Consolas" pitchFamily="34" charset="-120"/>
              </a:rPr>
              <a:t>  </a:t>
            </a:r>
            <a:r>
              <a:rPr lang="en-US" sz="850" dirty="0">
                <a:solidFill>
                  <a:srgbClr val="7FD1FF"/>
                </a:solidFill>
                <a:latin typeface="Consolas" pitchFamily="34" charset="0"/>
                <a:ea typeface="Consolas" pitchFamily="34" charset="-122"/>
                <a:cs typeface="Consolas" pitchFamily="34" charset="-120"/>
              </a:rPr>
              <a:t>"FederalTaxID"</a:t>
            </a:r>
            <a:r>
              <a:rPr lang="en-US" sz="850" dirty="0">
                <a:solidFill>
                  <a:srgbClr val="DCE6F2"/>
                </a:solidFill>
                <a:latin typeface="Consolas" pitchFamily="34" charset="0"/>
                <a:ea typeface="Consolas" pitchFamily="34" charset="-122"/>
                <a:cs typeface="Consolas" pitchFamily="34" charset="-120"/>
              </a:rPr>
              <a:t>: </a:t>
            </a:r>
            <a:r>
              <a:rPr lang="en-US" sz="850" dirty="0">
                <a:solidFill>
                  <a:srgbClr val="B5E48C"/>
                </a:solidFill>
                <a:latin typeface="Consolas" pitchFamily="34" charset="0"/>
                <a:ea typeface="Consolas" pitchFamily="34" charset="-122"/>
                <a:cs typeface="Consolas" pitchFamily="34" charset="-120"/>
              </a:rPr>
              <a:t>"20601234567"</a:t>
            </a:r>
            <a:r>
              <a:rPr lang="en-US" sz="850" dirty="0">
                <a:solidFill>
                  <a:srgbClr val="DCE6F2"/>
                </a:solidFill>
                <a:latin typeface="Consolas" pitchFamily="34" charset="0"/>
                <a:ea typeface="Consolas" pitchFamily="34" charset="-122"/>
                <a:cs typeface="Consolas" pitchFamily="34" charset="-120"/>
              </a:rPr>
              <a:t>,</a:t>
            </a:r>
            <a:endParaRPr lang="en-US" sz="850" dirty="0"/>
          </a:p>
          <a:p>
            <a:pPr marL="0" indent="0">
              <a:lnSpc>
                <a:spcPct val="100000"/>
              </a:lnSpc>
              <a:buNone/>
            </a:pPr>
            <a:r>
              <a:rPr lang="en-US" sz="850" dirty="0">
                <a:solidFill>
                  <a:srgbClr val="DCE6F2"/>
                </a:solidFill>
                <a:latin typeface="Consolas" pitchFamily="34" charset="0"/>
                <a:ea typeface="Consolas" pitchFamily="34" charset="-122"/>
                <a:cs typeface="Consolas" pitchFamily="34" charset="-120"/>
              </a:rPr>
              <a:t>  </a:t>
            </a:r>
            <a:r>
              <a:rPr lang="en-US" sz="850" dirty="0">
                <a:solidFill>
                  <a:srgbClr val="7FD1FF"/>
                </a:solidFill>
                <a:latin typeface="Consolas" pitchFamily="34" charset="0"/>
                <a:ea typeface="Consolas" pitchFamily="34" charset="-122"/>
                <a:cs typeface="Consolas" pitchFamily="34" charset="-120"/>
              </a:rPr>
              <a:t>"GroupCode"</a:t>
            </a:r>
            <a:r>
              <a:rPr lang="en-US" sz="850" dirty="0">
                <a:solidFill>
                  <a:srgbClr val="DCE6F2"/>
                </a:solidFill>
                <a:latin typeface="Consolas" pitchFamily="34" charset="0"/>
                <a:ea typeface="Consolas" pitchFamily="34" charset="-122"/>
                <a:cs typeface="Consolas" pitchFamily="34" charset="-120"/>
              </a:rPr>
              <a:t>: 100,</a:t>
            </a:r>
            <a:endParaRPr lang="en-US" sz="850" dirty="0"/>
          </a:p>
          <a:p>
            <a:pPr marL="0" indent="0">
              <a:lnSpc>
                <a:spcPct val="100000"/>
              </a:lnSpc>
              <a:buNone/>
            </a:pPr>
            <a:r>
              <a:rPr lang="en-US" sz="850" dirty="0">
                <a:solidFill>
                  <a:srgbClr val="DCE6F2"/>
                </a:solidFill>
                <a:latin typeface="Consolas" pitchFamily="34" charset="0"/>
                <a:ea typeface="Consolas" pitchFamily="34" charset="-122"/>
                <a:cs typeface="Consolas" pitchFamily="34" charset="-120"/>
              </a:rPr>
              <a:t>  </a:t>
            </a:r>
            <a:r>
              <a:rPr lang="en-US" sz="850" dirty="0">
                <a:solidFill>
                  <a:srgbClr val="7FD1FF"/>
                </a:solidFill>
                <a:latin typeface="Consolas" pitchFamily="34" charset="0"/>
                <a:ea typeface="Consolas" pitchFamily="34" charset="-122"/>
                <a:cs typeface="Consolas" pitchFamily="34" charset="-120"/>
              </a:rPr>
              <a:t>"Currency"</a:t>
            </a:r>
            <a:r>
              <a:rPr lang="en-US" sz="850" dirty="0">
                <a:solidFill>
                  <a:srgbClr val="DCE6F2"/>
                </a:solidFill>
                <a:latin typeface="Consolas" pitchFamily="34" charset="0"/>
                <a:ea typeface="Consolas" pitchFamily="34" charset="-122"/>
                <a:cs typeface="Consolas" pitchFamily="34" charset="-120"/>
              </a:rPr>
              <a:t>: </a:t>
            </a:r>
            <a:r>
              <a:rPr lang="en-US" sz="850" dirty="0">
                <a:solidFill>
                  <a:srgbClr val="B5E48C"/>
                </a:solidFill>
                <a:latin typeface="Consolas" pitchFamily="34" charset="0"/>
                <a:ea typeface="Consolas" pitchFamily="34" charset="-122"/>
                <a:cs typeface="Consolas" pitchFamily="34" charset="-120"/>
              </a:rPr>
              <a:t>"##"</a:t>
            </a:r>
            <a:r>
              <a:rPr lang="en-US" sz="850" dirty="0">
                <a:solidFill>
                  <a:srgbClr val="DCE6F2"/>
                </a:solidFill>
                <a:latin typeface="Consolas" pitchFamily="34" charset="0"/>
                <a:ea typeface="Consolas" pitchFamily="34" charset="-122"/>
                <a:cs typeface="Consolas" pitchFamily="34" charset="-120"/>
              </a:rPr>
              <a:t>,</a:t>
            </a:r>
            <a:endParaRPr lang="en-US" sz="850" dirty="0"/>
          </a:p>
          <a:p>
            <a:pPr marL="0" indent="0">
              <a:lnSpc>
                <a:spcPct val="100000"/>
              </a:lnSpc>
              <a:buNone/>
            </a:pPr>
            <a:r>
              <a:rPr lang="en-US" sz="850" dirty="0">
                <a:solidFill>
                  <a:srgbClr val="DCE6F2"/>
                </a:solidFill>
                <a:latin typeface="Consolas" pitchFamily="34" charset="0"/>
                <a:ea typeface="Consolas" pitchFamily="34" charset="-122"/>
                <a:cs typeface="Consolas" pitchFamily="34" charset="-120"/>
              </a:rPr>
              <a:t>  </a:t>
            </a:r>
            <a:r>
              <a:rPr lang="en-US" sz="850" dirty="0">
                <a:solidFill>
                  <a:srgbClr val="7FD1FF"/>
                </a:solidFill>
                <a:latin typeface="Consolas" pitchFamily="34" charset="0"/>
                <a:ea typeface="Consolas" pitchFamily="34" charset="-122"/>
                <a:cs typeface="Consolas" pitchFamily="34" charset="-120"/>
              </a:rPr>
              <a:t>"Phone1"</a:t>
            </a:r>
            <a:r>
              <a:rPr lang="en-US" sz="850" dirty="0">
                <a:solidFill>
                  <a:srgbClr val="DCE6F2"/>
                </a:solidFill>
                <a:latin typeface="Consolas" pitchFamily="34" charset="0"/>
                <a:ea typeface="Consolas" pitchFamily="34" charset="-122"/>
                <a:cs typeface="Consolas" pitchFamily="34" charset="-120"/>
              </a:rPr>
              <a:t>: </a:t>
            </a:r>
            <a:r>
              <a:rPr lang="en-US" sz="850" dirty="0">
                <a:solidFill>
                  <a:srgbClr val="B5E48C"/>
                </a:solidFill>
                <a:latin typeface="Consolas" pitchFamily="34" charset="0"/>
                <a:ea typeface="Consolas" pitchFamily="34" charset="-122"/>
                <a:cs typeface="Consolas" pitchFamily="34" charset="-120"/>
              </a:rPr>
              <a:t>"014567890"</a:t>
            </a:r>
            <a:r>
              <a:rPr lang="en-US" sz="850" dirty="0">
                <a:solidFill>
                  <a:srgbClr val="DCE6F2"/>
                </a:solidFill>
                <a:latin typeface="Consolas" pitchFamily="34" charset="0"/>
                <a:ea typeface="Consolas" pitchFamily="34" charset="-122"/>
                <a:cs typeface="Consolas" pitchFamily="34" charset="-120"/>
              </a:rPr>
              <a:t>,</a:t>
            </a:r>
            <a:endParaRPr lang="en-US" sz="850" dirty="0"/>
          </a:p>
          <a:p>
            <a:pPr marL="0" indent="0">
              <a:lnSpc>
                <a:spcPct val="100000"/>
              </a:lnSpc>
              <a:buNone/>
            </a:pPr>
            <a:r>
              <a:rPr lang="en-US" sz="850" dirty="0">
                <a:solidFill>
                  <a:srgbClr val="DCE6F2"/>
                </a:solidFill>
                <a:latin typeface="Consolas" pitchFamily="34" charset="0"/>
                <a:ea typeface="Consolas" pitchFamily="34" charset="-122"/>
                <a:cs typeface="Consolas" pitchFamily="34" charset="-120"/>
              </a:rPr>
              <a:t>  </a:t>
            </a:r>
            <a:r>
              <a:rPr lang="en-US" sz="850" dirty="0">
                <a:solidFill>
                  <a:srgbClr val="7FD1FF"/>
                </a:solidFill>
                <a:latin typeface="Consolas" pitchFamily="34" charset="0"/>
                <a:ea typeface="Consolas" pitchFamily="34" charset="-122"/>
                <a:cs typeface="Consolas" pitchFamily="34" charset="-120"/>
              </a:rPr>
              <a:t>"EmailAddress"</a:t>
            </a:r>
            <a:r>
              <a:rPr lang="en-US" sz="850" dirty="0">
                <a:solidFill>
                  <a:srgbClr val="DCE6F2"/>
                </a:solidFill>
                <a:latin typeface="Consolas" pitchFamily="34" charset="0"/>
                <a:ea typeface="Consolas" pitchFamily="34" charset="-122"/>
                <a:cs typeface="Consolas" pitchFamily="34" charset="-120"/>
              </a:rPr>
              <a:t>: </a:t>
            </a:r>
            <a:r>
              <a:rPr lang="en-US" sz="850" dirty="0">
                <a:solidFill>
                  <a:srgbClr val="B5E48C"/>
                </a:solidFill>
                <a:latin typeface="Consolas" pitchFamily="34" charset="0"/>
                <a:ea typeface="Consolas" pitchFamily="34" charset="-122"/>
                <a:cs typeface="Consolas" pitchFamily="34" charset="-120"/>
              </a:rPr>
              <a:t>"compras@andina.pe"</a:t>
            </a:r>
            <a:endParaRPr lang="en-US" sz="850" dirty="0"/>
          </a:p>
          <a:p>
            <a:pPr marL="0" indent="0">
              <a:lnSpc>
                <a:spcPct val="100000"/>
              </a:lnSpc>
              <a:buNone/>
            </a:pPr>
            <a:r>
              <a:rPr lang="en-US" sz="850" dirty="0">
                <a:solidFill>
                  <a:srgbClr val="DCE6F2"/>
                </a:solidFill>
                <a:latin typeface="Consolas" pitchFamily="34" charset="0"/>
                <a:ea typeface="Consolas" pitchFamily="34" charset="-122"/>
                <a:cs typeface="Consolas" pitchFamily="34" charset="-120"/>
              </a:rPr>
              <a:t>}'</a:t>
            </a:r>
            <a:endParaRPr lang="en-US" sz="850" dirty="0"/>
          </a:p>
        </p:txBody>
      </p:sp>
      <p:sp>
        <p:nvSpPr>
          <p:cNvPr id="13" name="Text 11"/>
          <p:cNvSpPr txBox="1"/>
          <p:nvPr/>
        </p:nvSpPr>
        <p:spPr>
          <a:xfrm>
            <a:off x="457200" y="4297680"/>
            <a:ext cx="4023360" cy="457200"/>
          </a:xfrm>
          <a:prstGeom prst="rect">
            <a:avLst/>
          </a:prstGeom>
          <a:noFill/>
          <a:ln/>
        </p:spPr>
        <p:txBody>
          <a:bodyPr wrap="square" lIns="0" tIns="0" rIns="0" bIns="0" rtlCol="0" anchor="t"/>
          <a:lstStyle/>
          <a:p>
            <a:pPr marL="0" indent="0">
              <a:buNone/>
            </a:pPr>
            <a:r>
              <a:rPr lang="en-US" sz="1000" i="1" dirty="0">
                <a:solidFill>
                  <a:srgbClr val="5B6B82"/>
                </a:solidFill>
                <a:latin typeface="Calibri" pitchFamily="34" charset="0"/>
                <a:ea typeface="Calibri" pitchFamily="34" charset="-122"/>
                <a:cs typeface="Calibri" pitchFamily="34" charset="-120"/>
              </a:rPr>
              <a:t>CardType: cCustomer (cliente) · cSupplier (proveedor) · cLid (lead). Currency "##" = todas las monedas.</a:t>
            </a:r>
            <a:endParaRPr lang="en-US" sz="1000" dirty="0"/>
          </a:p>
        </p:txBody>
      </p:sp>
      <p:sp>
        <p:nvSpPr>
          <p:cNvPr id="14" name="Shape 12"/>
          <p:cNvSpPr/>
          <p:nvPr/>
        </p:nvSpPr>
        <p:spPr>
          <a:xfrm>
            <a:off x="4663440" y="1417320"/>
            <a:ext cx="4023360" cy="2788920"/>
          </a:xfrm>
          <a:prstGeom prst="roundRect">
            <a:avLst>
              <a:gd name="adj" fmla="val 2295"/>
            </a:avLst>
          </a:prstGeom>
          <a:solidFill>
            <a:srgbClr val="0E1B2E"/>
          </a:solidFill>
          <a:ln w="12700">
            <a:solidFill>
              <a:srgbClr val="0E1B2E"/>
            </a:solidFill>
            <a:prstDash val="solid"/>
          </a:ln>
          <a:effectLst>
            <a:outerShdw blurRad="101600" dist="25400" dir="5400000" algn="bl" rotWithShape="0">
              <a:srgbClr val="0B2A55">
                <a:alpha val="12000"/>
              </a:srgbClr>
            </a:outerShdw>
          </a:effectLst>
        </p:spPr>
      </p:sp>
      <p:sp>
        <p:nvSpPr>
          <p:cNvPr id="15" name="Shape 13"/>
          <p:cNvSpPr/>
          <p:nvPr/>
        </p:nvSpPr>
        <p:spPr>
          <a:xfrm>
            <a:off x="4800600" y="1527048"/>
            <a:ext cx="73152" cy="73152"/>
          </a:xfrm>
          <a:prstGeom prst="ellipse">
            <a:avLst/>
          </a:prstGeom>
          <a:solidFill>
            <a:srgbClr val="FF5F56"/>
          </a:solidFill>
          <a:ln w="12700">
            <a:solidFill>
              <a:srgbClr val="FF5F56"/>
            </a:solidFill>
            <a:prstDash val="solid"/>
          </a:ln>
        </p:spPr>
      </p:sp>
      <p:sp>
        <p:nvSpPr>
          <p:cNvPr id="16" name="Shape 14"/>
          <p:cNvSpPr/>
          <p:nvPr/>
        </p:nvSpPr>
        <p:spPr>
          <a:xfrm>
            <a:off x="4928616" y="1527048"/>
            <a:ext cx="73152" cy="73152"/>
          </a:xfrm>
          <a:prstGeom prst="ellipse">
            <a:avLst/>
          </a:prstGeom>
          <a:solidFill>
            <a:srgbClr val="FFBD2E"/>
          </a:solidFill>
          <a:ln w="12700">
            <a:solidFill>
              <a:srgbClr val="FFBD2E"/>
            </a:solidFill>
            <a:prstDash val="solid"/>
          </a:ln>
        </p:spPr>
      </p:sp>
      <p:sp>
        <p:nvSpPr>
          <p:cNvPr id="17" name="Shape 15"/>
          <p:cNvSpPr/>
          <p:nvPr/>
        </p:nvSpPr>
        <p:spPr>
          <a:xfrm>
            <a:off x="5056632" y="1527048"/>
            <a:ext cx="73152" cy="73152"/>
          </a:xfrm>
          <a:prstGeom prst="ellipse">
            <a:avLst/>
          </a:prstGeom>
          <a:solidFill>
            <a:srgbClr val="27C93F"/>
          </a:solidFill>
          <a:ln w="12700">
            <a:solidFill>
              <a:srgbClr val="27C93F"/>
            </a:solidFill>
            <a:prstDash val="solid"/>
          </a:ln>
        </p:spPr>
      </p:sp>
      <p:sp>
        <p:nvSpPr>
          <p:cNvPr id="18" name="Text 16"/>
          <p:cNvSpPr txBox="1"/>
          <p:nvPr/>
        </p:nvSpPr>
        <p:spPr>
          <a:xfrm>
            <a:off x="5230368" y="1472184"/>
            <a:ext cx="3337560" cy="182880"/>
          </a:xfrm>
          <a:prstGeom prst="rect">
            <a:avLst/>
          </a:prstGeom>
          <a:noFill/>
          <a:ln/>
        </p:spPr>
        <p:txBody>
          <a:bodyPr wrap="square" lIns="0" tIns="0" rIns="0" bIns="0" rtlCol="0" anchor="ctr"/>
          <a:lstStyle/>
          <a:p>
            <a:pPr marL="0" indent="0">
              <a:buNone/>
            </a:pPr>
            <a:r>
              <a:rPr lang="en-US" sz="850" b="1" dirty="0">
                <a:solidFill>
                  <a:srgbClr val="F5A800"/>
                </a:solidFill>
                <a:latin typeface="Segoe UI" pitchFamily="34" charset="0"/>
                <a:ea typeface="Segoe UI" pitchFamily="34" charset="-122"/>
                <a:cs typeface="Segoe UI" pitchFamily="34" charset="-120"/>
              </a:rPr>
              <a:t>POST · Items</a:t>
            </a:r>
            <a:endParaRPr lang="en-US" sz="850" dirty="0"/>
          </a:p>
        </p:txBody>
      </p:sp>
      <p:sp>
        <p:nvSpPr>
          <p:cNvPr id="19" name="Text 17"/>
          <p:cNvSpPr txBox="1"/>
          <p:nvPr/>
        </p:nvSpPr>
        <p:spPr>
          <a:xfrm>
            <a:off x="4800600" y="1709928"/>
            <a:ext cx="3749040" cy="2423160"/>
          </a:xfrm>
          <a:prstGeom prst="rect">
            <a:avLst/>
          </a:prstGeom>
          <a:noFill/>
          <a:ln/>
        </p:spPr>
        <p:txBody>
          <a:bodyPr wrap="square" lIns="0" tIns="0" rIns="0" bIns="0" rtlCol="0" anchor="t"/>
          <a:lstStyle/>
          <a:p>
            <a:pPr marL="0" indent="0">
              <a:lnSpc>
                <a:spcPct val="100000"/>
              </a:lnSpc>
              <a:buNone/>
            </a:pPr>
            <a:r>
              <a:rPr lang="en-US" sz="850" b="1" dirty="0">
                <a:solidFill>
                  <a:srgbClr val="F5A800"/>
                </a:solidFill>
                <a:latin typeface="Consolas" pitchFamily="34" charset="0"/>
                <a:ea typeface="Consolas" pitchFamily="34" charset="-122"/>
                <a:cs typeface="Consolas" pitchFamily="34" charset="-120"/>
              </a:rPr>
              <a:t>curl</a:t>
            </a:r>
            <a:r>
              <a:rPr lang="en-US" sz="850" dirty="0">
                <a:solidFill>
                  <a:srgbClr val="DCE6F2"/>
                </a:solidFill>
                <a:latin typeface="Consolas" pitchFamily="34" charset="0"/>
                <a:ea typeface="Consolas" pitchFamily="34" charset="-122"/>
                <a:cs typeface="Consolas" pitchFamily="34" charset="-120"/>
              </a:rPr>
              <a:t> -k -X </a:t>
            </a:r>
            <a:r>
              <a:rPr lang="en-US" sz="850" b="1" dirty="0">
                <a:solidFill>
                  <a:srgbClr val="F5A800"/>
                </a:solidFill>
                <a:latin typeface="Consolas" pitchFamily="34" charset="0"/>
                <a:ea typeface="Consolas" pitchFamily="34" charset="-122"/>
                <a:cs typeface="Consolas" pitchFamily="34" charset="-120"/>
              </a:rPr>
              <a:t>POST</a:t>
            </a:r>
            <a:r>
              <a:rPr lang="en-US" sz="850" dirty="0">
                <a:solidFill>
                  <a:srgbClr val="DCE6F2"/>
                </a:solidFill>
                <a:latin typeface="Consolas" pitchFamily="34" charset="0"/>
                <a:ea typeface="Consolas" pitchFamily="34" charset="-122"/>
                <a:cs typeface="Consolas" pitchFamily="34" charset="-120"/>
              </a:rPr>
              <a:t> </a:t>
            </a:r>
            <a:r>
              <a:rPr lang="en-US" sz="850" dirty="0">
                <a:solidFill>
                  <a:srgbClr val="B5E48C"/>
                </a:solidFill>
                <a:latin typeface="Consolas" pitchFamily="34" charset="0"/>
                <a:ea typeface="Consolas" pitchFamily="34" charset="-122"/>
                <a:cs typeface="Consolas" pitchFamily="34" charset="-120"/>
              </a:rPr>
              <a:t>"$SL/Items"</a:t>
            </a:r>
            <a:r>
              <a:rPr lang="en-US" sz="850" dirty="0">
                <a:solidFill>
                  <a:srgbClr val="DCE6F2"/>
                </a:solidFill>
                <a:latin typeface="Consolas" pitchFamily="34" charset="0"/>
                <a:ea typeface="Consolas" pitchFamily="34" charset="-122"/>
                <a:cs typeface="Consolas" pitchFamily="34" charset="-120"/>
              </a:rPr>
              <a:t> \</a:t>
            </a:r>
            <a:endParaRPr lang="en-US" sz="850" dirty="0"/>
          </a:p>
          <a:p>
            <a:pPr marL="0" indent="0">
              <a:lnSpc>
                <a:spcPct val="100000"/>
              </a:lnSpc>
              <a:buNone/>
            </a:pPr>
            <a:r>
              <a:rPr lang="en-US" sz="850" dirty="0">
                <a:solidFill>
                  <a:srgbClr val="DCE6F2"/>
                </a:solidFill>
                <a:latin typeface="Consolas" pitchFamily="34" charset="0"/>
                <a:ea typeface="Consolas" pitchFamily="34" charset="-122"/>
                <a:cs typeface="Consolas" pitchFamily="34" charset="-120"/>
              </a:rPr>
              <a:t>  -H </a:t>
            </a:r>
            <a:r>
              <a:rPr lang="en-US" sz="850" dirty="0">
                <a:solidFill>
                  <a:srgbClr val="B5E48C"/>
                </a:solidFill>
                <a:latin typeface="Consolas" pitchFamily="34" charset="0"/>
                <a:ea typeface="Consolas" pitchFamily="34" charset="-122"/>
                <a:cs typeface="Consolas" pitchFamily="34" charset="-120"/>
              </a:rPr>
              <a:t>"Content-Type: application/json"</a:t>
            </a:r>
            <a:r>
              <a:rPr lang="en-US" sz="850" dirty="0">
                <a:solidFill>
                  <a:srgbClr val="DCE6F2"/>
                </a:solidFill>
                <a:latin typeface="Consolas" pitchFamily="34" charset="0"/>
                <a:ea typeface="Consolas" pitchFamily="34" charset="-122"/>
                <a:cs typeface="Consolas" pitchFamily="34" charset="-120"/>
              </a:rPr>
              <a:t> \</a:t>
            </a:r>
            <a:endParaRPr lang="en-US" sz="850" dirty="0"/>
          </a:p>
          <a:p>
            <a:pPr marL="0" indent="0">
              <a:lnSpc>
                <a:spcPct val="100000"/>
              </a:lnSpc>
              <a:buNone/>
            </a:pPr>
            <a:r>
              <a:rPr lang="en-US" sz="850" dirty="0">
                <a:solidFill>
                  <a:srgbClr val="DCE6F2"/>
                </a:solidFill>
                <a:latin typeface="Consolas" pitchFamily="34" charset="0"/>
                <a:ea typeface="Consolas" pitchFamily="34" charset="-122"/>
                <a:cs typeface="Consolas" pitchFamily="34" charset="-120"/>
              </a:rPr>
              <a:t>  -b cookies.txt \</a:t>
            </a:r>
            <a:endParaRPr lang="en-US" sz="850" dirty="0"/>
          </a:p>
          <a:p>
            <a:pPr marL="0" indent="0">
              <a:lnSpc>
                <a:spcPct val="100000"/>
              </a:lnSpc>
              <a:buNone/>
            </a:pPr>
            <a:r>
              <a:rPr lang="en-US" sz="850" dirty="0">
                <a:solidFill>
                  <a:srgbClr val="DCE6F2"/>
                </a:solidFill>
                <a:latin typeface="Consolas" pitchFamily="34" charset="0"/>
                <a:ea typeface="Consolas" pitchFamily="34" charset="-122"/>
                <a:cs typeface="Consolas" pitchFamily="34" charset="-120"/>
              </a:rPr>
              <a:t>  -d '{</a:t>
            </a:r>
            <a:endParaRPr lang="en-US" sz="850" dirty="0"/>
          </a:p>
          <a:p>
            <a:pPr marL="0" indent="0">
              <a:lnSpc>
                <a:spcPct val="100000"/>
              </a:lnSpc>
              <a:buNone/>
            </a:pPr>
            <a:r>
              <a:rPr lang="en-US" sz="850" dirty="0">
                <a:solidFill>
                  <a:srgbClr val="DCE6F2"/>
                </a:solidFill>
                <a:latin typeface="Consolas" pitchFamily="34" charset="0"/>
                <a:ea typeface="Consolas" pitchFamily="34" charset="-122"/>
                <a:cs typeface="Consolas" pitchFamily="34" charset="-120"/>
              </a:rPr>
              <a:t>  </a:t>
            </a:r>
            <a:r>
              <a:rPr lang="en-US" sz="850" dirty="0">
                <a:solidFill>
                  <a:srgbClr val="7FD1FF"/>
                </a:solidFill>
                <a:latin typeface="Consolas" pitchFamily="34" charset="0"/>
                <a:ea typeface="Consolas" pitchFamily="34" charset="-122"/>
                <a:cs typeface="Consolas" pitchFamily="34" charset="-120"/>
              </a:rPr>
              <a:t>"ItemCode"</a:t>
            </a:r>
            <a:r>
              <a:rPr lang="en-US" sz="850" dirty="0">
                <a:solidFill>
                  <a:srgbClr val="DCE6F2"/>
                </a:solidFill>
                <a:latin typeface="Consolas" pitchFamily="34" charset="0"/>
                <a:ea typeface="Consolas" pitchFamily="34" charset="-122"/>
                <a:cs typeface="Consolas" pitchFamily="34" charset="-120"/>
              </a:rPr>
              <a:t>: </a:t>
            </a:r>
            <a:r>
              <a:rPr lang="en-US" sz="850" dirty="0">
                <a:solidFill>
                  <a:srgbClr val="B5E48C"/>
                </a:solidFill>
                <a:latin typeface="Consolas" pitchFamily="34" charset="0"/>
                <a:ea typeface="Consolas" pitchFamily="34" charset="-122"/>
                <a:cs typeface="Consolas" pitchFamily="34" charset="-120"/>
              </a:rPr>
              <a:t>"PT-0001"</a:t>
            </a:r>
            <a:r>
              <a:rPr lang="en-US" sz="850" dirty="0">
                <a:solidFill>
                  <a:srgbClr val="DCE6F2"/>
                </a:solidFill>
                <a:latin typeface="Consolas" pitchFamily="34" charset="0"/>
                <a:ea typeface="Consolas" pitchFamily="34" charset="-122"/>
                <a:cs typeface="Consolas" pitchFamily="34" charset="-120"/>
              </a:rPr>
              <a:t>,</a:t>
            </a:r>
            <a:endParaRPr lang="en-US" sz="850" dirty="0"/>
          </a:p>
          <a:p>
            <a:pPr marL="0" indent="0">
              <a:lnSpc>
                <a:spcPct val="100000"/>
              </a:lnSpc>
              <a:buNone/>
            </a:pPr>
            <a:r>
              <a:rPr lang="en-US" sz="850" dirty="0">
                <a:solidFill>
                  <a:srgbClr val="DCE6F2"/>
                </a:solidFill>
                <a:latin typeface="Consolas" pitchFamily="34" charset="0"/>
                <a:ea typeface="Consolas" pitchFamily="34" charset="-122"/>
                <a:cs typeface="Consolas" pitchFamily="34" charset="-120"/>
              </a:rPr>
              <a:t>  </a:t>
            </a:r>
            <a:r>
              <a:rPr lang="en-US" sz="850" dirty="0">
                <a:solidFill>
                  <a:srgbClr val="7FD1FF"/>
                </a:solidFill>
                <a:latin typeface="Consolas" pitchFamily="34" charset="0"/>
                <a:ea typeface="Consolas" pitchFamily="34" charset="-122"/>
                <a:cs typeface="Consolas" pitchFamily="34" charset="-120"/>
              </a:rPr>
              <a:t>"ItemName"</a:t>
            </a:r>
            <a:r>
              <a:rPr lang="en-US" sz="850" dirty="0">
                <a:solidFill>
                  <a:srgbClr val="DCE6F2"/>
                </a:solidFill>
                <a:latin typeface="Consolas" pitchFamily="34" charset="0"/>
                <a:ea typeface="Consolas" pitchFamily="34" charset="-122"/>
                <a:cs typeface="Consolas" pitchFamily="34" charset="-120"/>
              </a:rPr>
              <a:t>: </a:t>
            </a:r>
            <a:r>
              <a:rPr lang="en-US" sz="850" dirty="0">
                <a:solidFill>
                  <a:srgbClr val="B5E48C"/>
                </a:solidFill>
                <a:latin typeface="Consolas" pitchFamily="34" charset="0"/>
                <a:ea typeface="Consolas" pitchFamily="34" charset="-122"/>
                <a:cs typeface="Consolas" pitchFamily="34" charset="-120"/>
              </a:rPr>
              <a:t>"Laptop Core i7 14 pulg"</a:t>
            </a:r>
            <a:r>
              <a:rPr lang="en-US" sz="850" dirty="0">
                <a:solidFill>
                  <a:srgbClr val="DCE6F2"/>
                </a:solidFill>
                <a:latin typeface="Consolas" pitchFamily="34" charset="0"/>
                <a:ea typeface="Consolas" pitchFamily="34" charset="-122"/>
                <a:cs typeface="Consolas" pitchFamily="34" charset="-120"/>
              </a:rPr>
              <a:t>,</a:t>
            </a:r>
            <a:endParaRPr lang="en-US" sz="850" dirty="0"/>
          </a:p>
          <a:p>
            <a:pPr marL="0" indent="0">
              <a:lnSpc>
                <a:spcPct val="100000"/>
              </a:lnSpc>
              <a:buNone/>
            </a:pPr>
            <a:r>
              <a:rPr lang="en-US" sz="850" dirty="0">
                <a:solidFill>
                  <a:srgbClr val="DCE6F2"/>
                </a:solidFill>
                <a:latin typeface="Consolas" pitchFamily="34" charset="0"/>
                <a:ea typeface="Consolas" pitchFamily="34" charset="-122"/>
                <a:cs typeface="Consolas" pitchFamily="34" charset="-120"/>
              </a:rPr>
              <a:t>  </a:t>
            </a:r>
            <a:r>
              <a:rPr lang="en-US" sz="850" dirty="0">
                <a:solidFill>
                  <a:srgbClr val="7FD1FF"/>
                </a:solidFill>
                <a:latin typeface="Consolas" pitchFamily="34" charset="0"/>
                <a:ea typeface="Consolas" pitchFamily="34" charset="-122"/>
                <a:cs typeface="Consolas" pitchFamily="34" charset="-120"/>
              </a:rPr>
              <a:t>"ItemsGroupCode"</a:t>
            </a:r>
            <a:r>
              <a:rPr lang="en-US" sz="850" dirty="0">
                <a:solidFill>
                  <a:srgbClr val="DCE6F2"/>
                </a:solidFill>
                <a:latin typeface="Consolas" pitchFamily="34" charset="0"/>
                <a:ea typeface="Consolas" pitchFamily="34" charset="-122"/>
                <a:cs typeface="Consolas" pitchFamily="34" charset="-120"/>
              </a:rPr>
              <a:t>: 100,</a:t>
            </a:r>
            <a:endParaRPr lang="en-US" sz="850" dirty="0"/>
          </a:p>
          <a:p>
            <a:pPr marL="0" indent="0">
              <a:lnSpc>
                <a:spcPct val="100000"/>
              </a:lnSpc>
              <a:buNone/>
            </a:pPr>
            <a:r>
              <a:rPr lang="en-US" sz="850" dirty="0">
                <a:solidFill>
                  <a:srgbClr val="DCE6F2"/>
                </a:solidFill>
                <a:latin typeface="Consolas" pitchFamily="34" charset="0"/>
                <a:ea typeface="Consolas" pitchFamily="34" charset="-122"/>
                <a:cs typeface="Consolas" pitchFamily="34" charset="-120"/>
              </a:rPr>
              <a:t>  </a:t>
            </a:r>
            <a:r>
              <a:rPr lang="en-US" sz="850" dirty="0">
                <a:solidFill>
                  <a:srgbClr val="7FD1FF"/>
                </a:solidFill>
                <a:latin typeface="Consolas" pitchFamily="34" charset="0"/>
                <a:ea typeface="Consolas" pitchFamily="34" charset="-122"/>
                <a:cs typeface="Consolas" pitchFamily="34" charset="-120"/>
              </a:rPr>
              <a:t>"InventoryItem"</a:t>
            </a:r>
            <a:r>
              <a:rPr lang="en-US" sz="850" dirty="0">
                <a:solidFill>
                  <a:srgbClr val="DCE6F2"/>
                </a:solidFill>
                <a:latin typeface="Consolas" pitchFamily="34" charset="0"/>
                <a:ea typeface="Consolas" pitchFamily="34" charset="-122"/>
                <a:cs typeface="Consolas" pitchFamily="34" charset="-120"/>
              </a:rPr>
              <a:t>: </a:t>
            </a:r>
            <a:r>
              <a:rPr lang="en-US" sz="850" dirty="0">
                <a:solidFill>
                  <a:srgbClr val="B5E48C"/>
                </a:solidFill>
                <a:latin typeface="Consolas" pitchFamily="34" charset="0"/>
                <a:ea typeface="Consolas" pitchFamily="34" charset="-122"/>
                <a:cs typeface="Consolas" pitchFamily="34" charset="-120"/>
              </a:rPr>
              <a:t>"tYES"</a:t>
            </a:r>
            <a:r>
              <a:rPr lang="en-US" sz="850" dirty="0">
                <a:solidFill>
                  <a:srgbClr val="DCE6F2"/>
                </a:solidFill>
                <a:latin typeface="Consolas" pitchFamily="34" charset="0"/>
                <a:ea typeface="Consolas" pitchFamily="34" charset="-122"/>
                <a:cs typeface="Consolas" pitchFamily="34" charset="-120"/>
              </a:rPr>
              <a:t>,</a:t>
            </a:r>
            <a:endParaRPr lang="en-US" sz="850" dirty="0"/>
          </a:p>
          <a:p>
            <a:pPr marL="0" indent="0">
              <a:lnSpc>
                <a:spcPct val="100000"/>
              </a:lnSpc>
              <a:buNone/>
            </a:pPr>
            <a:r>
              <a:rPr lang="en-US" sz="850" dirty="0">
                <a:solidFill>
                  <a:srgbClr val="DCE6F2"/>
                </a:solidFill>
                <a:latin typeface="Consolas" pitchFamily="34" charset="0"/>
                <a:ea typeface="Consolas" pitchFamily="34" charset="-122"/>
                <a:cs typeface="Consolas" pitchFamily="34" charset="-120"/>
              </a:rPr>
              <a:t>  </a:t>
            </a:r>
            <a:r>
              <a:rPr lang="en-US" sz="850" dirty="0">
                <a:solidFill>
                  <a:srgbClr val="7FD1FF"/>
                </a:solidFill>
                <a:latin typeface="Consolas" pitchFamily="34" charset="0"/>
                <a:ea typeface="Consolas" pitchFamily="34" charset="-122"/>
                <a:cs typeface="Consolas" pitchFamily="34" charset="-120"/>
              </a:rPr>
              <a:t>"SalesItem"</a:t>
            </a:r>
            <a:r>
              <a:rPr lang="en-US" sz="850" dirty="0">
                <a:solidFill>
                  <a:srgbClr val="DCE6F2"/>
                </a:solidFill>
                <a:latin typeface="Consolas" pitchFamily="34" charset="0"/>
                <a:ea typeface="Consolas" pitchFamily="34" charset="-122"/>
                <a:cs typeface="Consolas" pitchFamily="34" charset="-120"/>
              </a:rPr>
              <a:t>: </a:t>
            </a:r>
            <a:r>
              <a:rPr lang="en-US" sz="850" dirty="0">
                <a:solidFill>
                  <a:srgbClr val="B5E48C"/>
                </a:solidFill>
                <a:latin typeface="Consolas" pitchFamily="34" charset="0"/>
                <a:ea typeface="Consolas" pitchFamily="34" charset="-122"/>
                <a:cs typeface="Consolas" pitchFamily="34" charset="-120"/>
              </a:rPr>
              <a:t>"tYES"</a:t>
            </a:r>
            <a:r>
              <a:rPr lang="en-US" sz="850" dirty="0">
                <a:solidFill>
                  <a:srgbClr val="DCE6F2"/>
                </a:solidFill>
                <a:latin typeface="Consolas" pitchFamily="34" charset="0"/>
                <a:ea typeface="Consolas" pitchFamily="34" charset="-122"/>
                <a:cs typeface="Consolas" pitchFamily="34" charset="-120"/>
              </a:rPr>
              <a:t>,</a:t>
            </a:r>
            <a:endParaRPr lang="en-US" sz="850" dirty="0"/>
          </a:p>
          <a:p>
            <a:pPr marL="0" indent="0">
              <a:lnSpc>
                <a:spcPct val="100000"/>
              </a:lnSpc>
              <a:buNone/>
            </a:pPr>
            <a:r>
              <a:rPr lang="en-US" sz="850" dirty="0">
                <a:solidFill>
                  <a:srgbClr val="DCE6F2"/>
                </a:solidFill>
                <a:latin typeface="Consolas" pitchFamily="34" charset="0"/>
                <a:ea typeface="Consolas" pitchFamily="34" charset="-122"/>
                <a:cs typeface="Consolas" pitchFamily="34" charset="-120"/>
              </a:rPr>
              <a:t>  </a:t>
            </a:r>
            <a:r>
              <a:rPr lang="en-US" sz="850" dirty="0">
                <a:solidFill>
                  <a:srgbClr val="7FD1FF"/>
                </a:solidFill>
                <a:latin typeface="Consolas" pitchFamily="34" charset="0"/>
                <a:ea typeface="Consolas" pitchFamily="34" charset="-122"/>
                <a:cs typeface="Consolas" pitchFamily="34" charset="-120"/>
              </a:rPr>
              <a:t>"PurchaseItem"</a:t>
            </a:r>
            <a:r>
              <a:rPr lang="en-US" sz="850" dirty="0">
                <a:solidFill>
                  <a:srgbClr val="DCE6F2"/>
                </a:solidFill>
                <a:latin typeface="Consolas" pitchFamily="34" charset="0"/>
                <a:ea typeface="Consolas" pitchFamily="34" charset="-122"/>
                <a:cs typeface="Consolas" pitchFamily="34" charset="-120"/>
              </a:rPr>
              <a:t>: </a:t>
            </a:r>
            <a:r>
              <a:rPr lang="en-US" sz="850" dirty="0">
                <a:solidFill>
                  <a:srgbClr val="B5E48C"/>
                </a:solidFill>
                <a:latin typeface="Consolas" pitchFamily="34" charset="0"/>
                <a:ea typeface="Consolas" pitchFamily="34" charset="-122"/>
                <a:cs typeface="Consolas" pitchFamily="34" charset="-120"/>
              </a:rPr>
              <a:t>"tYES"</a:t>
            </a:r>
            <a:r>
              <a:rPr lang="en-US" sz="850" dirty="0">
                <a:solidFill>
                  <a:srgbClr val="DCE6F2"/>
                </a:solidFill>
                <a:latin typeface="Consolas" pitchFamily="34" charset="0"/>
                <a:ea typeface="Consolas" pitchFamily="34" charset="-122"/>
                <a:cs typeface="Consolas" pitchFamily="34" charset="-120"/>
              </a:rPr>
              <a:t>,</a:t>
            </a:r>
            <a:endParaRPr lang="en-US" sz="850" dirty="0"/>
          </a:p>
          <a:p>
            <a:pPr marL="0" indent="0">
              <a:lnSpc>
                <a:spcPct val="100000"/>
              </a:lnSpc>
              <a:buNone/>
            </a:pPr>
            <a:r>
              <a:rPr lang="en-US" sz="850" dirty="0">
                <a:solidFill>
                  <a:srgbClr val="DCE6F2"/>
                </a:solidFill>
                <a:latin typeface="Consolas" pitchFamily="34" charset="0"/>
                <a:ea typeface="Consolas" pitchFamily="34" charset="-122"/>
                <a:cs typeface="Consolas" pitchFamily="34" charset="-120"/>
              </a:rPr>
              <a:t>  </a:t>
            </a:r>
            <a:r>
              <a:rPr lang="en-US" sz="850" dirty="0">
                <a:solidFill>
                  <a:srgbClr val="7FD1FF"/>
                </a:solidFill>
                <a:latin typeface="Consolas" pitchFamily="34" charset="0"/>
                <a:ea typeface="Consolas" pitchFamily="34" charset="-122"/>
                <a:cs typeface="Consolas" pitchFamily="34" charset="-120"/>
              </a:rPr>
              <a:t>"ManageBatchNumbers"</a:t>
            </a:r>
            <a:r>
              <a:rPr lang="en-US" sz="850" dirty="0">
                <a:solidFill>
                  <a:srgbClr val="DCE6F2"/>
                </a:solidFill>
                <a:latin typeface="Consolas" pitchFamily="34" charset="0"/>
                <a:ea typeface="Consolas" pitchFamily="34" charset="-122"/>
                <a:cs typeface="Consolas" pitchFamily="34" charset="-120"/>
              </a:rPr>
              <a:t>: </a:t>
            </a:r>
            <a:r>
              <a:rPr lang="en-US" sz="850" dirty="0">
                <a:solidFill>
                  <a:srgbClr val="B5E48C"/>
                </a:solidFill>
                <a:latin typeface="Consolas" pitchFamily="34" charset="0"/>
                <a:ea typeface="Consolas" pitchFamily="34" charset="-122"/>
                <a:cs typeface="Consolas" pitchFamily="34" charset="-120"/>
              </a:rPr>
              <a:t>"tNO"</a:t>
            </a:r>
            <a:r>
              <a:rPr lang="en-US" sz="850" dirty="0">
                <a:solidFill>
                  <a:srgbClr val="DCE6F2"/>
                </a:solidFill>
                <a:latin typeface="Consolas" pitchFamily="34" charset="0"/>
                <a:ea typeface="Consolas" pitchFamily="34" charset="-122"/>
                <a:cs typeface="Consolas" pitchFamily="34" charset="-120"/>
              </a:rPr>
              <a:t>,</a:t>
            </a:r>
            <a:endParaRPr lang="en-US" sz="850" dirty="0"/>
          </a:p>
          <a:p>
            <a:pPr marL="0" indent="0">
              <a:lnSpc>
                <a:spcPct val="100000"/>
              </a:lnSpc>
              <a:buNone/>
            </a:pPr>
            <a:r>
              <a:rPr lang="en-US" sz="850" dirty="0">
                <a:solidFill>
                  <a:srgbClr val="DCE6F2"/>
                </a:solidFill>
                <a:latin typeface="Consolas" pitchFamily="34" charset="0"/>
                <a:ea typeface="Consolas" pitchFamily="34" charset="-122"/>
                <a:cs typeface="Consolas" pitchFamily="34" charset="-120"/>
              </a:rPr>
              <a:t>  </a:t>
            </a:r>
            <a:r>
              <a:rPr lang="en-US" sz="850" dirty="0">
                <a:solidFill>
                  <a:srgbClr val="7FD1FF"/>
                </a:solidFill>
                <a:latin typeface="Consolas" pitchFamily="34" charset="0"/>
                <a:ea typeface="Consolas" pitchFamily="34" charset="-122"/>
                <a:cs typeface="Consolas" pitchFamily="34" charset="-120"/>
              </a:rPr>
              <a:t>"InventoryUOM"</a:t>
            </a:r>
            <a:r>
              <a:rPr lang="en-US" sz="850" dirty="0">
                <a:solidFill>
                  <a:srgbClr val="DCE6F2"/>
                </a:solidFill>
                <a:latin typeface="Consolas" pitchFamily="34" charset="0"/>
                <a:ea typeface="Consolas" pitchFamily="34" charset="-122"/>
                <a:cs typeface="Consolas" pitchFamily="34" charset="-120"/>
              </a:rPr>
              <a:t>: </a:t>
            </a:r>
            <a:r>
              <a:rPr lang="en-US" sz="850" dirty="0">
                <a:solidFill>
                  <a:srgbClr val="B5E48C"/>
                </a:solidFill>
                <a:latin typeface="Consolas" pitchFamily="34" charset="0"/>
                <a:ea typeface="Consolas" pitchFamily="34" charset="-122"/>
                <a:cs typeface="Consolas" pitchFamily="34" charset="-120"/>
              </a:rPr>
              <a:t>"UND"</a:t>
            </a:r>
            <a:endParaRPr lang="en-US" sz="850" dirty="0"/>
          </a:p>
          <a:p>
            <a:pPr marL="0" indent="0">
              <a:lnSpc>
                <a:spcPct val="100000"/>
              </a:lnSpc>
              <a:buNone/>
            </a:pPr>
            <a:r>
              <a:rPr lang="en-US" sz="850" dirty="0">
                <a:solidFill>
                  <a:srgbClr val="DCE6F2"/>
                </a:solidFill>
                <a:latin typeface="Consolas" pitchFamily="34" charset="0"/>
                <a:ea typeface="Consolas" pitchFamily="34" charset="-122"/>
                <a:cs typeface="Consolas" pitchFamily="34" charset="-120"/>
              </a:rPr>
              <a:t>}'</a:t>
            </a:r>
            <a:endParaRPr lang="en-US" sz="850" dirty="0"/>
          </a:p>
        </p:txBody>
      </p:sp>
      <p:sp>
        <p:nvSpPr>
          <p:cNvPr id="20" name="Text 18"/>
          <p:cNvSpPr txBox="1"/>
          <p:nvPr/>
        </p:nvSpPr>
        <p:spPr>
          <a:xfrm>
            <a:off x="4663440" y="4297680"/>
            <a:ext cx="4023360" cy="457200"/>
          </a:xfrm>
          <a:prstGeom prst="rect">
            <a:avLst/>
          </a:prstGeom>
          <a:noFill/>
          <a:ln/>
        </p:spPr>
        <p:txBody>
          <a:bodyPr wrap="square" lIns="0" tIns="0" rIns="0" bIns="0" rtlCol="0" anchor="t"/>
          <a:lstStyle/>
          <a:p>
            <a:pPr marL="0" indent="0">
              <a:buNone/>
            </a:pPr>
            <a:r>
              <a:rPr lang="en-US" sz="1000" i="1" dirty="0">
                <a:solidFill>
                  <a:srgbClr val="5B6B82"/>
                </a:solidFill>
                <a:latin typeface="Calibri" pitchFamily="34" charset="0"/>
                <a:ea typeface="Calibri" pitchFamily="34" charset="-122"/>
                <a:cs typeface="Calibri" pitchFamily="34" charset="-120"/>
              </a:rPr>
              <a:t>tYES / tNO: enumeración booleana de SAP. ItemsGroupCode es el código del grupo de artículos.</a:t>
            </a:r>
            <a:endParaRPr lang="en-US" sz="1000" dirty="0"/>
          </a:p>
        </p:txBody>
      </p:sp>
      <p:sp>
        <p:nvSpPr>
          <p:cNvPr id="21" name="Text 19"/>
          <p:cNvSpPr txBox="1"/>
          <p:nvPr/>
        </p:nvSpPr>
        <p:spPr>
          <a:xfrm>
            <a:off x="4663440" y="4828032"/>
            <a:ext cx="3474720" cy="182880"/>
          </a:xfrm>
          <a:prstGeom prst="rect">
            <a:avLst/>
          </a:prstGeom>
          <a:noFill/>
          <a:ln/>
        </p:spPr>
        <p:txBody>
          <a:bodyPr wrap="square" lIns="0" tIns="0" rIns="0" bIns="0" rtlCol="0" anchor="t"/>
          <a:lstStyle/>
          <a:p>
            <a:pPr marL="0" indent="0" algn="r">
              <a:buNone/>
            </a:pPr>
            <a:r>
              <a:rPr lang="en-US" sz="800" b="1" dirty="0">
                <a:solidFill>
                  <a:srgbClr val="0B4DA2"/>
                </a:solidFill>
                <a:latin typeface="Consolas" pitchFamily="34" charset="0"/>
                <a:ea typeface="Consolas" pitchFamily="34" charset="-122"/>
                <a:cs typeface="Consolas" pitchFamily="34" charset="-120"/>
              </a:rPr>
              <a:t>$SL</a:t>
            </a:r>
            <a:r>
              <a:rPr lang="en-US" sz="800" dirty="0">
                <a:solidFill>
                  <a:srgbClr val="8A9AB0"/>
                </a:solidFill>
                <a:latin typeface="Calibri" pitchFamily="34" charset="0"/>
                <a:ea typeface="Calibri" pitchFamily="34" charset="-122"/>
                <a:cs typeface="Calibri" pitchFamily="34" charset="-120"/>
              </a:rPr>
              <a:t> = https://sapserver:50000/b1s/v1   ·   cookies.txt obtenido en el Login</a:t>
            </a:r>
            <a:endParaRPr lang="en-US" sz="800" dirty="0"/>
          </a:p>
        </p:txBody>
      </p:sp>
      <p:sp>
        <p:nvSpPr>
          <p:cNvPr id="25"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xmlns="" val="0"/>
            </a:ext>
          </a:extLst>
        </p:spPr>
        <p:txBody>
          <a:bodyPr/>
          <a:lstStyle>
            <a:lvl1pPr>
              <a:defRPr sz="800">
                <a:solidFill>
                  <a:srgbClr val="8A9AB0"/>
                </a:solidFill>
                <a:latin typeface="Calibri"/>
                <a:ea typeface="Calibri"/>
                <a:cs typeface="Calibri"/>
              </a:defRPr>
            </a:lvl1pPr>
          </a:lstStyle>
          <a:p>
            <a:pPr algn="r"/>
            <a:fld id="{F7021451-1387-4CA6-816F-3879F97B5CBC}" type="slidenum">
              <a:rPr lang="en-US" b="0"/>
              <a:t>21</a:t>
            </a:fld>
            <a:endParaRPr 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457200" y="256032"/>
            <a:ext cx="2434133" cy="237744"/>
          </a:xfrm>
          <a:prstGeom prst="roundRect">
            <a:avLst>
              <a:gd name="adj" fmla="val 50000"/>
            </a:avLst>
          </a:prstGeom>
          <a:solidFill>
            <a:srgbClr val="071B3F"/>
          </a:solidFill>
          <a:ln w="12700">
            <a:solidFill>
              <a:srgbClr val="071B3F"/>
            </a:solidFill>
            <a:prstDash val="solid"/>
          </a:ln>
        </p:spPr>
      </p:sp>
      <p:sp>
        <p:nvSpPr>
          <p:cNvPr id="3" name="Text 1"/>
          <p:cNvSpPr txBox="1"/>
          <p:nvPr/>
        </p:nvSpPr>
        <p:spPr>
          <a:xfrm>
            <a:off x="457200" y="256032"/>
            <a:ext cx="2434133" cy="237744"/>
          </a:xfrm>
          <a:prstGeom prst="rect">
            <a:avLst/>
          </a:prstGeom>
          <a:noFill/>
          <a:ln/>
        </p:spPr>
        <p:txBody>
          <a:bodyPr wrap="square" lIns="0" tIns="0" rIns="0" bIns="0" rtlCol="0" anchor="ctr"/>
          <a:lstStyle/>
          <a:p>
            <a:pPr marL="0" indent="0" algn="ctr">
              <a:buNone/>
            </a:pPr>
            <a:r>
              <a:rPr lang="en-US" sz="850" b="1" kern="0" spc="100" dirty="0">
                <a:solidFill>
                  <a:srgbClr val="F5A800"/>
                </a:solidFill>
                <a:latin typeface="Segoe UI" pitchFamily="34" charset="0"/>
                <a:ea typeface="Segoe UI" pitchFamily="34" charset="-122"/>
                <a:cs typeface="Segoe UI" pitchFamily="34" charset="-120"/>
              </a:rPr>
              <a:t>04  ·  FLUJOS DE OPERACIÓN II</a:t>
            </a:r>
            <a:endParaRPr lang="en-US" sz="850" dirty="0"/>
          </a:p>
        </p:txBody>
      </p:sp>
      <p:sp>
        <p:nvSpPr>
          <p:cNvPr id="4" name="Text 2"/>
          <p:cNvSpPr txBox="1"/>
          <p:nvPr/>
        </p:nvSpPr>
        <p:spPr>
          <a:xfrm>
            <a:off x="457200" y="566928"/>
            <a:ext cx="8229600" cy="502920"/>
          </a:xfrm>
          <a:prstGeom prst="rect">
            <a:avLst/>
          </a:prstGeom>
          <a:noFill/>
          <a:ln/>
        </p:spPr>
        <p:txBody>
          <a:bodyPr wrap="square" lIns="0" tIns="0" rIns="0" bIns="0" rtlCol="0" anchor="ctr"/>
          <a:lstStyle/>
          <a:p>
            <a:pPr marL="0" indent="0">
              <a:buNone/>
            </a:pPr>
            <a:r>
              <a:rPr lang="en-US" sz="2400" b="1" dirty="0">
                <a:solidFill>
                  <a:srgbClr val="071B3F"/>
                </a:solidFill>
                <a:latin typeface="Segoe UI" pitchFamily="34" charset="0"/>
                <a:ea typeface="Segoe UI" pitchFamily="34" charset="-122"/>
                <a:cs typeface="Segoe UI" pitchFamily="34" charset="-120"/>
              </a:rPr>
              <a:t>Compras I: orden de compra y entrada</a:t>
            </a:r>
            <a:endParaRPr lang="en-US" sz="2400" dirty="0"/>
          </a:p>
        </p:txBody>
      </p:sp>
      <p:sp>
        <p:nvSpPr>
          <p:cNvPr id="5" name="Text 3"/>
          <p:cNvSpPr txBox="1"/>
          <p:nvPr/>
        </p:nvSpPr>
        <p:spPr>
          <a:xfrm>
            <a:off x="457200" y="1051560"/>
            <a:ext cx="8229600" cy="274320"/>
          </a:xfrm>
          <a:prstGeom prst="rect">
            <a:avLst/>
          </a:prstGeom>
          <a:noFill/>
          <a:ln/>
        </p:spPr>
        <p:txBody>
          <a:bodyPr wrap="square" lIns="0" tIns="0" rIns="0" bIns="0" rtlCol="0" anchor="ctr"/>
          <a:lstStyle/>
          <a:p>
            <a:pPr marL="0" indent="0">
              <a:buNone/>
            </a:pPr>
            <a:r>
              <a:rPr lang="en-US" sz="1250" dirty="0">
                <a:solidFill>
                  <a:srgbClr val="5B6B82"/>
                </a:solidFill>
                <a:latin typeface="Calibri" pitchFamily="34" charset="0"/>
                <a:ea typeface="Calibri" pitchFamily="34" charset="-122"/>
                <a:cs typeface="Calibri" pitchFamily="34" charset="-120"/>
              </a:rPr>
              <a:t>La entrada se copia desde la orden usando BaseType / BaseEntry / BaseLine</a:t>
            </a:r>
            <a:endParaRPr lang="en-US" sz="1250" dirty="0"/>
          </a:p>
        </p:txBody>
      </p:sp>
      <p:sp>
        <p:nvSpPr>
          <p:cNvPr id="6" name="Text 4"/>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00" dirty="0">
                <a:solidFill>
                  <a:srgbClr val="8A9AB0"/>
                </a:solidFill>
                <a:latin typeface="Calibri" pitchFamily="34" charset="0"/>
                <a:ea typeface="Calibri" pitchFamily="34" charset="-122"/>
                <a:cs typeface="Calibri" pitchFamily="34" charset="-120"/>
              </a:rPr>
              <a:t>Ventura Soluciones  |  SAP Business One · Service Layer</a:t>
            </a:r>
            <a:endParaRPr lang="en-US" sz="800" dirty="0"/>
          </a:p>
        </p:txBody>
      </p:sp>
      <p:sp>
        <p:nvSpPr>
          <p:cNvPr id="7" name="Shape 5"/>
          <p:cNvSpPr/>
          <p:nvPr/>
        </p:nvSpPr>
        <p:spPr>
          <a:xfrm>
            <a:off x="457200" y="1417320"/>
            <a:ext cx="4023360" cy="2788920"/>
          </a:xfrm>
          <a:prstGeom prst="roundRect">
            <a:avLst>
              <a:gd name="adj" fmla="val 2295"/>
            </a:avLst>
          </a:prstGeom>
          <a:solidFill>
            <a:srgbClr val="0E1B2E"/>
          </a:solidFill>
          <a:ln w="12700">
            <a:solidFill>
              <a:srgbClr val="0E1B2E"/>
            </a:solidFill>
            <a:prstDash val="solid"/>
          </a:ln>
          <a:effectLst>
            <a:outerShdw blurRad="101600" dist="25400" dir="5400000" algn="bl" rotWithShape="0">
              <a:srgbClr val="0B2A55">
                <a:alpha val="12000"/>
              </a:srgbClr>
            </a:outerShdw>
          </a:effectLst>
        </p:spPr>
      </p:sp>
      <p:sp>
        <p:nvSpPr>
          <p:cNvPr id="8" name="Shape 6"/>
          <p:cNvSpPr/>
          <p:nvPr/>
        </p:nvSpPr>
        <p:spPr>
          <a:xfrm>
            <a:off x="594360" y="1527048"/>
            <a:ext cx="73152" cy="73152"/>
          </a:xfrm>
          <a:prstGeom prst="ellipse">
            <a:avLst/>
          </a:prstGeom>
          <a:solidFill>
            <a:srgbClr val="FF5F56"/>
          </a:solidFill>
          <a:ln w="12700">
            <a:solidFill>
              <a:srgbClr val="FF5F56"/>
            </a:solidFill>
            <a:prstDash val="solid"/>
          </a:ln>
        </p:spPr>
      </p:sp>
      <p:sp>
        <p:nvSpPr>
          <p:cNvPr id="9" name="Shape 7"/>
          <p:cNvSpPr/>
          <p:nvPr/>
        </p:nvSpPr>
        <p:spPr>
          <a:xfrm>
            <a:off x="722376" y="1527048"/>
            <a:ext cx="73152" cy="73152"/>
          </a:xfrm>
          <a:prstGeom prst="ellipse">
            <a:avLst/>
          </a:prstGeom>
          <a:solidFill>
            <a:srgbClr val="FFBD2E"/>
          </a:solidFill>
          <a:ln w="12700">
            <a:solidFill>
              <a:srgbClr val="FFBD2E"/>
            </a:solidFill>
            <a:prstDash val="solid"/>
          </a:ln>
        </p:spPr>
      </p:sp>
      <p:sp>
        <p:nvSpPr>
          <p:cNvPr id="10" name="Shape 8"/>
          <p:cNvSpPr/>
          <p:nvPr/>
        </p:nvSpPr>
        <p:spPr>
          <a:xfrm>
            <a:off x="850392" y="1527048"/>
            <a:ext cx="73152" cy="73152"/>
          </a:xfrm>
          <a:prstGeom prst="ellipse">
            <a:avLst/>
          </a:prstGeom>
          <a:solidFill>
            <a:srgbClr val="27C93F"/>
          </a:solidFill>
          <a:ln w="12700">
            <a:solidFill>
              <a:srgbClr val="27C93F"/>
            </a:solidFill>
            <a:prstDash val="solid"/>
          </a:ln>
        </p:spPr>
      </p:sp>
      <p:sp>
        <p:nvSpPr>
          <p:cNvPr id="11" name="Text 9"/>
          <p:cNvSpPr txBox="1"/>
          <p:nvPr/>
        </p:nvSpPr>
        <p:spPr>
          <a:xfrm>
            <a:off x="1024128" y="1472184"/>
            <a:ext cx="3337560" cy="182880"/>
          </a:xfrm>
          <a:prstGeom prst="rect">
            <a:avLst/>
          </a:prstGeom>
          <a:noFill/>
          <a:ln/>
        </p:spPr>
        <p:txBody>
          <a:bodyPr wrap="square" lIns="0" tIns="0" rIns="0" bIns="0" rtlCol="0" anchor="ctr"/>
          <a:lstStyle/>
          <a:p>
            <a:pPr marL="0" indent="0">
              <a:buNone/>
            </a:pPr>
            <a:r>
              <a:rPr lang="en-US" sz="850" b="1" dirty="0">
                <a:solidFill>
                  <a:srgbClr val="F5A800"/>
                </a:solidFill>
                <a:latin typeface="Segoe UI" pitchFamily="34" charset="0"/>
                <a:ea typeface="Segoe UI" pitchFamily="34" charset="-122"/>
                <a:cs typeface="Segoe UI" pitchFamily="34" charset="-120"/>
              </a:rPr>
              <a:t>POST · PurchaseOrders</a:t>
            </a:r>
            <a:endParaRPr lang="en-US" sz="850" dirty="0"/>
          </a:p>
        </p:txBody>
      </p:sp>
      <p:sp>
        <p:nvSpPr>
          <p:cNvPr id="12" name="Text 10"/>
          <p:cNvSpPr txBox="1"/>
          <p:nvPr/>
        </p:nvSpPr>
        <p:spPr>
          <a:xfrm>
            <a:off x="594360" y="1709928"/>
            <a:ext cx="3749040" cy="2423160"/>
          </a:xfrm>
          <a:prstGeom prst="rect">
            <a:avLst/>
          </a:prstGeom>
          <a:noFill/>
          <a:ln/>
        </p:spPr>
        <p:txBody>
          <a:bodyPr wrap="square" lIns="0" tIns="0" rIns="0" bIns="0" rtlCol="0" anchor="t"/>
          <a:lstStyle/>
          <a:p>
            <a:pPr marL="0" indent="0">
              <a:lnSpc>
                <a:spcPct val="100000"/>
              </a:lnSpc>
              <a:buNone/>
            </a:pPr>
            <a:r>
              <a:rPr lang="en-US" sz="800" b="1" dirty="0">
                <a:solidFill>
                  <a:srgbClr val="F5A800"/>
                </a:solidFill>
                <a:latin typeface="Consolas" pitchFamily="34" charset="0"/>
                <a:ea typeface="Consolas" pitchFamily="34" charset="-122"/>
                <a:cs typeface="Consolas" pitchFamily="34" charset="-120"/>
              </a:rPr>
              <a:t>curl</a:t>
            </a:r>
            <a:r>
              <a:rPr lang="en-US" sz="800" dirty="0">
                <a:solidFill>
                  <a:srgbClr val="DCE6F2"/>
                </a:solidFill>
                <a:latin typeface="Consolas" pitchFamily="34" charset="0"/>
                <a:ea typeface="Consolas" pitchFamily="34" charset="-122"/>
                <a:cs typeface="Consolas" pitchFamily="34" charset="-120"/>
              </a:rPr>
              <a:t> -k -X </a:t>
            </a:r>
            <a:r>
              <a:rPr lang="en-US" sz="800" b="1" dirty="0">
                <a:solidFill>
                  <a:srgbClr val="F5A800"/>
                </a:solidFill>
                <a:latin typeface="Consolas" pitchFamily="34" charset="0"/>
                <a:ea typeface="Consolas" pitchFamily="34" charset="-122"/>
                <a:cs typeface="Consolas" pitchFamily="34" charset="-120"/>
              </a:rPr>
              <a:t>POST</a:t>
            </a:r>
            <a:r>
              <a:rPr lang="en-US" sz="800" dirty="0">
                <a:solidFill>
                  <a:srgbClr val="DCE6F2"/>
                </a:solidFill>
                <a:latin typeface="Consolas" pitchFamily="34" charset="0"/>
                <a:ea typeface="Consolas" pitchFamily="34" charset="-122"/>
                <a:cs typeface="Consolas" pitchFamily="34" charset="-120"/>
              </a:rPr>
              <a:t> </a:t>
            </a:r>
            <a:r>
              <a:rPr lang="en-US" sz="800" dirty="0">
                <a:solidFill>
                  <a:srgbClr val="B5E48C"/>
                </a:solidFill>
                <a:latin typeface="Consolas" pitchFamily="34" charset="0"/>
                <a:ea typeface="Consolas" pitchFamily="34" charset="-122"/>
                <a:cs typeface="Consolas" pitchFamily="34" charset="-120"/>
              </a:rPr>
              <a:t>"$SL/PurchaseOrders"</a:t>
            </a: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-H </a:t>
            </a:r>
            <a:r>
              <a:rPr lang="en-US" sz="800" dirty="0">
                <a:solidFill>
                  <a:srgbClr val="B5E48C"/>
                </a:solidFill>
                <a:latin typeface="Consolas" pitchFamily="34" charset="0"/>
                <a:ea typeface="Consolas" pitchFamily="34" charset="-122"/>
                <a:cs typeface="Consolas" pitchFamily="34" charset="-120"/>
              </a:rPr>
              <a:t>"Content-Type: application/json"</a:t>
            </a: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-b cookies.txt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-d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"CardCode"</a:t>
            </a:r>
            <a:r>
              <a:rPr lang="en-US" sz="800" dirty="0">
                <a:solidFill>
                  <a:srgbClr val="DCE6F2"/>
                </a:solidFill>
                <a:latin typeface="Consolas" pitchFamily="34" charset="0"/>
                <a:ea typeface="Consolas" pitchFamily="34" charset="-122"/>
                <a:cs typeface="Consolas" pitchFamily="34" charset="-120"/>
              </a:rPr>
              <a:t>: </a:t>
            </a:r>
            <a:r>
              <a:rPr lang="en-US" sz="800" dirty="0">
                <a:solidFill>
                  <a:srgbClr val="B5E48C"/>
                </a:solidFill>
                <a:latin typeface="Consolas" pitchFamily="34" charset="0"/>
                <a:ea typeface="Consolas" pitchFamily="34" charset="-122"/>
                <a:cs typeface="Consolas" pitchFamily="34" charset="-120"/>
              </a:rPr>
              <a:t>"P20100070970"</a:t>
            </a:r>
            <a:r>
              <a:rPr lang="en-US" sz="800" dirty="0">
                <a:solidFill>
                  <a:srgbClr val="DCE6F2"/>
                </a:solidFill>
                <a:latin typeface="Consolas" pitchFamily="34" charset="0"/>
                <a:ea typeface="Consolas" pitchFamily="34" charset="-122"/>
                <a:cs typeface="Consolas" pitchFamily="34" charset="-120"/>
              </a:rPr>
              <a:t>,</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"DocDate"</a:t>
            </a:r>
            <a:r>
              <a:rPr lang="en-US" sz="800" dirty="0">
                <a:solidFill>
                  <a:srgbClr val="DCE6F2"/>
                </a:solidFill>
                <a:latin typeface="Consolas" pitchFamily="34" charset="0"/>
                <a:ea typeface="Consolas" pitchFamily="34" charset="-122"/>
                <a:cs typeface="Consolas" pitchFamily="34" charset="-120"/>
              </a:rPr>
              <a:t>: </a:t>
            </a:r>
            <a:r>
              <a:rPr lang="en-US" sz="800" dirty="0">
                <a:solidFill>
                  <a:srgbClr val="B5E48C"/>
                </a:solidFill>
                <a:latin typeface="Consolas" pitchFamily="34" charset="0"/>
                <a:ea typeface="Consolas" pitchFamily="34" charset="-122"/>
                <a:cs typeface="Consolas" pitchFamily="34" charset="-120"/>
              </a:rPr>
              <a:t>"2026-09-23"</a:t>
            </a:r>
            <a:r>
              <a:rPr lang="en-US" sz="800" dirty="0">
                <a:solidFill>
                  <a:srgbClr val="DCE6F2"/>
                </a:solidFill>
                <a:latin typeface="Consolas" pitchFamily="34" charset="0"/>
                <a:ea typeface="Consolas" pitchFamily="34" charset="-122"/>
                <a:cs typeface="Consolas" pitchFamily="34" charset="-120"/>
              </a:rPr>
              <a:t>,</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"DocDueDate"</a:t>
            </a:r>
            <a:r>
              <a:rPr lang="en-US" sz="800" dirty="0">
                <a:solidFill>
                  <a:srgbClr val="DCE6F2"/>
                </a:solidFill>
                <a:latin typeface="Consolas" pitchFamily="34" charset="0"/>
                <a:ea typeface="Consolas" pitchFamily="34" charset="-122"/>
                <a:cs typeface="Consolas" pitchFamily="34" charset="-120"/>
              </a:rPr>
              <a:t>: </a:t>
            </a:r>
            <a:r>
              <a:rPr lang="en-US" sz="800" dirty="0">
                <a:solidFill>
                  <a:srgbClr val="B5E48C"/>
                </a:solidFill>
                <a:latin typeface="Consolas" pitchFamily="34" charset="0"/>
                <a:ea typeface="Consolas" pitchFamily="34" charset="-122"/>
                <a:cs typeface="Consolas" pitchFamily="34" charset="-120"/>
              </a:rPr>
              <a:t>"2026-09-30"</a:t>
            </a:r>
            <a:r>
              <a:rPr lang="en-US" sz="800" dirty="0">
                <a:solidFill>
                  <a:srgbClr val="DCE6F2"/>
                </a:solidFill>
                <a:latin typeface="Consolas" pitchFamily="34" charset="0"/>
                <a:ea typeface="Consolas" pitchFamily="34" charset="-122"/>
                <a:cs typeface="Consolas" pitchFamily="34" charset="-120"/>
              </a:rPr>
              <a:t>,</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"Comments"</a:t>
            </a:r>
            <a:r>
              <a:rPr lang="en-US" sz="800" dirty="0">
                <a:solidFill>
                  <a:srgbClr val="DCE6F2"/>
                </a:solidFill>
                <a:latin typeface="Consolas" pitchFamily="34" charset="0"/>
                <a:ea typeface="Consolas" pitchFamily="34" charset="-122"/>
                <a:cs typeface="Consolas" pitchFamily="34" charset="-120"/>
              </a:rPr>
              <a:t>: </a:t>
            </a:r>
            <a:r>
              <a:rPr lang="en-US" sz="800" dirty="0">
                <a:solidFill>
                  <a:srgbClr val="B5E48C"/>
                </a:solidFill>
                <a:latin typeface="Consolas" pitchFamily="34" charset="0"/>
                <a:ea typeface="Consolas" pitchFamily="34" charset="-122"/>
                <a:cs typeface="Consolas" pitchFamily="34" charset="-120"/>
              </a:rPr>
              <a:t>"OC generada vía Service Layer"</a:t>
            </a:r>
            <a:r>
              <a:rPr lang="en-US" sz="800" dirty="0">
                <a:solidFill>
                  <a:srgbClr val="DCE6F2"/>
                </a:solidFill>
                <a:latin typeface="Consolas" pitchFamily="34" charset="0"/>
                <a:ea typeface="Consolas" pitchFamily="34" charset="-122"/>
                <a:cs typeface="Consolas" pitchFamily="34" charset="-120"/>
              </a:rPr>
              <a:t>,</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"DocumentLines"</a:t>
            </a: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"ItemCode"</a:t>
            </a:r>
            <a:r>
              <a:rPr lang="en-US" sz="800" dirty="0">
                <a:solidFill>
                  <a:srgbClr val="DCE6F2"/>
                </a:solidFill>
                <a:latin typeface="Consolas" pitchFamily="34" charset="0"/>
                <a:ea typeface="Consolas" pitchFamily="34" charset="-122"/>
                <a:cs typeface="Consolas" pitchFamily="34" charset="-120"/>
              </a:rPr>
              <a:t>: </a:t>
            </a:r>
            <a:r>
              <a:rPr lang="en-US" sz="800" dirty="0">
                <a:solidFill>
                  <a:srgbClr val="B5E48C"/>
                </a:solidFill>
                <a:latin typeface="Consolas" pitchFamily="34" charset="0"/>
                <a:ea typeface="Consolas" pitchFamily="34" charset="-122"/>
                <a:cs typeface="Consolas" pitchFamily="34" charset="-120"/>
              </a:rPr>
              <a:t>"PT-0001"</a:t>
            </a:r>
            <a:r>
              <a:rPr lang="en-US" sz="800" dirty="0">
                <a:solidFill>
                  <a:srgbClr val="DCE6F2"/>
                </a:solidFill>
                <a:latin typeface="Consolas" pitchFamily="34" charset="0"/>
                <a:ea typeface="Consolas" pitchFamily="34" charset="-122"/>
                <a:cs typeface="Consolas" pitchFamily="34" charset="-120"/>
              </a:rPr>
              <a:t>,</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"Quantity"</a:t>
            </a:r>
            <a:r>
              <a:rPr lang="en-US" sz="800" dirty="0">
                <a:solidFill>
                  <a:srgbClr val="DCE6F2"/>
                </a:solidFill>
                <a:latin typeface="Consolas" pitchFamily="34" charset="0"/>
                <a:ea typeface="Consolas" pitchFamily="34" charset="-122"/>
                <a:cs typeface="Consolas" pitchFamily="34" charset="-120"/>
              </a:rPr>
              <a:t>: 10,</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"UnitPrice"</a:t>
            </a:r>
            <a:r>
              <a:rPr lang="en-US" sz="800" dirty="0">
                <a:solidFill>
                  <a:srgbClr val="DCE6F2"/>
                </a:solidFill>
                <a:latin typeface="Consolas" pitchFamily="34" charset="0"/>
                <a:ea typeface="Consolas" pitchFamily="34" charset="-122"/>
                <a:cs typeface="Consolas" pitchFamily="34" charset="-120"/>
              </a:rPr>
              <a:t>: 2500,</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"TaxCode"</a:t>
            </a:r>
            <a:r>
              <a:rPr lang="en-US" sz="800" dirty="0">
                <a:solidFill>
                  <a:srgbClr val="DCE6F2"/>
                </a:solidFill>
                <a:latin typeface="Consolas" pitchFamily="34" charset="0"/>
                <a:ea typeface="Consolas" pitchFamily="34" charset="-122"/>
                <a:cs typeface="Consolas" pitchFamily="34" charset="-120"/>
              </a:rPr>
              <a:t>: </a:t>
            </a:r>
            <a:r>
              <a:rPr lang="en-US" sz="800" dirty="0">
                <a:solidFill>
                  <a:srgbClr val="B5E48C"/>
                </a:solidFill>
                <a:latin typeface="Consolas" pitchFamily="34" charset="0"/>
                <a:ea typeface="Consolas" pitchFamily="34" charset="-122"/>
                <a:cs typeface="Consolas" pitchFamily="34" charset="-120"/>
              </a:rPr>
              <a:t>"IGV"</a:t>
            </a:r>
            <a:r>
              <a:rPr lang="en-US" sz="800" dirty="0">
                <a:solidFill>
                  <a:srgbClr val="DCE6F2"/>
                </a:solidFill>
                <a:latin typeface="Consolas" pitchFamily="34" charset="0"/>
                <a:ea typeface="Consolas" pitchFamily="34" charset="-122"/>
                <a:cs typeface="Consolas" pitchFamily="34" charset="-120"/>
              </a:rPr>
              <a:t>,</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"WarehouseCode"</a:t>
            </a:r>
            <a:r>
              <a:rPr lang="en-US" sz="800" dirty="0">
                <a:solidFill>
                  <a:srgbClr val="DCE6F2"/>
                </a:solidFill>
                <a:latin typeface="Consolas" pitchFamily="34" charset="0"/>
                <a:ea typeface="Consolas" pitchFamily="34" charset="-122"/>
                <a:cs typeface="Consolas" pitchFamily="34" charset="-120"/>
              </a:rPr>
              <a:t>: </a:t>
            </a:r>
            <a:r>
              <a:rPr lang="en-US" sz="800" dirty="0">
                <a:solidFill>
                  <a:srgbClr val="B5E48C"/>
                </a:solidFill>
                <a:latin typeface="Consolas" pitchFamily="34" charset="0"/>
                <a:ea typeface="Consolas" pitchFamily="34" charset="-122"/>
                <a:cs typeface="Consolas" pitchFamily="34" charset="-120"/>
              </a:rPr>
              <a:t>"01"</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a:t>
            </a:r>
            <a:endParaRPr lang="en-US" sz="800" dirty="0"/>
          </a:p>
        </p:txBody>
      </p:sp>
      <p:sp>
        <p:nvSpPr>
          <p:cNvPr id="13" name="Text 11"/>
          <p:cNvSpPr txBox="1"/>
          <p:nvPr/>
        </p:nvSpPr>
        <p:spPr>
          <a:xfrm>
            <a:off x="457200" y="4297680"/>
            <a:ext cx="4023360" cy="457200"/>
          </a:xfrm>
          <a:prstGeom prst="rect">
            <a:avLst/>
          </a:prstGeom>
          <a:noFill/>
          <a:ln/>
        </p:spPr>
        <p:txBody>
          <a:bodyPr wrap="square" lIns="0" tIns="0" rIns="0" bIns="0" rtlCol="0" anchor="t"/>
          <a:lstStyle/>
          <a:p>
            <a:pPr marL="0" indent="0">
              <a:buNone/>
            </a:pPr>
            <a:r>
              <a:rPr lang="en-US" sz="1000" i="1" dirty="0">
                <a:solidFill>
                  <a:srgbClr val="5B6B82"/>
                </a:solidFill>
                <a:latin typeface="Calibri" pitchFamily="34" charset="0"/>
                <a:ea typeface="Calibri" pitchFamily="34" charset="-122"/>
                <a:cs typeface="Calibri" pitchFamily="34" charset="-120"/>
              </a:rPr>
              <a:t>DocDueDate: fecha de entrega. TaxCode y WarehouseCode según la configuración de la compañía.</a:t>
            </a:r>
            <a:endParaRPr lang="en-US" sz="1000" dirty="0"/>
          </a:p>
        </p:txBody>
      </p:sp>
      <p:sp>
        <p:nvSpPr>
          <p:cNvPr id="14" name="Shape 12"/>
          <p:cNvSpPr/>
          <p:nvPr/>
        </p:nvSpPr>
        <p:spPr>
          <a:xfrm>
            <a:off x="4663440" y="1417320"/>
            <a:ext cx="4023360" cy="2788920"/>
          </a:xfrm>
          <a:prstGeom prst="roundRect">
            <a:avLst>
              <a:gd name="adj" fmla="val 2295"/>
            </a:avLst>
          </a:prstGeom>
          <a:solidFill>
            <a:srgbClr val="0E1B2E"/>
          </a:solidFill>
          <a:ln w="12700">
            <a:solidFill>
              <a:srgbClr val="0E1B2E"/>
            </a:solidFill>
            <a:prstDash val="solid"/>
          </a:ln>
          <a:effectLst>
            <a:outerShdw blurRad="101600" dist="25400" dir="5400000" algn="bl" rotWithShape="0">
              <a:srgbClr val="0B2A55">
                <a:alpha val="12000"/>
              </a:srgbClr>
            </a:outerShdw>
          </a:effectLst>
        </p:spPr>
      </p:sp>
      <p:sp>
        <p:nvSpPr>
          <p:cNvPr id="15" name="Shape 13"/>
          <p:cNvSpPr/>
          <p:nvPr/>
        </p:nvSpPr>
        <p:spPr>
          <a:xfrm>
            <a:off x="4800600" y="1527048"/>
            <a:ext cx="73152" cy="73152"/>
          </a:xfrm>
          <a:prstGeom prst="ellipse">
            <a:avLst/>
          </a:prstGeom>
          <a:solidFill>
            <a:srgbClr val="FF5F56"/>
          </a:solidFill>
          <a:ln w="12700">
            <a:solidFill>
              <a:srgbClr val="FF5F56"/>
            </a:solidFill>
            <a:prstDash val="solid"/>
          </a:ln>
        </p:spPr>
      </p:sp>
      <p:sp>
        <p:nvSpPr>
          <p:cNvPr id="16" name="Shape 14"/>
          <p:cNvSpPr/>
          <p:nvPr/>
        </p:nvSpPr>
        <p:spPr>
          <a:xfrm>
            <a:off x="4928616" y="1527048"/>
            <a:ext cx="73152" cy="73152"/>
          </a:xfrm>
          <a:prstGeom prst="ellipse">
            <a:avLst/>
          </a:prstGeom>
          <a:solidFill>
            <a:srgbClr val="FFBD2E"/>
          </a:solidFill>
          <a:ln w="12700">
            <a:solidFill>
              <a:srgbClr val="FFBD2E"/>
            </a:solidFill>
            <a:prstDash val="solid"/>
          </a:ln>
        </p:spPr>
      </p:sp>
      <p:sp>
        <p:nvSpPr>
          <p:cNvPr id="17" name="Shape 15"/>
          <p:cNvSpPr/>
          <p:nvPr/>
        </p:nvSpPr>
        <p:spPr>
          <a:xfrm>
            <a:off x="5056632" y="1527048"/>
            <a:ext cx="73152" cy="73152"/>
          </a:xfrm>
          <a:prstGeom prst="ellipse">
            <a:avLst/>
          </a:prstGeom>
          <a:solidFill>
            <a:srgbClr val="27C93F"/>
          </a:solidFill>
          <a:ln w="12700">
            <a:solidFill>
              <a:srgbClr val="27C93F"/>
            </a:solidFill>
            <a:prstDash val="solid"/>
          </a:ln>
        </p:spPr>
      </p:sp>
      <p:sp>
        <p:nvSpPr>
          <p:cNvPr id="18" name="Text 16"/>
          <p:cNvSpPr txBox="1"/>
          <p:nvPr/>
        </p:nvSpPr>
        <p:spPr>
          <a:xfrm>
            <a:off x="5230368" y="1472184"/>
            <a:ext cx="3337560" cy="182880"/>
          </a:xfrm>
          <a:prstGeom prst="rect">
            <a:avLst/>
          </a:prstGeom>
          <a:noFill/>
          <a:ln/>
        </p:spPr>
        <p:txBody>
          <a:bodyPr wrap="square" lIns="0" tIns="0" rIns="0" bIns="0" rtlCol="0" anchor="ctr"/>
          <a:lstStyle/>
          <a:p>
            <a:pPr marL="0" indent="0">
              <a:buNone/>
            </a:pPr>
            <a:r>
              <a:rPr lang="en-US" sz="850" b="1" dirty="0">
                <a:solidFill>
                  <a:srgbClr val="F5A800"/>
                </a:solidFill>
                <a:latin typeface="Segoe UI" pitchFamily="34" charset="0"/>
                <a:ea typeface="Segoe UI" pitchFamily="34" charset="-122"/>
                <a:cs typeface="Segoe UI" pitchFamily="34" charset="-120"/>
              </a:rPr>
              <a:t>POST · PurchaseDeliveryNotes</a:t>
            </a:r>
            <a:endParaRPr lang="en-US" sz="850" dirty="0"/>
          </a:p>
        </p:txBody>
      </p:sp>
      <p:sp>
        <p:nvSpPr>
          <p:cNvPr id="19" name="Text 17"/>
          <p:cNvSpPr txBox="1"/>
          <p:nvPr/>
        </p:nvSpPr>
        <p:spPr>
          <a:xfrm>
            <a:off x="4800600" y="1709928"/>
            <a:ext cx="3749040" cy="2423160"/>
          </a:xfrm>
          <a:prstGeom prst="rect">
            <a:avLst/>
          </a:prstGeom>
          <a:noFill/>
          <a:ln/>
        </p:spPr>
        <p:txBody>
          <a:bodyPr wrap="square" lIns="0" tIns="0" rIns="0" bIns="0" rtlCol="0" anchor="t"/>
          <a:lstStyle/>
          <a:p>
            <a:pPr marL="0" indent="0">
              <a:lnSpc>
                <a:spcPct val="100000"/>
              </a:lnSpc>
              <a:buNone/>
            </a:pPr>
            <a:r>
              <a:rPr lang="en-US" sz="800" b="1" dirty="0">
                <a:solidFill>
                  <a:srgbClr val="F5A800"/>
                </a:solidFill>
                <a:latin typeface="Consolas" pitchFamily="34" charset="0"/>
                <a:ea typeface="Consolas" pitchFamily="34" charset="-122"/>
                <a:cs typeface="Consolas" pitchFamily="34" charset="-120"/>
              </a:rPr>
              <a:t>curl</a:t>
            </a:r>
            <a:r>
              <a:rPr lang="en-US" sz="800" dirty="0">
                <a:solidFill>
                  <a:srgbClr val="DCE6F2"/>
                </a:solidFill>
                <a:latin typeface="Consolas" pitchFamily="34" charset="0"/>
                <a:ea typeface="Consolas" pitchFamily="34" charset="-122"/>
                <a:cs typeface="Consolas" pitchFamily="34" charset="-120"/>
              </a:rPr>
              <a:t> -k -X </a:t>
            </a:r>
            <a:r>
              <a:rPr lang="en-US" sz="800" b="1" dirty="0">
                <a:solidFill>
                  <a:srgbClr val="F5A800"/>
                </a:solidFill>
                <a:latin typeface="Consolas" pitchFamily="34" charset="0"/>
                <a:ea typeface="Consolas" pitchFamily="34" charset="-122"/>
                <a:cs typeface="Consolas" pitchFamily="34" charset="-120"/>
              </a:rPr>
              <a:t>POST</a:t>
            </a:r>
            <a:r>
              <a:rPr lang="en-US" sz="800" dirty="0">
                <a:solidFill>
                  <a:srgbClr val="DCE6F2"/>
                </a:solidFill>
                <a:latin typeface="Consolas" pitchFamily="34" charset="0"/>
                <a:ea typeface="Consolas" pitchFamily="34" charset="-122"/>
                <a:cs typeface="Consolas" pitchFamily="34" charset="-120"/>
              </a:rPr>
              <a:t> </a:t>
            </a:r>
            <a:r>
              <a:rPr lang="en-US" sz="800" dirty="0">
                <a:solidFill>
                  <a:srgbClr val="B5E48C"/>
                </a:solidFill>
                <a:latin typeface="Consolas" pitchFamily="34" charset="0"/>
                <a:ea typeface="Consolas" pitchFamily="34" charset="-122"/>
                <a:cs typeface="Consolas" pitchFamily="34" charset="-120"/>
              </a:rPr>
              <a:t>"$SL/PurchaseDeliveryNotes"</a:t>
            </a: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-H </a:t>
            </a:r>
            <a:r>
              <a:rPr lang="en-US" sz="800" dirty="0">
                <a:solidFill>
                  <a:srgbClr val="B5E48C"/>
                </a:solidFill>
                <a:latin typeface="Consolas" pitchFamily="34" charset="0"/>
                <a:ea typeface="Consolas" pitchFamily="34" charset="-122"/>
                <a:cs typeface="Consolas" pitchFamily="34" charset="-120"/>
              </a:rPr>
              <a:t>"Content-Type: application/json"</a:t>
            </a: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-b cookies.txt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-d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"CardCode"</a:t>
            </a:r>
            <a:r>
              <a:rPr lang="en-US" sz="800" dirty="0">
                <a:solidFill>
                  <a:srgbClr val="DCE6F2"/>
                </a:solidFill>
                <a:latin typeface="Consolas" pitchFamily="34" charset="0"/>
                <a:ea typeface="Consolas" pitchFamily="34" charset="-122"/>
                <a:cs typeface="Consolas" pitchFamily="34" charset="-120"/>
              </a:rPr>
              <a:t>: </a:t>
            </a:r>
            <a:r>
              <a:rPr lang="en-US" sz="800" dirty="0">
                <a:solidFill>
                  <a:srgbClr val="B5E48C"/>
                </a:solidFill>
                <a:latin typeface="Consolas" pitchFamily="34" charset="0"/>
                <a:ea typeface="Consolas" pitchFamily="34" charset="-122"/>
                <a:cs typeface="Consolas" pitchFamily="34" charset="-120"/>
              </a:rPr>
              <a:t>"P20100070970"</a:t>
            </a:r>
            <a:r>
              <a:rPr lang="en-US" sz="800" dirty="0">
                <a:solidFill>
                  <a:srgbClr val="DCE6F2"/>
                </a:solidFill>
                <a:latin typeface="Consolas" pitchFamily="34" charset="0"/>
                <a:ea typeface="Consolas" pitchFamily="34" charset="-122"/>
                <a:cs typeface="Consolas" pitchFamily="34" charset="-120"/>
              </a:rPr>
              <a:t>,</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"DocDate"</a:t>
            </a:r>
            <a:r>
              <a:rPr lang="en-US" sz="800" dirty="0">
                <a:solidFill>
                  <a:srgbClr val="DCE6F2"/>
                </a:solidFill>
                <a:latin typeface="Consolas" pitchFamily="34" charset="0"/>
                <a:ea typeface="Consolas" pitchFamily="34" charset="-122"/>
                <a:cs typeface="Consolas" pitchFamily="34" charset="-120"/>
              </a:rPr>
              <a:t>: </a:t>
            </a:r>
            <a:r>
              <a:rPr lang="en-US" sz="800" dirty="0">
                <a:solidFill>
                  <a:srgbClr val="B5E48C"/>
                </a:solidFill>
                <a:latin typeface="Consolas" pitchFamily="34" charset="0"/>
                <a:ea typeface="Consolas" pitchFamily="34" charset="-122"/>
                <a:cs typeface="Consolas" pitchFamily="34" charset="-120"/>
              </a:rPr>
              <a:t>"2026-09-25"</a:t>
            </a:r>
            <a:r>
              <a:rPr lang="en-US" sz="800" dirty="0">
                <a:solidFill>
                  <a:srgbClr val="DCE6F2"/>
                </a:solidFill>
                <a:latin typeface="Consolas" pitchFamily="34" charset="0"/>
                <a:ea typeface="Consolas" pitchFamily="34" charset="-122"/>
                <a:cs typeface="Consolas" pitchFamily="34" charset="-120"/>
              </a:rPr>
              <a:t>,</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"DocumentLines"</a:t>
            </a: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"BaseType"</a:t>
            </a:r>
            <a:r>
              <a:rPr lang="en-US" sz="800" dirty="0">
                <a:solidFill>
                  <a:srgbClr val="DCE6F2"/>
                </a:solidFill>
                <a:latin typeface="Consolas" pitchFamily="34" charset="0"/>
                <a:ea typeface="Consolas" pitchFamily="34" charset="-122"/>
                <a:cs typeface="Consolas" pitchFamily="34" charset="-120"/>
              </a:rPr>
              <a:t>: 22,</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"BaseEntry"</a:t>
            </a:r>
            <a:r>
              <a:rPr lang="en-US" sz="800" dirty="0">
                <a:solidFill>
                  <a:srgbClr val="DCE6F2"/>
                </a:solidFill>
                <a:latin typeface="Consolas" pitchFamily="34" charset="0"/>
                <a:ea typeface="Consolas" pitchFamily="34" charset="-122"/>
                <a:cs typeface="Consolas" pitchFamily="34" charset="-120"/>
              </a:rPr>
              <a:t>: 1045,</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"BaseLine"</a:t>
            </a:r>
            <a:r>
              <a:rPr lang="en-US" sz="800" dirty="0">
                <a:solidFill>
                  <a:srgbClr val="DCE6F2"/>
                </a:solidFill>
                <a:latin typeface="Consolas" pitchFamily="34" charset="0"/>
                <a:ea typeface="Consolas" pitchFamily="34" charset="-122"/>
                <a:cs typeface="Consolas" pitchFamily="34" charset="-120"/>
              </a:rPr>
              <a:t>: 0,</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"Quantity"</a:t>
            </a:r>
            <a:r>
              <a:rPr lang="en-US" sz="800" dirty="0">
                <a:solidFill>
                  <a:srgbClr val="DCE6F2"/>
                </a:solidFill>
                <a:latin typeface="Consolas" pitchFamily="34" charset="0"/>
                <a:ea typeface="Consolas" pitchFamily="34" charset="-122"/>
                <a:cs typeface="Consolas" pitchFamily="34" charset="-120"/>
              </a:rPr>
              <a:t>: 10,</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"WarehouseCode"</a:t>
            </a:r>
            <a:r>
              <a:rPr lang="en-US" sz="800" dirty="0">
                <a:solidFill>
                  <a:srgbClr val="DCE6F2"/>
                </a:solidFill>
                <a:latin typeface="Consolas" pitchFamily="34" charset="0"/>
                <a:ea typeface="Consolas" pitchFamily="34" charset="-122"/>
                <a:cs typeface="Consolas" pitchFamily="34" charset="-120"/>
              </a:rPr>
              <a:t>: </a:t>
            </a:r>
            <a:r>
              <a:rPr lang="en-US" sz="800" dirty="0">
                <a:solidFill>
                  <a:srgbClr val="B5E48C"/>
                </a:solidFill>
                <a:latin typeface="Consolas" pitchFamily="34" charset="0"/>
                <a:ea typeface="Consolas" pitchFamily="34" charset="-122"/>
                <a:cs typeface="Consolas" pitchFamily="34" charset="-120"/>
              </a:rPr>
              <a:t>"01"</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a:t>
            </a:r>
            <a:endParaRPr lang="en-US" sz="800" dirty="0"/>
          </a:p>
        </p:txBody>
      </p:sp>
      <p:sp>
        <p:nvSpPr>
          <p:cNvPr id="20" name="Text 18"/>
          <p:cNvSpPr txBox="1"/>
          <p:nvPr/>
        </p:nvSpPr>
        <p:spPr>
          <a:xfrm>
            <a:off x="4663440" y="4297680"/>
            <a:ext cx="4023360" cy="457200"/>
          </a:xfrm>
          <a:prstGeom prst="rect">
            <a:avLst/>
          </a:prstGeom>
          <a:noFill/>
          <a:ln/>
        </p:spPr>
        <p:txBody>
          <a:bodyPr wrap="square" lIns="0" tIns="0" rIns="0" bIns="0" rtlCol="0" anchor="t"/>
          <a:lstStyle/>
          <a:p>
            <a:pPr marL="0" indent="0">
              <a:buNone/>
            </a:pPr>
            <a:r>
              <a:rPr lang="en-US" sz="1000" i="1" dirty="0">
                <a:solidFill>
                  <a:srgbClr val="5B6B82"/>
                </a:solidFill>
                <a:latin typeface="Calibri" pitchFamily="34" charset="0"/>
                <a:ea typeface="Calibri" pitchFamily="34" charset="-122"/>
                <a:cs typeface="Calibri" pitchFamily="34" charset="-120"/>
              </a:rPr>
              <a:t>BaseType 22 = orden de compra · BaseEntry = DocEntry de la OC · BaseLine = LineNum de la línea origen.</a:t>
            </a:r>
            <a:endParaRPr lang="en-US" sz="1000" dirty="0"/>
          </a:p>
        </p:txBody>
      </p:sp>
      <p:sp>
        <p:nvSpPr>
          <p:cNvPr id="21" name="Text 19"/>
          <p:cNvSpPr txBox="1"/>
          <p:nvPr/>
        </p:nvSpPr>
        <p:spPr>
          <a:xfrm>
            <a:off x="4663440" y="4828032"/>
            <a:ext cx="3474720" cy="182880"/>
          </a:xfrm>
          <a:prstGeom prst="rect">
            <a:avLst/>
          </a:prstGeom>
          <a:noFill/>
          <a:ln/>
        </p:spPr>
        <p:txBody>
          <a:bodyPr wrap="square" lIns="0" tIns="0" rIns="0" bIns="0" rtlCol="0" anchor="t"/>
          <a:lstStyle/>
          <a:p>
            <a:pPr marL="0" indent="0" algn="r">
              <a:buNone/>
            </a:pPr>
            <a:r>
              <a:rPr lang="en-US" sz="800" b="1" dirty="0">
                <a:solidFill>
                  <a:srgbClr val="0B4DA2"/>
                </a:solidFill>
                <a:latin typeface="Consolas" pitchFamily="34" charset="0"/>
                <a:ea typeface="Consolas" pitchFamily="34" charset="-122"/>
                <a:cs typeface="Consolas" pitchFamily="34" charset="-120"/>
              </a:rPr>
              <a:t>$SL</a:t>
            </a:r>
            <a:r>
              <a:rPr lang="en-US" sz="800" dirty="0">
                <a:solidFill>
                  <a:srgbClr val="8A9AB0"/>
                </a:solidFill>
                <a:latin typeface="Calibri" pitchFamily="34" charset="0"/>
                <a:ea typeface="Calibri" pitchFamily="34" charset="-122"/>
                <a:cs typeface="Calibri" pitchFamily="34" charset="-120"/>
              </a:rPr>
              <a:t> = https://sapserver:50000/b1s/v1   ·   cookies.txt obtenido en el Login</a:t>
            </a:r>
            <a:endParaRPr lang="en-US" sz="800" dirty="0"/>
          </a:p>
        </p:txBody>
      </p:sp>
      <p:sp>
        <p:nvSpPr>
          <p:cNvPr id="25"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xmlns="" val="0"/>
            </a:ext>
          </a:extLst>
        </p:spPr>
        <p:txBody>
          <a:bodyPr/>
          <a:lstStyle>
            <a:lvl1pPr>
              <a:defRPr sz="800">
                <a:solidFill>
                  <a:srgbClr val="8A9AB0"/>
                </a:solidFill>
                <a:latin typeface="Calibri"/>
                <a:ea typeface="Calibri"/>
                <a:cs typeface="Calibri"/>
              </a:defRPr>
            </a:lvl1pPr>
          </a:lstStyle>
          <a:p>
            <a:pPr algn="r"/>
            <a:fld id="{F7021451-1387-4CA6-816F-3879F97B5CBC}" type="slidenum">
              <a:rPr lang="en-US" b="0"/>
              <a:t>22</a:t>
            </a:fld>
            <a:endParaRPr 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457200" y="256032"/>
            <a:ext cx="2434133" cy="237744"/>
          </a:xfrm>
          <a:prstGeom prst="roundRect">
            <a:avLst>
              <a:gd name="adj" fmla="val 50000"/>
            </a:avLst>
          </a:prstGeom>
          <a:solidFill>
            <a:srgbClr val="071B3F"/>
          </a:solidFill>
          <a:ln w="12700">
            <a:solidFill>
              <a:srgbClr val="071B3F"/>
            </a:solidFill>
            <a:prstDash val="solid"/>
          </a:ln>
        </p:spPr>
      </p:sp>
      <p:sp>
        <p:nvSpPr>
          <p:cNvPr id="3" name="Text 1"/>
          <p:cNvSpPr txBox="1"/>
          <p:nvPr/>
        </p:nvSpPr>
        <p:spPr>
          <a:xfrm>
            <a:off x="457200" y="256032"/>
            <a:ext cx="2434133" cy="237744"/>
          </a:xfrm>
          <a:prstGeom prst="rect">
            <a:avLst/>
          </a:prstGeom>
          <a:noFill/>
          <a:ln/>
        </p:spPr>
        <p:txBody>
          <a:bodyPr wrap="square" lIns="0" tIns="0" rIns="0" bIns="0" rtlCol="0" anchor="ctr"/>
          <a:lstStyle/>
          <a:p>
            <a:pPr marL="0" indent="0" algn="ctr">
              <a:buNone/>
            </a:pPr>
            <a:r>
              <a:rPr lang="en-US" sz="850" b="1" kern="0" spc="100" dirty="0">
                <a:solidFill>
                  <a:srgbClr val="F5A800"/>
                </a:solidFill>
                <a:latin typeface="Segoe UI" pitchFamily="34" charset="0"/>
                <a:ea typeface="Segoe UI" pitchFamily="34" charset="-122"/>
                <a:cs typeface="Segoe UI" pitchFamily="34" charset="-120"/>
              </a:rPr>
              <a:t>04  ·  FLUJOS DE OPERACIÓN II</a:t>
            </a:r>
            <a:endParaRPr lang="en-US" sz="850" dirty="0"/>
          </a:p>
        </p:txBody>
      </p:sp>
      <p:sp>
        <p:nvSpPr>
          <p:cNvPr id="4" name="Text 2"/>
          <p:cNvSpPr txBox="1"/>
          <p:nvPr/>
        </p:nvSpPr>
        <p:spPr>
          <a:xfrm>
            <a:off x="457200" y="566928"/>
            <a:ext cx="8229600" cy="502920"/>
          </a:xfrm>
          <a:prstGeom prst="rect">
            <a:avLst/>
          </a:prstGeom>
          <a:noFill/>
          <a:ln/>
        </p:spPr>
        <p:txBody>
          <a:bodyPr wrap="square" lIns="0" tIns="0" rIns="0" bIns="0" rtlCol="0" anchor="ctr"/>
          <a:lstStyle/>
          <a:p>
            <a:pPr marL="0" indent="0">
              <a:buNone/>
            </a:pPr>
            <a:r>
              <a:rPr lang="en-US" sz="2400" b="1" dirty="0">
                <a:solidFill>
                  <a:srgbClr val="071B3F"/>
                </a:solidFill>
                <a:latin typeface="Segoe UI" pitchFamily="34" charset="0"/>
                <a:ea typeface="Segoe UI" pitchFamily="34" charset="-122"/>
                <a:cs typeface="Segoe UI" pitchFamily="34" charset="-120"/>
              </a:rPr>
              <a:t>Compras II: factura y nota de crédito</a:t>
            </a:r>
            <a:endParaRPr lang="en-US" sz="2400" dirty="0"/>
          </a:p>
        </p:txBody>
      </p:sp>
      <p:sp>
        <p:nvSpPr>
          <p:cNvPr id="5" name="Text 3"/>
          <p:cNvSpPr txBox="1"/>
          <p:nvPr/>
        </p:nvSpPr>
        <p:spPr>
          <a:xfrm>
            <a:off x="457200" y="1051560"/>
            <a:ext cx="8229600" cy="274320"/>
          </a:xfrm>
          <a:prstGeom prst="rect">
            <a:avLst/>
          </a:prstGeom>
          <a:noFill/>
          <a:ln/>
        </p:spPr>
        <p:txBody>
          <a:bodyPr wrap="square" lIns="0" tIns="0" rIns="0" bIns="0" rtlCol="0" anchor="ctr"/>
          <a:lstStyle/>
          <a:p>
            <a:pPr marL="0" indent="0">
              <a:buNone/>
            </a:pPr>
            <a:r>
              <a:rPr lang="en-US" sz="1250" dirty="0">
                <a:solidFill>
                  <a:srgbClr val="5B6B82"/>
                </a:solidFill>
                <a:latin typeface="Calibri" pitchFamily="34" charset="0"/>
                <a:ea typeface="Calibri" pitchFamily="34" charset="-122"/>
                <a:cs typeface="Calibri" pitchFamily="34" charset="-120"/>
              </a:rPr>
              <a:t>Continuamos la cadena documental desde la entrada y la factura</a:t>
            </a:r>
            <a:endParaRPr lang="en-US" sz="1250" dirty="0"/>
          </a:p>
        </p:txBody>
      </p:sp>
      <p:sp>
        <p:nvSpPr>
          <p:cNvPr id="6" name="Text 4"/>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00" dirty="0">
                <a:solidFill>
                  <a:srgbClr val="8A9AB0"/>
                </a:solidFill>
                <a:latin typeface="Calibri" pitchFamily="34" charset="0"/>
                <a:ea typeface="Calibri" pitchFamily="34" charset="-122"/>
                <a:cs typeface="Calibri" pitchFamily="34" charset="-120"/>
              </a:rPr>
              <a:t>Ventura Soluciones  |  SAP Business One · Service Layer</a:t>
            </a:r>
            <a:endParaRPr lang="en-US" sz="800" dirty="0"/>
          </a:p>
        </p:txBody>
      </p:sp>
      <p:sp>
        <p:nvSpPr>
          <p:cNvPr id="7" name="Shape 5"/>
          <p:cNvSpPr/>
          <p:nvPr/>
        </p:nvSpPr>
        <p:spPr>
          <a:xfrm>
            <a:off x="457200" y="1417320"/>
            <a:ext cx="4023360" cy="2788920"/>
          </a:xfrm>
          <a:prstGeom prst="roundRect">
            <a:avLst>
              <a:gd name="adj" fmla="val 2295"/>
            </a:avLst>
          </a:prstGeom>
          <a:solidFill>
            <a:srgbClr val="0E1B2E"/>
          </a:solidFill>
          <a:ln w="12700">
            <a:solidFill>
              <a:srgbClr val="0E1B2E"/>
            </a:solidFill>
            <a:prstDash val="solid"/>
          </a:ln>
          <a:effectLst>
            <a:outerShdw blurRad="101600" dist="25400" dir="5400000" algn="bl" rotWithShape="0">
              <a:srgbClr val="0B2A55">
                <a:alpha val="12000"/>
              </a:srgbClr>
            </a:outerShdw>
          </a:effectLst>
        </p:spPr>
      </p:sp>
      <p:sp>
        <p:nvSpPr>
          <p:cNvPr id="8" name="Shape 6"/>
          <p:cNvSpPr/>
          <p:nvPr/>
        </p:nvSpPr>
        <p:spPr>
          <a:xfrm>
            <a:off x="594360" y="1527048"/>
            <a:ext cx="73152" cy="73152"/>
          </a:xfrm>
          <a:prstGeom prst="ellipse">
            <a:avLst/>
          </a:prstGeom>
          <a:solidFill>
            <a:srgbClr val="FF5F56"/>
          </a:solidFill>
          <a:ln w="12700">
            <a:solidFill>
              <a:srgbClr val="FF5F56"/>
            </a:solidFill>
            <a:prstDash val="solid"/>
          </a:ln>
        </p:spPr>
      </p:sp>
      <p:sp>
        <p:nvSpPr>
          <p:cNvPr id="9" name="Shape 7"/>
          <p:cNvSpPr/>
          <p:nvPr/>
        </p:nvSpPr>
        <p:spPr>
          <a:xfrm>
            <a:off x="722376" y="1527048"/>
            <a:ext cx="73152" cy="73152"/>
          </a:xfrm>
          <a:prstGeom prst="ellipse">
            <a:avLst/>
          </a:prstGeom>
          <a:solidFill>
            <a:srgbClr val="FFBD2E"/>
          </a:solidFill>
          <a:ln w="12700">
            <a:solidFill>
              <a:srgbClr val="FFBD2E"/>
            </a:solidFill>
            <a:prstDash val="solid"/>
          </a:ln>
        </p:spPr>
      </p:sp>
      <p:sp>
        <p:nvSpPr>
          <p:cNvPr id="10" name="Shape 8"/>
          <p:cNvSpPr/>
          <p:nvPr/>
        </p:nvSpPr>
        <p:spPr>
          <a:xfrm>
            <a:off x="850392" y="1527048"/>
            <a:ext cx="73152" cy="73152"/>
          </a:xfrm>
          <a:prstGeom prst="ellipse">
            <a:avLst/>
          </a:prstGeom>
          <a:solidFill>
            <a:srgbClr val="27C93F"/>
          </a:solidFill>
          <a:ln w="12700">
            <a:solidFill>
              <a:srgbClr val="27C93F"/>
            </a:solidFill>
            <a:prstDash val="solid"/>
          </a:ln>
        </p:spPr>
      </p:sp>
      <p:sp>
        <p:nvSpPr>
          <p:cNvPr id="11" name="Text 9"/>
          <p:cNvSpPr txBox="1"/>
          <p:nvPr/>
        </p:nvSpPr>
        <p:spPr>
          <a:xfrm>
            <a:off x="1024128" y="1472184"/>
            <a:ext cx="3337560" cy="182880"/>
          </a:xfrm>
          <a:prstGeom prst="rect">
            <a:avLst/>
          </a:prstGeom>
          <a:noFill/>
          <a:ln/>
        </p:spPr>
        <p:txBody>
          <a:bodyPr wrap="square" lIns="0" tIns="0" rIns="0" bIns="0" rtlCol="0" anchor="ctr"/>
          <a:lstStyle/>
          <a:p>
            <a:pPr marL="0" indent="0">
              <a:buNone/>
            </a:pPr>
            <a:r>
              <a:rPr lang="en-US" sz="850" b="1" dirty="0">
                <a:solidFill>
                  <a:srgbClr val="F5A800"/>
                </a:solidFill>
                <a:latin typeface="Segoe UI" pitchFamily="34" charset="0"/>
                <a:ea typeface="Segoe UI" pitchFamily="34" charset="-122"/>
                <a:cs typeface="Segoe UI" pitchFamily="34" charset="-120"/>
              </a:rPr>
              <a:t>POST · PurchaseInvoices</a:t>
            </a:r>
            <a:endParaRPr lang="en-US" sz="850" dirty="0"/>
          </a:p>
        </p:txBody>
      </p:sp>
      <p:sp>
        <p:nvSpPr>
          <p:cNvPr id="12" name="Text 10"/>
          <p:cNvSpPr txBox="1"/>
          <p:nvPr/>
        </p:nvSpPr>
        <p:spPr>
          <a:xfrm>
            <a:off x="594360" y="1709928"/>
            <a:ext cx="3749040" cy="2423160"/>
          </a:xfrm>
          <a:prstGeom prst="rect">
            <a:avLst/>
          </a:prstGeom>
          <a:noFill/>
          <a:ln/>
        </p:spPr>
        <p:txBody>
          <a:bodyPr wrap="square" lIns="0" tIns="0" rIns="0" bIns="0" rtlCol="0" anchor="t"/>
          <a:lstStyle/>
          <a:p>
            <a:pPr marL="0" indent="0">
              <a:lnSpc>
                <a:spcPct val="100000"/>
              </a:lnSpc>
              <a:buNone/>
            </a:pPr>
            <a:r>
              <a:rPr lang="en-US" sz="800" b="1" dirty="0">
                <a:solidFill>
                  <a:srgbClr val="F5A800"/>
                </a:solidFill>
                <a:latin typeface="Consolas" pitchFamily="34" charset="0"/>
                <a:ea typeface="Consolas" pitchFamily="34" charset="-122"/>
                <a:cs typeface="Consolas" pitchFamily="34" charset="-120"/>
              </a:rPr>
              <a:t>curl</a:t>
            </a:r>
            <a:r>
              <a:rPr lang="en-US" sz="800" dirty="0">
                <a:solidFill>
                  <a:srgbClr val="DCE6F2"/>
                </a:solidFill>
                <a:latin typeface="Consolas" pitchFamily="34" charset="0"/>
                <a:ea typeface="Consolas" pitchFamily="34" charset="-122"/>
                <a:cs typeface="Consolas" pitchFamily="34" charset="-120"/>
              </a:rPr>
              <a:t> -k -X </a:t>
            </a:r>
            <a:r>
              <a:rPr lang="en-US" sz="800" b="1" dirty="0">
                <a:solidFill>
                  <a:srgbClr val="F5A800"/>
                </a:solidFill>
                <a:latin typeface="Consolas" pitchFamily="34" charset="0"/>
                <a:ea typeface="Consolas" pitchFamily="34" charset="-122"/>
                <a:cs typeface="Consolas" pitchFamily="34" charset="-120"/>
              </a:rPr>
              <a:t>POST</a:t>
            </a:r>
            <a:r>
              <a:rPr lang="en-US" sz="800" dirty="0">
                <a:solidFill>
                  <a:srgbClr val="DCE6F2"/>
                </a:solidFill>
                <a:latin typeface="Consolas" pitchFamily="34" charset="0"/>
                <a:ea typeface="Consolas" pitchFamily="34" charset="-122"/>
                <a:cs typeface="Consolas" pitchFamily="34" charset="-120"/>
              </a:rPr>
              <a:t> </a:t>
            </a:r>
            <a:r>
              <a:rPr lang="en-US" sz="800" dirty="0">
                <a:solidFill>
                  <a:srgbClr val="B5E48C"/>
                </a:solidFill>
                <a:latin typeface="Consolas" pitchFamily="34" charset="0"/>
                <a:ea typeface="Consolas" pitchFamily="34" charset="-122"/>
                <a:cs typeface="Consolas" pitchFamily="34" charset="-120"/>
              </a:rPr>
              <a:t>"$SL/PurchaseInvoices"</a:t>
            </a: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-H </a:t>
            </a:r>
            <a:r>
              <a:rPr lang="en-US" sz="800" dirty="0">
                <a:solidFill>
                  <a:srgbClr val="B5E48C"/>
                </a:solidFill>
                <a:latin typeface="Consolas" pitchFamily="34" charset="0"/>
                <a:ea typeface="Consolas" pitchFamily="34" charset="-122"/>
                <a:cs typeface="Consolas" pitchFamily="34" charset="-120"/>
              </a:rPr>
              <a:t>"Content-Type: application/json"</a:t>
            </a: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-b cookies.txt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-d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"CardCode"</a:t>
            </a:r>
            <a:r>
              <a:rPr lang="en-US" sz="800" dirty="0">
                <a:solidFill>
                  <a:srgbClr val="DCE6F2"/>
                </a:solidFill>
                <a:latin typeface="Consolas" pitchFamily="34" charset="0"/>
                <a:ea typeface="Consolas" pitchFamily="34" charset="-122"/>
                <a:cs typeface="Consolas" pitchFamily="34" charset="-120"/>
              </a:rPr>
              <a:t>: </a:t>
            </a:r>
            <a:r>
              <a:rPr lang="en-US" sz="800" dirty="0">
                <a:solidFill>
                  <a:srgbClr val="B5E48C"/>
                </a:solidFill>
                <a:latin typeface="Consolas" pitchFamily="34" charset="0"/>
                <a:ea typeface="Consolas" pitchFamily="34" charset="-122"/>
                <a:cs typeface="Consolas" pitchFamily="34" charset="-120"/>
              </a:rPr>
              <a:t>"P20100070970"</a:t>
            </a:r>
            <a:r>
              <a:rPr lang="en-US" sz="800" dirty="0">
                <a:solidFill>
                  <a:srgbClr val="DCE6F2"/>
                </a:solidFill>
                <a:latin typeface="Consolas" pitchFamily="34" charset="0"/>
                <a:ea typeface="Consolas" pitchFamily="34" charset="-122"/>
                <a:cs typeface="Consolas" pitchFamily="34" charset="-120"/>
              </a:rPr>
              <a:t>,</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"DocDate"</a:t>
            </a:r>
            <a:r>
              <a:rPr lang="en-US" sz="800" dirty="0">
                <a:solidFill>
                  <a:srgbClr val="DCE6F2"/>
                </a:solidFill>
                <a:latin typeface="Consolas" pitchFamily="34" charset="0"/>
                <a:ea typeface="Consolas" pitchFamily="34" charset="-122"/>
                <a:cs typeface="Consolas" pitchFamily="34" charset="-120"/>
              </a:rPr>
              <a:t>: </a:t>
            </a:r>
            <a:r>
              <a:rPr lang="en-US" sz="800" dirty="0">
                <a:solidFill>
                  <a:srgbClr val="B5E48C"/>
                </a:solidFill>
                <a:latin typeface="Consolas" pitchFamily="34" charset="0"/>
                <a:ea typeface="Consolas" pitchFamily="34" charset="-122"/>
                <a:cs typeface="Consolas" pitchFamily="34" charset="-120"/>
              </a:rPr>
              <a:t>"2026-09-26"</a:t>
            </a:r>
            <a:r>
              <a:rPr lang="en-US" sz="800" dirty="0">
                <a:solidFill>
                  <a:srgbClr val="DCE6F2"/>
                </a:solidFill>
                <a:latin typeface="Consolas" pitchFamily="34" charset="0"/>
                <a:ea typeface="Consolas" pitchFamily="34" charset="-122"/>
                <a:cs typeface="Consolas" pitchFamily="34" charset="-120"/>
              </a:rPr>
              <a:t>,</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"NumAtCard"</a:t>
            </a:r>
            <a:r>
              <a:rPr lang="en-US" sz="800" dirty="0">
                <a:solidFill>
                  <a:srgbClr val="DCE6F2"/>
                </a:solidFill>
                <a:latin typeface="Consolas" pitchFamily="34" charset="0"/>
                <a:ea typeface="Consolas" pitchFamily="34" charset="-122"/>
                <a:cs typeface="Consolas" pitchFamily="34" charset="-120"/>
              </a:rPr>
              <a:t>: </a:t>
            </a:r>
            <a:r>
              <a:rPr lang="en-US" sz="800" dirty="0">
                <a:solidFill>
                  <a:srgbClr val="B5E48C"/>
                </a:solidFill>
                <a:latin typeface="Consolas" pitchFamily="34" charset="0"/>
                <a:ea typeface="Consolas" pitchFamily="34" charset="-122"/>
                <a:cs typeface="Consolas" pitchFamily="34" charset="-120"/>
              </a:rPr>
              <a:t>"F001-000123"</a:t>
            </a:r>
            <a:r>
              <a:rPr lang="en-US" sz="800" dirty="0">
                <a:solidFill>
                  <a:srgbClr val="DCE6F2"/>
                </a:solidFill>
                <a:latin typeface="Consolas" pitchFamily="34" charset="0"/>
                <a:ea typeface="Consolas" pitchFamily="34" charset="-122"/>
                <a:cs typeface="Consolas" pitchFamily="34" charset="-120"/>
              </a:rPr>
              <a:t>,</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"DocumentLines"</a:t>
            </a: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"BaseType"</a:t>
            </a:r>
            <a:r>
              <a:rPr lang="en-US" sz="800" dirty="0">
                <a:solidFill>
                  <a:srgbClr val="DCE6F2"/>
                </a:solidFill>
                <a:latin typeface="Consolas" pitchFamily="34" charset="0"/>
                <a:ea typeface="Consolas" pitchFamily="34" charset="-122"/>
                <a:cs typeface="Consolas" pitchFamily="34" charset="-120"/>
              </a:rPr>
              <a:t>: 20,</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"BaseEntry"</a:t>
            </a:r>
            <a:r>
              <a:rPr lang="en-US" sz="800" dirty="0">
                <a:solidFill>
                  <a:srgbClr val="DCE6F2"/>
                </a:solidFill>
                <a:latin typeface="Consolas" pitchFamily="34" charset="0"/>
                <a:ea typeface="Consolas" pitchFamily="34" charset="-122"/>
                <a:cs typeface="Consolas" pitchFamily="34" charset="-120"/>
              </a:rPr>
              <a:t>: 877,</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"BaseLine"</a:t>
            </a:r>
            <a:r>
              <a:rPr lang="en-US" sz="800" dirty="0">
                <a:solidFill>
                  <a:srgbClr val="DCE6F2"/>
                </a:solidFill>
                <a:latin typeface="Consolas" pitchFamily="34" charset="0"/>
                <a:ea typeface="Consolas" pitchFamily="34" charset="-122"/>
                <a:cs typeface="Consolas" pitchFamily="34" charset="-120"/>
              </a:rPr>
              <a:t>: 0</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a:t>
            </a:r>
            <a:endParaRPr lang="en-US" sz="800" dirty="0"/>
          </a:p>
        </p:txBody>
      </p:sp>
      <p:sp>
        <p:nvSpPr>
          <p:cNvPr id="13" name="Text 11"/>
          <p:cNvSpPr txBox="1"/>
          <p:nvPr/>
        </p:nvSpPr>
        <p:spPr>
          <a:xfrm>
            <a:off x="457200" y="4297680"/>
            <a:ext cx="4023360" cy="457200"/>
          </a:xfrm>
          <a:prstGeom prst="rect">
            <a:avLst/>
          </a:prstGeom>
          <a:noFill/>
          <a:ln/>
        </p:spPr>
        <p:txBody>
          <a:bodyPr wrap="square" lIns="0" tIns="0" rIns="0" bIns="0" rtlCol="0" anchor="t"/>
          <a:lstStyle/>
          <a:p>
            <a:pPr marL="0" indent="0">
              <a:buNone/>
            </a:pPr>
            <a:r>
              <a:rPr lang="en-US" sz="1000" i="1" dirty="0">
                <a:solidFill>
                  <a:srgbClr val="5B6B82"/>
                </a:solidFill>
                <a:latin typeface="Calibri" pitchFamily="34" charset="0"/>
                <a:ea typeface="Calibri" pitchFamily="34" charset="-122"/>
                <a:cs typeface="Calibri" pitchFamily="34" charset="-120"/>
              </a:rPr>
              <a:t>BaseType 20 = entrada de mercancía. NumAtCard: número del documento del proveedor.</a:t>
            </a:r>
            <a:endParaRPr lang="en-US" sz="1000" dirty="0"/>
          </a:p>
        </p:txBody>
      </p:sp>
      <p:sp>
        <p:nvSpPr>
          <p:cNvPr id="14" name="Shape 12"/>
          <p:cNvSpPr/>
          <p:nvPr/>
        </p:nvSpPr>
        <p:spPr>
          <a:xfrm>
            <a:off x="4663440" y="1417320"/>
            <a:ext cx="4023360" cy="2788920"/>
          </a:xfrm>
          <a:prstGeom prst="roundRect">
            <a:avLst>
              <a:gd name="adj" fmla="val 2295"/>
            </a:avLst>
          </a:prstGeom>
          <a:solidFill>
            <a:srgbClr val="0E1B2E"/>
          </a:solidFill>
          <a:ln w="12700">
            <a:solidFill>
              <a:srgbClr val="0E1B2E"/>
            </a:solidFill>
            <a:prstDash val="solid"/>
          </a:ln>
          <a:effectLst>
            <a:outerShdw blurRad="101600" dist="25400" dir="5400000" algn="bl" rotWithShape="0">
              <a:srgbClr val="0B2A55">
                <a:alpha val="12000"/>
              </a:srgbClr>
            </a:outerShdw>
          </a:effectLst>
        </p:spPr>
      </p:sp>
      <p:sp>
        <p:nvSpPr>
          <p:cNvPr id="15" name="Shape 13"/>
          <p:cNvSpPr/>
          <p:nvPr/>
        </p:nvSpPr>
        <p:spPr>
          <a:xfrm>
            <a:off x="4800600" y="1527048"/>
            <a:ext cx="73152" cy="73152"/>
          </a:xfrm>
          <a:prstGeom prst="ellipse">
            <a:avLst/>
          </a:prstGeom>
          <a:solidFill>
            <a:srgbClr val="FF5F56"/>
          </a:solidFill>
          <a:ln w="12700">
            <a:solidFill>
              <a:srgbClr val="FF5F56"/>
            </a:solidFill>
            <a:prstDash val="solid"/>
          </a:ln>
        </p:spPr>
      </p:sp>
      <p:sp>
        <p:nvSpPr>
          <p:cNvPr id="16" name="Shape 14"/>
          <p:cNvSpPr/>
          <p:nvPr/>
        </p:nvSpPr>
        <p:spPr>
          <a:xfrm>
            <a:off x="4928616" y="1527048"/>
            <a:ext cx="73152" cy="73152"/>
          </a:xfrm>
          <a:prstGeom prst="ellipse">
            <a:avLst/>
          </a:prstGeom>
          <a:solidFill>
            <a:srgbClr val="FFBD2E"/>
          </a:solidFill>
          <a:ln w="12700">
            <a:solidFill>
              <a:srgbClr val="FFBD2E"/>
            </a:solidFill>
            <a:prstDash val="solid"/>
          </a:ln>
        </p:spPr>
      </p:sp>
      <p:sp>
        <p:nvSpPr>
          <p:cNvPr id="17" name="Shape 15"/>
          <p:cNvSpPr/>
          <p:nvPr/>
        </p:nvSpPr>
        <p:spPr>
          <a:xfrm>
            <a:off x="5056632" y="1527048"/>
            <a:ext cx="73152" cy="73152"/>
          </a:xfrm>
          <a:prstGeom prst="ellipse">
            <a:avLst/>
          </a:prstGeom>
          <a:solidFill>
            <a:srgbClr val="27C93F"/>
          </a:solidFill>
          <a:ln w="12700">
            <a:solidFill>
              <a:srgbClr val="27C93F"/>
            </a:solidFill>
            <a:prstDash val="solid"/>
          </a:ln>
        </p:spPr>
      </p:sp>
      <p:sp>
        <p:nvSpPr>
          <p:cNvPr id="18" name="Text 16"/>
          <p:cNvSpPr txBox="1"/>
          <p:nvPr/>
        </p:nvSpPr>
        <p:spPr>
          <a:xfrm>
            <a:off x="5230368" y="1472184"/>
            <a:ext cx="3337560" cy="182880"/>
          </a:xfrm>
          <a:prstGeom prst="rect">
            <a:avLst/>
          </a:prstGeom>
          <a:noFill/>
          <a:ln/>
        </p:spPr>
        <p:txBody>
          <a:bodyPr wrap="square" lIns="0" tIns="0" rIns="0" bIns="0" rtlCol="0" anchor="ctr"/>
          <a:lstStyle/>
          <a:p>
            <a:pPr marL="0" indent="0">
              <a:buNone/>
            </a:pPr>
            <a:r>
              <a:rPr lang="en-US" sz="850" b="1" dirty="0">
                <a:solidFill>
                  <a:srgbClr val="F5A800"/>
                </a:solidFill>
                <a:latin typeface="Segoe UI" pitchFamily="34" charset="0"/>
                <a:ea typeface="Segoe UI" pitchFamily="34" charset="-122"/>
                <a:cs typeface="Segoe UI" pitchFamily="34" charset="-120"/>
              </a:rPr>
              <a:t>POST · PurchaseCreditNotes</a:t>
            </a:r>
            <a:endParaRPr lang="en-US" sz="850" dirty="0"/>
          </a:p>
        </p:txBody>
      </p:sp>
      <p:sp>
        <p:nvSpPr>
          <p:cNvPr id="19" name="Text 17"/>
          <p:cNvSpPr txBox="1"/>
          <p:nvPr/>
        </p:nvSpPr>
        <p:spPr>
          <a:xfrm>
            <a:off x="4800600" y="1709928"/>
            <a:ext cx="3749040" cy="2423160"/>
          </a:xfrm>
          <a:prstGeom prst="rect">
            <a:avLst/>
          </a:prstGeom>
          <a:noFill/>
          <a:ln/>
        </p:spPr>
        <p:txBody>
          <a:bodyPr wrap="square" lIns="0" tIns="0" rIns="0" bIns="0" rtlCol="0" anchor="t"/>
          <a:lstStyle/>
          <a:p>
            <a:pPr marL="0" indent="0">
              <a:lnSpc>
                <a:spcPct val="100000"/>
              </a:lnSpc>
              <a:buNone/>
            </a:pPr>
            <a:r>
              <a:rPr lang="en-US" sz="800" b="1" dirty="0">
                <a:solidFill>
                  <a:srgbClr val="F5A800"/>
                </a:solidFill>
                <a:latin typeface="Consolas" pitchFamily="34" charset="0"/>
                <a:ea typeface="Consolas" pitchFamily="34" charset="-122"/>
                <a:cs typeface="Consolas" pitchFamily="34" charset="-120"/>
              </a:rPr>
              <a:t>curl</a:t>
            </a:r>
            <a:r>
              <a:rPr lang="en-US" sz="800" dirty="0">
                <a:solidFill>
                  <a:srgbClr val="DCE6F2"/>
                </a:solidFill>
                <a:latin typeface="Consolas" pitchFamily="34" charset="0"/>
                <a:ea typeface="Consolas" pitchFamily="34" charset="-122"/>
                <a:cs typeface="Consolas" pitchFamily="34" charset="-120"/>
              </a:rPr>
              <a:t> -k -X </a:t>
            </a:r>
            <a:r>
              <a:rPr lang="en-US" sz="800" b="1" dirty="0">
                <a:solidFill>
                  <a:srgbClr val="F5A800"/>
                </a:solidFill>
                <a:latin typeface="Consolas" pitchFamily="34" charset="0"/>
                <a:ea typeface="Consolas" pitchFamily="34" charset="-122"/>
                <a:cs typeface="Consolas" pitchFamily="34" charset="-120"/>
              </a:rPr>
              <a:t>POST</a:t>
            </a:r>
            <a:r>
              <a:rPr lang="en-US" sz="800" dirty="0">
                <a:solidFill>
                  <a:srgbClr val="DCE6F2"/>
                </a:solidFill>
                <a:latin typeface="Consolas" pitchFamily="34" charset="0"/>
                <a:ea typeface="Consolas" pitchFamily="34" charset="-122"/>
                <a:cs typeface="Consolas" pitchFamily="34" charset="-120"/>
              </a:rPr>
              <a:t> </a:t>
            </a:r>
            <a:r>
              <a:rPr lang="en-US" sz="800" dirty="0">
                <a:solidFill>
                  <a:srgbClr val="B5E48C"/>
                </a:solidFill>
                <a:latin typeface="Consolas" pitchFamily="34" charset="0"/>
                <a:ea typeface="Consolas" pitchFamily="34" charset="-122"/>
                <a:cs typeface="Consolas" pitchFamily="34" charset="-120"/>
              </a:rPr>
              <a:t>"$SL/PurchaseCreditNotes"</a:t>
            </a: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-H </a:t>
            </a:r>
            <a:r>
              <a:rPr lang="en-US" sz="800" dirty="0">
                <a:solidFill>
                  <a:srgbClr val="B5E48C"/>
                </a:solidFill>
                <a:latin typeface="Consolas" pitchFamily="34" charset="0"/>
                <a:ea typeface="Consolas" pitchFamily="34" charset="-122"/>
                <a:cs typeface="Consolas" pitchFamily="34" charset="-120"/>
              </a:rPr>
              <a:t>"Content-Type: application/json"</a:t>
            </a: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-b cookies.txt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-d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"CardCode"</a:t>
            </a:r>
            <a:r>
              <a:rPr lang="en-US" sz="800" dirty="0">
                <a:solidFill>
                  <a:srgbClr val="DCE6F2"/>
                </a:solidFill>
                <a:latin typeface="Consolas" pitchFamily="34" charset="0"/>
                <a:ea typeface="Consolas" pitchFamily="34" charset="-122"/>
                <a:cs typeface="Consolas" pitchFamily="34" charset="-120"/>
              </a:rPr>
              <a:t>: </a:t>
            </a:r>
            <a:r>
              <a:rPr lang="en-US" sz="800" dirty="0">
                <a:solidFill>
                  <a:srgbClr val="B5E48C"/>
                </a:solidFill>
                <a:latin typeface="Consolas" pitchFamily="34" charset="0"/>
                <a:ea typeface="Consolas" pitchFamily="34" charset="-122"/>
                <a:cs typeface="Consolas" pitchFamily="34" charset="-120"/>
              </a:rPr>
              <a:t>"P20100070970"</a:t>
            </a:r>
            <a:r>
              <a:rPr lang="en-US" sz="800" dirty="0">
                <a:solidFill>
                  <a:srgbClr val="DCE6F2"/>
                </a:solidFill>
                <a:latin typeface="Consolas" pitchFamily="34" charset="0"/>
                <a:ea typeface="Consolas" pitchFamily="34" charset="-122"/>
                <a:cs typeface="Consolas" pitchFamily="34" charset="-120"/>
              </a:rPr>
              <a:t>,</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"DocDate"</a:t>
            </a:r>
            <a:r>
              <a:rPr lang="en-US" sz="800" dirty="0">
                <a:solidFill>
                  <a:srgbClr val="DCE6F2"/>
                </a:solidFill>
                <a:latin typeface="Consolas" pitchFamily="34" charset="0"/>
                <a:ea typeface="Consolas" pitchFamily="34" charset="-122"/>
                <a:cs typeface="Consolas" pitchFamily="34" charset="-120"/>
              </a:rPr>
              <a:t>: </a:t>
            </a:r>
            <a:r>
              <a:rPr lang="en-US" sz="800" dirty="0">
                <a:solidFill>
                  <a:srgbClr val="B5E48C"/>
                </a:solidFill>
                <a:latin typeface="Consolas" pitchFamily="34" charset="0"/>
                <a:ea typeface="Consolas" pitchFamily="34" charset="-122"/>
                <a:cs typeface="Consolas" pitchFamily="34" charset="-120"/>
              </a:rPr>
              <a:t>"2026-09-28"</a:t>
            </a:r>
            <a:r>
              <a:rPr lang="en-US" sz="800" dirty="0">
                <a:solidFill>
                  <a:srgbClr val="DCE6F2"/>
                </a:solidFill>
                <a:latin typeface="Consolas" pitchFamily="34" charset="0"/>
                <a:ea typeface="Consolas" pitchFamily="34" charset="-122"/>
                <a:cs typeface="Consolas" pitchFamily="34" charset="-120"/>
              </a:rPr>
              <a:t>,</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"Comments"</a:t>
            </a:r>
            <a:r>
              <a:rPr lang="en-US" sz="800" dirty="0">
                <a:solidFill>
                  <a:srgbClr val="DCE6F2"/>
                </a:solidFill>
                <a:latin typeface="Consolas" pitchFamily="34" charset="0"/>
                <a:ea typeface="Consolas" pitchFamily="34" charset="-122"/>
                <a:cs typeface="Consolas" pitchFamily="34" charset="-120"/>
              </a:rPr>
              <a:t>: </a:t>
            </a:r>
            <a:r>
              <a:rPr lang="en-US" sz="800" dirty="0">
                <a:solidFill>
                  <a:srgbClr val="B5E48C"/>
                </a:solidFill>
                <a:latin typeface="Consolas" pitchFamily="34" charset="0"/>
                <a:ea typeface="Consolas" pitchFamily="34" charset="-122"/>
                <a:cs typeface="Consolas" pitchFamily="34" charset="-120"/>
              </a:rPr>
              <a:t>"Devolución parcial"</a:t>
            </a:r>
            <a:r>
              <a:rPr lang="en-US" sz="800" dirty="0">
                <a:solidFill>
                  <a:srgbClr val="DCE6F2"/>
                </a:solidFill>
                <a:latin typeface="Consolas" pitchFamily="34" charset="0"/>
                <a:ea typeface="Consolas" pitchFamily="34" charset="-122"/>
                <a:cs typeface="Consolas" pitchFamily="34" charset="-120"/>
              </a:rPr>
              <a:t>,</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"DocumentLines"</a:t>
            </a: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"BaseType"</a:t>
            </a:r>
            <a:r>
              <a:rPr lang="en-US" sz="800" dirty="0">
                <a:solidFill>
                  <a:srgbClr val="DCE6F2"/>
                </a:solidFill>
                <a:latin typeface="Consolas" pitchFamily="34" charset="0"/>
                <a:ea typeface="Consolas" pitchFamily="34" charset="-122"/>
                <a:cs typeface="Consolas" pitchFamily="34" charset="-120"/>
              </a:rPr>
              <a:t>: 18,</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"BaseEntry"</a:t>
            </a:r>
            <a:r>
              <a:rPr lang="en-US" sz="800" dirty="0">
                <a:solidFill>
                  <a:srgbClr val="DCE6F2"/>
                </a:solidFill>
                <a:latin typeface="Consolas" pitchFamily="34" charset="0"/>
                <a:ea typeface="Consolas" pitchFamily="34" charset="-122"/>
                <a:cs typeface="Consolas" pitchFamily="34" charset="-120"/>
              </a:rPr>
              <a:t>: 912,</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"BaseLine"</a:t>
            </a:r>
            <a:r>
              <a:rPr lang="en-US" sz="800" dirty="0">
                <a:solidFill>
                  <a:srgbClr val="DCE6F2"/>
                </a:solidFill>
                <a:latin typeface="Consolas" pitchFamily="34" charset="0"/>
                <a:ea typeface="Consolas" pitchFamily="34" charset="-122"/>
                <a:cs typeface="Consolas" pitchFamily="34" charset="-120"/>
              </a:rPr>
              <a:t>: 0,</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"Quantity"</a:t>
            </a:r>
            <a:r>
              <a:rPr lang="en-US" sz="800" dirty="0">
                <a:solidFill>
                  <a:srgbClr val="DCE6F2"/>
                </a:solidFill>
                <a:latin typeface="Consolas" pitchFamily="34" charset="0"/>
                <a:ea typeface="Consolas" pitchFamily="34" charset="-122"/>
                <a:cs typeface="Consolas" pitchFamily="34" charset="-120"/>
              </a:rPr>
              <a:t>: 2</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a:t>
            </a:r>
            <a:endParaRPr lang="en-US" sz="800" dirty="0"/>
          </a:p>
        </p:txBody>
      </p:sp>
      <p:sp>
        <p:nvSpPr>
          <p:cNvPr id="20" name="Text 18"/>
          <p:cNvSpPr txBox="1"/>
          <p:nvPr/>
        </p:nvSpPr>
        <p:spPr>
          <a:xfrm>
            <a:off x="4663440" y="4297680"/>
            <a:ext cx="4023360" cy="457200"/>
          </a:xfrm>
          <a:prstGeom prst="rect">
            <a:avLst/>
          </a:prstGeom>
          <a:noFill/>
          <a:ln/>
        </p:spPr>
        <p:txBody>
          <a:bodyPr wrap="square" lIns="0" tIns="0" rIns="0" bIns="0" rtlCol="0" anchor="t"/>
          <a:lstStyle/>
          <a:p>
            <a:pPr marL="0" indent="0">
              <a:buNone/>
            </a:pPr>
            <a:r>
              <a:rPr lang="en-US" sz="1000" i="1" dirty="0">
                <a:solidFill>
                  <a:srgbClr val="5B6B82"/>
                </a:solidFill>
                <a:latin typeface="Calibri" pitchFamily="34" charset="0"/>
                <a:ea typeface="Calibri" pitchFamily="34" charset="-122"/>
                <a:cs typeface="Calibri" pitchFamily="34" charset="-120"/>
              </a:rPr>
              <a:t>BaseType 18 = factura de proveedor. Si no envías Quantity se toma la cantidad abierta completa.</a:t>
            </a:r>
            <a:endParaRPr lang="en-US" sz="1000" dirty="0"/>
          </a:p>
        </p:txBody>
      </p:sp>
      <p:sp>
        <p:nvSpPr>
          <p:cNvPr id="21" name="Text 19"/>
          <p:cNvSpPr txBox="1"/>
          <p:nvPr/>
        </p:nvSpPr>
        <p:spPr>
          <a:xfrm>
            <a:off x="4663440" y="4828032"/>
            <a:ext cx="3474720" cy="182880"/>
          </a:xfrm>
          <a:prstGeom prst="rect">
            <a:avLst/>
          </a:prstGeom>
          <a:noFill/>
          <a:ln/>
        </p:spPr>
        <p:txBody>
          <a:bodyPr wrap="square" lIns="0" tIns="0" rIns="0" bIns="0" rtlCol="0" anchor="t"/>
          <a:lstStyle/>
          <a:p>
            <a:pPr marL="0" indent="0" algn="r">
              <a:buNone/>
            </a:pPr>
            <a:r>
              <a:rPr lang="en-US" sz="800" b="1" dirty="0">
                <a:solidFill>
                  <a:srgbClr val="0B4DA2"/>
                </a:solidFill>
                <a:latin typeface="Consolas" pitchFamily="34" charset="0"/>
                <a:ea typeface="Consolas" pitchFamily="34" charset="-122"/>
                <a:cs typeface="Consolas" pitchFamily="34" charset="-120"/>
              </a:rPr>
              <a:t>$SL</a:t>
            </a:r>
            <a:r>
              <a:rPr lang="en-US" sz="800" dirty="0">
                <a:solidFill>
                  <a:srgbClr val="8A9AB0"/>
                </a:solidFill>
                <a:latin typeface="Calibri" pitchFamily="34" charset="0"/>
                <a:ea typeface="Calibri" pitchFamily="34" charset="-122"/>
                <a:cs typeface="Calibri" pitchFamily="34" charset="-120"/>
              </a:rPr>
              <a:t> = https://sapserver:50000/b1s/v1   ·   cookies.txt obtenido en el Login</a:t>
            </a:r>
            <a:endParaRPr lang="en-US" sz="800" dirty="0"/>
          </a:p>
        </p:txBody>
      </p:sp>
      <p:sp>
        <p:nvSpPr>
          <p:cNvPr id="25"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xmlns="" val="0"/>
            </a:ext>
          </a:extLst>
        </p:spPr>
        <p:txBody>
          <a:bodyPr/>
          <a:lstStyle>
            <a:lvl1pPr>
              <a:defRPr sz="800">
                <a:solidFill>
                  <a:srgbClr val="8A9AB0"/>
                </a:solidFill>
                <a:latin typeface="Calibri"/>
                <a:ea typeface="Calibri"/>
                <a:cs typeface="Calibri"/>
              </a:defRPr>
            </a:lvl1pPr>
          </a:lstStyle>
          <a:p>
            <a:pPr algn="r"/>
            <a:fld id="{F7021451-1387-4CA6-816F-3879F97B5CBC}" type="slidenum">
              <a:rPr lang="en-US" b="0"/>
              <a:t>23</a:t>
            </a:fld>
            <a:endParaRPr 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457200" y="256032"/>
            <a:ext cx="2434133" cy="237744"/>
          </a:xfrm>
          <a:prstGeom prst="roundRect">
            <a:avLst>
              <a:gd name="adj" fmla="val 50000"/>
            </a:avLst>
          </a:prstGeom>
          <a:solidFill>
            <a:srgbClr val="071B3F"/>
          </a:solidFill>
          <a:ln w="12700">
            <a:solidFill>
              <a:srgbClr val="071B3F"/>
            </a:solidFill>
            <a:prstDash val="solid"/>
          </a:ln>
        </p:spPr>
      </p:sp>
      <p:sp>
        <p:nvSpPr>
          <p:cNvPr id="3" name="Text 1"/>
          <p:cNvSpPr txBox="1"/>
          <p:nvPr/>
        </p:nvSpPr>
        <p:spPr>
          <a:xfrm>
            <a:off x="457200" y="256032"/>
            <a:ext cx="2434133" cy="237744"/>
          </a:xfrm>
          <a:prstGeom prst="rect">
            <a:avLst/>
          </a:prstGeom>
          <a:noFill/>
          <a:ln/>
        </p:spPr>
        <p:txBody>
          <a:bodyPr wrap="square" lIns="0" tIns="0" rIns="0" bIns="0" rtlCol="0" anchor="ctr"/>
          <a:lstStyle/>
          <a:p>
            <a:pPr marL="0" indent="0" algn="ctr">
              <a:buNone/>
            </a:pPr>
            <a:r>
              <a:rPr lang="en-US" sz="850" b="1" kern="0" spc="100" dirty="0">
                <a:solidFill>
                  <a:srgbClr val="F5A800"/>
                </a:solidFill>
                <a:latin typeface="Segoe UI" pitchFamily="34" charset="0"/>
                <a:ea typeface="Segoe UI" pitchFamily="34" charset="-122"/>
                <a:cs typeface="Segoe UI" pitchFamily="34" charset="-120"/>
              </a:rPr>
              <a:t>04  ·  FLUJOS DE OPERACIÓN II</a:t>
            </a:r>
            <a:endParaRPr lang="en-US" sz="850" dirty="0"/>
          </a:p>
        </p:txBody>
      </p:sp>
      <p:sp>
        <p:nvSpPr>
          <p:cNvPr id="4" name="Text 2"/>
          <p:cNvSpPr txBox="1"/>
          <p:nvPr/>
        </p:nvSpPr>
        <p:spPr>
          <a:xfrm>
            <a:off x="457200" y="566928"/>
            <a:ext cx="8229600" cy="502920"/>
          </a:xfrm>
          <a:prstGeom prst="rect">
            <a:avLst/>
          </a:prstGeom>
          <a:noFill/>
          <a:ln/>
        </p:spPr>
        <p:txBody>
          <a:bodyPr wrap="square" lIns="0" tIns="0" rIns="0" bIns="0" rtlCol="0" anchor="ctr"/>
          <a:lstStyle/>
          <a:p>
            <a:pPr marL="0" indent="0">
              <a:buNone/>
            </a:pPr>
            <a:r>
              <a:rPr lang="en-US" sz="2400" b="1" dirty="0">
                <a:solidFill>
                  <a:srgbClr val="071B3F"/>
                </a:solidFill>
                <a:latin typeface="Segoe UI" pitchFamily="34" charset="0"/>
                <a:ea typeface="Segoe UI" pitchFamily="34" charset="-122"/>
                <a:cs typeface="Segoe UI" pitchFamily="34" charset="-120"/>
              </a:rPr>
              <a:t>Ventas I: pedido y entrega</a:t>
            </a:r>
            <a:endParaRPr lang="en-US" sz="2400" dirty="0"/>
          </a:p>
        </p:txBody>
      </p:sp>
      <p:sp>
        <p:nvSpPr>
          <p:cNvPr id="5" name="Text 3"/>
          <p:cNvSpPr txBox="1"/>
          <p:nvPr/>
        </p:nvSpPr>
        <p:spPr>
          <a:xfrm>
            <a:off x="457200" y="1051560"/>
            <a:ext cx="8229600" cy="274320"/>
          </a:xfrm>
          <a:prstGeom prst="rect">
            <a:avLst/>
          </a:prstGeom>
          <a:noFill/>
          <a:ln/>
        </p:spPr>
        <p:txBody>
          <a:bodyPr wrap="square" lIns="0" tIns="0" rIns="0" bIns="0" rtlCol="0" anchor="ctr"/>
          <a:lstStyle/>
          <a:p>
            <a:pPr marL="0" indent="0">
              <a:buNone/>
            </a:pPr>
            <a:r>
              <a:rPr lang="en-US" sz="1250" dirty="0">
                <a:solidFill>
                  <a:srgbClr val="5B6B82"/>
                </a:solidFill>
                <a:latin typeface="Calibri" pitchFamily="34" charset="0"/>
                <a:ea typeface="Calibri" pitchFamily="34" charset="-122"/>
                <a:cs typeface="Calibri" pitchFamily="34" charset="-120"/>
              </a:rPr>
              <a:t>Mismo patrón que compras, con las entidades de venta</a:t>
            </a:r>
            <a:endParaRPr lang="en-US" sz="1250" dirty="0"/>
          </a:p>
        </p:txBody>
      </p:sp>
      <p:sp>
        <p:nvSpPr>
          <p:cNvPr id="6" name="Text 4"/>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00" dirty="0">
                <a:solidFill>
                  <a:srgbClr val="8A9AB0"/>
                </a:solidFill>
                <a:latin typeface="Calibri" pitchFamily="34" charset="0"/>
                <a:ea typeface="Calibri" pitchFamily="34" charset="-122"/>
                <a:cs typeface="Calibri" pitchFamily="34" charset="-120"/>
              </a:rPr>
              <a:t>Ventura Soluciones  |  SAP Business One · Service Layer</a:t>
            </a:r>
            <a:endParaRPr lang="en-US" sz="800" dirty="0"/>
          </a:p>
        </p:txBody>
      </p:sp>
      <p:sp>
        <p:nvSpPr>
          <p:cNvPr id="7" name="Shape 5"/>
          <p:cNvSpPr/>
          <p:nvPr/>
        </p:nvSpPr>
        <p:spPr>
          <a:xfrm>
            <a:off x="457200" y="1417320"/>
            <a:ext cx="4023360" cy="2788920"/>
          </a:xfrm>
          <a:prstGeom prst="roundRect">
            <a:avLst>
              <a:gd name="adj" fmla="val 2295"/>
            </a:avLst>
          </a:prstGeom>
          <a:solidFill>
            <a:srgbClr val="0E1B2E"/>
          </a:solidFill>
          <a:ln w="12700">
            <a:solidFill>
              <a:srgbClr val="0E1B2E"/>
            </a:solidFill>
            <a:prstDash val="solid"/>
          </a:ln>
          <a:effectLst>
            <a:outerShdw blurRad="101600" dist="25400" dir="5400000" algn="bl" rotWithShape="0">
              <a:srgbClr val="0B2A55">
                <a:alpha val="12000"/>
              </a:srgbClr>
            </a:outerShdw>
          </a:effectLst>
        </p:spPr>
      </p:sp>
      <p:sp>
        <p:nvSpPr>
          <p:cNvPr id="8" name="Shape 6"/>
          <p:cNvSpPr/>
          <p:nvPr/>
        </p:nvSpPr>
        <p:spPr>
          <a:xfrm>
            <a:off x="594360" y="1527048"/>
            <a:ext cx="73152" cy="73152"/>
          </a:xfrm>
          <a:prstGeom prst="ellipse">
            <a:avLst/>
          </a:prstGeom>
          <a:solidFill>
            <a:srgbClr val="FF5F56"/>
          </a:solidFill>
          <a:ln w="12700">
            <a:solidFill>
              <a:srgbClr val="FF5F56"/>
            </a:solidFill>
            <a:prstDash val="solid"/>
          </a:ln>
        </p:spPr>
      </p:sp>
      <p:sp>
        <p:nvSpPr>
          <p:cNvPr id="9" name="Shape 7"/>
          <p:cNvSpPr/>
          <p:nvPr/>
        </p:nvSpPr>
        <p:spPr>
          <a:xfrm>
            <a:off x="722376" y="1527048"/>
            <a:ext cx="73152" cy="73152"/>
          </a:xfrm>
          <a:prstGeom prst="ellipse">
            <a:avLst/>
          </a:prstGeom>
          <a:solidFill>
            <a:srgbClr val="FFBD2E"/>
          </a:solidFill>
          <a:ln w="12700">
            <a:solidFill>
              <a:srgbClr val="FFBD2E"/>
            </a:solidFill>
            <a:prstDash val="solid"/>
          </a:ln>
        </p:spPr>
      </p:sp>
      <p:sp>
        <p:nvSpPr>
          <p:cNvPr id="10" name="Shape 8"/>
          <p:cNvSpPr/>
          <p:nvPr/>
        </p:nvSpPr>
        <p:spPr>
          <a:xfrm>
            <a:off x="850392" y="1527048"/>
            <a:ext cx="73152" cy="73152"/>
          </a:xfrm>
          <a:prstGeom prst="ellipse">
            <a:avLst/>
          </a:prstGeom>
          <a:solidFill>
            <a:srgbClr val="27C93F"/>
          </a:solidFill>
          <a:ln w="12700">
            <a:solidFill>
              <a:srgbClr val="27C93F"/>
            </a:solidFill>
            <a:prstDash val="solid"/>
          </a:ln>
        </p:spPr>
      </p:sp>
      <p:sp>
        <p:nvSpPr>
          <p:cNvPr id="11" name="Text 9"/>
          <p:cNvSpPr txBox="1"/>
          <p:nvPr/>
        </p:nvSpPr>
        <p:spPr>
          <a:xfrm>
            <a:off x="1024128" y="1472184"/>
            <a:ext cx="3337560" cy="182880"/>
          </a:xfrm>
          <a:prstGeom prst="rect">
            <a:avLst/>
          </a:prstGeom>
          <a:noFill/>
          <a:ln/>
        </p:spPr>
        <p:txBody>
          <a:bodyPr wrap="square" lIns="0" tIns="0" rIns="0" bIns="0" rtlCol="0" anchor="ctr"/>
          <a:lstStyle/>
          <a:p>
            <a:pPr marL="0" indent="0">
              <a:buNone/>
            </a:pPr>
            <a:r>
              <a:rPr lang="en-US" sz="850" b="1" dirty="0">
                <a:solidFill>
                  <a:srgbClr val="F5A800"/>
                </a:solidFill>
                <a:latin typeface="Segoe UI" pitchFamily="34" charset="0"/>
                <a:ea typeface="Segoe UI" pitchFamily="34" charset="-122"/>
                <a:cs typeface="Segoe UI" pitchFamily="34" charset="-120"/>
              </a:rPr>
              <a:t>POST · Orders</a:t>
            </a:r>
            <a:endParaRPr lang="en-US" sz="850" dirty="0"/>
          </a:p>
        </p:txBody>
      </p:sp>
      <p:sp>
        <p:nvSpPr>
          <p:cNvPr id="12" name="Text 10"/>
          <p:cNvSpPr txBox="1"/>
          <p:nvPr/>
        </p:nvSpPr>
        <p:spPr>
          <a:xfrm>
            <a:off x="594360" y="1709928"/>
            <a:ext cx="3749040" cy="2423160"/>
          </a:xfrm>
          <a:prstGeom prst="rect">
            <a:avLst/>
          </a:prstGeom>
          <a:noFill/>
          <a:ln/>
        </p:spPr>
        <p:txBody>
          <a:bodyPr wrap="square" lIns="0" tIns="0" rIns="0" bIns="0" rtlCol="0" anchor="t"/>
          <a:lstStyle/>
          <a:p>
            <a:pPr marL="0" indent="0">
              <a:lnSpc>
                <a:spcPct val="100000"/>
              </a:lnSpc>
              <a:buNone/>
            </a:pPr>
            <a:r>
              <a:rPr lang="en-US" sz="800" b="1" dirty="0">
                <a:solidFill>
                  <a:srgbClr val="F5A800"/>
                </a:solidFill>
                <a:latin typeface="Consolas" pitchFamily="34" charset="0"/>
                <a:ea typeface="Consolas" pitchFamily="34" charset="-122"/>
                <a:cs typeface="Consolas" pitchFamily="34" charset="-120"/>
              </a:rPr>
              <a:t>curl</a:t>
            </a:r>
            <a:r>
              <a:rPr lang="en-US" sz="800" dirty="0">
                <a:solidFill>
                  <a:srgbClr val="DCE6F2"/>
                </a:solidFill>
                <a:latin typeface="Consolas" pitchFamily="34" charset="0"/>
                <a:ea typeface="Consolas" pitchFamily="34" charset="-122"/>
                <a:cs typeface="Consolas" pitchFamily="34" charset="-120"/>
              </a:rPr>
              <a:t> -k -X </a:t>
            </a:r>
            <a:r>
              <a:rPr lang="en-US" sz="800" b="1" dirty="0">
                <a:solidFill>
                  <a:srgbClr val="F5A800"/>
                </a:solidFill>
                <a:latin typeface="Consolas" pitchFamily="34" charset="0"/>
                <a:ea typeface="Consolas" pitchFamily="34" charset="-122"/>
                <a:cs typeface="Consolas" pitchFamily="34" charset="-120"/>
              </a:rPr>
              <a:t>POST</a:t>
            </a:r>
            <a:r>
              <a:rPr lang="en-US" sz="800" dirty="0">
                <a:solidFill>
                  <a:srgbClr val="DCE6F2"/>
                </a:solidFill>
                <a:latin typeface="Consolas" pitchFamily="34" charset="0"/>
                <a:ea typeface="Consolas" pitchFamily="34" charset="-122"/>
                <a:cs typeface="Consolas" pitchFamily="34" charset="-120"/>
              </a:rPr>
              <a:t> </a:t>
            </a:r>
            <a:r>
              <a:rPr lang="en-US" sz="800" dirty="0">
                <a:solidFill>
                  <a:srgbClr val="B5E48C"/>
                </a:solidFill>
                <a:latin typeface="Consolas" pitchFamily="34" charset="0"/>
                <a:ea typeface="Consolas" pitchFamily="34" charset="-122"/>
                <a:cs typeface="Consolas" pitchFamily="34" charset="-120"/>
              </a:rPr>
              <a:t>"$SL/Orders"</a:t>
            </a: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-H </a:t>
            </a:r>
            <a:r>
              <a:rPr lang="en-US" sz="800" dirty="0">
                <a:solidFill>
                  <a:srgbClr val="B5E48C"/>
                </a:solidFill>
                <a:latin typeface="Consolas" pitchFamily="34" charset="0"/>
                <a:ea typeface="Consolas" pitchFamily="34" charset="-122"/>
                <a:cs typeface="Consolas" pitchFamily="34" charset="-120"/>
              </a:rPr>
              <a:t>"Content-Type: application/json"</a:t>
            </a: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-b cookies.txt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-d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"CardCode"</a:t>
            </a:r>
            <a:r>
              <a:rPr lang="en-US" sz="800" dirty="0">
                <a:solidFill>
                  <a:srgbClr val="DCE6F2"/>
                </a:solidFill>
                <a:latin typeface="Consolas" pitchFamily="34" charset="0"/>
                <a:ea typeface="Consolas" pitchFamily="34" charset="-122"/>
                <a:cs typeface="Consolas" pitchFamily="34" charset="-120"/>
              </a:rPr>
              <a:t>: </a:t>
            </a:r>
            <a:r>
              <a:rPr lang="en-US" sz="800" dirty="0">
                <a:solidFill>
                  <a:srgbClr val="B5E48C"/>
                </a:solidFill>
                <a:latin typeface="Consolas" pitchFamily="34" charset="0"/>
                <a:ea typeface="Consolas" pitchFamily="34" charset="-122"/>
                <a:cs typeface="Consolas" pitchFamily="34" charset="-120"/>
              </a:rPr>
              <a:t>"C20601234567"</a:t>
            </a:r>
            <a:r>
              <a:rPr lang="en-US" sz="800" dirty="0">
                <a:solidFill>
                  <a:srgbClr val="DCE6F2"/>
                </a:solidFill>
                <a:latin typeface="Consolas" pitchFamily="34" charset="0"/>
                <a:ea typeface="Consolas" pitchFamily="34" charset="-122"/>
                <a:cs typeface="Consolas" pitchFamily="34" charset="-120"/>
              </a:rPr>
              <a:t>,</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"DocDate"</a:t>
            </a:r>
            <a:r>
              <a:rPr lang="en-US" sz="800" dirty="0">
                <a:solidFill>
                  <a:srgbClr val="DCE6F2"/>
                </a:solidFill>
                <a:latin typeface="Consolas" pitchFamily="34" charset="0"/>
                <a:ea typeface="Consolas" pitchFamily="34" charset="-122"/>
                <a:cs typeface="Consolas" pitchFamily="34" charset="-120"/>
              </a:rPr>
              <a:t>: </a:t>
            </a:r>
            <a:r>
              <a:rPr lang="en-US" sz="800" dirty="0">
                <a:solidFill>
                  <a:srgbClr val="B5E48C"/>
                </a:solidFill>
                <a:latin typeface="Consolas" pitchFamily="34" charset="0"/>
                <a:ea typeface="Consolas" pitchFamily="34" charset="-122"/>
                <a:cs typeface="Consolas" pitchFamily="34" charset="-120"/>
              </a:rPr>
              <a:t>"2026-09-23"</a:t>
            </a:r>
            <a:r>
              <a:rPr lang="en-US" sz="800" dirty="0">
                <a:solidFill>
                  <a:srgbClr val="DCE6F2"/>
                </a:solidFill>
                <a:latin typeface="Consolas" pitchFamily="34" charset="0"/>
                <a:ea typeface="Consolas" pitchFamily="34" charset="-122"/>
                <a:cs typeface="Consolas" pitchFamily="34" charset="-120"/>
              </a:rPr>
              <a:t>,</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"DocDueDate"</a:t>
            </a:r>
            <a:r>
              <a:rPr lang="en-US" sz="800" dirty="0">
                <a:solidFill>
                  <a:srgbClr val="DCE6F2"/>
                </a:solidFill>
                <a:latin typeface="Consolas" pitchFamily="34" charset="0"/>
                <a:ea typeface="Consolas" pitchFamily="34" charset="-122"/>
                <a:cs typeface="Consolas" pitchFamily="34" charset="-120"/>
              </a:rPr>
              <a:t>: </a:t>
            </a:r>
            <a:r>
              <a:rPr lang="en-US" sz="800" dirty="0">
                <a:solidFill>
                  <a:srgbClr val="B5E48C"/>
                </a:solidFill>
                <a:latin typeface="Consolas" pitchFamily="34" charset="0"/>
                <a:ea typeface="Consolas" pitchFamily="34" charset="-122"/>
                <a:cs typeface="Consolas" pitchFamily="34" charset="-120"/>
              </a:rPr>
              <a:t>"2026-09-30"</a:t>
            </a:r>
            <a:r>
              <a:rPr lang="en-US" sz="800" dirty="0">
                <a:solidFill>
                  <a:srgbClr val="DCE6F2"/>
                </a:solidFill>
                <a:latin typeface="Consolas" pitchFamily="34" charset="0"/>
                <a:ea typeface="Consolas" pitchFamily="34" charset="-122"/>
                <a:cs typeface="Consolas" pitchFamily="34" charset="-120"/>
              </a:rPr>
              <a:t>,</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"SalesPersonCode"</a:t>
            </a:r>
            <a:r>
              <a:rPr lang="en-US" sz="800" dirty="0">
                <a:solidFill>
                  <a:srgbClr val="DCE6F2"/>
                </a:solidFill>
                <a:latin typeface="Consolas" pitchFamily="34" charset="0"/>
                <a:ea typeface="Consolas" pitchFamily="34" charset="-122"/>
                <a:cs typeface="Consolas" pitchFamily="34" charset="-120"/>
              </a:rPr>
              <a:t>: 3,</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"DocumentLines"</a:t>
            </a: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"ItemCode"</a:t>
            </a:r>
            <a:r>
              <a:rPr lang="en-US" sz="800" dirty="0">
                <a:solidFill>
                  <a:srgbClr val="DCE6F2"/>
                </a:solidFill>
                <a:latin typeface="Consolas" pitchFamily="34" charset="0"/>
                <a:ea typeface="Consolas" pitchFamily="34" charset="-122"/>
                <a:cs typeface="Consolas" pitchFamily="34" charset="-120"/>
              </a:rPr>
              <a:t>: </a:t>
            </a:r>
            <a:r>
              <a:rPr lang="en-US" sz="800" dirty="0">
                <a:solidFill>
                  <a:srgbClr val="B5E48C"/>
                </a:solidFill>
                <a:latin typeface="Consolas" pitchFamily="34" charset="0"/>
                <a:ea typeface="Consolas" pitchFamily="34" charset="-122"/>
                <a:cs typeface="Consolas" pitchFamily="34" charset="-120"/>
              </a:rPr>
              <a:t>"PT-0001"</a:t>
            </a:r>
            <a:r>
              <a:rPr lang="en-US" sz="800" dirty="0">
                <a:solidFill>
                  <a:srgbClr val="DCE6F2"/>
                </a:solidFill>
                <a:latin typeface="Consolas" pitchFamily="34" charset="0"/>
                <a:ea typeface="Consolas" pitchFamily="34" charset="-122"/>
                <a:cs typeface="Consolas" pitchFamily="34" charset="-120"/>
              </a:rPr>
              <a:t>,</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"Quantity"</a:t>
            </a:r>
            <a:r>
              <a:rPr lang="en-US" sz="800" dirty="0">
                <a:solidFill>
                  <a:srgbClr val="DCE6F2"/>
                </a:solidFill>
                <a:latin typeface="Consolas" pitchFamily="34" charset="0"/>
                <a:ea typeface="Consolas" pitchFamily="34" charset="-122"/>
                <a:cs typeface="Consolas" pitchFamily="34" charset="-120"/>
              </a:rPr>
              <a:t>: 5,</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"UnitPrice"</a:t>
            </a:r>
            <a:r>
              <a:rPr lang="en-US" sz="800" dirty="0">
                <a:solidFill>
                  <a:srgbClr val="DCE6F2"/>
                </a:solidFill>
                <a:latin typeface="Consolas" pitchFamily="34" charset="0"/>
                <a:ea typeface="Consolas" pitchFamily="34" charset="-122"/>
                <a:cs typeface="Consolas" pitchFamily="34" charset="-120"/>
              </a:rPr>
              <a:t>: 3200,</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"TaxCode"</a:t>
            </a:r>
            <a:r>
              <a:rPr lang="en-US" sz="800" dirty="0">
                <a:solidFill>
                  <a:srgbClr val="DCE6F2"/>
                </a:solidFill>
                <a:latin typeface="Consolas" pitchFamily="34" charset="0"/>
                <a:ea typeface="Consolas" pitchFamily="34" charset="-122"/>
                <a:cs typeface="Consolas" pitchFamily="34" charset="-120"/>
              </a:rPr>
              <a:t>: </a:t>
            </a:r>
            <a:r>
              <a:rPr lang="en-US" sz="800" dirty="0">
                <a:solidFill>
                  <a:srgbClr val="B5E48C"/>
                </a:solidFill>
                <a:latin typeface="Consolas" pitchFamily="34" charset="0"/>
                <a:ea typeface="Consolas" pitchFamily="34" charset="-122"/>
                <a:cs typeface="Consolas" pitchFamily="34" charset="-120"/>
              </a:rPr>
              <a:t>"IGV"</a:t>
            </a:r>
            <a:r>
              <a:rPr lang="en-US" sz="800" dirty="0">
                <a:solidFill>
                  <a:srgbClr val="DCE6F2"/>
                </a:solidFill>
                <a:latin typeface="Consolas" pitchFamily="34" charset="0"/>
                <a:ea typeface="Consolas" pitchFamily="34" charset="-122"/>
                <a:cs typeface="Consolas" pitchFamily="34" charset="-120"/>
              </a:rPr>
              <a:t>,</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"WarehouseCode"</a:t>
            </a:r>
            <a:r>
              <a:rPr lang="en-US" sz="800" dirty="0">
                <a:solidFill>
                  <a:srgbClr val="DCE6F2"/>
                </a:solidFill>
                <a:latin typeface="Consolas" pitchFamily="34" charset="0"/>
                <a:ea typeface="Consolas" pitchFamily="34" charset="-122"/>
                <a:cs typeface="Consolas" pitchFamily="34" charset="-120"/>
              </a:rPr>
              <a:t>: </a:t>
            </a:r>
            <a:r>
              <a:rPr lang="en-US" sz="800" dirty="0">
                <a:solidFill>
                  <a:srgbClr val="B5E48C"/>
                </a:solidFill>
                <a:latin typeface="Consolas" pitchFamily="34" charset="0"/>
                <a:ea typeface="Consolas" pitchFamily="34" charset="-122"/>
                <a:cs typeface="Consolas" pitchFamily="34" charset="-120"/>
              </a:rPr>
              <a:t>"01"</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a:t>
            </a:r>
            <a:endParaRPr lang="en-US" sz="800" dirty="0"/>
          </a:p>
        </p:txBody>
      </p:sp>
      <p:sp>
        <p:nvSpPr>
          <p:cNvPr id="13" name="Text 11"/>
          <p:cNvSpPr txBox="1"/>
          <p:nvPr/>
        </p:nvSpPr>
        <p:spPr>
          <a:xfrm>
            <a:off x="457200" y="4297680"/>
            <a:ext cx="4023360" cy="457200"/>
          </a:xfrm>
          <a:prstGeom prst="rect">
            <a:avLst/>
          </a:prstGeom>
          <a:noFill/>
          <a:ln/>
        </p:spPr>
        <p:txBody>
          <a:bodyPr wrap="square" lIns="0" tIns="0" rIns="0" bIns="0" rtlCol="0" anchor="t"/>
          <a:lstStyle/>
          <a:p>
            <a:pPr marL="0" indent="0">
              <a:buNone/>
            </a:pPr>
            <a:r>
              <a:rPr lang="en-US" sz="1000" i="1" dirty="0">
                <a:solidFill>
                  <a:srgbClr val="5B6B82"/>
                </a:solidFill>
                <a:latin typeface="Calibri" pitchFamily="34" charset="0"/>
                <a:ea typeface="Calibri" pitchFamily="34" charset="-122"/>
                <a:cs typeface="Calibri" pitchFamily="34" charset="-120"/>
              </a:rPr>
              <a:t>SalesPersonCode: código del empleado de ventas. DocumentLines es obligatorio con al menos una línea.</a:t>
            </a:r>
            <a:endParaRPr lang="en-US" sz="1000" dirty="0"/>
          </a:p>
        </p:txBody>
      </p:sp>
      <p:sp>
        <p:nvSpPr>
          <p:cNvPr id="14" name="Shape 12"/>
          <p:cNvSpPr/>
          <p:nvPr/>
        </p:nvSpPr>
        <p:spPr>
          <a:xfrm>
            <a:off x="4663440" y="1417320"/>
            <a:ext cx="4023360" cy="2788920"/>
          </a:xfrm>
          <a:prstGeom prst="roundRect">
            <a:avLst>
              <a:gd name="adj" fmla="val 2295"/>
            </a:avLst>
          </a:prstGeom>
          <a:solidFill>
            <a:srgbClr val="0E1B2E"/>
          </a:solidFill>
          <a:ln w="12700">
            <a:solidFill>
              <a:srgbClr val="0E1B2E"/>
            </a:solidFill>
            <a:prstDash val="solid"/>
          </a:ln>
          <a:effectLst>
            <a:outerShdw blurRad="101600" dist="25400" dir="5400000" algn="bl" rotWithShape="0">
              <a:srgbClr val="0B2A55">
                <a:alpha val="12000"/>
              </a:srgbClr>
            </a:outerShdw>
          </a:effectLst>
        </p:spPr>
      </p:sp>
      <p:sp>
        <p:nvSpPr>
          <p:cNvPr id="15" name="Shape 13"/>
          <p:cNvSpPr/>
          <p:nvPr/>
        </p:nvSpPr>
        <p:spPr>
          <a:xfrm>
            <a:off x="4800600" y="1527048"/>
            <a:ext cx="73152" cy="73152"/>
          </a:xfrm>
          <a:prstGeom prst="ellipse">
            <a:avLst/>
          </a:prstGeom>
          <a:solidFill>
            <a:srgbClr val="FF5F56"/>
          </a:solidFill>
          <a:ln w="12700">
            <a:solidFill>
              <a:srgbClr val="FF5F56"/>
            </a:solidFill>
            <a:prstDash val="solid"/>
          </a:ln>
        </p:spPr>
      </p:sp>
      <p:sp>
        <p:nvSpPr>
          <p:cNvPr id="16" name="Shape 14"/>
          <p:cNvSpPr/>
          <p:nvPr/>
        </p:nvSpPr>
        <p:spPr>
          <a:xfrm>
            <a:off x="4928616" y="1527048"/>
            <a:ext cx="73152" cy="73152"/>
          </a:xfrm>
          <a:prstGeom prst="ellipse">
            <a:avLst/>
          </a:prstGeom>
          <a:solidFill>
            <a:srgbClr val="FFBD2E"/>
          </a:solidFill>
          <a:ln w="12700">
            <a:solidFill>
              <a:srgbClr val="FFBD2E"/>
            </a:solidFill>
            <a:prstDash val="solid"/>
          </a:ln>
        </p:spPr>
      </p:sp>
      <p:sp>
        <p:nvSpPr>
          <p:cNvPr id="17" name="Shape 15"/>
          <p:cNvSpPr/>
          <p:nvPr/>
        </p:nvSpPr>
        <p:spPr>
          <a:xfrm>
            <a:off x="5056632" y="1527048"/>
            <a:ext cx="73152" cy="73152"/>
          </a:xfrm>
          <a:prstGeom prst="ellipse">
            <a:avLst/>
          </a:prstGeom>
          <a:solidFill>
            <a:srgbClr val="27C93F"/>
          </a:solidFill>
          <a:ln w="12700">
            <a:solidFill>
              <a:srgbClr val="27C93F"/>
            </a:solidFill>
            <a:prstDash val="solid"/>
          </a:ln>
        </p:spPr>
      </p:sp>
      <p:sp>
        <p:nvSpPr>
          <p:cNvPr id="18" name="Text 16"/>
          <p:cNvSpPr txBox="1"/>
          <p:nvPr/>
        </p:nvSpPr>
        <p:spPr>
          <a:xfrm>
            <a:off x="5230368" y="1472184"/>
            <a:ext cx="3337560" cy="182880"/>
          </a:xfrm>
          <a:prstGeom prst="rect">
            <a:avLst/>
          </a:prstGeom>
          <a:noFill/>
          <a:ln/>
        </p:spPr>
        <p:txBody>
          <a:bodyPr wrap="square" lIns="0" tIns="0" rIns="0" bIns="0" rtlCol="0" anchor="ctr"/>
          <a:lstStyle/>
          <a:p>
            <a:pPr marL="0" indent="0">
              <a:buNone/>
            </a:pPr>
            <a:r>
              <a:rPr lang="en-US" sz="850" b="1" dirty="0">
                <a:solidFill>
                  <a:srgbClr val="F5A800"/>
                </a:solidFill>
                <a:latin typeface="Segoe UI" pitchFamily="34" charset="0"/>
                <a:ea typeface="Segoe UI" pitchFamily="34" charset="-122"/>
                <a:cs typeface="Segoe UI" pitchFamily="34" charset="-120"/>
              </a:rPr>
              <a:t>POST · DeliveryNotes</a:t>
            </a:r>
            <a:endParaRPr lang="en-US" sz="850" dirty="0"/>
          </a:p>
        </p:txBody>
      </p:sp>
      <p:sp>
        <p:nvSpPr>
          <p:cNvPr id="19" name="Text 17"/>
          <p:cNvSpPr txBox="1"/>
          <p:nvPr/>
        </p:nvSpPr>
        <p:spPr>
          <a:xfrm>
            <a:off x="4800600" y="1709928"/>
            <a:ext cx="3749040" cy="2423160"/>
          </a:xfrm>
          <a:prstGeom prst="rect">
            <a:avLst/>
          </a:prstGeom>
          <a:noFill/>
          <a:ln/>
        </p:spPr>
        <p:txBody>
          <a:bodyPr wrap="square" lIns="0" tIns="0" rIns="0" bIns="0" rtlCol="0" anchor="t"/>
          <a:lstStyle/>
          <a:p>
            <a:pPr marL="0" indent="0">
              <a:lnSpc>
                <a:spcPct val="100000"/>
              </a:lnSpc>
              <a:buNone/>
            </a:pPr>
            <a:r>
              <a:rPr lang="en-US" sz="800" b="1" dirty="0">
                <a:solidFill>
                  <a:srgbClr val="F5A800"/>
                </a:solidFill>
                <a:latin typeface="Consolas" pitchFamily="34" charset="0"/>
                <a:ea typeface="Consolas" pitchFamily="34" charset="-122"/>
                <a:cs typeface="Consolas" pitchFamily="34" charset="-120"/>
              </a:rPr>
              <a:t>curl</a:t>
            </a:r>
            <a:r>
              <a:rPr lang="en-US" sz="800" dirty="0">
                <a:solidFill>
                  <a:srgbClr val="DCE6F2"/>
                </a:solidFill>
                <a:latin typeface="Consolas" pitchFamily="34" charset="0"/>
                <a:ea typeface="Consolas" pitchFamily="34" charset="-122"/>
                <a:cs typeface="Consolas" pitchFamily="34" charset="-120"/>
              </a:rPr>
              <a:t> -k -X </a:t>
            </a:r>
            <a:r>
              <a:rPr lang="en-US" sz="800" b="1" dirty="0">
                <a:solidFill>
                  <a:srgbClr val="F5A800"/>
                </a:solidFill>
                <a:latin typeface="Consolas" pitchFamily="34" charset="0"/>
                <a:ea typeface="Consolas" pitchFamily="34" charset="-122"/>
                <a:cs typeface="Consolas" pitchFamily="34" charset="-120"/>
              </a:rPr>
              <a:t>POST</a:t>
            </a:r>
            <a:r>
              <a:rPr lang="en-US" sz="800" dirty="0">
                <a:solidFill>
                  <a:srgbClr val="DCE6F2"/>
                </a:solidFill>
                <a:latin typeface="Consolas" pitchFamily="34" charset="0"/>
                <a:ea typeface="Consolas" pitchFamily="34" charset="-122"/>
                <a:cs typeface="Consolas" pitchFamily="34" charset="-120"/>
              </a:rPr>
              <a:t> </a:t>
            </a:r>
            <a:r>
              <a:rPr lang="en-US" sz="800" dirty="0">
                <a:solidFill>
                  <a:srgbClr val="B5E48C"/>
                </a:solidFill>
                <a:latin typeface="Consolas" pitchFamily="34" charset="0"/>
                <a:ea typeface="Consolas" pitchFamily="34" charset="-122"/>
                <a:cs typeface="Consolas" pitchFamily="34" charset="-120"/>
              </a:rPr>
              <a:t>"$SL/DeliveryNotes"</a:t>
            </a: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-H </a:t>
            </a:r>
            <a:r>
              <a:rPr lang="en-US" sz="800" dirty="0">
                <a:solidFill>
                  <a:srgbClr val="B5E48C"/>
                </a:solidFill>
                <a:latin typeface="Consolas" pitchFamily="34" charset="0"/>
                <a:ea typeface="Consolas" pitchFamily="34" charset="-122"/>
                <a:cs typeface="Consolas" pitchFamily="34" charset="-120"/>
              </a:rPr>
              <a:t>"Content-Type: application/json"</a:t>
            </a: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-b cookies.txt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-d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"CardCode"</a:t>
            </a:r>
            <a:r>
              <a:rPr lang="en-US" sz="800" dirty="0">
                <a:solidFill>
                  <a:srgbClr val="DCE6F2"/>
                </a:solidFill>
                <a:latin typeface="Consolas" pitchFamily="34" charset="0"/>
                <a:ea typeface="Consolas" pitchFamily="34" charset="-122"/>
                <a:cs typeface="Consolas" pitchFamily="34" charset="-120"/>
              </a:rPr>
              <a:t>: </a:t>
            </a:r>
            <a:r>
              <a:rPr lang="en-US" sz="800" dirty="0">
                <a:solidFill>
                  <a:srgbClr val="B5E48C"/>
                </a:solidFill>
                <a:latin typeface="Consolas" pitchFamily="34" charset="0"/>
                <a:ea typeface="Consolas" pitchFamily="34" charset="-122"/>
                <a:cs typeface="Consolas" pitchFamily="34" charset="-120"/>
              </a:rPr>
              <a:t>"C20601234567"</a:t>
            </a:r>
            <a:r>
              <a:rPr lang="en-US" sz="800" dirty="0">
                <a:solidFill>
                  <a:srgbClr val="DCE6F2"/>
                </a:solidFill>
                <a:latin typeface="Consolas" pitchFamily="34" charset="0"/>
                <a:ea typeface="Consolas" pitchFamily="34" charset="-122"/>
                <a:cs typeface="Consolas" pitchFamily="34" charset="-120"/>
              </a:rPr>
              <a:t>,</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"DocDate"</a:t>
            </a:r>
            <a:r>
              <a:rPr lang="en-US" sz="800" dirty="0">
                <a:solidFill>
                  <a:srgbClr val="DCE6F2"/>
                </a:solidFill>
                <a:latin typeface="Consolas" pitchFamily="34" charset="0"/>
                <a:ea typeface="Consolas" pitchFamily="34" charset="-122"/>
                <a:cs typeface="Consolas" pitchFamily="34" charset="-120"/>
              </a:rPr>
              <a:t>: </a:t>
            </a:r>
            <a:r>
              <a:rPr lang="en-US" sz="800" dirty="0">
                <a:solidFill>
                  <a:srgbClr val="B5E48C"/>
                </a:solidFill>
                <a:latin typeface="Consolas" pitchFamily="34" charset="0"/>
                <a:ea typeface="Consolas" pitchFamily="34" charset="-122"/>
                <a:cs typeface="Consolas" pitchFamily="34" charset="-120"/>
              </a:rPr>
              <a:t>"2026-09-24"</a:t>
            </a:r>
            <a:r>
              <a:rPr lang="en-US" sz="800" dirty="0">
                <a:solidFill>
                  <a:srgbClr val="DCE6F2"/>
                </a:solidFill>
                <a:latin typeface="Consolas" pitchFamily="34" charset="0"/>
                <a:ea typeface="Consolas" pitchFamily="34" charset="-122"/>
                <a:cs typeface="Consolas" pitchFamily="34" charset="-120"/>
              </a:rPr>
              <a:t>,</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"DocumentLines"</a:t>
            </a: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"BaseType"</a:t>
            </a:r>
            <a:r>
              <a:rPr lang="en-US" sz="800" dirty="0">
                <a:solidFill>
                  <a:srgbClr val="DCE6F2"/>
                </a:solidFill>
                <a:latin typeface="Consolas" pitchFamily="34" charset="0"/>
                <a:ea typeface="Consolas" pitchFamily="34" charset="-122"/>
                <a:cs typeface="Consolas" pitchFamily="34" charset="-120"/>
              </a:rPr>
              <a:t>: 17,</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"BaseEntry"</a:t>
            </a:r>
            <a:r>
              <a:rPr lang="en-US" sz="800" dirty="0">
                <a:solidFill>
                  <a:srgbClr val="DCE6F2"/>
                </a:solidFill>
                <a:latin typeface="Consolas" pitchFamily="34" charset="0"/>
                <a:ea typeface="Consolas" pitchFamily="34" charset="-122"/>
                <a:cs typeface="Consolas" pitchFamily="34" charset="-120"/>
              </a:rPr>
              <a:t>: 2310,</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"BaseLine"</a:t>
            </a:r>
            <a:r>
              <a:rPr lang="en-US" sz="800" dirty="0">
                <a:solidFill>
                  <a:srgbClr val="DCE6F2"/>
                </a:solidFill>
                <a:latin typeface="Consolas" pitchFamily="34" charset="0"/>
                <a:ea typeface="Consolas" pitchFamily="34" charset="-122"/>
                <a:cs typeface="Consolas" pitchFamily="34" charset="-120"/>
              </a:rPr>
              <a:t>: 0,</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"Quantity"</a:t>
            </a:r>
            <a:r>
              <a:rPr lang="en-US" sz="800" dirty="0">
                <a:solidFill>
                  <a:srgbClr val="DCE6F2"/>
                </a:solidFill>
                <a:latin typeface="Consolas" pitchFamily="34" charset="0"/>
                <a:ea typeface="Consolas" pitchFamily="34" charset="-122"/>
                <a:cs typeface="Consolas" pitchFamily="34" charset="-120"/>
              </a:rPr>
              <a:t>: 5</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a:t>
            </a:r>
            <a:endParaRPr lang="en-US" sz="800" dirty="0"/>
          </a:p>
        </p:txBody>
      </p:sp>
      <p:sp>
        <p:nvSpPr>
          <p:cNvPr id="20" name="Text 18"/>
          <p:cNvSpPr txBox="1"/>
          <p:nvPr/>
        </p:nvSpPr>
        <p:spPr>
          <a:xfrm>
            <a:off x="4663440" y="4297680"/>
            <a:ext cx="4023360" cy="457200"/>
          </a:xfrm>
          <a:prstGeom prst="rect">
            <a:avLst/>
          </a:prstGeom>
          <a:noFill/>
          <a:ln/>
        </p:spPr>
        <p:txBody>
          <a:bodyPr wrap="square" lIns="0" tIns="0" rIns="0" bIns="0" rtlCol="0" anchor="t"/>
          <a:lstStyle/>
          <a:p>
            <a:pPr marL="0" indent="0">
              <a:buNone/>
            </a:pPr>
            <a:r>
              <a:rPr lang="en-US" sz="1000" i="1" dirty="0">
                <a:solidFill>
                  <a:srgbClr val="5B6B82"/>
                </a:solidFill>
                <a:latin typeface="Calibri" pitchFamily="34" charset="0"/>
                <a:ea typeface="Calibri" pitchFamily="34" charset="-122"/>
                <a:cs typeface="Calibri" pitchFamily="34" charset="-120"/>
              </a:rPr>
              <a:t>BaseType 17 = pedido de cliente. La entrega descuenta el stock del almacén de la línea.</a:t>
            </a:r>
            <a:endParaRPr lang="en-US" sz="1000" dirty="0"/>
          </a:p>
        </p:txBody>
      </p:sp>
      <p:sp>
        <p:nvSpPr>
          <p:cNvPr id="21" name="Text 19"/>
          <p:cNvSpPr txBox="1"/>
          <p:nvPr/>
        </p:nvSpPr>
        <p:spPr>
          <a:xfrm>
            <a:off x="4663440" y="4828032"/>
            <a:ext cx="3474720" cy="182880"/>
          </a:xfrm>
          <a:prstGeom prst="rect">
            <a:avLst/>
          </a:prstGeom>
          <a:noFill/>
          <a:ln/>
        </p:spPr>
        <p:txBody>
          <a:bodyPr wrap="square" lIns="0" tIns="0" rIns="0" bIns="0" rtlCol="0" anchor="t"/>
          <a:lstStyle/>
          <a:p>
            <a:pPr marL="0" indent="0" algn="r">
              <a:buNone/>
            </a:pPr>
            <a:r>
              <a:rPr lang="en-US" sz="800" b="1" dirty="0">
                <a:solidFill>
                  <a:srgbClr val="0B4DA2"/>
                </a:solidFill>
                <a:latin typeface="Consolas" pitchFamily="34" charset="0"/>
                <a:ea typeface="Consolas" pitchFamily="34" charset="-122"/>
                <a:cs typeface="Consolas" pitchFamily="34" charset="-120"/>
              </a:rPr>
              <a:t>$SL</a:t>
            </a:r>
            <a:r>
              <a:rPr lang="en-US" sz="800" dirty="0">
                <a:solidFill>
                  <a:srgbClr val="8A9AB0"/>
                </a:solidFill>
                <a:latin typeface="Calibri" pitchFamily="34" charset="0"/>
                <a:ea typeface="Calibri" pitchFamily="34" charset="-122"/>
                <a:cs typeface="Calibri" pitchFamily="34" charset="-120"/>
              </a:rPr>
              <a:t> = https://sapserver:50000/b1s/v1   ·   cookies.txt obtenido en el Login</a:t>
            </a:r>
            <a:endParaRPr lang="en-US" sz="800" dirty="0"/>
          </a:p>
        </p:txBody>
      </p:sp>
      <p:sp>
        <p:nvSpPr>
          <p:cNvPr id="25"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xmlns="" val="0"/>
            </a:ext>
          </a:extLst>
        </p:spPr>
        <p:txBody>
          <a:bodyPr/>
          <a:lstStyle>
            <a:lvl1pPr>
              <a:defRPr sz="800">
                <a:solidFill>
                  <a:srgbClr val="8A9AB0"/>
                </a:solidFill>
                <a:latin typeface="Calibri"/>
                <a:ea typeface="Calibri"/>
                <a:cs typeface="Calibri"/>
              </a:defRPr>
            </a:lvl1pPr>
          </a:lstStyle>
          <a:p>
            <a:pPr algn="r"/>
            <a:fld id="{F7021451-1387-4CA6-816F-3879F97B5CBC}" type="slidenum">
              <a:rPr lang="en-US" b="0"/>
              <a:t>24</a:t>
            </a:fld>
            <a:endParaRPr 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457200" y="256032"/>
            <a:ext cx="2434133" cy="237744"/>
          </a:xfrm>
          <a:prstGeom prst="roundRect">
            <a:avLst>
              <a:gd name="adj" fmla="val 50000"/>
            </a:avLst>
          </a:prstGeom>
          <a:solidFill>
            <a:srgbClr val="071B3F"/>
          </a:solidFill>
          <a:ln w="12700">
            <a:solidFill>
              <a:srgbClr val="071B3F"/>
            </a:solidFill>
            <a:prstDash val="solid"/>
          </a:ln>
        </p:spPr>
      </p:sp>
      <p:sp>
        <p:nvSpPr>
          <p:cNvPr id="3" name="Text 1"/>
          <p:cNvSpPr txBox="1"/>
          <p:nvPr/>
        </p:nvSpPr>
        <p:spPr>
          <a:xfrm>
            <a:off x="457200" y="256032"/>
            <a:ext cx="2434133" cy="237744"/>
          </a:xfrm>
          <a:prstGeom prst="rect">
            <a:avLst/>
          </a:prstGeom>
          <a:noFill/>
          <a:ln/>
        </p:spPr>
        <p:txBody>
          <a:bodyPr wrap="square" lIns="0" tIns="0" rIns="0" bIns="0" rtlCol="0" anchor="ctr"/>
          <a:lstStyle/>
          <a:p>
            <a:pPr marL="0" indent="0" algn="ctr">
              <a:buNone/>
            </a:pPr>
            <a:r>
              <a:rPr lang="en-US" sz="850" b="1" kern="0" spc="100" dirty="0">
                <a:solidFill>
                  <a:srgbClr val="F5A800"/>
                </a:solidFill>
                <a:latin typeface="Segoe UI" pitchFamily="34" charset="0"/>
                <a:ea typeface="Segoe UI" pitchFamily="34" charset="-122"/>
                <a:cs typeface="Segoe UI" pitchFamily="34" charset="-120"/>
              </a:rPr>
              <a:t>04  ·  FLUJOS DE OPERACIÓN II</a:t>
            </a:r>
            <a:endParaRPr lang="en-US" sz="850" dirty="0"/>
          </a:p>
        </p:txBody>
      </p:sp>
      <p:sp>
        <p:nvSpPr>
          <p:cNvPr id="4" name="Text 2"/>
          <p:cNvSpPr txBox="1"/>
          <p:nvPr/>
        </p:nvSpPr>
        <p:spPr>
          <a:xfrm>
            <a:off x="457200" y="566928"/>
            <a:ext cx="8229600" cy="502920"/>
          </a:xfrm>
          <a:prstGeom prst="rect">
            <a:avLst/>
          </a:prstGeom>
          <a:noFill/>
          <a:ln/>
        </p:spPr>
        <p:txBody>
          <a:bodyPr wrap="square" lIns="0" tIns="0" rIns="0" bIns="0" rtlCol="0" anchor="ctr"/>
          <a:lstStyle/>
          <a:p>
            <a:pPr marL="0" indent="0">
              <a:buNone/>
            </a:pPr>
            <a:r>
              <a:rPr lang="en-US" sz="2400" b="1" dirty="0">
                <a:solidFill>
                  <a:srgbClr val="071B3F"/>
                </a:solidFill>
                <a:latin typeface="Segoe UI" pitchFamily="34" charset="0"/>
                <a:ea typeface="Segoe UI" pitchFamily="34" charset="-122"/>
                <a:cs typeface="Segoe UI" pitchFamily="34" charset="-120"/>
              </a:rPr>
              <a:t>Ventas II: factura y nota de crédito</a:t>
            </a:r>
            <a:endParaRPr lang="en-US" sz="2400" dirty="0"/>
          </a:p>
        </p:txBody>
      </p:sp>
      <p:sp>
        <p:nvSpPr>
          <p:cNvPr id="5" name="Text 3"/>
          <p:cNvSpPr txBox="1"/>
          <p:nvPr/>
        </p:nvSpPr>
        <p:spPr>
          <a:xfrm>
            <a:off x="457200" y="1051560"/>
            <a:ext cx="8229600" cy="274320"/>
          </a:xfrm>
          <a:prstGeom prst="rect">
            <a:avLst/>
          </a:prstGeom>
          <a:noFill/>
          <a:ln/>
        </p:spPr>
        <p:txBody>
          <a:bodyPr wrap="square" lIns="0" tIns="0" rIns="0" bIns="0" rtlCol="0" anchor="ctr"/>
          <a:lstStyle/>
          <a:p>
            <a:pPr marL="0" indent="0">
              <a:buNone/>
            </a:pPr>
            <a:r>
              <a:rPr lang="en-US" sz="1250" dirty="0">
                <a:solidFill>
                  <a:srgbClr val="5B6B82"/>
                </a:solidFill>
                <a:latin typeface="Calibri" pitchFamily="34" charset="0"/>
                <a:ea typeface="Calibri" pitchFamily="34" charset="-122"/>
                <a:cs typeface="Calibri" pitchFamily="34" charset="-120"/>
              </a:rPr>
              <a:t>Cierre del ciclo de venta</a:t>
            </a:r>
            <a:endParaRPr lang="en-US" sz="1250" dirty="0"/>
          </a:p>
        </p:txBody>
      </p:sp>
      <p:sp>
        <p:nvSpPr>
          <p:cNvPr id="6" name="Text 4"/>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00" dirty="0">
                <a:solidFill>
                  <a:srgbClr val="8A9AB0"/>
                </a:solidFill>
                <a:latin typeface="Calibri" pitchFamily="34" charset="0"/>
                <a:ea typeface="Calibri" pitchFamily="34" charset="-122"/>
                <a:cs typeface="Calibri" pitchFamily="34" charset="-120"/>
              </a:rPr>
              <a:t>Ventura Soluciones  |  SAP Business One · Service Layer</a:t>
            </a:r>
            <a:endParaRPr lang="en-US" sz="800" dirty="0"/>
          </a:p>
        </p:txBody>
      </p:sp>
      <p:sp>
        <p:nvSpPr>
          <p:cNvPr id="7" name="Shape 5"/>
          <p:cNvSpPr/>
          <p:nvPr/>
        </p:nvSpPr>
        <p:spPr>
          <a:xfrm>
            <a:off x="457200" y="1417320"/>
            <a:ext cx="4023360" cy="2788920"/>
          </a:xfrm>
          <a:prstGeom prst="roundRect">
            <a:avLst>
              <a:gd name="adj" fmla="val 2295"/>
            </a:avLst>
          </a:prstGeom>
          <a:solidFill>
            <a:srgbClr val="0E1B2E"/>
          </a:solidFill>
          <a:ln w="12700">
            <a:solidFill>
              <a:srgbClr val="0E1B2E"/>
            </a:solidFill>
            <a:prstDash val="solid"/>
          </a:ln>
          <a:effectLst>
            <a:outerShdw blurRad="101600" dist="25400" dir="5400000" algn="bl" rotWithShape="0">
              <a:srgbClr val="0B2A55">
                <a:alpha val="12000"/>
              </a:srgbClr>
            </a:outerShdw>
          </a:effectLst>
        </p:spPr>
      </p:sp>
      <p:sp>
        <p:nvSpPr>
          <p:cNvPr id="8" name="Shape 6"/>
          <p:cNvSpPr/>
          <p:nvPr/>
        </p:nvSpPr>
        <p:spPr>
          <a:xfrm>
            <a:off x="594360" y="1527048"/>
            <a:ext cx="73152" cy="73152"/>
          </a:xfrm>
          <a:prstGeom prst="ellipse">
            <a:avLst/>
          </a:prstGeom>
          <a:solidFill>
            <a:srgbClr val="FF5F56"/>
          </a:solidFill>
          <a:ln w="12700">
            <a:solidFill>
              <a:srgbClr val="FF5F56"/>
            </a:solidFill>
            <a:prstDash val="solid"/>
          </a:ln>
        </p:spPr>
      </p:sp>
      <p:sp>
        <p:nvSpPr>
          <p:cNvPr id="9" name="Shape 7"/>
          <p:cNvSpPr/>
          <p:nvPr/>
        </p:nvSpPr>
        <p:spPr>
          <a:xfrm>
            <a:off x="722376" y="1527048"/>
            <a:ext cx="73152" cy="73152"/>
          </a:xfrm>
          <a:prstGeom prst="ellipse">
            <a:avLst/>
          </a:prstGeom>
          <a:solidFill>
            <a:srgbClr val="FFBD2E"/>
          </a:solidFill>
          <a:ln w="12700">
            <a:solidFill>
              <a:srgbClr val="FFBD2E"/>
            </a:solidFill>
            <a:prstDash val="solid"/>
          </a:ln>
        </p:spPr>
      </p:sp>
      <p:sp>
        <p:nvSpPr>
          <p:cNvPr id="10" name="Shape 8"/>
          <p:cNvSpPr/>
          <p:nvPr/>
        </p:nvSpPr>
        <p:spPr>
          <a:xfrm>
            <a:off x="850392" y="1527048"/>
            <a:ext cx="73152" cy="73152"/>
          </a:xfrm>
          <a:prstGeom prst="ellipse">
            <a:avLst/>
          </a:prstGeom>
          <a:solidFill>
            <a:srgbClr val="27C93F"/>
          </a:solidFill>
          <a:ln w="12700">
            <a:solidFill>
              <a:srgbClr val="27C93F"/>
            </a:solidFill>
            <a:prstDash val="solid"/>
          </a:ln>
        </p:spPr>
      </p:sp>
      <p:sp>
        <p:nvSpPr>
          <p:cNvPr id="11" name="Text 9"/>
          <p:cNvSpPr txBox="1"/>
          <p:nvPr/>
        </p:nvSpPr>
        <p:spPr>
          <a:xfrm>
            <a:off x="1024128" y="1472184"/>
            <a:ext cx="3337560" cy="182880"/>
          </a:xfrm>
          <a:prstGeom prst="rect">
            <a:avLst/>
          </a:prstGeom>
          <a:noFill/>
          <a:ln/>
        </p:spPr>
        <p:txBody>
          <a:bodyPr wrap="square" lIns="0" tIns="0" rIns="0" bIns="0" rtlCol="0" anchor="ctr"/>
          <a:lstStyle/>
          <a:p>
            <a:pPr marL="0" indent="0">
              <a:buNone/>
            </a:pPr>
            <a:r>
              <a:rPr lang="en-US" sz="850" b="1" dirty="0">
                <a:solidFill>
                  <a:srgbClr val="F5A800"/>
                </a:solidFill>
                <a:latin typeface="Segoe UI" pitchFamily="34" charset="0"/>
                <a:ea typeface="Segoe UI" pitchFamily="34" charset="-122"/>
                <a:cs typeface="Segoe UI" pitchFamily="34" charset="-120"/>
              </a:rPr>
              <a:t>POST · Invoices</a:t>
            </a:r>
            <a:endParaRPr lang="en-US" sz="850" dirty="0"/>
          </a:p>
        </p:txBody>
      </p:sp>
      <p:sp>
        <p:nvSpPr>
          <p:cNvPr id="12" name="Text 10"/>
          <p:cNvSpPr txBox="1"/>
          <p:nvPr/>
        </p:nvSpPr>
        <p:spPr>
          <a:xfrm>
            <a:off x="594360" y="1709928"/>
            <a:ext cx="3749040" cy="2423160"/>
          </a:xfrm>
          <a:prstGeom prst="rect">
            <a:avLst/>
          </a:prstGeom>
          <a:noFill/>
          <a:ln/>
        </p:spPr>
        <p:txBody>
          <a:bodyPr wrap="square" lIns="0" tIns="0" rIns="0" bIns="0" rtlCol="0" anchor="t"/>
          <a:lstStyle/>
          <a:p>
            <a:pPr marL="0" indent="0">
              <a:lnSpc>
                <a:spcPct val="100000"/>
              </a:lnSpc>
              <a:buNone/>
            </a:pPr>
            <a:r>
              <a:rPr lang="en-US" sz="800" b="1" dirty="0">
                <a:solidFill>
                  <a:srgbClr val="F5A800"/>
                </a:solidFill>
                <a:latin typeface="Consolas" pitchFamily="34" charset="0"/>
                <a:ea typeface="Consolas" pitchFamily="34" charset="-122"/>
                <a:cs typeface="Consolas" pitchFamily="34" charset="-120"/>
              </a:rPr>
              <a:t>curl</a:t>
            </a:r>
            <a:r>
              <a:rPr lang="en-US" sz="800" dirty="0">
                <a:solidFill>
                  <a:srgbClr val="DCE6F2"/>
                </a:solidFill>
                <a:latin typeface="Consolas" pitchFamily="34" charset="0"/>
                <a:ea typeface="Consolas" pitchFamily="34" charset="-122"/>
                <a:cs typeface="Consolas" pitchFamily="34" charset="-120"/>
              </a:rPr>
              <a:t> -k -X </a:t>
            </a:r>
            <a:r>
              <a:rPr lang="en-US" sz="800" b="1" dirty="0">
                <a:solidFill>
                  <a:srgbClr val="F5A800"/>
                </a:solidFill>
                <a:latin typeface="Consolas" pitchFamily="34" charset="0"/>
                <a:ea typeface="Consolas" pitchFamily="34" charset="-122"/>
                <a:cs typeface="Consolas" pitchFamily="34" charset="-120"/>
              </a:rPr>
              <a:t>POST</a:t>
            </a:r>
            <a:r>
              <a:rPr lang="en-US" sz="800" dirty="0">
                <a:solidFill>
                  <a:srgbClr val="DCE6F2"/>
                </a:solidFill>
                <a:latin typeface="Consolas" pitchFamily="34" charset="0"/>
                <a:ea typeface="Consolas" pitchFamily="34" charset="-122"/>
                <a:cs typeface="Consolas" pitchFamily="34" charset="-120"/>
              </a:rPr>
              <a:t> </a:t>
            </a:r>
            <a:r>
              <a:rPr lang="en-US" sz="800" dirty="0">
                <a:solidFill>
                  <a:srgbClr val="B5E48C"/>
                </a:solidFill>
                <a:latin typeface="Consolas" pitchFamily="34" charset="0"/>
                <a:ea typeface="Consolas" pitchFamily="34" charset="-122"/>
                <a:cs typeface="Consolas" pitchFamily="34" charset="-120"/>
              </a:rPr>
              <a:t>"$SL/Invoices"</a:t>
            </a: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-H </a:t>
            </a:r>
            <a:r>
              <a:rPr lang="en-US" sz="800" dirty="0">
                <a:solidFill>
                  <a:srgbClr val="B5E48C"/>
                </a:solidFill>
                <a:latin typeface="Consolas" pitchFamily="34" charset="0"/>
                <a:ea typeface="Consolas" pitchFamily="34" charset="-122"/>
                <a:cs typeface="Consolas" pitchFamily="34" charset="-120"/>
              </a:rPr>
              <a:t>"Content-Type: application/json"</a:t>
            </a: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-b cookies.txt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-d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"CardCode"</a:t>
            </a:r>
            <a:r>
              <a:rPr lang="en-US" sz="800" dirty="0">
                <a:solidFill>
                  <a:srgbClr val="DCE6F2"/>
                </a:solidFill>
                <a:latin typeface="Consolas" pitchFamily="34" charset="0"/>
                <a:ea typeface="Consolas" pitchFamily="34" charset="-122"/>
                <a:cs typeface="Consolas" pitchFamily="34" charset="-120"/>
              </a:rPr>
              <a:t>: </a:t>
            </a:r>
            <a:r>
              <a:rPr lang="en-US" sz="800" dirty="0">
                <a:solidFill>
                  <a:srgbClr val="B5E48C"/>
                </a:solidFill>
                <a:latin typeface="Consolas" pitchFamily="34" charset="0"/>
                <a:ea typeface="Consolas" pitchFamily="34" charset="-122"/>
                <a:cs typeface="Consolas" pitchFamily="34" charset="-120"/>
              </a:rPr>
              <a:t>"C20601234567"</a:t>
            </a:r>
            <a:r>
              <a:rPr lang="en-US" sz="800" dirty="0">
                <a:solidFill>
                  <a:srgbClr val="DCE6F2"/>
                </a:solidFill>
                <a:latin typeface="Consolas" pitchFamily="34" charset="0"/>
                <a:ea typeface="Consolas" pitchFamily="34" charset="-122"/>
                <a:cs typeface="Consolas" pitchFamily="34" charset="-120"/>
              </a:rPr>
              <a:t>,</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"DocDate"</a:t>
            </a:r>
            <a:r>
              <a:rPr lang="en-US" sz="800" dirty="0">
                <a:solidFill>
                  <a:srgbClr val="DCE6F2"/>
                </a:solidFill>
                <a:latin typeface="Consolas" pitchFamily="34" charset="0"/>
                <a:ea typeface="Consolas" pitchFamily="34" charset="-122"/>
                <a:cs typeface="Consolas" pitchFamily="34" charset="-120"/>
              </a:rPr>
              <a:t>: </a:t>
            </a:r>
            <a:r>
              <a:rPr lang="en-US" sz="800" dirty="0">
                <a:solidFill>
                  <a:srgbClr val="B5E48C"/>
                </a:solidFill>
                <a:latin typeface="Consolas" pitchFamily="34" charset="0"/>
                <a:ea typeface="Consolas" pitchFamily="34" charset="-122"/>
                <a:cs typeface="Consolas" pitchFamily="34" charset="-120"/>
              </a:rPr>
              <a:t>"2026-09-24"</a:t>
            </a:r>
            <a:r>
              <a:rPr lang="en-US" sz="800" dirty="0">
                <a:solidFill>
                  <a:srgbClr val="DCE6F2"/>
                </a:solidFill>
                <a:latin typeface="Consolas" pitchFamily="34" charset="0"/>
                <a:ea typeface="Consolas" pitchFamily="34" charset="-122"/>
                <a:cs typeface="Consolas" pitchFamily="34" charset="-120"/>
              </a:rPr>
              <a:t>,</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"DocDueDate"</a:t>
            </a:r>
            <a:r>
              <a:rPr lang="en-US" sz="800" dirty="0">
                <a:solidFill>
                  <a:srgbClr val="DCE6F2"/>
                </a:solidFill>
                <a:latin typeface="Consolas" pitchFamily="34" charset="0"/>
                <a:ea typeface="Consolas" pitchFamily="34" charset="-122"/>
                <a:cs typeface="Consolas" pitchFamily="34" charset="-120"/>
              </a:rPr>
              <a:t>: </a:t>
            </a:r>
            <a:r>
              <a:rPr lang="en-US" sz="800" dirty="0">
                <a:solidFill>
                  <a:srgbClr val="B5E48C"/>
                </a:solidFill>
                <a:latin typeface="Consolas" pitchFamily="34" charset="0"/>
                <a:ea typeface="Consolas" pitchFamily="34" charset="-122"/>
                <a:cs typeface="Consolas" pitchFamily="34" charset="-120"/>
              </a:rPr>
              <a:t>"2026-10-24"</a:t>
            </a:r>
            <a:r>
              <a:rPr lang="en-US" sz="800" dirty="0">
                <a:solidFill>
                  <a:srgbClr val="DCE6F2"/>
                </a:solidFill>
                <a:latin typeface="Consolas" pitchFamily="34" charset="0"/>
                <a:ea typeface="Consolas" pitchFamily="34" charset="-122"/>
                <a:cs typeface="Consolas" pitchFamily="34" charset="-120"/>
              </a:rPr>
              <a:t>,</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"DocumentLines"</a:t>
            </a: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"BaseType"</a:t>
            </a:r>
            <a:r>
              <a:rPr lang="en-US" sz="800" dirty="0">
                <a:solidFill>
                  <a:srgbClr val="DCE6F2"/>
                </a:solidFill>
                <a:latin typeface="Consolas" pitchFamily="34" charset="0"/>
                <a:ea typeface="Consolas" pitchFamily="34" charset="-122"/>
                <a:cs typeface="Consolas" pitchFamily="34" charset="-120"/>
              </a:rPr>
              <a:t>: 15,</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"BaseEntry"</a:t>
            </a:r>
            <a:r>
              <a:rPr lang="en-US" sz="800" dirty="0">
                <a:solidFill>
                  <a:srgbClr val="DCE6F2"/>
                </a:solidFill>
                <a:latin typeface="Consolas" pitchFamily="34" charset="0"/>
                <a:ea typeface="Consolas" pitchFamily="34" charset="-122"/>
                <a:cs typeface="Consolas" pitchFamily="34" charset="-120"/>
              </a:rPr>
              <a:t>: 1988,</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"BaseLine"</a:t>
            </a:r>
            <a:r>
              <a:rPr lang="en-US" sz="800" dirty="0">
                <a:solidFill>
                  <a:srgbClr val="DCE6F2"/>
                </a:solidFill>
                <a:latin typeface="Consolas" pitchFamily="34" charset="0"/>
                <a:ea typeface="Consolas" pitchFamily="34" charset="-122"/>
                <a:cs typeface="Consolas" pitchFamily="34" charset="-120"/>
              </a:rPr>
              <a:t>: 0</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a:t>
            </a:r>
            <a:endParaRPr lang="en-US" sz="800" dirty="0"/>
          </a:p>
        </p:txBody>
      </p:sp>
      <p:sp>
        <p:nvSpPr>
          <p:cNvPr id="13" name="Text 11"/>
          <p:cNvSpPr txBox="1"/>
          <p:nvPr/>
        </p:nvSpPr>
        <p:spPr>
          <a:xfrm>
            <a:off x="457200" y="4297680"/>
            <a:ext cx="4023360" cy="457200"/>
          </a:xfrm>
          <a:prstGeom prst="rect">
            <a:avLst/>
          </a:prstGeom>
          <a:noFill/>
          <a:ln/>
        </p:spPr>
        <p:txBody>
          <a:bodyPr wrap="square" lIns="0" tIns="0" rIns="0" bIns="0" rtlCol="0" anchor="t"/>
          <a:lstStyle/>
          <a:p>
            <a:pPr marL="0" indent="0">
              <a:buNone/>
            </a:pPr>
            <a:r>
              <a:rPr lang="en-US" sz="1000" i="1" dirty="0">
                <a:solidFill>
                  <a:srgbClr val="5B6B82"/>
                </a:solidFill>
                <a:latin typeface="Calibri" pitchFamily="34" charset="0"/>
                <a:ea typeface="Calibri" pitchFamily="34" charset="-122"/>
                <a:cs typeface="Calibri" pitchFamily="34" charset="-120"/>
              </a:rPr>
              <a:t>BaseType 15 = entrega. DocDueDate define el vencimiento de la cuenta por cobrar.</a:t>
            </a:r>
            <a:endParaRPr lang="en-US" sz="1000" dirty="0"/>
          </a:p>
        </p:txBody>
      </p:sp>
      <p:sp>
        <p:nvSpPr>
          <p:cNvPr id="14" name="Shape 12"/>
          <p:cNvSpPr/>
          <p:nvPr/>
        </p:nvSpPr>
        <p:spPr>
          <a:xfrm>
            <a:off x="4663440" y="1417320"/>
            <a:ext cx="4023360" cy="2788920"/>
          </a:xfrm>
          <a:prstGeom prst="roundRect">
            <a:avLst>
              <a:gd name="adj" fmla="val 2295"/>
            </a:avLst>
          </a:prstGeom>
          <a:solidFill>
            <a:srgbClr val="0E1B2E"/>
          </a:solidFill>
          <a:ln w="12700">
            <a:solidFill>
              <a:srgbClr val="0E1B2E"/>
            </a:solidFill>
            <a:prstDash val="solid"/>
          </a:ln>
          <a:effectLst>
            <a:outerShdw blurRad="101600" dist="25400" dir="5400000" algn="bl" rotWithShape="0">
              <a:srgbClr val="0B2A55">
                <a:alpha val="12000"/>
              </a:srgbClr>
            </a:outerShdw>
          </a:effectLst>
        </p:spPr>
      </p:sp>
      <p:sp>
        <p:nvSpPr>
          <p:cNvPr id="15" name="Shape 13"/>
          <p:cNvSpPr/>
          <p:nvPr/>
        </p:nvSpPr>
        <p:spPr>
          <a:xfrm>
            <a:off x="4800600" y="1527048"/>
            <a:ext cx="73152" cy="73152"/>
          </a:xfrm>
          <a:prstGeom prst="ellipse">
            <a:avLst/>
          </a:prstGeom>
          <a:solidFill>
            <a:srgbClr val="FF5F56"/>
          </a:solidFill>
          <a:ln w="12700">
            <a:solidFill>
              <a:srgbClr val="FF5F56"/>
            </a:solidFill>
            <a:prstDash val="solid"/>
          </a:ln>
        </p:spPr>
      </p:sp>
      <p:sp>
        <p:nvSpPr>
          <p:cNvPr id="16" name="Shape 14"/>
          <p:cNvSpPr/>
          <p:nvPr/>
        </p:nvSpPr>
        <p:spPr>
          <a:xfrm>
            <a:off x="4928616" y="1527048"/>
            <a:ext cx="73152" cy="73152"/>
          </a:xfrm>
          <a:prstGeom prst="ellipse">
            <a:avLst/>
          </a:prstGeom>
          <a:solidFill>
            <a:srgbClr val="FFBD2E"/>
          </a:solidFill>
          <a:ln w="12700">
            <a:solidFill>
              <a:srgbClr val="FFBD2E"/>
            </a:solidFill>
            <a:prstDash val="solid"/>
          </a:ln>
        </p:spPr>
      </p:sp>
      <p:sp>
        <p:nvSpPr>
          <p:cNvPr id="17" name="Shape 15"/>
          <p:cNvSpPr/>
          <p:nvPr/>
        </p:nvSpPr>
        <p:spPr>
          <a:xfrm>
            <a:off x="5056632" y="1527048"/>
            <a:ext cx="73152" cy="73152"/>
          </a:xfrm>
          <a:prstGeom prst="ellipse">
            <a:avLst/>
          </a:prstGeom>
          <a:solidFill>
            <a:srgbClr val="27C93F"/>
          </a:solidFill>
          <a:ln w="12700">
            <a:solidFill>
              <a:srgbClr val="27C93F"/>
            </a:solidFill>
            <a:prstDash val="solid"/>
          </a:ln>
        </p:spPr>
      </p:sp>
      <p:sp>
        <p:nvSpPr>
          <p:cNvPr id="18" name="Text 16"/>
          <p:cNvSpPr txBox="1"/>
          <p:nvPr/>
        </p:nvSpPr>
        <p:spPr>
          <a:xfrm>
            <a:off x="5230368" y="1472184"/>
            <a:ext cx="3337560" cy="182880"/>
          </a:xfrm>
          <a:prstGeom prst="rect">
            <a:avLst/>
          </a:prstGeom>
          <a:noFill/>
          <a:ln/>
        </p:spPr>
        <p:txBody>
          <a:bodyPr wrap="square" lIns="0" tIns="0" rIns="0" bIns="0" rtlCol="0" anchor="ctr"/>
          <a:lstStyle/>
          <a:p>
            <a:pPr marL="0" indent="0">
              <a:buNone/>
            </a:pPr>
            <a:r>
              <a:rPr lang="en-US" sz="850" b="1" dirty="0">
                <a:solidFill>
                  <a:srgbClr val="F5A800"/>
                </a:solidFill>
                <a:latin typeface="Segoe UI" pitchFamily="34" charset="0"/>
                <a:ea typeface="Segoe UI" pitchFamily="34" charset="-122"/>
                <a:cs typeface="Segoe UI" pitchFamily="34" charset="-120"/>
              </a:rPr>
              <a:t>POST · CreditNotes</a:t>
            </a:r>
            <a:endParaRPr lang="en-US" sz="850" dirty="0"/>
          </a:p>
        </p:txBody>
      </p:sp>
      <p:sp>
        <p:nvSpPr>
          <p:cNvPr id="19" name="Text 17"/>
          <p:cNvSpPr txBox="1"/>
          <p:nvPr/>
        </p:nvSpPr>
        <p:spPr>
          <a:xfrm>
            <a:off x="4800600" y="1709928"/>
            <a:ext cx="3749040" cy="2423160"/>
          </a:xfrm>
          <a:prstGeom prst="rect">
            <a:avLst/>
          </a:prstGeom>
          <a:noFill/>
          <a:ln/>
        </p:spPr>
        <p:txBody>
          <a:bodyPr wrap="square" lIns="0" tIns="0" rIns="0" bIns="0" rtlCol="0" anchor="t"/>
          <a:lstStyle/>
          <a:p>
            <a:pPr marL="0" indent="0">
              <a:lnSpc>
                <a:spcPct val="100000"/>
              </a:lnSpc>
              <a:buNone/>
            </a:pPr>
            <a:r>
              <a:rPr lang="en-US" sz="800" b="1" dirty="0">
                <a:solidFill>
                  <a:srgbClr val="F5A800"/>
                </a:solidFill>
                <a:latin typeface="Consolas" pitchFamily="34" charset="0"/>
                <a:ea typeface="Consolas" pitchFamily="34" charset="-122"/>
                <a:cs typeface="Consolas" pitchFamily="34" charset="-120"/>
              </a:rPr>
              <a:t>curl</a:t>
            </a:r>
            <a:r>
              <a:rPr lang="en-US" sz="800" dirty="0">
                <a:solidFill>
                  <a:srgbClr val="DCE6F2"/>
                </a:solidFill>
                <a:latin typeface="Consolas" pitchFamily="34" charset="0"/>
                <a:ea typeface="Consolas" pitchFamily="34" charset="-122"/>
                <a:cs typeface="Consolas" pitchFamily="34" charset="-120"/>
              </a:rPr>
              <a:t> -k -X </a:t>
            </a:r>
            <a:r>
              <a:rPr lang="en-US" sz="800" b="1" dirty="0">
                <a:solidFill>
                  <a:srgbClr val="F5A800"/>
                </a:solidFill>
                <a:latin typeface="Consolas" pitchFamily="34" charset="0"/>
                <a:ea typeface="Consolas" pitchFamily="34" charset="-122"/>
                <a:cs typeface="Consolas" pitchFamily="34" charset="-120"/>
              </a:rPr>
              <a:t>POST</a:t>
            </a:r>
            <a:r>
              <a:rPr lang="en-US" sz="800" dirty="0">
                <a:solidFill>
                  <a:srgbClr val="DCE6F2"/>
                </a:solidFill>
                <a:latin typeface="Consolas" pitchFamily="34" charset="0"/>
                <a:ea typeface="Consolas" pitchFamily="34" charset="-122"/>
                <a:cs typeface="Consolas" pitchFamily="34" charset="-120"/>
              </a:rPr>
              <a:t> </a:t>
            </a:r>
            <a:r>
              <a:rPr lang="en-US" sz="800" dirty="0">
                <a:solidFill>
                  <a:srgbClr val="B5E48C"/>
                </a:solidFill>
                <a:latin typeface="Consolas" pitchFamily="34" charset="0"/>
                <a:ea typeface="Consolas" pitchFamily="34" charset="-122"/>
                <a:cs typeface="Consolas" pitchFamily="34" charset="-120"/>
              </a:rPr>
              <a:t>"$SL/CreditNotes"</a:t>
            </a: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-H </a:t>
            </a:r>
            <a:r>
              <a:rPr lang="en-US" sz="800" dirty="0">
                <a:solidFill>
                  <a:srgbClr val="B5E48C"/>
                </a:solidFill>
                <a:latin typeface="Consolas" pitchFamily="34" charset="0"/>
                <a:ea typeface="Consolas" pitchFamily="34" charset="-122"/>
                <a:cs typeface="Consolas" pitchFamily="34" charset="-120"/>
              </a:rPr>
              <a:t>"Content-Type: application/json"</a:t>
            </a: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-b cookies.txt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-d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"CardCode"</a:t>
            </a:r>
            <a:r>
              <a:rPr lang="en-US" sz="800" dirty="0">
                <a:solidFill>
                  <a:srgbClr val="DCE6F2"/>
                </a:solidFill>
                <a:latin typeface="Consolas" pitchFamily="34" charset="0"/>
                <a:ea typeface="Consolas" pitchFamily="34" charset="-122"/>
                <a:cs typeface="Consolas" pitchFamily="34" charset="-120"/>
              </a:rPr>
              <a:t>: </a:t>
            </a:r>
            <a:r>
              <a:rPr lang="en-US" sz="800" dirty="0">
                <a:solidFill>
                  <a:srgbClr val="B5E48C"/>
                </a:solidFill>
                <a:latin typeface="Consolas" pitchFamily="34" charset="0"/>
                <a:ea typeface="Consolas" pitchFamily="34" charset="-122"/>
                <a:cs typeface="Consolas" pitchFamily="34" charset="-120"/>
              </a:rPr>
              <a:t>"C20601234567"</a:t>
            </a:r>
            <a:r>
              <a:rPr lang="en-US" sz="800" dirty="0">
                <a:solidFill>
                  <a:srgbClr val="DCE6F2"/>
                </a:solidFill>
                <a:latin typeface="Consolas" pitchFamily="34" charset="0"/>
                <a:ea typeface="Consolas" pitchFamily="34" charset="-122"/>
                <a:cs typeface="Consolas" pitchFamily="34" charset="-120"/>
              </a:rPr>
              <a:t>,</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"DocDate"</a:t>
            </a:r>
            <a:r>
              <a:rPr lang="en-US" sz="800" dirty="0">
                <a:solidFill>
                  <a:srgbClr val="DCE6F2"/>
                </a:solidFill>
                <a:latin typeface="Consolas" pitchFamily="34" charset="0"/>
                <a:ea typeface="Consolas" pitchFamily="34" charset="-122"/>
                <a:cs typeface="Consolas" pitchFamily="34" charset="-120"/>
              </a:rPr>
              <a:t>: </a:t>
            </a:r>
            <a:r>
              <a:rPr lang="en-US" sz="800" dirty="0">
                <a:solidFill>
                  <a:srgbClr val="B5E48C"/>
                </a:solidFill>
                <a:latin typeface="Consolas" pitchFamily="34" charset="0"/>
                <a:ea typeface="Consolas" pitchFamily="34" charset="-122"/>
                <a:cs typeface="Consolas" pitchFamily="34" charset="-120"/>
              </a:rPr>
              <a:t>"2026-09-29"</a:t>
            </a:r>
            <a:r>
              <a:rPr lang="en-US" sz="800" dirty="0">
                <a:solidFill>
                  <a:srgbClr val="DCE6F2"/>
                </a:solidFill>
                <a:latin typeface="Consolas" pitchFamily="34" charset="0"/>
                <a:ea typeface="Consolas" pitchFamily="34" charset="-122"/>
                <a:cs typeface="Consolas" pitchFamily="34" charset="-120"/>
              </a:rPr>
              <a:t>,</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"Comments"</a:t>
            </a:r>
            <a:r>
              <a:rPr lang="en-US" sz="800" dirty="0">
                <a:solidFill>
                  <a:srgbClr val="DCE6F2"/>
                </a:solidFill>
                <a:latin typeface="Consolas" pitchFamily="34" charset="0"/>
                <a:ea typeface="Consolas" pitchFamily="34" charset="-122"/>
                <a:cs typeface="Consolas" pitchFamily="34" charset="-120"/>
              </a:rPr>
              <a:t>: </a:t>
            </a:r>
            <a:r>
              <a:rPr lang="en-US" sz="800" dirty="0">
                <a:solidFill>
                  <a:srgbClr val="B5E48C"/>
                </a:solidFill>
                <a:latin typeface="Consolas" pitchFamily="34" charset="0"/>
                <a:ea typeface="Consolas" pitchFamily="34" charset="-122"/>
                <a:cs typeface="Consolas" pitchFamily="34" charset="-120"/>
              </a:rPr>
              <a:t>"NC por descuento comercial"</a:t>
            </a:r>
            <a:r>
              <a:rPr lang="en-US" sz="800" dirty="0">
                <a:solidFill>
                  <a:srgbClr val="DCE6F2"/>
                </a:solidFill>
                <a:latin typeface="Consolas" pitchFamily="34" charset="0"/>
                <a:ea typeface="Consolas" pitchFamily="34" charset="-122"/>
                <a:cs typeface="Consolas" pitchFamily="34" charset="-120"/>
              </a:rPr>
              <a:t>,</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"DocumentLines"</a:t>
            </a: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"BaseType"</a:t>
            </a:r>
            <a:r>
              <a:rPr lang="en-US" sz="800" dirty="0">
                <a:solidFill>
                  <a:srgbClr val="DCE6F2"/>
                </a:solidFill>
                <a:latin typeface="Consolas" pitchFamily="34" charset="0"/>
                <a:ea typeface="Consolas" pitchFamily="34" charset="-122"/>
                <a:cs typeface="Consolas" pitchFamily="34" charset="-120"/>
              </a:rPr>
              <a:t>: 13,</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"BaseEntry"</a:t>
            </a:r>
            <a:r>
              <a:rPr lang="en-US" sz="800" dirty="0">
                <a:solidFill>
                  <a:srgbClr val="DCE6F2"/>
                </a:solidFill>
                <a:latin typeface="Consolas" pitchFamily="34" charset="0"/>
                <a:ea typeface="Consolas" pitchFamily="34" charset="-122"/>
                <a:cs typeface="Consolas" pitchFamily="34" charset="-120"/>
              </a:rPr>
              <a:t>: 3321,</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"BaseLine"</a:t>
            </a:r>
            <a:r>
              <a:rPr lang="en-US" sz="800" dirty="0">
                <a:solidFill>
                  <a:srgbClr val="DCE6F2"/>
                </a:solidFill>
                <a:latin typeface="Consolas" pitchFamily="34" charset="0"/>
                <a:ea typeface="Consolas" pitchFamily="34" charset="-122"/>
                <a:cs typeface="Consolas" pitchFamily="34" charset="-120"/>
              </a:rPr>
              <a:t>: 0,</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"Quantity"</a:t>
            </a:r>
            <a:r>
              <a:rPr lang="en-US" sz="800" dirty="0">
                <a:solidFill>
                  <a:srgbClr val="DCE6F2"/>
                </a:solidFill>
                <a:latin typeface="Consolas" pitchFamily="34" charset="0"/>
                <a:ea typeface="Consolas" pitchFamily="34" charset="-122"/>
                <a:cs typeface="Consolas" pitchFamily="34" charset="-120"/>
              </a:rPr>
              <a:t>: 1</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a:t>
            </a:r>
            <a:endParaRPr lang="en-US" sz="800" dirty="0"/>
          </a:p>
        </p:txBody>
      </p:sp>
      <p:sp>
        <p:nvSpPr>
          <p:cNvPr id="20" name="Text 18"/>
          <p:cNvSpPr txBox="1"/>
          <p:nvPr/>
        </p:nvSpPr>
        <p:spPr>
          <a:xfrm>
            <a:off x="4663440" y="4297680"/>
            <a:ext cx="4023360" cy="457200"/>
          </a:xfrm>
          <a:prstGeom prst="rect">
            <a:avLst/>
          </a:prstGeom>
          <a:noFill/>
          <a:ln/>
        </p:spPr>
        <p:txBody>
          <a:bodyPr wrap="square" lIns="0" tIns="0" rIns="0" bIns="0" rtlCol="0" anchor="t"/>
          <a:lstStyle/>
          <a:p>
            <a:pPr marL="0" indent="0">
              <a:buNone/>
            </a:pPr>
            <a:r>
              <a:rPr lang="en-US" sz="1000" i="1" dirty="0">
                <a:solidFill>
                  <a:srgbClr val="5B6B82"/>
                </a:solidFill>
                <a:latin typeface="Calibri" pitchFamily="34" charset="0"/>
                <a:ea typeface="Calibri" pitchFamily="34" charset="-122"/>
                <a:cs typeface="Calibri" pitchFamily="34" charset="-120"/>
              </a:rPr>
              <a:t>BaseType 13 = factura de cliente. La NC referenciada queda vinculada a la factura origen.</a:t>
            </a:r>
            <a:endParaRPr lang="en-US" sz="1000" dirty="0"/>
          </a:p>
        </p:txBody>
      </p:sp>
      <p:sp>
        <p:nvSpPr>
          <p:cNvPr id="21" name="Text 19"/>
          <p:cNvSpPr txBox="1"/>
          <p:nvPr/>
        </p:nvSpPr>
        <p:spPr>
          <a:xfrm>
            <a:off x="4663440" y="4828032"/>
            <a:ext cx="3474720" cy="182880"/>
          </a:xfrm>
          <a:prstGeom prst="rect">
            <a:avLst/>
          </a:prstGeom>
          <a:noFill/>
          <a:ln/>
        </p:spPr>
        <p:txBody>
          <a:bodyPr wrap="square" lIns="0" tIns="0" rIns="0" bIns="0" rtlCol="0" anchor="t"/>
          <a:lstStyle/>
          <a:p>
            <a:pPr marL="0" indent="0" algn="r">
              <a:buNone/>
            </a:pPr>
            <a:r>
              <a:rPr lang="en-US" sz="800" b="1" dirty="0">
                <a:solidFill>
                  <a:srgbClr val="0B4DA2"/>
                </a:solidFill>
                <a:latin typeface="Consolas" pitchFamily="34" charset="0"/>
                <a:ea typeface="Consolas" pitchFamily="34" charset="-122"/>
                <a:cs typeface="Consolas" pitchFamily="34" charset="-120"/>
              </a:rPr>
              <a:t>$SL</a:t>
            </a:r>
            <a:r>
              <a:rPr lang="en-US" sz="800" dirty="0">
                <a:solidFill>
                  <a:srgbClr val="8A9AB0"/>
                </a:solidFill>
                <a:latin typeface="Calibri" pitchFamily="34" charset="0"/>
                <a:ea typeface="Calibri" pitchFamily="34" charset="-122"/>
                <a:cs typeface="Calibri" pitchFamily="34" charset="-120"/>
              </a:rPr>
              <a:t> = https://sapserver:50000/b1s/v1   ·   cookies.txt obtenido en el Login</a:t>
            </a:r>
            <a:endParaRPr lang="en-US" sz="800" dirty="0"/>
          </a:p>
        </p:txBody>
      </p:sp>
      <p:sp>
        <p:nvSpPr>
          <p:cNvPr id="25"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xmlns="" val="0"/>
            </a:ext>
          </a:extLst>
        </p:spPr>
        <p:txBody>
          <a:bodyPr/>
          <a:lstStyle>
            <a:lvl1pPr>
              <a:defRPr sz="800">
                <a:solidFill>
                  <a:srgbClr val="8A9AB0"/>
                </a:solidFill>
                <a:latin typeface="Calibri"/>
                <a:ea typeface="Calibri"/>
                <a:cs typeface="Calibri"/>
              </a:defRPr>
            </a:lvl1pPr>
          </a:lstStyle>
          <a:p>
            <a:pPr algn="r"/>
            <a:fld id="{F7021451-1387-4CA6-816F-3879F97B5CBC}" type="slidenum">
              <a:rPr lang="en-US" b="0"/>
              <a:t>25</a:t>
            </a:fld>
            <a:endParaRPr 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457200" y="256032"/>
            <a:ext cx="2434133" cy="237744"/>
          </a:xfrm>
          <a:prstGeom prst="roundRect">
            <a:avLst>
              <a:gd name="adj" fmla="val 50000"/>
            </a:avLst>
          </a:prstGeom>
          <a:solidFill>
            <a:srgbClr val="071B3F"/>
          </a:solidFill>
          <a:ln w="12700">
            <a:solidFill>
              <a:srgbClr val="071B3F"/>
            </a:solidFill>
            <a:prstDash val="solid"/>
          </a:ln>
        </p:spPr>
      </p:sp>
      <p:sp>
        <p:nvSpPr>
          <p:cNvPr id="3" name="Text 1"/>
          <p:cNvSpPr txBox="1"/>
          <p:nvPr/>
        </p:nvSpPr>
        <p:spPr>
          <a:xfrm>
            <a:off x="457200" y="256032"/>
            <a:ext cx="2434133" cy="237744"/>
          </a:xfrm>
          <a:prstGeom prst="rect">
            <a:avLst/>
          </a:prstGeom>
          <a:noFill/>
          <a:ln/>
        </p:spPr>
        <p:txBody>
          <a:bodyPr wrap="square" lIns="0" tIns="0" rIns="0" bIns="0" rtlCol="0" anchor="ctr"/>
          <a:lstStyle/>
          <a:p>
            <a:pPr marL="0" indent="0" algn="ctr">
              <a:buNone/>
            </a:pPr>
            <a:r>
              <a:rPr lang="en-US" sz="850" b="1" kern="0" spc="100" dirty="0">
                <a:solidFill>
                  <a:srgbClr val="F5A800"/>
                </a:solidFill>
                <a:latin typeface="Segoe UI" pitchFamily="34" charset="0"/>
                <a:ea typeface="Segoe UI" pitchFamily="34" charset="-122"/>
                <a:cs typeface="Segoe UI" pitchFamily="34" charset="-120"/>
              </a:rPr>
              <a:t>04  ·  FLUJOS DE OPERACIÓN II</a:t>
            </a:r>
            <a:endParaRPr lang="en-US" sz="850" dirty="0"/>
          </a:p>
        </p:txBody>
      </p:sp>
      <p:sp>
        <p:nvSpPr>
          <p:cNvPr id="4" name="Text 2"/>
          <p:cNvSpPr txBox="1"/>
          <p:nvPr/>
        </p:nvSpPr>
        <p:spPr>
          <a:xfrm>
            <a:off x="457200" y="566928"/>
            <a:ext cx="8229600" cy="502920"/>
          </a:xfrm>
          <a:prstGeom prst="rect">
            <a:avLst/>
          </a:prstGeom>
          <a:noFill/>
          <a:ln/>
        </p:spPr>
        <p:txBody>
          <a:bodyPr wrap="square" lIns="0" tIns="0" rIns="0" bIns="0" rtlCol="0" anchor="ctr"/>
          <a:lstStyle/>
          <a:p>
            <a:pPr marL="0" indent="0">
              <a:buNone/>
            </a:pPr>
            <a:r>
              <a:rPr lang="en-US" sz="2400" b="1" dirty="0">
                <a:solidFill>
                  <a:srgbClr val="071B3F"/>
                </a:solidFill>
                <a:latin typeface="Segoe UI" pitchFamily="34" charset="0"/>
                <a:ea typeface="Segoe UI" pitchFamily="34" charset="-122"/>
                <a:cs typeface="Segoe UI" pitchFamily="34" charset="-120"/>
              </a:rPr>
              <a:t>Notas de débito (compras y ventas)</a:t>
            </a:r>
            <a:endParaRPr lang="en-US" sz="2400" dirty="0"/>
          </a:p>
        </p:txBody>
      </p:sp>
      <p:sp>
        <p:nvSpPr>
          <p:cNvPr id="5" name="Text 3"/>
          <p:cNvSpPr txBox="1"/>
          <p:nvPr/>
        </p:nvSpPr>
        <p:spPr>
          <a:xfrm>
            <a:off x="457200" y="1051560"/>
            <a:ext cx="8229600" cy="274320"/>
          </a:xfrm>
          <a:prstGeom prst="rect">
            <a:avLst/>
          </a:prstGeom>
          <a:noFill/>
          <a:ln/>
        </p:spPr>
        <p:txBody>
          <a:bodyPr wrap="square" lIns="0" tIns="0" rIns="0" bIns="0" rtlCol="0" anchor="ctr"/>
          <a:lstStyle/>
          <a:p>
            <a:pPr marL="0" indent="0">
              <a:buNone/>
            </a:pPr>
            <a:r>
              <a:rPr lang="en-US" sz="1250" dirty="0">
                <a:solidFill>
                  <a:srgbClr val="5B6B82"/>
                </a:solidFill>
                <a:latin typeface="Calibri" pitchFamily="34" charset="0"/>
                <a:ea typeface="Calibri" pitchFamily="34" charset="-122"/>
                <a:cs typeface="Calibri" pitchFamily="34" charset="-120"/>
              </a:rPr>
              <a:t>No existe una entidad propia: se usa la factura con DocumentSubType</a:t>
            </a:r>
            <a:endParaRPr lang="en-US" sz="1250" dirty="0"/>
          </a:p>
        </p:txBody>
      </p:sp>
      <p:sp>
        <p:nvSpPr>
          <p:cNvPr id="6" name="Text 4"/>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00" dirty="0">
                <a:solidFill>
                  <a:srgbClr val="8A9AB0"/>
                </a:solidFill>
                <a:latin typeface="Calibri" pitchFamily="34" charset="0"/>
                <a:ea typeface="Calibri" pitchFamily="34" charset="-122"/>
                <a:cs typeface="Calibri" pitchFamily="34" charset="-120"/>
              </a:rPr>
              <a:t>Ventura Soluciones  |  SAP Business One · Service Layer</a:t>
            </a:r>
            <a:endParaRPr lang="en-US" sz="800" dirty="0"/>
          </a:p>
        </p:txBody>
      </p:sp>
      <p:sp>
        <p:nvSpPr>
          <p:cNvPr id="7" name="Shape 5"/>
          <p:cNvSpPr/>
          <p:nvPr/>
        </p:nvSpPr>
        <p:spPr>
          <a:xfrm>
            <a:off x="457200" y="1417320"/>
            <a:ext cx="4023360" cy="2788920"/>
          </a:xfrm>
          <a:prstGeom prst="roundRect">
            <a:avLst>
              <a:gd name="adj" fmla="val 2295"/>
            </a:avLst>
          </a:prstGeom>
          <a:solidFill>
            <a:srgbClr val="0E1B2E"/>
          </a:solidFill>
          <a:ln w="12700">
            <a:solidFill>
              <a:srgbClr val="0E1B2E"/>
            </a:solidFill>
            <a:prstDash val="solid"/>
          </a:ln>
          <a:effectLst>
            <a:outerShdw blurRad="101600" dist="25400" dir="5400000" algn="bl" rotWithShape="0">
              <a:srgbClr val="0B2A55">
                <a:alpha val="12000"/>
              </a:srgbClr>
            </a:outerShdw>
          </a:effectLst>
        </p:spPr>
      </p:sp>
      <p:sp>
        <p:nvSpPr>
          <p:cNvPr id="8" name="Shape 6"/>
          <p:cNvSpPr/>
          <p:nvPr/>
        </p:nvSpPr>
        <p:spPr>
          <a:xfrm>
            <a:off x="594360" y="1527048"/>
            <a:ext cx="73152" cy="73152"/>
          </a:xfrm>
          <a:prstGeom prst="ellipse">
            <a:avLst/>
          </a:prstGeom>
          <a:solidFill>
            <a:srgbClr val="FF5F56"/>
          </a:solidFill>
          <a:ln w="12700">
            <a:solidFill>
              <a:srgbClr val="FF5F56"/>
            </a:solidFill>
            <a:prstDash val="solid"/>
          </a:ln>
        </p:spPr>
      </p:sp>
      <p:sp>
        <p:nvSpPr>
          <p:cNvPr id="9" name="Shape 7"/>
          <p:cNvSpPr/>
          <p:nvPr/>
        </p:nvSpPr>
        <p:spPr>
          <a:xfrm>
            <a:off x="722376" y="1527048"/>
            <a:ext cx="73152" cy="73152"/>
          </a:xfrm>
          <a:prstGeom prst="ellipse">
            <a:avLst/>
          </a:prstGeom>
          <a:solidFill>
            <a:srgbClr val="FFBD2E"/>
          </a:solidFill>
          <a:ln w="12700">
            <a:solidFill>
              <a:srgbClr val="FFBD2E"/>
            </a:solidFill>
            <a:prstDash val="solid"/>
          </a:ln>
        </p:spPr>
      </p:sp>
      <p:sp>
        <p:nvSpPr>
          <p:cNvPr id="10" name="Shape 8"/>
          <p:cNvSpPr/>
          <p:nvPr/>
        </p:nvSpPr>
        <p:spPr>
          <a:xfrm>
            <a:off x="850392" y="1527048"/>
            <a:ext cx="73152" cy="73152"/>
          </a:xfrm>
          <a:prstGeom prst="ellipse">
            <a:avLst/>
          </a:prstGeom>
          <a:solidFill>
            <a:srgbClr val="27C93F"/>
          </a:solidFill>
          <a:ln w="12700">
            <a:solidFill>
              <a:srgbClr val="27C93F"/>
            </a:solidFill>
            <a:prstDash val="solid"/>
          </a:ln>
        </p:spPr>
      </p:sp>
      <p:sp>
        <p:nvSpPr>
          <p:cNvPr id="11" name="Text 9"/>
          <p:cNvSpPr txBox="1"/>
          <p:nvPr/>
        </p:nvSpPr>
        <p:spPr>
          <a:xfrm>
            <a:off x="1024128" y="1472184"/>
            <a:ext cx="3337560" cy="182880"/>
          </a:xfrm>
          <a:prstGeom prst="rect">
            <a:avLst/>
          </a:prstGeom>
          <a:noFill/>
          <a:ln/>
        </p:spPr>
        <p:txBody>
          <a:bodyPr wrap="square" lIns="0" tIns="0" rIns="0" bIns="0" rtlCol="0" anchor="ctr"/>
          <a:lstStyle/>
          <a:p>
            <a:pPr marL="0" indent="0">
              <a:buNone/>
            </a:pPr>
            <a:r>
              <a:rPr lang="en-US" sz="850" b="1" dirty="0">
                <a:solidFill>
                  <a:srgbClr val="F5A800"/>
                </a:solidFill>
                <a:latin typeface="Segoe UI" pitchFamily="34" charset="0"/>
                <a:ea typeface="Segoe UI" pitchFamily="34" charset="-122"/>
                <a:cs typeface="Segoe UI" pitchFamily="34" charset="-120"/>
              </a:rPr>
              <a:t>POST · Invoices (ND de venta)</a:t>
            </a:r>
            <a:endParaRPr lang="en-US" sz="850" dirty="0"/>
          </a:p>
        </p:txBody>
      </p:sp>
      <p:sp>
        <p:nvSpPr>
          <p:cNvPr id="12" name="Text 10"/>
          <p:cNvSpPr txBox="1"/>
          <p:nvPr/>
        </p:nvSpPr>
        <p:spPr>
          <a:xfrm>
            <a:off x="594360" y="1709928"/>
            <a:ext cx="3749040" cy="2423160"/>
          </a:xfrm>
          <a:prstGeom prst="rect">
            <a:avLst/>
          </a:prstGeom>
          <a:noFill/>
          <a:ln/>
        </p:spPr>
        <p:txBody>
          <a:bodyPr wrap="square" lIns="0" tIns="0" rIns="0" bIns="0" rtlCol="0" anchor="t"/>
          <a:lstStyle/>
          <a:p>
            <a:pPr marL="0" indent="0">
              <a:lnSpc>
                <a:spcPct val="100000"/>
              </a:lnSpc>
              <a:buNone/>
            </a:pPr>
            <a:r>
              <a:rPr lang="en-US" sz="800" b="1" dirty="0">
                <a:solidFill>
                  <a:srgbClr val="F5A800"/>
                </a:solidFill>
                <a:latin typeface="Consolas" pitchFamily="34" charset="0"/>
                <a:ea typeface="Consolas" pitchFamily="34" charset="-122"/>
                <a:cs typeface="Consolas" pitchFamily="34" charset="-120"/>
              </a:rPr>
              <a:t>curl</a:t>
            </a:r>
            <a:r>
              <a:rPr lang="en-US" sz="800" dirty="0">
                <a:solidFill>
                  <a:srgbClr val="DCE6F2"/>
                </a:solidFill>
                <a:latin typeface="Consolas" pitchFamily="34" charset="0"/>
                <a:ea typeface="Consolas" pitchFamily="34" charset="-122"/>
                <a:cs typeface="Consolas" pitchFamily="34" charset="-120"/>
              </a:rPr>
              <a:t> -k -X </a:t>
            </a:r>
            <a:r>
              <a:rPr lang="en-US" sz="800" b="1" dirty="0">
                <a:solidFill>
                  <a:srgbClr val="F5A800"/>
                </a:solidFill>
                <a:latin typeface="Consolas" pitchFamily="34" charset="0"/>
                <a:ea typeface="Consolas" pitchFamily="34" charset="-122"/>
                <a:cs typeface="Consolas" pitchFamily="34" charset="-120"/>
              </a:rPr>
              <a:t>POST</a:t>
            </a:r>
            <a:r>
              <a:rPr lang="en-US" sz="800" dirty="0">
                <a:solidFill>
                  <a:srgbClr val="DCE6F2"/>
                </a:solidFill>
                <a:latin typeface="Consolas" pitchFamily="34" charset="0"/>
                <a:ea typeface="Consolas" pitchFamily="34" charset="-122"/>
                <a:cs typeface="Consolas" pitchFamily="34" charset="-120"/>
              </a:rPr>
              <a:t> </a:t>
            </a:r>
            <a:r>
              <a:rPr lang="en-US" sz="800" dirty="0">
                <a:solidFill>
                  <a:srgbClr val="B5E48C"/>
                </a:solidFill>
                <a:latin typeface="Consolas" pitchFamily="34" charset="0"/>
                <a:ea typeface="Consolas" pitchFamily="34" charset="-122"/>
                <a:cs typeface="Consolas" pitchFamily="34" charset="-120"/>
              </a:rPr>
              <a:t>"$SL/Invoices"</a:t>
            </a: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-H </a:t>
            </a:r>
            <a:r>
              <a:rPr lang="en-US" sz="800" dirty="0">
                <a:solidFill>
                  <a:srgbClr val="B5E48C"/>
                </a:solidFill>
                <a:latin typeface="Consolas" pitchFamily="34" charset="0"/>
                <a:ea typeface="Consolas" pitchFamily="34" charset="-122"/>
                <a:cs typeface="Consolas" pitchFamily="34" charset="-120"/>
              </a:rPr>
              <a:t>"Content-Type: application/json"</a:t>
            </a: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-b cookies.txt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-d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"CardCode"</a:t>
            </a:r>
            <a:r>
              <a:rPr lang="en-US" sz="800" dirty="0">
                <a:solidFill>
                  <a:srgbClr val="DCE6F2"/>
                </a:solidFill>
                <a:latin typeface="Consolas" pitchFamily="34" charset="0"/>
                <a:ea typeface="Consolas" pitchFamily="34" charset="-122"/>
                <a:cs typeface="Consolas" pitchFamily="34" charset="-120"/>
              </a:rPr>
              <a:t>: </a:t>
            </a:r>
            <a:r>
              <a:rPr lang="en-US" sz="800" dirty="0">
                <a:solidFill>
                  <a:srgbClr val="B5E48C"/>
                </a:solidFill>
                <a:latin typeface="Consolas" pitchFamily="34" charset="0"/>
                <a:ea typeface="Consolas" pitchFamily="34" charset="-122"/>
                <a:cs typeface="Consolas" pitchFamily="34" charset="-120"/>
              </a:rPr>
              <a:t>"C20601234567"</a:t>
            </a:r>
            <a:r>
              <a:rPr lang="en-US" sz="800" dirty="0">
                <a:solidFill>
                  <a:srgbClr val="DCE6F2"/>
                </a:solidFill>
                <a:latin typeface="Consolas" pitchFamily="34" charset="0"/>
                <a:ea typeface="Consolas" pitchFamily="34" charset="-122"/>
                <a:cs typeface="Consolas" pitchFamily="34" charset="-120"/>
              </a:rPr>
              <a:t>,</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"DocDate"</a:t>
            </a:r>
            <a:r>
              <a:rPr lang="en-US" sz="800" dirty="0">
                <a:solidFill>
                  <a:srgbClr val="DCE6F2"/>
                </a:solidFill>
                <a:latin typeface="Consolas" pitchFamily="34" charset="0"/>
                <a:ea typeface="Consolas" pitchFamily="34" charset="-122"/>
                <a:cs typeface="Consolas" pitchFamily="34" charset="-120"/>
              </a:rPr>
              <a:t>: </a:t>
            </a:r>
            <a:r>
              <a:rPr lang="en-US" sz="800" dirty="0">
                <a:solidFill>
                  <a:srgbClr val="B5E48C"/>
                </a:solidFill>
                <a:latin typeface="Consolas" pitchFamily="34" charset="0"/>
                <a:ea typeface="Consolas" pitchFamily="34" charset="-122"/>
                <a:cs typeface="Consolas" pitchFamily="34" charset="-120"/>
              </a:rPr>
              <a:t>"2026-09-30"</a:t>
            </a:r>
            <a:r>
              <a:rPr lang="en-US" sz="800" dirty="0">
                <a:solidFill>
                  <a:srgbClr val="DCE6F2"/>
                </a:solidFill>
                <a:latin typeface="Consolas" pitchFamily="34" charset="0"/>
                <a:ea typeface="Consolas" pitchFamily="34" charset="-122"/>
                <a:cs typeface="Consolas" pitchFamily="34" charset="-120"/>
              </a:rPr>
              <a:t>,</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"DocType"</a:t>
            </a:r>
            <a:r>
              <a:rPr lang="en-US" sz="800" dirty="0">
                <a:solidFill>
                  <a:srgbClr val="DCE6F2"/>
                </a:solidFill>
                <a:latin typeface="Consolas" pitchFamily="34" charset="0"/>
                <a:ea typeface="Consolas" pitchFamily="34" charset="-122"/>
                <a:cs typeface="Consolas" pitchFamily="34" charset="-120"/>
              </a:rPr>
              <a:t>: </a:t>
            </a:r>
            <a:r>
              <a:rPr lang="en-US" sz="800" dirty="0">
                <a:solidFill>
                  <a:srgbClr val="B5E48C"/>
                </a:solidFill>
                <a:latin typeface="Consolas" pitchFamily="34" charset="0"/>
                <a:ea typeface="Consolas" pitchFamily="34" charset="-122"/>
                <a:cs typeface="Consolas" pitchFamily="34" charset="-120"/>
              </a:rPr>
              <a:t>"dDocument_Service"</a:t>
            </a:r>
            <a:r>
              <a:rPr lang="en-US" sz="800" dirty="0">
                <a:solidFill>
                  <a:srgbClr val="DCE6F2"/>
                </a:solidFill>
                <a:latin typeface="Consolas" pitchFamily="34" charset="0"/>
                <a:ea typeface="Consolas" pitchFamily="34" charset="-122"/>
                <a:cs typeface="Consolas" pitchFamily="34" charset="-120"/>
              </a:rPr>
              <a:t>,</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"DocumentSubType"</a:t>
            </a:r>
            <a:r>
              <a:rPr lang="en-US" sz="800" dirty="0">
                <a:solidFill>
                  <a:srgbClr val="DCE6F2"/>
                </a:solidFill>
                <a:latin typeface="Consolas" pitchFamily="34" charset="0"/>
                <a:ea typeface="Consolas" pitchFamily="34" charset="-122"/>
                <a:cs typeface="Consolas" pitchFamily="34" charset="-120"/>
              </a:rPr>
              <a:t>: </a:t>
            </a:r>
            <a:r>
              <a:rPr lang="en-US" sz="800" dirty="0">
                <a:solidFill>
                  <a:srgbClr val="B5E48C"/>
                </a:solidFill>
                <a:latin typeface="Consolas" pitchFamily="34" charset="0"/>
                <a:ea typeface="Consolas" pitchFamily="34" charset="-122"/>
                <a:cs typeface="Consolas" pitchFamily="34" charset="-120"/>
              </a:rPr>
              <a:t>"bod_DebitMemo"</a:t>
            </a:r>
            <a:r>
              <a:rPr lang="en-US" sz="800" dirty="0">
                <a:solidFill>
                  <a:srgbClr val="DCE6F2"/>
                </a:solidFill>
                <a:latin typeface="Consolas" pitchFamily="34" charset="0"/>
                <a:ea typeface="Consolas" pitchFamily="34" charset="-122"/>
                <a:cs typeface="Consolas" pitchFamily="34" charset="-120"/>
              </a:rPr>
              <a:t>,</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"DocumentLines"</a:t>
            </a: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"ItemDescription"</a:t>
            </a:r>
            <a:r>
              <a:rPr lang="en-US" sz="800" dirty="0">
                <a:solidFill>
                  <a:srgbClr val="DCE6F2"/>
                </a:solidFill>
                <a:latin typeface="Consolas" pitchFamily="34" charset="0"/>
                <a:ea typeface="Consolas" pitchFamily="34" charset="-122"/>
                <a:cs typeface="Consolas" pitchFamily="34" charset="-120"/>
              </a:rPr>
              <a:t>: </a:t>
            </a:r>
            <a:r>
              <a:rPr lang="en-US" sz="800" dirty="0">
                <a:solidFill>
                  <a:srgbClr val="B5E48C"/>
                </a:solidFill>
                <a:latin typeface="Consolas" pitchFamily="34" charset="0"/>
                <a:ea typeface="Consolas" pitchFamily="34" charset="-122"/>
                <a:cs typeface="Consolas" pitchFamily="34" charset="-120"/>
              </a:rPr>
              <a:t>"Intereses moratorios"</a:t>
            </a:r>
            <a:r>
              <a:rPr lang="en-US" sz="800" dirty="0">
                <a:solidFill>
                  <a:srgbClr val="DCE6F2"/>
                </a:solidFill>
                <a:latin typeface="Consolas" pitchFamily="34" charset="0"/>
                <a:ea typeface="Consolas" pitchFamily="34" charset="-122"/>
                <a:cs typeface="Consolas" pitchFamily="34" charset="-120"/>
              </a:rPr>
              <a:t>,</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"AccountCode"</a:t>
            </a:r>
            <a:r>
              <a:rPr lang="en-US" sz="800" dirty="0">
                <a:solidFill>
                  <a:srgbClr val="DCE6F2"/>
                </a:solidFill>
                <a:latin typeface="Consolas" pitchFamily="34" charset="0"/>
                <a:ea typeface="Consolas" pitchFamily="34" charset="-122"/>
                <a:cs typeface="Consolas" pitchFamily="34" charset="-120"/>
              </a:rPr>
              <a:t>: </a:t>
            </a:r>
            <a:r>
              <a:rPr lang="en-US" sz="800" dirty="0">
                <a:solidFill>
                  <a:srgbClr val="B5E48C"/>
                </a:solidFill>
                <a:latin typeface="Consolas" pitchFamily="34" charset="0"/>
                <a:ea typeface="Consolas" pitchFamily="34" charset="-122"/>
                <a:cs typeface="Consolas" pitchFamily="34" charset="-120"/>
              </a:rPr>
              <a:t>"7721001"</a:t>
            </a:r>
            <a:r>
              <a:rPr lang="en-US" sz="800" dirty="0">
                <a:solidFill>
                  <a:srgbClr val="DCE6F2"/>
                </a:solidFill>
                <a:latin typeface="Consolas" pitchFamily="34" charset="0"/>
                <a:ea typeface="Consolas" pitchFamily="34" charset="-122"/>
                <a:cs typeface="Consolas" pitchFamily="34" charset="-120"/>
              </a:rPr>
              <a:t>,</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"LineTotal"</a:t>
            </a:r>
            <a:r>
              <a:rPr lang="en-US" sz="800" dirty="0">
                <a:solidFill>
                  <a:srgbClr val="DCE6F2"/>
                </a:solidFill>
                <a:latin typeface="Consolas" pitchFamily="34" charset="0"/>
                <a:ea typeface="Consolas" pitchFamily="34" charset="-122"/>
                <a:cs typeface="Consolas" pitchFamily="34" charset="-120"/>
              </a:rPr>
              <a:t>: 150,</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"TaxCode"</a:t>
            </a:r>
            <a:r>
              <a:rPr lang="en-US" sz="800" dirty="0">
                <a:solidFill>
                  <a:srgbClr val="DCE6F2"/>
                </a:solidFill>
                <a:latin typeface="Consolas" pitchFamily="34" charset="0"/>
                <a:ea typeface="Consolas" pitchFamily="34" charset="-122"/>
                <a:cs typeface="Consolas" pitchFamily="34" charset="-120"/>
              </a:rPr>
              <a:t>: </a:t>
            </a:r>
            <a:r>
              <a:rPr lang="en-US" sz="800" dirty="0">
                <a:solidFill>
                  <a:srgbClr val="B5E48C"/>
                </a:solidFill>
                <a:latin typeface="Consolas" pitchFamily="34" charset="0"/>
                <a:ea typeface="Consolas" pitchFamily="34" charset="-122"/>
                <a:cs typeface="Consolas" pitchFamily="34" charset="-120"/>
              </a:rPr>
              <a:t>"IGV"</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a:t>
            </a:r>
            <a:endParaRPr lang="en-US" sz="800" dirty="0"/>
          </a:p>
        </p:txBody>
      </p:sp>
      <p:sp>
        <p:nvSpPr>
          <p:cNvPr id="13" name="Text 11"/>
          <p:cNvSpPr txBox="1"/>
          <p:nvPr/>
        </p:nvSpPr>
        <p:spPr>
          <a:xfrm>
            <a:off x="457200" y="4297680"/>
            <a:ext cx="4023360" cy="457200"/>
          </a:xfrm>
          <a:prstGeom prst="rect">
            <a:avLst/>
          </a:prstGeom>
          <a:noFill/>
          <a:ln/>
        </p:spPr>
        <p:txBody>
          <a:bodyPr wrap="square" lIns="0" tIns="0" rIns="0" bIns="0" rtlCol="0" anchor="t"/>
          <a:lstStyle/>
          <a:p>
            <a:pPr marL="0" indent="0">
              <a:buNone/>
            </a:pPr>
            <a:r>
              <a:rPr lang="en-US" sz="1000" i="1" dirty="0">
                <a:solidFill>
                  <a:srgbClr val="5B6B82"/>
                </a:solidFill>
                <a:latin typeface="Calibri" pitchFamily="34" charset="0"/>
                <a:ea typeface="Calibri" pitchFamily="34" charset="-122"/>
                <a:cs typeface="Calibri" pitchFamily="34" charset="-120"/>
              </a:rPr>
              <a:t>DocType dDocument_Service: líneas por cuenta contable (AccountCode + LineTotal) en lugar de artículos.</a:t>
            </a:r>
            <a:endParaRPr lang="en-US" sz="1000" dirty="0"/>
          </a:p>
        </p:txBody>
      </p:sp>
      <p:sp>
        <p:nvSpPr>
          <p:cNvPr id="14" name="Shape 12"/>
          <p:cNvSpPr/>
          <p:nvPr/>
        </p:nvSpPr>
        <p:spPr>
          <a:xfrm>
            <a:off x="4663440" y="1417320"/>
            <a:ext cx="4023360" cy="2788920"/>
          </a:xfrm>
          <a:prstGeom prst="roundRect">
            <a:avLst>
              <a:gd name="adj" fmla="val 2295"/>
            </a:avLst>
          </a:prstGeom>
          <a:solidFill>
            <a:srgbClr val="0E1B2E"/>
          </a:solidFill>
          <a:ln w="12700">
            <a:solidFill>
              <a:srgbClr val="0E1B2E"/>
            </a:solidFill>
            <a:prstDash val="solid"/>
          </a:ln>
          <a:effectLst>
            <a:outerShdw blurRad="101600" dist="25400" dir="5400000" algn="bl" rotWithShape="0">
              <a:srgbClr val="0B2A55">
                <a:alpha val="12000"/>
              </a:srgbClr>
            </a:outerShdw>
          </a:effectLst>
        </p:spPr>
      </p:sp>
      <p:sp>
        <p:nvSpPr>
          <p:cNvPr id="15" name="Shape 13"/>
          <p:cNvSpPr/>
          <p:nvPr/>
        </p:nvSpPr>
        <p:spPr>
          <a:xfrm>
            <a:off x="4800600" y="1527048"/>
            <a:ext cx="73152" cy="73152"/>
          </a:xfrm>
          <a:prstGeom prst="ellipse">
            <a:avLst/>
          </a:prstGeom>
          <a:solidFill>
            <a:srgbClr val="FF5F56"/>
          </a:solidFill>
          <a:ln w="12700">
            <a:solidFill>
              <a:srgbClr val="FF5F56"/>
            </a:solidFill>
            <a:prstDash val="solid"/>
          </a:ln>
        </p:spPr>
      </p:sp>
      <p:sp>
        <p:nvSpPr>
          <p:cNvPr id="16" name="Shape 14"/>
          <p:cNvSpPr/>
          <p:nvPr/>
        </p:nvSpPr>
        <p:spPr>
          <a:xfrm>
            <a:off x="4928616" y="1527048"/>
            <a:ext cx="73152" cy="73152"/>
          </a:xfrm>
          <a:prstGeom prst="ellipse">
            <a:avLst/>
          </a:prstGeom>
          <a:solidFill>
            <a:srgbClr val="FFBD2E"/>
          </a:solidFill>
          <a:ln w="12700">
            <a:solidFill>
              <a:srgbClr val="FFBD2E"/>
            </a:solidFill>
            <a:prstDash val="solid"/>
          </a:ln>
        </p:spPr>
      </p:sp>
      <p:sp>
        <p:nvSpPr>
          <p:cNvPr id="17" name="Shape 15"/>
          <p:cNvSpPr/>
          <p:nvPr/>
        </p:nvSpPr>
        <p:spPr>
          <a:xfrm>
            <a:off x="5056632" y="1527048"/>
            <a:ext cx="73152" cy="73152"/>
          </a:xfrm>
          <a:prstGeom prst="ellipse">
            <a:avLst/>
          </a:prstGeom>
          <a:solidFill>
            <a:srgbClr val="27C93F"/>
          </a:solidFill>
          <a:ln w="12700">
            <a:solidFill>
              <a:srgbClr val="27C93F"/>
            </a:solidFill>
            <a:prstDash val="solid"/>
          </a:ln>
        </p:spPr>
      </p:sp>
      <p:sp>
        <p:nvSpPr>
          <p:cNvPr id="18" name="Text 16"/>
          <p:cNvSpPr txBox="1"/>
          <p:nvPr/>
        </p:nvSpPr>
        <p:spPr>
          <a:xfrm>
            <a:off x="5230368" y="1472184"/>
            <a:ext cx="3337560" cy="182880"/>
          </a:xfrm>
          <a:prstGeom prst="rect">
            <a:avLst/>
          </a:prstGeom>
          <a:noFill/>
          <a:ln/>
        </p:spPr>
        <p:txBody>
          <a:bodyPr wrap="square" lIns="0" tIns="0" rIns="0" bIns="0" rtlCol="0" anchor="ctr"/>
          <a:lstStyle/>
          <a:p>
            <a:pPr marL="0" indent="0">
              <a:buNone/>
            </a:pPr>
            <a:r>
              <a:rPr lang="en-US" sz="850" b="1" dirty="0">
                <a:solidFill>
                  <a:srgbClr val="F5A800"/>
                </a:solidFill>
                <a:latin typeface="Segoe UI" pitchFamily="34" charset="0"/>
                <a:ea typeface="Segoe UI" pitchFamily="34" charset="-122"/>
                <a:cs typeface="Segoe UI" pitchFamily="34" charset="-120"/>
              </a:rPr>
              <a:t>POST · PurchaseInvoices (ND de compra)</a:t>
            </a:r>
            <a:endParaRPr lang="en-US" sz="850" dirty="0"/>
          </a:p>
        </p:txBody>
      </p:sp>
      <p:sp>
        <p:nvSpPr>
          <p:cNvPr id="19" name="Text 17"/>
          <p:cNvSpPr txBox="1"/>
          <p:nvPr/>
        </p:nvSpPr>
        <p:spPr>
          <a:xfrm>
            <a:off x="4800600" y="1709928"/>
            <a:ext cx="3749040" cy="2423160"/>
          </a:xfrm>
          <a:prstGeom prst="rect">
            <a:avLst/>
          </a:prstGeom>
          <a:noFill/>
          <a:ln/>
        </p:spPr>
        <p:txBody>
          <a:bodyPr wrap="square" lIns="0" tIns="0" rIns="0" bIns="0" rtlCol="0" anchor="t"/>
          <a:lstStyle/>
          <a:p>
            <a:pPr marL="0" indent="0">
              <a:lnSpc>
                <a:spcPct val="100000"/>
              </a:lnSpc>
              <a:buNone/>
            </a:pPr>
            <a:r>
              <a:rPr lang="en-US" sz="800" b="1" dirty="0">
                <a:solidFill>
                  <a:srgbClr val="F5A800"/>
                </a:solidFill>
                <a:latin typeface="Consolas" pitchFamily="34" charset="0"/>
                <a:ea typeface="Consolas" pitchFamily="34" charset="-122"/>
                <a:cs typeface="Consolas" pitchFamily="34" charset="-120"/>
              </a:rPr>
              <a:t>curl</a:t>
            </a:r>
            <a:r>
              <a:rPr lang="en-US" sz="800" dirty="0">
                <a:solidFill>
                  <a:srgbClr val="DCE6F2"/>
                </a:solidFill>
                <a:latin typeface="Consolas" pitchFamily="34" charset="0"/>
                <a:ea typeface="Consolas" pitchFamily="34" charset="-122"/>
                <a:cs typeface="Consolas" pitchFamily="34" charset="-120"/>
              </a:rPr>
              <a:t> -k -X </a:t>
            </a:r>
            <a:r>
              <a:rPr lang="en-US" sz="800" b="1" dirty="0">
                <a:solidFill>
                  <a:srgbClr val="F5A800"/>
                </a:solidFill>
                <a:latin typeface="Consolas" pitchFamily="34" charset="0"/>
                <a:ea typeface="Consolas" pitchFamily="34" charset="-122"/>
                <a:cs typeface="Consolas" pitchFamily="34" charset="-120"/>
              </a:rPr>
              <a:t>POST</a:t>
            </a:r>
            <a:r>
              <a:rPr lang="en-US" sz="800" dirty="0">
                <a:solidFill>
                  <a:srgbClr val="DCE6F2"/>
                </a:solidFill>
                <a:latin typeface="Consolas" pitchFamily="34" charset="0"/>
                <a:ea typeface="Consolas" pitchFamily="34" charset="-122"/>
                <a:cs typeface="Consolas" pitchFamily="34" charset="-120"/>
              </a:rPr>
              <a:t> </a:t>
            </a:r>
            <a:r>
              <a:rPr lang="en-US" sz="800" dirty="0">
                <a:solidFill>
                  <a:srgbClr val="B5E48C"/>
                </a:solidFill>
                <a:latin typeface="Consolas" pitchFamily="34" charset="0"/>
                <a:ea typeface="Consolas" pitchFamily="34" charset="-122"/>
                <a:cs typeface="Consolas" pitchFamily="34" charset="-120"/>
              </a:rPr>
              <a:t>"$SL/PurchaseInvoices"</a:t>
            </a: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-H </a:t>
            </a:r>
            <a:r>
              <a:rPr lang="en-US" sz="800" dirty="0">
                <a:solidFill>
                  <a:srgbClr val="B5E48C"/>
                </a:solidFill>
                <a:latin typeface="Consolas" pitchFamily="34" charset="0"/>
                <a:ea typeface="Consolas" pitchFamily="34" charset="-122"/>
                <a:cs typeface="Consolas" pitchFamily="34" charset="-120"/>
              </a:rPr>
              <a:t>"Content-Type: application/json"</a:t>
            </a: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-b cookies.txt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-d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"CardCode"</a:t>
            </a:r>
            <a:r>
              <a:rPr lang="en-US" sz="800" dirty="0">
                <a:solidFill>
                  <a:srgbClr val="DCE6F2"/>
                </a:solidFill>
                <a:latin typeface="Consolas" pitchFamily="34" charset="0"/>
                <a:ea typeface="Consolas" pitchFamily="34" charset="-122"/>
                <a:cs typeface="Consolas" pitchFamily="34" charset="-120"/>
              </a:rPr>
              <a:t>: </a:t>
            </a:r>
            <a:r>
              <a:rPr lang="en-US" sz="800" dirty="0">
                <a:solidFill>
                  <a:srgbClr val="B5E48C"/>
                </a:solidFill>
                <a:latin typeface="Consolas" pitchFamily="34" charset="0"/>
                <a:ea typeface="Consolas" pitchFamily="34" charset="-122"/>
                <a:cs typeface="Consolas" pitchFamily="34" charset="-120"/>
              </a:rPr>
              <a:t>"P20100070970"</a:t>
            </a:r>
            <a:r>
              <a:rPr lang="en-US" sz="800" dirty="0">
                <a:solidFill>
                  <a:srgbClr val="DCE6F2"/>
                </a:solidFill>
                <a:latin typeface="Consolas" pitchFamily="34" charset="0"/>
                <a:ea typeface="Consolas" pitchFamily="34" charset="-122"/>
                <a:cs typeface="Consolas" pitchFamily="34" charset="-120"/>
              </a:rPr>
              <a:t>,</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"DocDate"</a:t>
            </a:r>
            <a:r>
              <a:rPr lang="en-US" sz="800" dirty="0">
                <a:solidFill>
                  <a:srgbClr val="DCE6F2"/>
                </a:solidFill>
                <a:latin typeface="Consolas" pitchFamily="34" charset="0"/>
                <a:ea typeface="Consolas" pitchFamily="34" charset="-122"/>
                <a:cs typeface="Consolas" pitchFamily="34" charset="-120"/>
              </a:rPr>
              <a:t>: </a:t>
            </a:r>
            <a:r>
              <a:rPr lang="en-US" sz="800" dirty="0">
                <a:solidFill>
                  <a:srgbClr val="B5E48C"/>
                </a:solidFill>
                <a:latin typeface="Consolas" pitchFamily="34" charset="0"/>
                <a:ea typeface="Consolas" pitchFamily="34" charset="-122"/>
                <a:cs typeface="Consolas" pitchFamily="34" charset="-120"/>
              </a:rPr>
              <a:t>"2026-09-30"</a:t>
            </a:r>
            <a:r>
              <a:rPr lang="en-US" sz="800" dirty="0">
                <a:solidFill>
                  <a:srgbClr val="DCE6F2"/>
                </a:solidFill>
                <a:latin typeface="Consolas" pitchFamily="34" charset="0"/>
                <a:ea typeface="Consolas" pitchFamily="34" charset="-122"/>
                <a:cs typeface="Consolas" pitchFamily="34" charset="-120"/>
              </a:rPr>
              <a:t>,</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"DocType"</a:t>
            </a:r>
            <a:r>
              <a:rPr lang="en-US" sz="800" dirty="0">
                <a:solidFill>
                  <a:srgbClr val="DCE6F2"/>
                </a:solidFill>
                <a:latin typeface="Consolas" pitchFamily="34" charset="0"/>
                <a:ea typeface="Consolas" pitchFamily="34" charset="-122"/>
                <a:cs typeface="Consolas" pitchFamily="34" charset="-120"/>
              </a:rPr>
              <a:t>: </a:t>
            </a:r>
            <a:r>
              <a:rPr lang="en-US" sz="800" dirty="0">
                <a:solidFill>
                  <a:srgbClr val="B5E48C"/>
                </a:solidFill>
                <a:latin typeface="Consolas" pitchFamily="34" charset="0"/>
                <a:ea typeface="Consolas" pitchFamily="34" charset="-122"/>
                <a:cs typeface="Consolas" pitchFamily="34" charset="-120"/>
              </a:rPr>
              <a:t>"dDocument_Service"</a:t>
            </a:r>
            <a:r>
              <a:rPr lang="en-US" sz="800" dirty="0">
                <a:solidFill>
                  <a:srgbClr val="DCE6F2"/>
                </a:solidFill>
                <a:latin typeface="Consolas" pitchFamily="34" charset="0"/>
                <a:ea typeface="Consolas" pitchFamily="34" charset="-122"/>
                <a:cs typeface="Consolas" pitchFamily="34" charset="-120"/>
              </a:rPr>
              <a:t>,</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"DocumentSubType"</a:t>
            </a:r>
            <a:r>
              <a:rPr lang="en-US" sz="800" dirty="0">
                <a:solidFill>
                  <a:srgbClr val="DCE6F2"/>
                </a:solidFill>
                <a:latin typeface="Consolas" pitchFamily="34" charset="0"/>
                <a:ea typeface="Consolas" pitchFamily="34" charset="-122"/>
                <a:cs typeface="Consolas" pitchFamily="34" charset="-120"/>
              </a:rPr>
              <a:t>: </a:t>
            </a:r>
            <a:r>
              <a:rPr lang="en-US" sz="800" dirty="0">
                <a:solidFill>
                  <a:srgbClr val="B5E48C"/>
                </a:solidFill>
                <a:latin typeface="Consolas" pitchFamily="34" charset="0"/>
                <a:ea typeface="Consolas" pitchFamily="34" charset="-122"/>
                <a:cs typeface="Consolas" pitchFamily="34" charset="-120"/>
              </a:rPr>
              <a:t>"bod_PurchaseDebitMemo"</a:t>
            </a:r>
            <a:r>
              <a:rPr lang="en-US" sz="800" dirty="0">
                <a:solidFill>
                  <a:srgbClr val="DCE6F2"/>
                </a:solidFill>
                <a:latin typeface="Consolas" pitchFamily="34" charset="0"/>
                <a:ea typeface="Consolas" pitchFamily="34" charset="-122"/>
                <a:cs typeface="Consolas" pitchFamily="34" charset="-120"/>
              </a:rPr>
              <a:t>,</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"DocumentLines"</a:t>
            </a: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"ItemDescription"</a:t>
            </a:r>
            <a:r>
              <a:rPr lang="en-US" sz="800" dirty="0">
                <a:solidFill>
                  <a:srgbClr val="DCE6F2"/>
                </a:solidFill>
                <a:latin typeface="Consolas" pitchFamily="34" charset="0"/>
                <a:ea typeface="Consolas" pitchFamily="34" charset="-122"/>
                <a:cs typeface="Consolas" pitchFamily="34" charset="-120"/>
              </a:rPr>
              <a:t>: </a:t>
            </a:r>
            <a:r>
              <a:rPr lang="en-US" sz="800" dirty="0">
                <a:solidFill>
                  <a:srgbClr val="B5E48C"/>
                </a:solidFill>
                <a:latin typeface="Consolas" pitchFamily="34" charset="0"/>
                <a:ea typeface="Consolas" pitchFamily="34" charset="-122"/>
                <a:cs typeface="Consolas" pitchFamily="34" charset="-120"/>
              </a:rPr>
              <a:t>"Flete adicional"</a:t>
            </a:r>
            <a:r>
              <a:rPr lang="en-US" sz="800" dirty="0">
                <a:solidFill>
                  <a:srgbClr val="DCE6F2"/>
                </a:solidFill>
                <a:latin typeface="Consolas" pitchFamily="34" charset="0"/>
                <a:ea typeface="Consolas" pitchFamily="34" charset="-122"/>
                <a:cs typeface="Consolas" pitchFamily="34" charset="-120"/>
              </a:rPr>
              <a:t>,</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"AccountCode"</a:t>
            </a:r>
            <a:r>
              <a:rPr lang="en-US" sz="800" dirty="0">
                <a:solidFill>
                  <a:srgbClr val="DCE6F2"/>
                </a:solidFill>
                <a:latin typeface="Consolas" pitchFamily="34" charset="0"/>
                <a:ea typeface="Consolas" pitchFamily="34" charset="-122"/>
                <a:cs typeface="Consolas" pitchFamily="34" charset="-120"/>
              </a:rPr>
              <a:t>: </a:t>
            </a:r>
            <a:r>
              <a:rPr lang="en-US" sz="800" dirty="0">
                <a:solidFill>
                  <a:srgbClr val="B5E48C"/>
                </a:solidFill>
                <a:latin typeface="Consolas" pitchFamily="34" charset="0"/>
                <a:ea typeface="Consolas" pitchFamily="34" charset="-122"/>
                <a:cs typeface="Consolas" pitchFamily="34" charset="-120"/>
              </a:rPr>
              <a:t>"6311001"</a:t>
            </a:r>
            <a:r>
              <a:rPr lang="en-US" sz="800" dirty="0">
                <a:solidFill>
                  <a:srgbClr val="DCE6F2"/>
                </a:solidFill>
                <a:latin typeface="Consolas" pitchFamily="34" charset="0"/>
                <a:ea typeface="Consolas" pitchFamily="34" charset="-122"/>
                <a:cs typeface="Consolas" pitchFamily="34" charset="-120"/>
              </a:rPr>
              <a:t>,</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"LineTotal"</a:t>
            </a:r>
            <a:r>
              <a:rPr lang="en-US" sz="800" dirty="0">
                <a:solidFill>
                  <a:srgbClr val="DCE6F2"/>
                </a:solidFill>
                <a:latin typeface="Consolas" pitchFamily="34" charset="0"/>
                <a:ea typeface="Consolas" pitchFamily="34" charset="-122"/>
                <a:cs typeface="Consolas" pitchFamily="34" charset="-120"/>
              </a:rPr>
              <a:t>: 80,</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"TaxCode"</a:t>
            </a:r>
            <a:r>
              <a:rPr lang="en-US" sz="800" dirty="0">
                <a:solidFill>
                  <a:srgbClr val="DCE6F2"/>
                </a:solidFill>
                <a:latin typeface="Consolas" pitchFamily="34" charset="0"/>
                <a:ea typeface="Consolas" pitchFamily="34" charset="-122"/>
                <a:cs typeface="Consolas" pitchFamily="34" charset="-120"/>
              </a:rPr>
              <a:t>: </a:t>
            </a:r>
            <a:r>
              <a:rPr lang="en-US" sz="800" dirty="0">
                <a:solidFill>
                  <a:srgbClr val="B5E48C"/>
                </a:solidFill>
                <a:latin typeface="Consolas" pitchFamily="34" charset="0"/>
                <a:ea typeface="Consolas" pitchFamily="34" charset="-122"/>
                <a:cs typeface="Consolas" pitchFamily="34" charset="-120"/>
              </a:rPr>
              <a:t>"IGV"</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a:t>
            </a:r>
            <a:endParaRPr lang="en-US" sz="800" dirty="0"/>
          </a:p>
        </p:txBody>
      </p:sp>
      <p:sp>
        <p:nvSpPr>
          <p:cNvPr id="20" name="Text 18"/>
          <p:cNvSpPr txBox="1"/>
          <p:nvPr/>
        </p:nvSpPr>
        <p:spPr>
          <a:xfrm>
            <a:off x="4663440" y="4297680"/>
            <a:ext cx="4023360" cy="457200"/>
          </a:xfrm>
          <a:prstGeom prst="rect">
            <a:avLst/>
          </a:prstGeom>
          <a:noFill/>
          <a:ln/>
        </p:spPr>
        <p:txBody>
          <a:bodyPr wrap="square" lIns="0" tIns="0" rIns="0" bIns="0" rtlCol="0" anchor="t"/>
          <a:lstStyle/>
          <a:p>
            <a:pPr marL="0" indent="0">
              <a:buNone/>
            </a:pPr>
            <a:r>
              <a:rPr lang="en-US" sz="1000" i="1" dirty="0">
                <a:solidFill>
                  <a:srgbClr val="5B6B82"/>
                </a:solidFill>
                <a:latin typeface="Calibri" pitchFamily="34" charset="0"/>
                <a:ea typeface="Calibri" pitchFamily="34" charset="-122"/>
                <a:cs typeface="Calibri" pitchFamily="34" charset="-120"/>
              </a:rPr>
              <a:t>Considera además los campos de tu localización (serie, tipo SUNAT, documento de referencia).</a:t>
            </a:r>
            <a:endParaRPr lang="en-US" sz="1000" dirty="0"/>
          </a:p>
        </p:txBody>
      </p:sp>
      <p:sp>
        <p:nvSpPr>
          <p:cNvPr id="21" name="Text 19"/>
          <p:cNvSpPr txBox="1"/>
          <p:nvPr/>
        </p:nvSpPr>
        <p:spPr>
          <a:xfrm>
            <a:off x="4663440" y="4828032"/>
            <a:ext cx="3474720" cy="182880"/>
          </a:xfrm>
          <a:prstGeom prst="rect">
            <a:avLst/>
          </a:prstGeom>
          <a:noFill/>
          <a:ln/>
        </p:spPr>
        <p:txBody>
          <a:bodyPr wrap="square" lIns="0" tIns="0" rIns="0" bIns="0" rtlCol="0" anchor="t"/>
          <a:lstStyle/>
          <a:p>
            <a:pPr marL="0" indent="0" algn="r">
              <a:buNone/>
            </a:pPr>
            <a:r>
              <a:rPr lang="en-US" sz="800" b="1" dirty="0">
                <a:solidFill>
                  <a:srgbClr val="0B4DA2"/>
                </a:solidFill>
                <a:latin typeface="Consolas" pitchFamily="34" charset="0"/>
                <a:ea typeface="Consolas" pitchFamily="34" charset="-122"/>
                <a:cs typeface="Consolas" pitchFamily="34" charset="-120"/>
              </a:rPr>
              <a:t>$SL</a:t>
            </a:r>
            <a:r>
              <a:rPr lang="en-US" sz="800" dirty="0">
                <a:solidFill>
                  <a:srgbClr val="8A9AB0"/>
                </a:solidFill>
                <a:latin typeface="Calibri" pitchFamily="34" charset="0"/>
                <a:ea typeface="Calibri" pitchFamily="34" charset="-122"/>
                <a:cs typeface="Calibri" pitchFamily="34" charset="-120"/>
              </a:rPr>
              <a:t> = https://sapserver:50000/b1s/v1   ·   cookies.txt obtenido en el Login</a:t>
            </a:r>
            <a:endParaRPr lang="en-US" sz="800" dirty="0"/>
          </a:p>
        </p:txBody>
      </p:sp>
      <p:sp>
        <p:nvSpPr>
          <p:cNvPr id="25"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xmlns="" val="0"/>
            </a:ext>
          </a:extLst>
        </p:spPr>
        <p:txBody>
          <a:bodyPr/>
          <a:lstStyle>
            <a:lvl1pPr>
              <a:defRPr sz="800">
                <a:solidFill>
                  <a:srgbClr val="8A9AB0"/>
                </a:solidFill>
                <a:latin typeface="Calibri"/>
                <a:ea typeface="Calibri"/>
                <a:cs typeface="Calibri"/>
              </a:defRPr>
            </a:lvl1pPr>
          </a:lstStyle>
          <a:p>
            <a:pPr algn="r"/>
            <a:fld id="{F7021451-1387-4CA6-816F-3879F97B5CBC}" type="slidenum">
              <a:rPr lang="en-US" b="0"/>
              <a:t>26</a:t>
            </a:fld>
            <a:endParaRPr 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457200" y="256032"/>
            <a:ext cx="2434133" cy="237744"/>
          </a:xfrm>
          <a:prstGeom prst="roundRect">
            <a:avLst>
              <a:gd name="adj" fmla="val 50000"/>
            </a:avLst>
          </a:prstGeom>
          <a:solidFill>
            <a:srgbClr val="071B3F"/>
          </a:solidFill>
          <a:ln w="12700">
            <a:solidFill>
              <a:srgbClr val="071B3F"/>
            </a:solidFill>
            <a:prstDash val="solid"/>
          </a:ln>
        </p:spPr>
      </p:sp>
      <p:sp>
        <p:nvSpPr>
          <p:cNvPr id="3" name="Text 1"/>
          <p:cNvSpPr txBox="1"/>
          <p:nvPr/>
        </p:nvSpPr>
        <p:spPr>
          <a:xfrm>
            <a:off x="457200" y="256032"/>
            <a:ext cx="2434133" cy="237744"/>
          </a:xfrm>
          <a:prstGeom prst="rect">
            <a:avLst/>
          </a:prstGeom>
          <a:noFill/>
          <a:ln/>
        </p:spPr>
        <p:txBody>
          <a:bodyPr wrap="square" lIns="0" tIns="0" rIns="0" bIns="0" rtlCol="0" anchor="ctr"/>
          <a:lstStyle/>
          <a:p>
            <a:pPr marL="0" indent="0" algn="ctr">
              <a:buNone/>
            </a:pPr>
            <a:r>
              <a:rPr lang="en-US" sz="850" b="1" kern="0" spc="100" dirty="0">
                <a:solidFill>
                  <a:srgbClr val="F5A800"/>
                </a:solidFill>
                <a:latin typeface="Segoe UI" pitchFamily="34" charset="0"/>
                <a:ea typeface="Segoe UI" pitchFamily="34" charset="-122"/>
                <a:cs typeface="Segoe UI" pitchFamily="34" charset="-120"/>
              </a:rPr>
              <a:t>04  ·  FLUJOS DE OPERACIÓN II</a:t>
            </a:r>
            <a:endParaRPr lang="en-US" sz="850" dirty="0"/>
          </a:p>
        </p:txBody>
      </p:sp>
      <p:sp>
        <p:nvSpPr>
          <p:cNvPr id="4" name="Text 2"/>
          <p:cNvSpPr txBox="1"/>
          <p:nvPr/>
        </p:nvSpPr>
        <p:spPr>
          <a:xfrm>
            <a:off x="457200" y="566928"/>
            <a:ext cx="8229600" cy="502920"/>
          </a:xfrm>
          <a:prstGeom prst="rect">
            <a:avLst/>
          </a:prstGeom>
          <a:noFill/>
          <a:ln/>
        </p:spPr>
        <p:txBody>
          <a:bodyPr wrap="square" lIns="0" tIns="0" rIns="0" bIns="0" rtlCol="0" anchor="ctr"/>
          <a:lstStyle/>
          <a:p>
            <a:pPr marL="0" indent="0">
              <a:buNone/>
            </a:pPr>
            <a:r>
              <a:rPr lang="en-US" sz="2400" b="1" dirty="0">
                <a:solidFill>
                  <a:srgbClr val="071B3F"/>
                </a:solidFill>
                <a:latin typeface="Segoe UI" pitchFamily="34" charset="0"/>
                <a:ea typeface="Segoe UI" pitchFamily="34" charset="-122"/>
                <a:cs typeface="Segoe UI" pitchFamily="34" charset="-120"/>
              </a:rPr>
              <a:t>Bancos: pago recibido y pago efectuado</a:t>
            </a:r>
            <a:endParaRPr lang="en-US" sz="2400" dirty="0"/>
          </a:p>
        </p:txBody>
      </p:sp>
      <p:sp>
        <p:nvSpPr>
          <p:cNvPr id="5" name="Text 3"/>
          <p:cNvSpPr txBox="1"/>
          <p:nvPr/>
        </p:nvSpPr>
        <p:spPr>
          <a:xfrm>
            <a:off x="457200" y="1051560"/>
            <a:ext cx="8229600" cy="274320"/>
          </a:xfrm>
          <a:prstGeom prst="rect">
            <a:avLst/>
          </a:prstGeom>
          <a:noFill/>
          <a:ln/>
        </p:spPr>
        <p:txBody>
          <a:bodyPr wrap="square" lIns="0" tIns="0" rIns="0" bIns="0" rtlCol="0" anchor="ctr"/>
          <a:lstStyle/>
          <a:p>
            <a:pPr marL="0" indent="0">
              <a:buNone/>
            </a:pPr>
            <a:r>
              <a:rPr lang="en-US" sz="1250" dirty="0">
                <a:solidFill>
                  <a:srgbClr val="5B6B82"/>
                </a:solidFill>
                <a:latin typeface="Calibri" pitchFamily="34" charset="0"/>
                <a:ea typeface="Calibri" pitchFamily="34" charset="-122"/>
                <a:cs typeface="Calibri" pitchFamily="34" charset="-120"/>
              </a:rPr>
              <a:t>Aplicación de pagos a facturas abiertas</a:t>
            </a:r>
            <a:endParaRPr lang="en-US" sz="1250" dirty="0"/>
          </a:p>
        </p:txBody>
      </p:sp>
      <p:sp>
        <p:nvSpPr>
          <p:cNvPr id="6" name="Text 4"/>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00" dirty="0">
                <a:solidFill>
                  <a:srgbClr val="8A9AB0"/>
                </a:solidFill>
                <a:latin typeface="Calibri" pitchFamily="34" charset="0"/>
                <a:ea typeface="Calibri" pitchFamily="34" charset="-122"/>
                <a:cs typeface="Calibri" pitchFamily="34" charset="-120"/>
              </a:rPr>
              <a:t>Ventura Soluciones  |  SAP Business One · Service Layer</a:t>
            </a:r>
            <a:endParaRPr lang="en-US" sz="800" dirty="0"/>
          </a:p>
        </p:txBody>
      </p:sp>
      <p:sp>
        <p:nvSpPr>
          <p:cNvPr id="7" name="Shape 5"/>
          <p:cNvSpPr/>
          <p:nvPr/>
        </p:nvSpPr>
        <p:spPr>
          <a:xfrm>
            <a:off x="457200" y="1417320"/>
            <a:ext cx="4023360" cy="2788920"/>
          </a:xfrm>
          <a:prstGeom prst="roundRect">
            <a:avLst>
              <a:gd name="adj" fmla="val 2295"/>
            </a:avLst>
          </a:prstGeom>
          <a:solidFill>
            <a:srgbClr val="0E1B2E"/>
          </a:solidFill>
          <a:ln w="12700">
            <a:solidFill>
              <a:srgbClr val="0E1B2E"/>
            </a:solidFill>
            <a:prstDash val="solid"/>
          </a:ln>
          <a:effectLst>
            <a:outerShdw blurRad="101600" dist="25400" dir="5400000" algn="bl" rotWithShape="0">
              <a:srgbClr val="0B2A55">
                <a:alpha val="12000"/>
              </a:srgbClr>
            </a:outerShdw>
          </a:effectLst>
        </p:spPr>
      </p:sp>
      <p:sp>
        <p:nvSpPr>
          <p:cNvPr id="8" name="Shape 6"/>
          <p:cNvSpPr/>
          <p:nvPr/>
        </p:nvSpPr>
        <p:spPr>
          <a:xfrm>
            <a:off x="594360" y="1527048"/>
            <a:ext cx="73152" cy="73152"/>
          </a:xfrm>
          <a:prstGeom prst="ellipse">
            <a:avLst/>
          </a:prstGeom>
          <a:solidFill>
            <a:srgbClr val="FF5F56"/>
          </a:solidFill>
          <a:ln w="12700">
            <a:solidFill>
              <a:srgbClr val="FF5F56"/>
            </a:solidFill>
            <a:prstDash val="solid"/>
          </a:ln>
        </p:spPr>
      </p:sp>
      <p:sp>
        <p:nvSpPr>
          <p:cNvPr id="9" name="Shape 7"/>
          <p:cNvSpPr/>
          <p:nvPr/>
        </p:nvSpPr>
        <p:spPr>
          <a:xfrm>
            <a:off x="722376" y="1527048"/>
            <a:ext cx="73152" cy="73152"/>
          </a:xfrm>
          <a:prstGeom prst="ellipse">
            <a:avLst/>
          </a:prstGeom>
          <a:solidFill>
            <a:srgbClr val="FFBD2E"/>
          </a:solidFill>
          <a:ln w="12700">
            <a:solidFill>
              <a:srgbClr val="FFBD2E"/>
            </a:solidFill>
            <a:prstDash val="solid"/>
          </a:ln>
        </p:spPr>
      </p:sp>
      <p:sp>
        <p:nvSpPr>
          <p:cNvPr id="10" name="Shape 8"/>
          <p:cNvSpPr/>
          <p:nvPr/>
        </p:nvSpPr>
        <p:spPr>
          <a:xfrm>
            <a:off x="850392" y="1527048"/>
            <a:ext cx="73152" cy="73152"/>
          </a:xfrm>
          <a:prstGeom prst="ellipse">
            <a:avLst/>
          </a:prstGeom>
          <a:solidFill>
            <a:srgbClr val="27C93F"/>
          </a:solidFill>
          <a:ln w="12700">
            <a:solidFill>
              <a:srgbClr val="27C93F"/>
            </a:solidFill>
            <a:prstDash val="solid"/>
          </a:ln>
        </p:spPr>
      </p:sp>
      <p:sp>
        <p:nvSpPr>
          <p:cNvPr id="11" name="Text 9"/>
          <p:cNvSpPr txBox="1"/>
          <p:nvPr/>
        </p:nvSpPr>
        <p:spPr>
          <a:xfrm>
            <a:off x="1024128" y="1472184"/>
            <a:ext cx="3337560" cy="182880"/>
          </a:xfrm>
          <a:prstGeom prst="rect">
            <a:avLst/>
          </a:prstGeom>
          <a:noFill/>
          <a:ln/>
        </p:spPr>
        <p:txBody>
          <a:bodyPr wrap="square" lIns="0" tIns="0" rIns="0" bIns="0" rtlCol="0" anchor="ctr"/>
          <a:lstStyle/>
          <a:p>
            <a:pPr marL="0" indent="0">
              <a:buNone/>
            </a:pPr>
            <a:r>
              <a:rPr lang="en-US" sz="850" b="1" dirty="0">
                <a:solidFill>
                  <a:srgbClr val="F5A800"/>
                </a:solidFill>
                <a:latin typeface="Segoe UI" pitchFamily="34" charset="0"/>
                <a:ea typeface="Segoe UI" pitchFamily="34" charset="-122"/>
                <a:cs typeface="Segoe UI" pitchFamily="34" charset="-120"/>
              </a:rPr>
              <a:t>POST · IncomingPayments</a:t>
            </a:r>
            <a:endParaRPr lang="en-US" sz="850" dirty="0"/>
          </a:p>
        </p:txBody>
      </p:sp>
      <p:sp>
        <p:nvSpPr>
          <p:cNvPr id="12" name="Text 10"/>
          <p:cNvSpPr txBox="1"/>
          <p:nvPr/>
        </p:nvSpPr>
        <p:spPr>
          <a:xfrm>
            <a:off x="594360" y="1709928"/>
            <a:ext cx="3749040" cy="2423160"/>
          </a:xfrm>
          <a:prstGeom prst="rect">
            <a:avLst/>
          </a:prstGeom>
          <a:noFill/>
          <a:ln/>
        </p:spPr>
        <p:txBody>
          <a:bodyPr wrap="square" lIns="0" tIns="0" rIns="0" bIns="0" rtlCol="0" anchor="t"/>
          <a:lstStyle/>
          <a:p>
            <a:pPr marL="0" indent="0">
              <a:lnSpc>
                <a:spcPct val="100000"/>
              </a:lnSpc>
              <a:buNone/>
            </a:pPr>
            <a:r>
              <a:rPr lang="en-US" sz="800" b="1" dirty="0">
                <a:solidFill>
                  <a:srgbClr val="F5A800"/>
                </a:solidFill>
                <a:latin typeface="Consolas" pitchFamily="34" charset="0"/>
                <a:ea typeface="Consolas" pitchFamily="34" charset="-122"/>
                <a:cs typeface="Consolas" pitchFamily="34" charset="-120"/>
              </a:rPr>
              <a:t>curl</a:t>
            </a:r>
            <a:r>
              <a:rPr lang="en-US" sz="800" dirty="0">
                <a:solidFill>
                  <a:srgbClr val="DCE6F2"/>
                </a:solidFill>
                <a:latin typeface="Consolas" pitchFamily="34" charset="0"/>
                <a:ea typeface="Consolas" pitchFamily="34" charset="-122"/>
                <a:cs typeface="Consolas" pitchFamily="34" charset="-120"/>
              </a:rPr>
              <a:t> -k -X </a:t>
            </a:r>
            <a:r>
              <a:rPr lang="en-US" sz="800" b="1" dirty="0">
                <a:solidFill>
                  <a:srgbClr val="F5A800"/>
                </a:solidFill>
                <a:latin typeface="Consolas" pitchFamily="34" charset="0"/>
                <a:ea typeface="Consolas" pitchFamily="34" charset="-122"/>
                <a:cs typeface="Consolas" pitchFamily="34" charset="-120"/>
              </a:rPr>
              <a:t>POST</a:t>
            </a:r>
            <a:r>
              <a:rPr lang="en-US" sz="800" dirty="0">
                <a:solidFill>
                  <a:srgbClr val="DCE6F2"/>
                </a:solidFill>
                <a:latin typeface="Consolas" pitchFamily="34" charset="0"/>
                <a:ea typeface="Consolas" pitchFamily="34" charset="-122"/>
                <a:cs typeface="Consolas" pitchFamily="34" charset="-120"/>
              </a:rPr>
              <a:t> </a:t>
            </a:r>
            <a:r>
              <a:rPr lang="en-US" sz="800" dirty="0">
                <a:solidFill>
                  <a:srgbClr val="B5E48C"/>
                </a:solidFill>
                <a:latin typeface="Consolas" pitchFamily="34" charset="0"/>
                <a:ea typeface="Consolas" pitchFamily="34" charset="-122"/>
                <a:cs typeface="Consolas" pitchFamily="34" charset="-120"/>
              </a:rPr>
              <a:t>"$SL/IncomingPayments"</a:t>
            </a: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-H </a:t>
            </a:r>
            <a:r>
              <a:rPr lang="en-US" sz="800" dirty="0">
                <a:solidFill>
                  <a:srgbClr val="B5E48C"/>
                </a:solidFill>
                <a:latin typeface="Consolas" pitchFamily="34" charset="0"/>
                <a:ea typeface="Consolas" pitchFamily="34" charset="-122"/>
                <a:cs typeface="Consolas" pitchFamily="34" charset="-120"/>
              </a:rPr>
              <a:t>"Content-Type: application/json"</a:t>
            </a: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-b cookies.txt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-d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"CardCode"</a:t>
            </a:r>
            <a:r>
              <a:rPr lang="en-US" sz="800" dirty="0">
                <a:solidFill>
                  <a:srgbClr val="DCE6F2"/>
                </a:solidFill>
                <a:latin typeface="Consolas" pitchFamily="34" charset="0"/>
                <a:ea typeface="Consolas" pitchFamily="34" charset="-122"/>
                <a:cs typeface="Consolas" pitchFamily="34" charset="-120"/>
              </a:rPr>
              <a:t>: </a:t>
            </a:r>
            <a:r>
              <a:rPr lang="en-US" sz="800" dirty="0">
                <a:solidFill>
                  <a:srgbClr val="B5E48C"/>
                </a:solidFill>
                <a:latin typeface="Consolas" pitchFamily="34" charset="0"/>
                <a:ea typeface="Consolas" pitchFamily="34" charset="-122"/>
                <a:cs typeface="Consolas" pitchFamily="34" charset="-120"/>
              </a:rPr>
              <a:t>"C20601234567"</a:t>
            </a:r>
            <a:r>
              <a:rPr lang="en-US" sz="800" dirty="0">
                <a:solidFill>
                  <a:srgbClr val="DCE6F2"/>
                </a:solidFill>
                <a:latin typeface="Consolas" pitchFamily="34" charset="0"/>
                <a:ea typeface="Consolas" pitchFamily="34" charset="-122"/>
                <a:cs typeface="Consolas" pitchFamily="34" charset="-120"/>
              </a:rPr>
              <a:t>,</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"DocDate"</a:t>
            </a:r>
            <a:r>
              <a:rPr lang="en-US" sz="800" dirty="0">
                <a:solidFill>
                  <a:srgbClr val="DCE6F2"/>
                </a:solidFill>
                <a:latin typeface="Consolas" pitchFamily="34" charset="0"/>
                <a:ea typeface="Consolas" pitchFamily="34" charset="-122"/>
                <a:cs typeface="Consolas" pitchFamily="34" charset="-120"/>
              </a:rPr>
              <a:t>: </a:t>
            </a:r>
            <a:r>
              <a:rPr lang="en-US" sz="800" dirty="0">
                <a:solidFill>
                  <a:srgbClr val="B5E48C"/>
                </a:solidFill>
                <a:latin typeface="Consolas" pitchFamily="34" charset="0"/>
                <a:ea typeface="Consolas" pitchFamily="34" charset="-122"/>
                <a:cs typeface="Consolas" pitchFamily="34" charset="-120"/>
              </a:rPr>
              <a:t>"2026-09-30"</a:t>
            </a:r>
            <a:r>
              <a:rPr lang="en-US" sz="800" dirty="0">
                <a:solidFill>
                  <a:srgbClr val="DCE6F2"/>
                </a:solidFill>
                <a:latin typeface="Consolas" pitchFamily="34" charset="0"/>
                <a:ea typeface="Consolas" pitchFamily="34" charset="-122"/>
                <a:cs typeface="Consolas" pitchFamily="34" charset="-120"/>
              </a:rPr>
              <a:t>,</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"TransferAccount"</a:t>
            </a:r>
            <a:r>
              <a:rPr lang="en-US" sz="800" dirty="0">
                <a:solidFill>
                  <a:srgbClr val="DCE6F2"/>
                </a:solidFill>
                <a:latin typeface="Consolas" pitchFamily="34" charset="0"/>
                <a:ea typeface="Consolas" pitchFamily="34" charset="-122"/>
                <a:cs typeface="Consolas" pitchFamily="34" charset="-120"/>
              </a:rPr>
              <a:t>: </a:t>
            </a:r>
            <a:r>
              <a:rPr lang="en-US" sz="800" dirty="0">
                <a:solidFill>
                  <a:srgbClr val="B5E48C"/>
                </a:solidFill>
                <a:latin typeface="Consolas" pitchFamily="34" charset="0"/>
                <a:ea typeface="Consolas" pitchFamily="34" charset="-122"/>
                <a:cs typeface="Consolas" pitchFamily="34" charset="-120"/>
              </a:rPr>
              <a:t>"1041101"</a:t>
            </a:r>
            <a:r>
              <a:rPr lang="en-US" sz="800" dirty="0">
                <a:solidFill>
                  <a:srgbClr val="DCE6F2"/>
                </a:solidFill>
                <a:latin typeface="Consolas" pitchFamily="34" charset="0"/>
                <a:ea typeface="Consolas" pitchFamily="34" charset="-122"/>
                <a:cs typeface="Consolas" pitchFamily="34" charset="-120"/>
              </a:rPr>
              <a:t>,</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"TransferSum"</a:t>
            </a:r>
            <a:r>
              <a:rPr lang="en-US" sz="800" dirty="0">
                <a:solidFill>
                  <a:srgbClr val="DCE6F2"/>
                </a:solidFill>
                <a:latin typeface="Consolas" pitchFamily="34" charset="0"/>
                <a:ea typeface="Consolas" pitchFamily="34" charset="-122"/>
                <a:cs typeface="Consolas" pitchFamily="34" charset="-120"/>
              </a:rPr>
              <a:t>: 2950,</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"TransferDate"</a:t>
            </a:r>
            <a:r>
              <a:rPr lang="en-US" sz="800" dirty="0">
                <a:solidFill>
                  <a:srgbClr val="DCE6F2"/>
                </a:solidFill>
                <a:latin typeface="Consolas" pitchFamily="34" charset="0"/>
                <a:ea typeface="Consolas" pitchFamily="34" charset="-122"/>
                <a:cs typeface="Consolas" pitchFamily="34" charset="-120"/>
              </a:rPr>
              <a:t>: </a:t>
            </a:r>
            <a:r>
              <a:rPr lang="en-US" sz="800" dirty="0">
                <a:solidFill>
                  <a:srgbClr val="B5E48C"/>
                </a:solidFill>
                <a:latin typeface="Consolas" pitchFamily="34" charset="0"/>
                <a:ea typeface="Consolas" pitchFamily="34" charset="-122"/>
                <a:cs typeface="Consolas" pitchFamily="34" charset="-120"/>
              </a:rPr>
              <a:t>"2026-09-30"</a:t>
            </a:r>
            <a:r>
              <a:rPr lang="en-US" sz="800" dirty="0">
                <a:solidFill>
                  <a:srgbClr val="DCE6F2"/>
                </a:solidFill>
                <a:latin typeface="Consolas" pitchFamily="34" charset="0"/>
                <a:ea typeface="Consolas" pitchFamily="34" charset="-122"/>
                <a:cs typeface="Consolas" pitchFamily="34" charset="-120"/>
              </a:rPr>
              <a:t>,</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"TransferReference"</a:t>
            </a:r>
            <a:r>
              <a:rPr lang="en-US" sz="800" dirty="0">
                <a:solidFill>
                  <a:srgbClr val="DCE6F2"/>
                </a:solidFill>
                <a:latin typeface="Consolas" pitchFamily="34" charset="0"/>
                <a:ea typeface="Consolas" pitchFamily="34" charset="-122"/>
                <a:cs typeface="Consolas" pitchFamily="34" charset="-120"/>
              </a:rPr>
              <a:t>: </a:t>
            </a:r>
            <a:r>
              <a:rPr lang="en-US" sz="800" dirty="0">
                <a:solidFill>
                  <a:srgbClr val="B5E48C"/>
                </a:solidFill>
                <a:latin typeface="Consolas" pitchFamily="34" charset="0"/>
                <a:ea typeface="Consolas" pitchFamily="34" charset="-122"/>
                <a:cs typeface="Consolas" pitchFamily="34" charset="-120"/>
              </a:rPr>
              <a:t>"OP-778812"</a:t>
            </a:r>
            <a:r>
              <a:rPr lang="en-US" sz="800" dirty="0">
                <a:solidFill>
                  <a:srgbClr val="DCE6F2"/>
                </a:solidFill>
                <a:latin typeface="Consolas" pitchFamily="34" charset="0"/>
                <a:ea typeface="Consolas" pitchFamily="34" charset="-122"/>
                <a:cs typeface="Consolas" pitchFamily="34" charset="-120"/>
              </a:rPr>
              <a:t>,</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"PaymentInvoices"</a:t>
            </a: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"DocEntry"</a:t>
            </a:r>
            <a:r>
              <a:rPr lang="en-US" sz="800" dirty="0">
                <a:solidFill>
                  <a:srgbClr val="DCE6F2"/>
                </a:solidFill>
                <a:latin typeface="Consolas" pitchFamily="34" charset="0"/>
                <a:ea typeface="Consolas" pitchFamily="34" charset="-122"/>
                <a:cs typeface="Consolas" pitchFamily="34" charset="-120"/>
              </a:rPr>
              <a:t>: 3321,</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"InvoiceType"</a:t>
            </a:r>
            <a:r>
              <a:rPr lang="en-US" sz="800" dirty="0">
                <a:solidFill>
                  <a:srgbClr val="DCE6F2"/>
                </a:solidFill>
                <a:latin typeface="Consolas" pitchFamily="34" charset="0"/>
                <a:ea typeface="Consolas" pitchFamily="34" charset="-122"/>
                <a:cs typeface="Consolas" pitchFamily="34" charset="-120"/>
              </a:rPr>
              <a:t>: </a:t>
            </a:r>
            <a:r>
              <a:rPr lang="en-US" sz="800" dirty="0">
                <a:solidFill>
                  <a:srgbClr val="B5E48C"/>
                </a:solidFill>
                <a:latin typeface="Consolas" pitchFamily="34" charset="0"/>
                <a:ea typeface="Consolas" pitchFamily="34" charset="-122"/>
                <a:cs typeface="Consolas" pitchFamily="34" charset="-120"/>
              </a:rPr>
              <a:t>"it_Invoice"</a:t>
            </a:r>
            <a:r>
              <a:rPr lang="en-US" sz="800" dirty="0">
                <a:solidFill>
                  <a:srgbClr val="DCE6F2"/>
                </a:solidFill>
                <a:latin typeface="Consolas" pitchFamily="34" charset="0"/>
                <a:ea typeface="Consolas" pitchFamily="34" charset="-122"/>
                <a:cs typeface="Consolas" pitchFamily="34" charset="-120"/>
              </a:rPr>
              <a:t>,</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"SumApplied"</a:t>
            </a:r>
            <a:r>
              <a:rPr lang="en-US" sz="800" dirty="0">
                <a:solidFill>
                  <a:srgbClr val="DCE6F2"/>
                </a:solidFill>
                <a:latin typeface="Consolas" pitchFamily="34" charset="0"/>
                <a:ea typeface="Consolas" pitchFamily="34" charset="-122"/>
                <a:cs typeface="Consolas" pitchFamily="34" charset="-120"/>
              </a:rPr>
              <a:t>: 2950</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a:t>
            </a:r>
            <a:endParaRPr lang="en-US" sz="800" dirty="0"/>
          </a:p>
        </p:txBody>
      </p:sp>
      <p:sp>
        <p:nvSpPr>
          <p:cNvPr id="13" name="Text 11"/>
          <p:cNvSpPr txBox="1"/>
          <p:nvPr/>
        </p:nvSpPr>
        <p:spPr>
          <a:xfrm>
            <a:off x="457200" y="4297680"/>
            <a:ext cx="4023360" cy="457200"/>
          </a:xfrm>
          <a:prstGeom prst="rect">
            <a:avLst/>
          </a:prstGeom>
          <a:noFill/>
          <a:ln/>
        </p:spPr>
        <p:txBody>
          <a:bodyPr wrap="square" lIns="0" tIns="0" rIns="0" bIns="0" rtlCol="0" anchor="t"/>
          <a:lstStyle/>
          <a:p>
            <a:pPr marL="0" indent="0">
              <a:buNone/>
            </a:pPr>
            <a:r>
              <a:rPr lang="en-US" sz="1000" i="1" dirty="0">
                <a:solidFill>
                  <a:srgbClr val="5B6B82"/>
                </a:solidFill>
                <a:latin typeface="Calibri" pitchFamily="34" charset="0"/>
                <a:ea typeface="Calibri" pitchFamily="34" charset="-122"/>
                <a:cs typeface="Calibri" pitchFamily="34" charset="-120"/>
              </a:rPr>
              <a:t>Medios: CashSum/CashAccount, TransferSum/TransferAccount, PaymentChecks, PaymentCreditCards.</a:t>
            </a:r>
            <a:endParaRPr lang="en-US" sz="1000" dirty="0"/>
          </a:p>
        </p:txBody>
      </p:sp>
      <p:sp>
        <p:nvSpPr>
          <p:cNvPr id="14" name="Shape 12"/>
          <p:cNvSpPr/>
          <p:nvPr/>
        </p:nvSpPr>
        <p:spPr>
          <a:xfrm>
            <a:off x="4663440" y="1417320"/>
            <a:ext cx="4023360" cy="2788920"/>
          </a:xfrm>
          <a:prstGeom prst="roundRect">
            <a:avLst>
              <a:gd name="adj" fmla="val 2295"/>
            </a:avLst>
          </a:prstGeom>
          <a:solidFill>
            <a:srgbClr val="0E1B2E"/>
          </a:solidFill>
          <a:ln w="12700">
            <a:solidFill>
              <a:srgbClr val="0E1B2E"/>
            </a:solidFill>
            <a:prstDash val="solid"/>
          </a:ln>
          <a:effectLst>
            <a:outerShdw blurRad="101600" dist="25400" dir="5400000" algn="bl" rotWithShape="0">
              <a:srgbClr val="0B2A55">
                <a:alpha val="12000"/>
              </a:srgbClr>
            </a:outerShdw>
          </a:effectLst>
        </p:spPr>
      </p:sp>
      <p:sp>
        <p:nvSpPr>
          <p:cNvPr id="15" name="Shape 13"/>
          <p:cNvSpPr/>
          <p:nvPr/>
        </p:nvSpPr>
        <p:spPr>
          <a:xfrm>
            <a:off x="4800600" y="1527048"/>
            <a:ext cx="73152" cy="73152"/>
          </a:xfrm>
          <a:prstGeom prst="ellipse">
            <a:avLst/>
          </a:prstGeom>
          <a:solidFill>
            <a:srgbClr val="FF5F56"/>
          </a:solidFill>
          <a:ln w="12700">
            <a:solidFill>
              <a:srgbClr val="FF5F56"/>
            </a:solidFill>
            <a:prstDash val="solid"/>
          </a:ln>
        </p:spPr>
      </p:sp>
      <p:sp>
        <p:nvSpPr>
          <p:cNvPr id="16" name="Shape 14"/>
          <p:cNvSpPr/>
          <p:nvPr/>
        </p:nvSpPr>
        <p:spPr>
          <a:xfrm>
            <a:off x="4928616" y="1527048"/>
            <a:ext cx="73152" cy="73152"/>
          </a:xfrm>
          <a:prstGeom prst="ellipse">
            <a:avLst/>
          </a:prstGeom>
          <a:solidFill>
            <a:srgbClr val="FFBD2E"/>
          </a:solidFill>
          <a:ln w="12700">
            <a:solidFill>
              <a:srgbClr val="FFBD2E"/>
            </a:solidFill>
            <a:prstDash val="solid"/>
          </a:ln>
        </p:spPr>
      </p:sp>
      <p:sp>
        <p:nvSpPr>
          <p:cNvPr id="17" name="Shape 15"/>
          <p:cNvSpPr/>
          <p:nvPr/>
        </p:nvSpPr>
        <p:spPr>
          <a:xfrm>
            <a:off x="5056632" y="1527048"/>
            <a:ext cx="73152" cy="73152"/>
          </a:xfrm>
          <a:prstGeom prst="ellipse">
            <a:avLst/>
          </a:prstGeom>
          <a:solidFill>
            <a:srgbClr val="27C93F"/>
          </a:solidFill>
          <a:ln w="12700">
            <a:solidFill>
              <a:srgbClr val="27C93F"/>
            </a:solidFill>
            <a:prstDash val="solid"/>
          </a:ln>
        </p:spPr>
      </p:sp>
      <p:sp>
        <p:nvSpPr>
          <p:cNvPr id="18" name="Text 16"/>
          <p:cNvSpPr txBox="1"/>
          <p:nvPr/>
        </p:nvSpPr>
        <p:spPr>
          <a:xfrm>
            <a:off x="5230368" y="1472184"/>
            <a:ext cx="3337560" cy="182880"/>
          </a:xfrm>
          <a:prstGeom prst="rect">
            <a:avLst/>
          </a:prstGeom>
          <a:noFill/>
          <a:ln/>
        </p:spPr>
        <p:txBody>
          <a:bodyPr wrap="square" lIns="0" tIns="0" rIns="0" bIns="0" rtlCol="0" anchor="ctr"/>
          <a:lstStyle/>
          <a:p>
            <a:pPr marL="0" indent="0">
              <a:buNone/>
            </a:pPr>
            <a:r>
              <a:rPr lang="en-US" sz="850" b="1" dirty="0">
                <a:solidFill>
                  <a:srgbClr val="F5A800"/>
                </a:solidFill>
                <a:latin typeface="Segoe UI" pitchFamily="34" charset="0"/>
                <a:ea typeface="Segoe UI" pitchFamily="34" charset="-122"/>
                <a:cs typeface="Segoe UI" pitchFamily="34" charset="-120"/>
              </a:rPr>
              <a:t>POST · VendorPayments</a:t>
            </a:r>
            <a:endParaRPr lang="en-US" sz="850" dirty="0"/>
          </a:p>
        </p:txBody>
      </p:sp>
      <p:sp>
        <p:nvSpPr>
          <p:cNvPr id="19" name="Text 17"/>
          <p:cNvSpPr txBox="1"/>
          <p:nvPr/>
        </p:nvSpPr>
        <p:spPr>
          <a:xfrm>
            <a:off x="4800600" y="1709928"/>
            <a:ext cx="3749040" cy="2423160"/>
          </a:xfrm>
          <a:prstGeom prst="rect">
            <a:avLst/>
          </a:prstGeom>
          <a:noFill/>
          <a:ln/>
        </p:spPr>
        <p:txBody>
          <a:bodyPr wrap="square" lIns="0" tIns="0" rIns="0" bIns="0" rtlCol="0" anchor="t"/>
          <a:lstStyle/>
          <a:p>
            <a:pPr marL="0" indent="0">
              <a:lnSpc>
                <a:spcPct val="100000"/>
              </a:lnSpc>
              <a:buNone/>
            </a:pPr>
            <a:r>
              <a:rPr lang="en-US" sz="800" b="1" dirty="0">
                <a:solidFill>
                  <a:srgbClr val="F5A800"/>
                </a:solidFill>
                <a:latin typeface="Consolas" pitchFamily="34" charset="0"/>
                <a:ea typeface="Consolas" pitchFamily="34" charset="-122"/>
                <a:cs typeface="Consolas" pitchFamily="34" charset="-120"/>
              </a:rPr>
              <a:t>curl</a:t>
            </a:r>
            <a:r>
              <a:rPr lang="en-US" sz="800" dirty="0">
                <a:solidFill>
                  <a:srgbClr val="DCE6F2"/>
                </a:solidFill>
                <a:latin typeface="Consolas" pitchFamily="34" charset="0"/>
                <a:ea typeface="Consolas" pitchFamily="34" charset="-122"/>
                <a:cs typeface="Consolas" pitchFamily="34" charset="-120"/>
              </a:rPr>
              <a:t> -k -X </a:t>
            </a:r>
            <a:r>
              <a:rPr lang="en-US" sz="800" b="1" dirty="0">
                <a:solidFill>
                  <a:srgbClr val="F5A800"/>
                </a:solidFill>
                <a:latin typeface="Consolas" pitchFamily="34" charset="0"/>
                <a:ea typeface="Consolas" pitchFamily="34" charset="-122"/>
                <a:cs typeface="Consolas" pitchFamily="34" charset="-120"/>
              </a:rPr>
              <a:t>POST</a:t>
            </a:r>
            <a:r>
              <a:rPr lang="en-US" sz="800" dirty="0">
                <a:solidFill>
                  <a:srgbClr val="DCE6F2"/>
                </a:solidFill>
                <a:latin typeface="Consolas" pitchFamily="34" charset="0"/>
                <a:ea typeface="Consolas" pitchFamily="34" charset="-122"/>
                <a:cs typeface="Consolas" pitchFamily="34" charset="-120"/>
              </a:rPr>
              <a:t> </a:t>
            </a:r>
            <a:r>
              <a:rPr lang="en-US" sz="800" dirty="0">
                <a:solidFill>
                  <a:srgbClr val="B5E48C"/>
                </a:solidFill>
                <a:latin typeface="Consolas" pitchFamily="34" charset="0"/>
                <a:ea typeface="Consolas" pitchFamily="34" charset="-122"/>
                <a:cs typeface="Consolas" pitchFamily="34" charset="-120"/>
              </a:rPr>
              <a:t>"$SL/VendorPayments"</a:t>
            </a: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-H </a:t>
            </a:r>
            <a:r>
              <a:rPr lang="en-US" sz="800" dirty="0">
                <a:solidFill>
                  <a:srgbClr val="B5E48C"/>
                </a:solidFill>
                <a:latin typeface="Consolas" pitchFamily="34" charset="0"/>
                <a:ea typeface="Consolas" pitchFamily="34" charset="-122"/>
                <a:cs typeface="Consolas" pitchFamily="34" charset="-120"/>
              </a:rPr>
              <a:t>"Content-Type: application/json"</a:t>
            </a: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-b cookies.txt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-d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"CardCode"</a:t>
            </a:r>
            <a:r>
              <a:rPr lang="en-US" sz="800" dirty="0">
                <a:solidFill>
                  <a:srgbClr val="DCE6F2"/>
                </a:solidFill>
                <a:latin typeface="Consolas" pitchFamily="34" charset="0"/>
                <a:ea typeface="Consolas" pitchFamily="34" charset="-122"/>
                <a:cs typeface="Consolas" pitchFamily="34" charset="-120"/>
              </a:rPr>
              <a:t>: </a:t>
            </a:r>
            <a:r>
              <a:rPr lang="en-US" sz="800" dirty="0">
                <a:solidFill>
                  <a:srgbClr val="B5E48C"/>
                </a:solidFill>
                <a:latin typeface="Consolas" pitchFamily="34" charset="0"/>
                <a:ea typeface="Consolas" pitchFamily="34" charset="-122"/>
                <a:cs typeface="Consolas" pitchFamily="34" charset="-120"/>
              </a:rPr>
              <a:t>"P20100070970"</a:t>
            </a:r>
            <a:r>
              <a:rPr lang="en-US" sz="800" dirty="0">
                <a:solidFill>
                  <a:srgbClr val="DCE6F2"/>
                </a:solidFill>
                <a:latin typeface="Consolas" pitchFamily="34" charset="0"/>
                <a:ea typeface="Consolas" pitchFamily="34" charset="-122"/>
                <a:cs typeface="Consolas" pitchFamily="34" charset="-120"/>
              </a:rPr>
              <a:t>,</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"DocDate"</a:t>
            </a:r>
            <a:r>
              <a:rPr lang="en-US" sz="800" dirty="0">
                <a:solidFill>
                  <a:srgbClr val="DCE6F2"/>
                </a:solidFill>
                <a:latin typeface="Consolas" pitchFamily="34" charset="0"/>
                <a:ea typeface="Consolas" pitchFamily="34" charset="-122"/>
                <a:cs typeface="Consolas" pitchFamily="34" charset="-120"/>
              </a:rPr>
              <a:t>: </a:t>
            </a:r>
            <a:r>
              <a:rPr lang="en-US" sz="800" dirty="0">
                <a:solidFill>
                  <a:srgbClr val="B5E48C"/>
                </a:solidFill>
                <a:latin typeface="Consolas" pitchFamily="34" charset="0"/>
                <a:ea typeface="Consolas" pitchFamily="34" charset="-122"/>
                <a:cs typeface="Consolas" pitchFamily="34" charset="-120"/>
              </a:rPr>
              <a:t>"2026-09-30"</a:t>
            </a:r>
            <a:r>
              <a:rPr lang="en-US" sz="800" dirty="0">
                <a:solidFill>
                  <a:srgbClr val="DCE6F2"/>
                </a:solidFill>
                <a:latin typeface="Consolas" pitchFamily="34" charset="0"/>
                <a:ea typeface="Consolas" pitchFamily="34" charset="-122"/>
                <a:cs typeface="Consolas" pitchFamily="34" charset="-120"/>
              </a:rPr>
              <a:t>,</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"TransferAccount"</a:t>
            </a:r>
            <a:r>
              <a:rPr lang="en-US" sz="800" dirty="0">
                <a:solidFill>
                  <a:srgbClr val="DCE6F2"/>
                </a:solidFill>
                <a:latin typeface="Consolas" pitchFamily="34" charset="0"/>
                <a:ea typeface="Consolas" pitchFamily="34" charset="-122"/>
                <a:cs typeface="Consolas" pitchFamily="34" charset="-120"/>
              </a:rPr>
              <a:t>: </a:t>
            </a:r>
            <a:r>
              <a:rPr lang="en-US" sz="800" dirty="0">
                <a:solidFill>
                  <a:srgbClr val="B5E48C"/>
                </a:solidFill>
                <a:latin typeface="Consolas" pitchFamily="34" charset="0"/>
                <a:ea typeface="Consolas" pitchFamily="34" charset="-122"/>
                <a:cs typeface="Consolas" pitchFamily="34" charset="-120"/>
              </a:rPr>
              <a:t>"1041101"</a:t>
            </a:r>
            <a:r>
              <a:rPr lang="en-US" sz="800" dirty="0">
                <a:solidFill>
                  <a:srgbClr val="DCE6F2"/>
                </a:solidFill>
                <a:latin typeface="Consolas" pitchFamily="34" charset="0"/>
                <a:ea typeface="Consolas" pitchFamily="34" charset="-122"/>
                <a:cs typeface="Consolas" pitchFamily="34" charset="-120"/>
              </a:rPr>
              <a:t>,</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"TransferSum"</a:t>
            </a:r>
            <a:r>
              <a:rPr lang="en-US" sz="800" dirty="0">
                <a:solidFill>
                  <a:srgbClr val="DCE6F2"/>
                </a:solidFill>
                <a:latin typeface="Consolas" pitchFamily="34" charset="0"/>
                <a:ea typeface="Consolas" pitchFamily="34" charset="-122"/>
                <a:cs typeface="Consolas" pitchFamily="34" charset="-120"/>
              </a:rPr>
              <a:t>: 29500,</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"TransferDate"</a:t>
            </a:r>
            <a:r>
              <a:rPr lang="en-US" sz="800" dirty="0">
                <a:solidFill>
                  <a:srgbClr val="DCE6F2"/>
                </a:solidFill>
                <a:latin typeface="Consolas" pitchFamily="34" charset="0"/>
                <a:ea typeface="Consolas" pitchFamily="34" charset="-122"/>
                <a:cs typeface="Consolas" pitchFamily="34" charset="-120"/>
              </a:rPr>
              <a:t>: </a:t>
            </a:r>
            <a:r>
              <a:rPr lang="en-US" sz="800" dirty="0">
                <a:solidFill>
                  <a:srgbClr val="B5E48C"/>
                </a:solidFill>
                <a:latin typeface="Consolas" pitchFamily="34" charset="0"/>
                <a:ea typeface="Consolas" pitchFamily="34" charset="-122"/>
                <a:cs typeface="Consolas" pitchFamily="34" charset="-120"/>
              </a:rPr>
              <a:t>"2026-09-30"</a:t>
            </a:r>
            <a:r>
              <a:rPr lang="en-US" sz="800" dirty="0">
                <a:solidFill>
                  <a:srgbClr val="DCE6F2"/>
                </a:solidFill>
                <a:latin typeface="Consolas" pitchFamily="34" charset="0"/>
                <a:ea typeface="Consolas" pitchFamily="34" charset="-122"/>
                <a:cs typeface="Consolas" pitchFamily="34" charset="-120"/>
              </a:rPr>
              <a:t>,</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"PaymentInvoices"</a:t>
            </a: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"DocEntry"</a:t>
            </a:r>
            <a:r>
              <a:rPr lang="en-US" sz="800" dirty="0">
                <a:solidFill>
                  <a:srgbClr val="DCE6F2"/>
                </a:solidFill>
                <a:latin typeface="Consolas" pitchFamily="34" charset="0"/>
                <a:ea typeface="Consolas" pitchFamily="34" charset="-122"/>
                <a:cs typeface="Consolas" pitchFamily="34" charset="-120"/>
              </a:rPr>
              <a:t>: 912,</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"InvoiceType"</a:t>
            </a:r>
            <a:r>
              <a:rPr lang="en-US" sz="800" dirty="0">
                <a:solidFill>
                  <a:srgbClr val="DCE6F2"/>
                </a:solidFill>
                <a:latin typeface="Consolas" pitchFamily="34" charset="0"/>
                <a:ea typeface="Consolas" pitchFamily="34" charset="-122"/>
                <a:cs typeface="Consolas" pitchFamily="34" charset="-120"/>
              </a:rPr>
              <a:t>: </a:t>
            </a:r>
            <a:r>
              <a:rPr lang="en-US" sz="800" dirty="0">
                <a:solidFill>
                  <a:srgbClr val="B5E48C"/>
                </a:solidFill>
                <a:latin typeface="Consolas" pitchFamily="34" charset="0"/>
                <a:ea typeface="Consolas" pitchFamily="34" charset="-122"/>
                <a:cs typeface="Consolas" pitchFamily="34" charset="-120"/>
              </a:rPr>
              <a:t>"it_PurchaseInvoice"</a:t>
            </a:r>
            <a:r>
              <a:rPr lang="en-US" sz="800" dirty="0">
                <a:solidFill>
                  <a:srgbClr val="DCE6F2"/>
                </a:solidFill>
                <a:latin typeface="Consolas" pitchFamily="34" charset="0"/>
                <a:ea typeface="Consolas" pitchFamily="34" charset="-122"/>
                <a:cs typeface="Consolas" pitchFamily="34" charset="-120"/>
              </a:rPr>
              <a:t>,</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r>
              <a:rPr lang="en-US" sz="800" dirty="0">
                <a:solidFill>
                  <a:srgbClr val="7FD1FF"/>
                </a:solidFill>
                <a:latin typeface="Consolas" pitchFamily="34" charset="0"/>
                <a:ea typeface="Consolas" pitchFamily="34" charset="-122"/>
                <a:cs typeface="Consolas" pitchFamily="34" charset="-120"/>
              </a:rPr>
              <a:t>"SumApplied"</a:t>
            </a:r>
            <a:r>
              <a:rPr lang="en-US" sz="800" dirty="0">
                <a:solidFill>
                  <a:srgbClr val="DCE6F2"/>
                </a:solidFill>
                <a:latin typeface="Consolas" pitchFamily="34" charset="0"/>
                <a:ea typeface="Consolas" pitchFamily="34" charset="-122"/>
                <a:cs typeface="Consolas" pitchFamily="34" charset="-120"/>
              </a:rPr>
              <a:t>: 29500</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rgbClr val="DCE6F2"/>
                </a:solidFill>
                <a:latin typeface="Consolas" pitchFamily="34" charset="0"/>
                <a:ea typeface="Consolas" pitchFamily="34" charset="-122"/>
                <a:cs typeface="Consolas" pitchFamily="34" charset="-120"/>
              </a:rPr>
              <a:t>}'</a:t>
            </a:r>
            <a:endParaRPr lang="en-US" sz="800" dirty="0"/>
          </a:p>
        </p:txBody>
      </p:sp>
      <p:sp>
        <p:nvSpPr>
          <p:cNvPr id="20" name="Text 18"/>
          <p:cNvSpPr txBox="1"/>
          <p:nvPr/>
        </p:nvSpPr>
        <p:spPr>
          <a:xfrm>
            <a:off x="4663440" y="4297680"/>
            <a:ext cx="4023360" cy="457200"/>
          </a:xfrm>
          <a:prstGeom prst="rect">
            <a:avLst/>
          </a:prstGeom>
          <a:noFill/>
          <a:ln/>
        </p:spPr>
        <p:txBody>
          <a:bodyPr wrap="square" lIns="0" tIns="0" rIns="0" bIns="0" rtlCol="0" anchor="t"/>
          <a:lstStyle/>
          <a:p>
            <a:pPr marL="0" indent="0">
              <a:buNone/>
            </a:pPr>
            <a:r>
              <a:rPr lang="en-US" sz="1000" i="1" dirty="0">
                <a:solidFill>
                  <a:srgbClr val="5B6B82"/>
                </a:solidFill>
                <a:latin typeface="Calibri" pitchFamily="34" charset="0"/>
                <a:ea typeface="Calibri" pitchFamily="34" charset="-122"/>
                <a:cs typeface="Calibri" pitchFamily="34" charset="-120"/>
              </a:rPr>
              <a:t>InvoiceType indica el tipo del documento pagado: it_PurchaseInvoice, it_PurchaseCreditNote, etc.</a:t>
            </a:r>
            <a:endParaRPr lang="en-US" sz="1000" dirty="0"/>
          </a:p>
        </p:txBody>
      </p:sp>
      <p:sp>
        <p:nvSpPr>
          <p:cNvPr id="21" name="Text 19"/>
          <p:cNvSpPr txBox="1"/>
          <p:nvPr/>
        </p:nvSpPr>
        <p:spPr>
          <a:xfrm>
            <a:off x="4663440" y="4828032"/>
            <a:ext cx="3474720" cy="182880"/>
          </a:xfrm>
          <a:prstGeom prst="rect">
            <a:avLst/>
          </a:prstGeom>
          <a:noFill/>
          <a:ln/>
        </p:spPr>
        <p:txBody>
          <a:bodyPr wrap="square" lIns="0" tIns="0" rIns="0" bIns="0" rtlCol="0" anchor="t"/>
          <a:lstStyle/>
          <a:p>
            <a:pPr marL="0" indent="0" algn="r">
              <a:buNone/>
            </a:pPr>
            <a:r>
              <a:rPr lang="en-US" sz="800" b="1" dirty="0">
                <a:solidFill>
                  <a:srgbClr val="0B4DA2"/>
                </a:solidFill>
                <a:latin typeface="Consolas" pitchFamily="34" charset="0"/>
                <a:ea typeface="Consolas" pitchFamily="34" charset="-122"/>
                <a:cs typeface="Consolas" pitchFamily="34" charset="-120"/>
              </a:rPr>
              <a:t>$SL</a:t>
            </a:r>
            <a:r>
              <a:rPr lang="en-US" sz="800" dirty="0">
                <a:solidFill>
                  <a:srgbClr val="8A9AB0"/>
                </a:solidFill>
                <a:latin typeface="Calibri" pitchFamily="34" charset="0"/>
                <a:ea typeface="Calibri" pitchFamily="34" charset="-122"/>
                <a:cs typeface="Calibri" pitchFamily="34" charset="-120"/>
              </a:rPr>
              <a:t> = https://sapserver:50000/b1s/v1   ·   cookies.txt obtenido en el Login</a:t>
            </a:r>
            <a:endParaRPr lang="en-US" sz="800" dirty="0"/>
          </a:p>
        </p:txBody>
      </p:sp>
      <p:sp>
        <p:nvSpPr>
          <p:cNvPr id="25"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xmlns="" val="0"/>
            </a:ext>
          </a:extLst>
        </p:spPr>
        <p:txBody>
          <a:bodyPr/>
          <a:lstStyle>
            <a:lvl1pPr>
              <a:defRPr sz="800">
                <a:solidFill>
                  <a:srgbClr val="8A9AB0"/>
                </a:solidFill>
                <a:latin typeface="Calibri"/>
                <a:ea typeface="Calibri"/>
                <a:cs typeface="Calibri"/>
              </a:defRPr>
            </a:lvl1pPr>
          </a:lstStyle>
          <a:p>
            <a:pPr algn="r"/>
            <a:fld id="{F7021451-1387-4CA6-816F-3879F97B5CBC}" type="slidenum">
              <a:rPr lang="en-US" b="0"/>
              <a:t>27</a:t>
            </a:fld>
            <a:endParaRPr 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457200" y="256032"/>
            <a:ext cx="2434133" cy="237744"/>
          </a:xfrm>
          <a:prstGeom prst="roundRect">
            <a:avLst>
              <a:gd name="adj" fmla="val 50000"/>
            </a:avLst>
          </a:prstGeom>
          <a:solidFill>
            <a:srgbClr val="071B3F"/>
          </a:solidFill>
          <a:ln w="12700">
            <a:solidFill>
              <a:srgbClr val="071B3F"/>
            </a:solidFill>
            <a:prstDash val="solid"/>
          </a:ln>
        </p:spPr>
      </p:sp>
      <p:sp>
        <p:nvSpPr>
          <p:cNvPr id="3" name="Text 1"/>
          <p:cNvSpPr txBox="1"/>
          <p:nvPr/>
        </p:nvSpPr>
        <p:spPr>
          <a:xfrm>
            <a:off x="457200" y="256032"/>
            <a:ext cx="2434133" cy="237744"/>
          </a:xfrm>
          <a:prstGeom prst="rect">
            <a:avLst/>
          </a:prstGeom>
          <a:noFill/>
          <a:ln/>
        </p:spPr>
        <p:txBody>
          <a:bodyPr wrap="square" lIns="0" tIns="0" rIns="0" bIns="0" rtlCol="0" anchor="ctr"/>
          <a:lstStyle/>
          <a:p>
            <a:pPr marL="0" indent="0" algn="ctr">
              <a:buNone/>
            </a:pPr>
            <a:r>
              <a:rPr lang="en-US" sz="850" b="1" kern="0" spc="100" dirty="0">
                <a:solidFill>
                  <a:srgbClr val="F5A800"/>
                </a:solidFill>
                <a:latin typeface="Segoe UI" pitchFamily="34" charset="0"/>
                <a:ea typeface="Segoe UI" pitchFamily="34" charset="-122"/>
                <a:cs typeface="Segoe UI" pitchFamily="34" charset="-120"/>
              </a:rPr>
              <a:t>04  ·  FLUJOS DE OPERACIÓN II</a:t>
            </a:r>
            <a:endParaRPr lang="en-US" sz="850" dirty="0"/>
          </a:p>
        </p:txBody>
      </p:sp>
      <p:sp>
        <p:nvSpPr>
          <p:cNvPr id="4" name="Text 2"/>
          <p:cNvSpPr txBox="1"/>
          <p:nvPr/>
        </p:nvSpPr>
        <p:spPr>
          <a:xfrm>
            <a:off x="457200" y="566928"/>
            <a:ext cx="8229600" cy="502920"/>
          </a:xfrm>
          <a:prstGeom prst="rect">
            <a:avLst/>
          </a:prstGeom>
          <a:noFill/>
          <a:ln/>
        </p:spPr>
        <p:txBody>
          <a:bodyPr wrap="square" lIns="0" tIns="0" rIns="0" bIns="0" rtlCol="0" anchor="ctr"/>
          <a:lstStyle/>
          <a:p>
            <a:pPr marL="0" indent="0">
              <a:buNone/>
            </a:pPr>
            <a:r>
              <a:rPr lang="en-US" sz="2400" b="1" dirty="0">
                <a:solidFill>
                  <a:srgbClr val="071B3F"/>
                </a:solidFill>
                <a:latin typeface="Segoe UI" pitchFamily="34" charset="0"/>
                <a:ea typeface="Segoe UI" pitchFamily="34" charset="-122"/>
                <a:cs typeface="Segoe UI" pitchFamily="34" charset="-120"/>
              </a:rPr>
              <a:t>Finanzas: asientos contables</a:t>
            </a:r>
            <a:endParaRPr lang="en-US" sz="2400" dirty="0"/>
          </a:p>
        </p:txBody>
      </p:sp>
      <p:sp>
        <p:nvSpPr>
          <p:cNvPr id="5" name="Text 3"/>
          <p:cNvSpPr txBox="1"/>
          <p:nvPr/>
        </p:nvSpPr>
        <p:spPr>
          <a:xfrm>
            <a:off x="457200" y="1051560"/>
            <a:ext cx="8229600" cy="274320"/>
          </a:xfrm>
          <a:prstGeom prst="rect">
            <a:avLst/>
          </a:prstGeom>
          <a:noFill/>
          <a:ln/>
        </p:spPr>
        <p:txBody>
          <a:bodyPr wrap="square" lIns="0" tIns="0" rIns="0" bIns="0" rtlCol="0" anchor="ctr"/>
          <a:lstStyle/>
          <a:p>
            <a:pPr marL="0" indent="0">
              <a:buNone/>
            </a:pPr>
            <a:r>
              <a:rPr lang="en-US" sz="1250" dirty="0">
                <a:solidFill>
                  <a:srgbClr val="5B6B82"/>
                </a:solidFill>
                <a:latin typeface="Calibri" pitchFamily="34" charset="0"/>
                <a:ea typeface="Calibri" pitchFamily="34" charset="-122"/>
                <a:cs typeface="Calibri" pitchFamily="34" charset="-120"/>
              </a:rPr>
              <a:t>Registro manual de asientos vía JournalEntries</a:t>
            </a:r>
            <a:endParaRPr lang="en-US" sz="1250" dirty="0"/>
          </a:p>
        </p:txBody>
      </p:sp>
      <p:sp>
        <p:nvSpPr>
          <p:cNvPr id="6" name="Text 4"/>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00" dirty="0">
                <a:solidFill>
                  <a:srgbClr val="8A9AB0"/>
                </a:solidFill>
                <a:latin typeface="Calibri" pitchFamily="34" charset="0"/>
                <a:ea typeface="Calibri" pitchFamily="34" charset="-122"/>
                <a:cs typeface="Calibri" pitchFamily="34" charset="-120"/>
              </a:rPr>
              <a:t>Ventura Soluciones  |  SAP Business One · Service Layer</a:t>
            </a:r>
            <a:endParaRPr lang="en-US" sz="800" dirty="0"/>
          </a:p>
        </p:txBody>
      </p:sp>
      <p:sp>
        <p:nvSpPr>
          <p:cNvPr id="7" name="Shape 5"/>
          <p:cNvSpPr/>
          <p:nvPr/>
        </p:nvSpPr>
        <p:spPr>
          <a:xfrm>
            <a:off x="457200" y="1417320"/>
            <a:ext cx="4754880" cy="3291840"/>
          </a:xfrm>
          <a:prstGeom prst="roundRect">
            <a:avLst>
              <a:gd name="adj" fmla="val 1944"/>
            </a:avLst>
          </a:prstGeom>
          <a:solidFill>
            <a:srgbClr val="0E1B2E"/>
          </a:solidFill>
          <a:ln w="12700">
            <a:solidFill>
              <a:srgbClr val="0E1B2E"/>
            </a:solidFill>
            <a:prstDash val="solid"/>
          </a:ln>
          <a:effectLst>
            <a:outerShdw blurRad="101600" dist="25400" dir="5400000" algn="bl" rotWithShape="0">
              <a:srgbClr val="0B2A55">
                <a:alpha val="12000"/>
              </a:srgbClr>
            </a:outerShdw>
          </a:effectLst>
        </p:spPr>
      </p:sp>
      <p:sp>
        <p:nvSpPr>
          <p:cNvPr id="8" name="Shape 6"/>
          <p:cNvSpPr/>
          <p:nvPr/>
        </p:nvSpPr>
        <p:spPr>
          <a:xfrm>
            <a:off x="594360" y="1527048"/>
            <a:ext cx="73152" cy="73152"/>
          </a:xfrm>
          <a:prstGeom prst="ellipse">
            <a:avLst/>
          </a:prstGeom>
          <a:solidFill>
            <a:srgbClr val="FF5F56"/>
          </a:solidFill>
          <a:ln w="12700">
            <a:solidFill>
              <a:srgbClr val="FF5F56"/>
            </a:solidFill>
            <a:prstDash val="solid"/>
          </a:ln>
        </p:spPr>
      </p:sp>
      <p:sp>
        <p:nvSpPr>
          <p:cNvPr id="9" name="Shape 7"/>
          <p:cNvSpPr/>
          <p:nvPr/>
        </p:nvSpPr>
        <p:spPr>
          <a:xfrm>
            <a:off x="722376" y="1527048"/>
            <a:ext cx="73152" cy="73152"/>
          </a:xfrm>
          <a:prstGeom prst="ellipse">
            <a:avLst/>
          </a:prstGeom>
          <a:solidFill>
            <a:srgbClr val="FFBD2E"/>
          </a:solidFill>
          <a:ln w="12700">
            <a:solidFill>
              <a:srgbClr val="FFBD2E"/>
            </a:solidFill>
            <a:prstDash val="solid"/>
          </a:ln>
        </p:spPr>
      </p:sp>
      <p:sp>
        <p:nvSpPr>
          <p:cNvPr id="10" name="Shape 8"/>
          <p:cNvSpPr/>
          <p:nvPr/>
        </p:nvSpPr>
        <p:spPr>
          <a:xfrm>
            <a:off x="850392" y="1527048"/>
            <a:ext cx="73152" cy="73152"/>
          </a:xfrm>
          <a:prstGeom prst="ellipse">
            <a:avLst/>
          </a:prstGeom>
          <a:solidFill>
            <a:srgbClr val="27C93F"/>
          </a:solidFill>
          <a:ln w="12700">
            <a:solidFill>
              <a:srgbClr val="27C93F"/>
            </a:solidFill>
            <a:prstDash val="solid"/>
          </a:ln>
        </p:spPr>
      </p:sp>
      <p:sp>
        <p:nvSpPr>
          <p:cNvPr id="11" name="Text 9"/>
          <p:cNvSpPr txBox="1"/>
          <p:nvPr/>
        </p:nvSpPr>
        <p:spPr>
          <a:xfrm>
            <a:off x="1024128" y="1472184"/>
            <a:ext cx="4069080" cy="182880"/>
          </a:xfrm>
          <a:prstGeom prst="rect">
            <a:avLst/>
          </a:prstGeom>
          <a:noFill/>
          <a:ln/>
        </p:spPr>
        <p:txBody>
          <a:bodyPr wrap="square" lIns="0" tIns="0" rIns="0" bIns="0" rtlCol="0" anchor="ctr"/>
          <a:lstStyle/>
          <a:p>
            <a:pPr marL="0" indent="0">
              <a:buNone/>
            </a:pPr>
            <a:r>
              <a:rPr lang="en-US" sz="850" b="1" dirty="0">
                <a:solidFill>
                  <a:srgbClr val="F5A800"/>
                </a:solidFill>
                <a:latin typeface="Segoe UI" pitchFamily="34" charset="0"/>
                <a:ea typeface="Segoe UI" pitchFamily="34" charset="-122"/>
                <a:cs typeface="Segoe UI" pitchFamily="34" charset="-120"/>
              </a:rPr>
              <a:t>POST · JournalEntries</a:t>
            </a:r>
            <a:endParaRPr lang="en-US" sz="850" dirty="0"/>
          </a:p>
        </p:txBody>
      </p:sp>
      <p:sp>
        <p:nvSpPr>
          <p:cNvPr id="12" name="Text 10"/>
          <p:cNvSpPr txBox="1"/>
          <p:nvPr/>
        </p:nvSpPr>
        <p:spPr>
          <a:xfrm>
            <a:off x="594360" y="1709928"/>
            <a:ext cx="4480560" cy="2926080"/>
          </a:xfrm>
          <a:prstGeom prst="rect">
            <a:avLst/>
          </a:prstGeom>
          <a:noFill/>
          <a:ln/>
        </p:spPr>
        <p:txBody>
          <a:bodyPr wrap="square" lIns="0" tIns="0" rIns="0" bIns="0" rtlCol="0" anchor="t"/>
          <a:lstStyle/>
          <a:p>
            <a:pPr marL="0" indent="0">
              <a:lnSpc>
                <a:spcPct val="100000"/>
              </a:lnSpc>
              <a:buNone/>
            </a:pPr>
            <a:r>
              <a:rPr lang="en-US" sz="850" b="1" dirty="0">
                <a:solidFill>
                  <a:srgbClr val="F5A800"/>
                </a:solidFill>
                <a:latin typeface="Consolas" pitchFamily="34" charset="0"/>
                <a:ea typeface="Consolas" pitchFamily="34" charset="-122"/>
                <a:cs typeface="Consolas" pitchFamily="34" charset="-120"/>
              </a:rPr>
              <a:t>curl</a:t>
            </a:r>
            <a:r>
              <a:rPr lang="en-US" sz="850" dirty="0">
                <a:solidFill>
                  <a:srgbClr val="DCE6F2"/>
                </a:solidFill>
                <a:latin typeface="Consolas" pitchFamily="34" charset="0"/>
                <a:ea typeface="Consolas" pitchFamily="34" charset="-122"/>
                <a:cs typeface="Consolas" pitchFamily="34" charset="-120"/>
              </a:rPr>
              <a:t> -k -X </a:t>
            </a:r>
            <a:r>
              <a:rPr lang="en-US" sz="850" b="1" dirty="0">
                <a:solidFill>
                  <a:srgbClr val="F5A800"/>
                </a:solidFill>
                <a:latin typeface="Consolas" pitchFamily="34" charset="0"/>
                <a:ea typeface="Consolas" pitchFamily="34" charset="-122"/>
                <a:cs typeface="Consolas" pitchFamily="34" charset="-120"/>
              </a:rPr>
              <a:t>POST</a:t>
            </a:r>
            <a:r>
              <a:rPr lang="en-US" sz="850" dirty="0">
                <a:solidFill>
                  <a:srgbClr val="DCE6F2"/>
                </a:solidFill>
                <a:latin typeface="Consolas" pitchFamily="34" charset="0"/>
                <a:ea typeface="Consolas" pitchFamily="34" charset="-122"/>
                <a:cs typeface="Consolas" pitchFamily="34" charset="-120"/>
              </a:rPr>
              <a:t> </a:t>
            </a:r>
            <a:r>
              <a:rPr lang="en-US" sz="850" dirty="0">
                <a:solidFill>
                  <a:srgbClr val="B5E48C"/>
                </a:solidFill>
                <a:latin typeface="Consolas" pitchFamily="34" charset="0"/>
                <a:ea typeface="Consolas" pitchFamily="34" charset="-122"/>
                <a:cs typeface="Consolas" pitchFamily="34" charset="-120"/>
              </a:rPr>
              <a:t>"$SL/JournalEntries"</a:t>
            </a:r>
            <a:r>
              <a:rPr lang="en-US" sz="850" dirty="0">
                <a:solidFill>
                  <a:srgbClr val="DCE6F2"/>
                </a:solidFill>
                <a:latin typeface="Consolas" pitchFamily="34" charset="0"/>
                <a:ea typeface="Consolas" pitchFamily="34" charset="-122"/>
                <a:cs typeface="Consolas" pitchFamily="34" charset="-120"/>
              </a:rPr>
              <a:t> \</a:t>
            </a:r>
            <a:endParaRPr lang="en-US" sz="850" dirty="0"/>
          </a:p>
          <a:p>
            <a:pPr marL="0" indent="0">
              <a:lnSpc>
                <a:spcPct val="100000"/>
              </a:lnSpc>
              <a:buNone/>
            </a:pPr>
            <a:r>
              <a:rPr lang="en-US" sz="850" dirty="0">
                <a:solidFill>
                  <a:srgbClr val="DCE6F2"/>
                </a:solidFill>
                <a:latin typeface="Consolas" pitchFamily="34" charset="0"/>
                <a:ea typeface="Consolas" pitchFamily="34" charset="-122"/>
                <a:cs typeface="Consolas" pitchFamily="34" charset="-120"/>
              </a:rPr>
              <a:t>  -H </a:t>
            </a:r>
            <a:r>
              <a:rPr lang="en-US" sz="850" dirty="0">
                <a:solidFill>
                  <a:srgbClr val="B5E48C"/>
                </a:solidFill>
                <a:latin typeface="Consolas" pitchFamily="34" charset="0"/>
                <a:ea typeface="Consolas" pitchFamily="34" charset="-122"/>
                <a:cs typeface="Consolas" pitchFamily="34" charset="-120"/>
              </a:rPr>
              <a:t>"Content-Type: application/json"</a:t>
            </a:r>
            <a:r>
              <a:rPr lang="en-US" sz="850" dirty="0">
                <a:solidFill>
                  <a:srgbClr val="DCE6F2"/>
                </a:solidFill>
                <a:latin typeface="Consolas" pitchFamily="34" charset="0"/>
                <a:ea typeface="Consolas" pitchFamily="34" charset="-122"/>
                <a:cs typeface="Consolas" pitchFamily="34" charset="-120"/>
              </a:rPr>
              <a:t> \</a:t>
            </a:r>
            <a:endParaRPr lang="en-US" sz="850" dirty="0"/>
          </a:p>
          <a:p>
            <a:pPr marL="0" indent="0">
              <a:lnSpc>
                <a:spcPct val="100000"/>
              </a:lnSpc>
              <a:buNone/>
            </a:pPr>
            <a:r>
              <a:rPr lang="en-US" sz="850" dirty="0">
                <a:solidFill>
                  <a:srgbClr val="DCE6F2"/>
                </a:solidFill>
                <a:latin typeface="Consolas" pitchFamily="34" charset="0"/>
                <a:ea typeface="Consolas" pitchFamily="34" charset="-122"/>
                <a:cs typeface="Consolas" pitchFamily="34" charset="-120"/>
              </a:rPr>
              <a:t>  -b cookies.txt \</a:t>
            </a:r>
            <a:endParaRPr lang="en-US" sz="850" dirty="0"/>
          </a:p>
          <a:p>
            <a:pPr marL="0" indent="0">
              <a:lnSpc>
                <a:spcPct val="100000"/>
              </a:lnSpc>
              <a:buNone/>
            </a:pPr>
            <a:r>
              <a:rPr lang="en-US" sz="850" dirty="0">
                <a:solidFill>
                  <a:srgbClr val="DCE6F2"/>
                </a:solidFill>
                <a:latin typeface="Consolas" pitchFamily="34" charset="0"/>
                <a:ea typeface="Consolas" pitchFamily="34" charset="-122"/>
                <a:cs typeface="Consolas" pitchFamily="34" charset="-120"/>
              </a:rPr>
              <a:t>  -d '{</a:t>
            </a:r>
            <a:endParaRPr lang="en-US" sz="850" dirty="0"/>
          </a:p>
          <a:p>
            <a:pPr marL="0" indent="0">
              <a:lnSpc>
                <a:spcPct val="100000"/>
              </a:lnSpc>
              <a:buNone/>
            </a:pPr>
            <a:r>
              <a:rPr lang="en-US" sz="850" dirty="0">
                <a:solidFill>
                  <a:srgbClr val="DCE6F2"/>
                </a:solidFill>
                <a:latin typeface="Consolas" pitchFamily="34" charset="0"/>
                <a:ea typeface="Consolas" pitchFamily="34" charset="-122"/>
                <a:cs typeface="Consolas" pitchFamily="34" charset="-120"/>
              </a:rPr>
              <a:t>  </a:t>
            </a:r>
            <a:r>
              <a:rPr lang="en-US" sz="850" dirty="0">
                <a:solidFill>
                  <a:srgbClr val="7FD1FF"/>
                </a:solidFill>
                <a:latin typeface="Consolas" pitchFamily="34" charset="0"/>
                <a:ea typeface="Consolas" pitchFamily="34" charset="-122"/>
                <a:cs typeface="Consolas" pitchFamily="34" charset="-120"/>
              </a:rPr>
              <a:t>"ReferenceDate"</a:t>
            </a:r>
            <a:r>
              <a:rPr lang="en-US" sz="850" dirty="0">
                <a:solidFill>
                  <a:srgbClr val="DCE6F2"/>
                </a:solidFill>
                <a:latin typeface="Consolas" pitchFamily="34" charset="0"/>
                <a:ea typeface="Consolas" pitchFamily="34" charset="-122"/>
                <a:cs typeface="Consolas" pitchFamily="34" charset="-120"/>
              </a:rPr>
              <a:t>: </a:t>
            </a:r>
            <a:r>
              <a:rPr lang="en-US" sz="850" dirty="0">
                <a:solidFill>
                  <a:srgbClr val="B5E48C"/>
                </a:solidFill>
                <a:latin typeface="Consolas" pitchFamily="34" charset="0"/>
                <a:ea typeface="Consolas" pitchFamily="34" charset="-122"/>
                <a:cs typeface="Consolas" pitchFamily="34" charset="-120"/>
              </a:rPr>
              <a:t>"2026-09-30"</a:t>
            </a:r>
            <a:r>
              <a:rPr lang="en-US" sz="850" dirty="0">
                <a:solidFill>
                  <a:srgbClr val="DCE6F2"/>
                </a:solidFill>
                <a:latin typeface="Consolas" pitchFamily="34" charset="0"/>
                <a:ea typeface="Consolas" pitchFamily="34" charset="-122"/>
                <a:cs typeface="Consolas" pitchFamily="34" charset="-120"/>
              </a:rPr>
              <a:t>,</a:t>
            </a:r>
            <a:endParaRPr lang="en-US" sz="850" dirty="0"/>
          </a:p>
          <a:p>
            <a:pPr marL="0" indent="0">
              <a:lnSpc>
                <a:spcPct val="100000"/>
              </a:lnSpc>
              <a:buNone/>
            </a:pPr>
            <a:r>
              <a:rPr lang="en-US" sz="850" dirty="0">
                <a:solidFill>
                  <a:srgbClr val="DCE6F2"/>
                </a:solidFill>
                <a:latin typeface="Consolas" pitchFamily="34" charset="0"/>
                <a:ea typeface="Consolas" pitchFamily="34" charset="-122"/>
                <a:cs typeface="Consolas" pitchFamily="34" charset="-120"/>
              </a:rPr>
              <a:t>  </a:t>
            </a:r>
            <a:r>
              <a:rPr lang="en-US" sz="850" dirty="0">
                <a:solidFill>
                  <a:srgbClr val="7FD1FF"/>
                </a:solidFill>
                <a:latin typeface="Consolas" pitchFamily="34" charset="0"/>
                <a:ea typeface="Consolas" pitchFamily="34" charset="-122"/>
                <a:cs typeface="Consolas" pitchFamily="34" charset="-120"/>
              </a:rPr>
              <a:t>"TaxDate"</a:t>
            </a:r>
            <a:r>
              <a:rPr lang="en-US" sz="850" dirty="0">
                <a:solidFill>
                  <a:srgbClr val="DCE6F2"/>
                </a:solidFill>
                <a:latin typeface="Consolas" pitchFamily="34" charset="0"/>
                <a:ea typeface="Consolas" pitchFamily="34" charset="-122"/>
                <a:cs typeface="Consolas" pitchFamily="34" charset="-120"/>
              </a:rPr>
              <a:t>: </a:t>
            </a:r>
            <a:r>
              <a:rPr lang="en-US" sz="850" dirty="0">
                <a:solidFill>
                  <a:srgbClr val="B5E48C"/>
                </a:solidFill>
                <a:latin typeface="Consolas" pitchFamily="34" charset="0"/>
                <a:ea typeface="Consolas" pitchFamily="34" charset="-122"/>
                <a:cs typeface="Consolas" pitchFamily="34" charset="-120"/>
              </a:rPr>
              <a:t>"2026-09-30"</a:t>
            </a:r>
            <a:r>
              <a:rPr lang="en-US" sz="850" dirty="0">
                <a:solidFill>
                  <a:srgbClr val="DCE6F2"/>
                </a:solidFill>
                <a:latin typeface="Consolas" pitchFamily="34" charset="0"/>
                <a:ea typeface="Consolas" pitchFamily="34" charset="-122"/>
                <a:cs typeface="Consolas" pitchFamily="34" charset="-120"/>
              </a:rPr>
              <a:t>,</a:t>
            </a:r>
            <a:endParaRPr lang="en-US" sz="850" dirty="0"/>
          </a:p>
          <a:p>
            <a:pPr marL="0" indent="0">
              <a:lnSpc>
                <a:spcPct val="100000"/>
              </a:lnSpc>
              <a:buNone/>
            </a:pPr>
            <a:r>
              <a:rPr lang="en-US" sz="850" dirty="0">
                <a:solidFill>
                  <a:srgbClr val="DCE6F2"/>
                </a:solidFill>
                <a:latin typeface="Consolas" pitchFamily="34" charset="0"/>
                <a:ea typeface="Consolas" pitchFamily="34" charset="-122"/>
                <a:cs typeface="Consolas" pitchFamily="34" charset="-120"/>
              </a:rPr>
              <a:t>  </a:t>
            </a:r>
            <a:r>
              <a:rPr lang="en-US" sz="850" dirty="0">
                <a:solidFill>
                  <a:srgbClr val="7FD1FF"/>
                </a:solidFill>
                <a:latin typeface="Consolas" pitchFamily="34" charset="0"/>
                <a:ea typeface="Consolas" pitchFamily="34" charset="-122"/>
                <a:cs typeface="Consolas" pitchFamily="34" charset="-120"/>
              </a:rPr>
              <a:t>"Memo"</a:t>
            </a:r>
            <a:r>
              <a:rPr lang="en-US" sz="850" dirty="0">
                <a:solidFill>
                  <a:srgbClr val="DCE6F2"/>
                </a:solidFill>
                <a:latin typeface="Consolas" pitchFamily="34" charset="0"/>
                <a:ea typeface="Consolas" pitchFamily="34" charset="-122"/>
                <a:cs typeface="Consolas" pitchFamily="34" charset="-120"/>
              </a:rPr>
              <a:t>: </a:t>
            </a:r>
            <a:r>
              <a:rPr lang="en-US" sz="850" dirty="0">
                <a:solidFill>
                  <a:srgbClr val="B5E48C"/>
                </a:solidFill>
                <a:latin typeface="Consolas" pitchFamily="34" charset="0"/>
                <a:ea typeface="Consolas" pitchFamily="34" charset="-122"/>
                <a:cs typeface="Consolas" pitchFamily="34" charset="-120"/>
              </a:rPr>
              <a:t>"Provisión servicios setiembre"</a:t>
            </a:r>
            <a:r>
              <a:rPr lang="en-US" sz="850" dirty="0">
                <a:solidFill>
                  <a:srgbClr val="DCE6F2"/>
                </a:solidFill>
                <a:latin typeface="Consolas" pitchFamily="34" charset="0"/>
                <a:ea typeface="Consolas" pitchFamily="34" charset="-122"/>
                <a:cs typeface="Consolas" pitchFamily="34" charset="-120"/>
              </a:rPr>
              <a:t>,</a:t>
            </a:r>
            <a:endParaRPr lang="en-US" sz="850" dirty="0"/>
          </a:p>
          <a:p>
            <a:pPr marL="0" indent="0">
              <a:lnSpc>
                <a:spcPct val="100000"/>
              </a:lnSpc>
              <a:buNone/>
            </a:pPr>
            <a:r>
              <a:rPr lang="en-US" sz="850" dirty="0">
                <a:solidFill>
                  <a:srgbClr val="DCE6F2"/>
                </a:solidFill>
                <a:latin typeface="Consolas" pitchFamily="34" charset="0"/>
                <a:ea typeface="Consolas" pitchFamily="34" charset="-122"/>
                <a:cs typeface="Consolas" pitchFamily="34" charset="-120"/>
              </a:rPr>
              <a:t>  </a:t>
            </a:r>
            <a:r>
              <a:rPr lang="en-US" sz="850" dirty="0">
                <a:solidFill>
                  <a:srgbClr val="7FD1FF"/>
                </a:solidFill>
                <a:latin typeface="Consolas" pitchFamily="34" charset="0"/>
                <a:ea typeface="Consolas" pitchFamily="34" charset="-122"/>
                <a:cs typeface="Consolas" pitchFamily="34" charset="-120"/>
              </a:rPr>
              <a:t>"JournalEntryLines"</a:t>
            </a:r>
            <a:r>
              <a:rPr lang="en-US" sz="850" dirty="0">
                <a:solidFill>
                  <a:srgbClr val="DCE6F2"/>
                </a:solidFill>
                <a:latin typeface="Consolas" pitchFamily="34" charset="0"/>
                <a:ea typeface="Consolas" pitchFamily="34" charset="-122"/>
                <a:cs typeface="Consolas" pitchFamily="34" charset="-120"/>
              </a:rPr>
              <a:t>: [</a:t>
            </a:r>
            <a:endParaRPr lang="en-US" sz="850" dirty="0"/>
          </a:p>
          <a:p>
            <a:pPr marL="0" indent="0">
              <a:lnSpc>
                <a:spcPct val="100000"/>
              </a:lnSpc>
              <a:buNone/>
            </a:pPr>
            <a:r>
              <a:rPr lang="en-US" sz="850" dirty="0">
                <a:solidFill>
                  <a:srgbClr val="DCE6F2"/>
                </a:solidFill>
                <a:latin typeface="Consolas" pitchFamily="34" charset="0"/>
                <a:ea typeface="Consolas" pitchFamily="34" charset="-122"/>
                <a:cs typeface="Consolas" pitchFamily="34" charset="-120"/>
              </a:rPr>
              <a:t>    {</a:t>
            </a:r>
            <a:endParaRPr lang="en-US" sz="850" dirty="0"/>
          </a:p>
          <a:p>
            <a:pPr marL="0" indent="0">
              <a:lnSpc>
                <a:spcPct val="100000"/>
              </a:lnSpc>
              <a:buNone/>
            </a:pPr>
            <a:r>
              <a:rPr lang="en-US" sz="850" dirty="0">
                <a:solidFill>
                  <a:srgbClr val="DCE6F2"/>
                </a:solidFill>
                <a:latin typeface="Consolas" pitchFamily="34" charset="0"/>
                <a:ea typeface="Consolas" pitchFamily="34" charset="-122"/>
                <a:cs typeface="Consolas" pitchFamily="34" charset="-120"/>
              </a:rPr>
              <a:t>      </a:t>
            </a:r>
            <a:r>
              <a:rPr lang="en-US" sz="850" dirty="0">
                <a:solidFill>
                  <a:srgbClr val="7FD1FF"/>
                </a:solidFill>
                <a:latin typeface="Consolas" pitchFamily="34" charset="0"/>
                <a:ea typeface="Consolas" pitchFamily="34" charset="-122"/>
                <a:cs typeface="Consolas" pitchFamily="34" charset="-120"/>
              </a:rPr>
              <a:t>"AccountCode"</a:t>
            </a:r>
            <a:r>
              <a:rPr lang="en-US" sz="850" dirty="0">
                <a:solidFill>
                  <a:srgbClr val="DCE6F2"/>
                </a:solidFill>
                <a:latin typeface="Consolas" pitchFamily="34" charset="0"/>
                <a:ea typeface="Consolas" pitchFamily="34" charset="-122"/>
                <a:cs typeface="Consolas" pitchFamily="34" charset="-120"/>
              </a:rPr>
              <a:t>: </a:t>
            </a:r>
            <a:r>
              <a:rPr lang="en-US" sz="850" dirty="0">
                <a:solidFill>
                  <a:srgbClr val="B5E48C"/>
                </a:solidFill>
                <a:latin typeface="Consolas" pitchFamily="34" charset="0"/>
                <a:ea typeface="Consolas" pitchFamily="34" charset="-122"/>
                <a:cs typeface="Consolas" pitchFamily="34" charset="-120"/>
              </a:rPr>
              <a:t>"6311001"</a:t>
            </a:r>
            <a:r>
              <a:rPr lang="en-US" sz="850" dirty="0">
                <a:solidFill>
                  <a:srgbClr val="DCE6F2"/>
                </a:solidFill>
                <a:latin typeface="Consolas" pitchFamily="34" charset="0"/>
                <a:ea typeface="Consolas" pitchFamily="34" charset="-122"/>
                <a:cs typeface="Consolas" pitchFamily="34" charset="-120"/>
              </a:rPr>
              <a:t>,</a:t>
            </a:r>
            <a:endParaRPr lang="en-US" sz="850" dirty="0"/>
          </a:p>
          <a:p>
            <a:pPr marL="0" indent="0">
              <a:lnSpc>
                <a:spcPct val="100000"/>
              </a:lnSpc>
              <a:buNone/>
            </a:pPr>
            <a:r>
              <a:rPr lang="en-US" sz="850" dirty="0">
                <a:solidFill>
                  <a:srgbClr val="DCE6F2"/>
                </a:solidFill>
                <a:latin typeface="Consolas" pitchFamily="34" charset="0"/>
                <a:ea typeface="Consolas" pitchFamily="34" charset="-122"/>
                <a:cs typeface="Consolas" pitchFamily="34" charset="-120"/>
              </a:rPr>
              <a:t>      </a:t>
            </a:r>
            <a:r>
              <a:rPr lang="en-US" sz="850" dirty="0">
                <a:solidFill>
                  <a:srgbClr val="7FD1FF"/>
                </a:solidFill>
                <a:latin typeface="Consolas" pitchFamily="34" charset="0"/>
                <a:ea typeface="Consolas" pitchFamily="34" charset="-122"/>
                <a:cs typeface="Consolas" pitchFamily="34" charset="-120"/>
              </a:rPr>
              <a:t>"Debit"</a:t>
            </a:r>
            <a:r>
              <a:rPr lang="en-US" sz="850" dirty="0">
                <a:solidFill>
                  <a:srgbClr val="DCE6F2"/>
                </a:solidFill>
                <a:latin typeface="Consolas" pitchFamily="34" charset="0"/>
                <a:ea typeface="Consolas" pitchFamily="34" charset="-122"/>
                <a:cs typeface="Consolas" pitchFamily="34" charset="-120"/>
              </a:rPr>
              <a:t>: 1000,</a:t>
            </a:r>
            <a:endParaRPr lang="en-US" sz="850" dirty="0"/>
          </a:p>
          <a:p>
            <a:pPr marL="0" indent="0">
              <a:lnSpc>
                <a:spcPct val="100000"/>
              </a:lnSpc>
              <a:buNone/>
            </a:pPr>
            <a:r>
              <a:rPr lang="en-US" sz="850" dirty="0">
                <a:solidFill>
                  <a:srgbClr val="DCE6F2"/>
                </a:solidFill>
                <a:latin typeface="Consolas" pitchFamily="34" charset="0"/>
                <a:ea typeface="Consolas" pitchFamily="34" charset="-122"/>
                <a:cs typeface="Consolas" pitchFamily="34" charset="-120"/>
              </a:rPr>
              <a:t>      </a:t>
            </a:r>
            <a:r>
              <a:rPr lang="en-US" sz="850" dirty="0">
                <a:solidFill>
                  <a:srgbClr val="7FD1FF"/>
                </a:solidFill>
                <a:latin typeface="Consolas" pitchFamily="34" charset="0"/>
                <a:ea typeface="Consolas" pitchFamily="34" charset="-122"/>
                <a:cs typeface="Consolas" pitchFamily="34" charset="-120"/>
              </a:rPr>
              <a:t>"CostingCode"</a:t>
            </a:r>
            <a:r>
              <a:rPr lang="en-US" sz="850" dirty="0">
                <a:solidFill>
                  <a:srgbClr val="DCE6F2"/>
                </a:solidFill>
                <a:latin typeface="Consolas" pitchFamily="34" charset="0"/>
                <a:ea typeface="Consolas" pitchFamily="34" charset="-122"/>
                <a:cs typeface="Consolas" pitchFamily="34" charset="-120"/>
              </a:rPr>
              <a:t>: </a:t>
            </a:r>
            <a:r>
              <a:rPr lang="en-US" sz="850" dirty="0">
                <a:solidFill>
                  <a:srgbClr val="B5E48C"/>
                </a:solidFill>
                <a:latin typeface="Consolas" pitchFamily="34" charset="0"/>
                <a:ea typeface="Consolas" pitchFamily="34" charset="-122"/>
                <a:cs typeface="Consolas" pitchFamily="34" charset="-120"/>
              </a:rPr>
              <a:t>"ADM"</a:t>
            </a:r>
            <a:endParaRPr lang="en-US" sz="850" dirty="0"/>
          </a:p>
          <a:p>
            <a:pPr marL="0" indent="0">
              <a:lnSpc>
                <a:spcPct val="100000"/>
              </a:lnSpc>
              <a:buNone/>
            </a:pPr>
            <a:r>
              <a:rPr lang="en-US" sz="850" dirty="0">
                <a:solidFill>
                  <a:srgbClr val="DCE6F2"/>
                </a:solidFill>
                <a:latin typeface="Consolas" pitchFamily="34" charset="0"/>
                <a:ea typeface="Consolas" pitchFamily="34" charset="-122"/>
                <a:cs typeface="Consolas" pitchFamily="34" charset="-120"/>
              </a:rPr>
              <a:t>    },</a:t>
            </a:r>
            <a:endParaRPr lang="en-US" sz="850" dirty="0"/>
          </a:p>
          <a:p>
            <a:pPr marL="0" indent="0">
              <a:lnSpc>
                <a:spcPct val="100000"/>
              </a:lnSpc>
              <a:buNone/>
            </a:pPr>
            <a:r>
              <a:rPr lang="en-US" sz="850" dirty="0">
                <a:solidFill>
                  <a:srgbClr val="DCE6F2"/>
                </a:solidFill>
                <a:latin typeface="Consolas" pitchFamily="34" charset="0"/>
                <a:ea typeface="Consolas" pitchFamily="34" charset="-122"/>
                <a:cs typeface="Consolas" pitchFamily="34" charset="-120"/>
              </a:rPr>
              <a:t>    {</a:t>
            </a:r>
            <a:endParaRPr lang="en-US" sz="850" dirty="0"/>
          </a:p>
          <a:p>
            <a:pPr marL="0" indent="0">
              <a:lnSpc>
                <a:spcPct val="100000"/>
              </a:lnSpc>
              <a:buNone/>
            </a:pPr>
            <a:r>
              <a:rPr lang="en-US" sz="850" dirty="0">
                <a:solidFill>
                  <a:srgbClr val="DCE6F2"/>
                </a:solidFill>
                <a:latin typeface="Consolas" pitchFamily="34" charset="0"/>
                <a:ea typeface="Consolas" pitchFamily="34" charset="-122"/>
                <a:cs typeface="Consolas" pitchFamily="34" charset="-120"/>
              </a:rPr>
              <a:t>      </a:t>
            </a:r>
            <a:r>
              <a:rPr lang="en-US" sz="850" dirty="0">
                <a:solidFill>
                  <a:srgbClr val="7FD1FF"/>
                </a:solidFill>
                <a:latin typeface="Consolas" pitchFamily="34" charset="0"/>
                <a:ea typeface="Consolas" pitchFamily="34" charset="-122"/>
                <a:cs typeface="Consolas" pitchFamily="34" charset="-120"/>
              </a:rPr>
              <a:t>"AccountCode"</a:t>
            </a:r>
            <a:r>
              <a:rPr lang="en-US" sz="850" dirty="0">
                <a:solidFill>
                  <a:srgbClr val="DCE6F2"/>
                </a:solidFill>
                <a:latin typeface="Consolas" pitchFamily="34" charset="0"/>
                <a:ea typeface="Consolas" pitchFamily="34" charset="-122"/>
                <a:cs typeface="Consolas" pitchFamily="34" charset="-120"/>
              </a:rPr>
              <a:t>: </a:t>
            </a:r>
            <a:r>
              <a:rPr lang="en-US" sz="850" dirty="0">
                <a:solidFill>
                  <a:srgbClr val="B5E48C"/>
                </a:solidFill>
                <a:latin typeface="Consolas" pitchFamily="34" charset="0"/>
                <a:ea typeface="Consolas" pitchFamily="34" charset="-122"/>
                <a:cs typeface="Consolas" pitchFamily="34" charset="-120"/>
              </a:rPr>
              <a:t>"4212001"</a:t>
            </a:r>
            <a:r>
              <a:rPr lang="en-US" sz="850" dirty="0">
                <a:solidFill>
                  <a:srgbClr val="DCE6F2"/>
                </a:solidFill>
                <a:latin typeface="Consolas" pitchFamily="34" charset="0"/>
                <a:ea typeface="Consolas" pitchFamily="34" charset="-122"/>
                <a:cs typeface="Consolas" pitchFamily="34" charset="-120"/>
              </a:rPr>
              <a:t>,</a:t>
            </a:r>
            <a:endParaRPr lang="en-US" sz="850" dirty="0"/>
          </a:p>
          <a:p>
            <a:pPr marL="0" indent="0">
              <a:lnSpc>
                <a:spcPct val="100000"/>
              </a:lnSpc>
              <a:buNone/>
            </a:pPr>
            <a:r>
              <a:rPr lang="en-US" sz="850" dirty="0">
                <a:solidFill>
                  <a:srgbClr val="DCE6F2"/>
                </a:solidFill>
                <a:latin typeface="Consolas" pitchFamily="34" charset="0"/>
                <a:ea typeface="Consolas" pitchFamily="34" charset="-122"/>
                <a:cs typeface="Consolas" pitchFamily="34" charset="-120"/>
              </a:rPr>
              <a:t>      </a:t>
            </a:r>
            <a:r>
              <a:rPr lang="en-US" sz="850" dirty="0">
                <a:solidFill>
                  <a:srgbClr val="7FD1FF"/>
                </a:solidFill>
                <a:latin typeface="Consolas" pitchFamily="34" charset="0"/>
                <a:ea typeface="Consolas" pitchFamily="34" charset="-122"/>
                <a:cs typeface="Consolas" pitchFamily="34" charset="-120"/>
              </a:rPr>
              <a:t>"Credit"</a:t>
            </a:r>
            <a:r>
              <a:rPr lang="en-US" sz="850" dirty="0">
                <a:solidFill>
                  <a:srgbClr val="DCE6F2"/>
                </a:solidFill>
                <a:latin typeface="Consolas" pitchFamily="34" charset="0"/>
                <a:ea typeface="Consolas" pitchFamily="34" charset="-122"/>
                <a:cs typeface="Consolas" pitchFamily="34" charset="-120"/>
              </a:rPr>
              <a:t>: 1000,</a:t>
            </a:r>
            <a:endParaRPr lang="en-US" sz="850" dirty="0"/>
          </a:p>
          <a:p>
            <a:pPr marL="0" indent="0">
              <a:lnSpc>
                <a:spcPct val="100000"/>
              </a:lnSpc>
              <a:buNone/>
            </a:pPr>
            <a:r>
              <a:rPr lang="en-US" sz="850" dirty="0">
                <a:solidFill>
                  <a:srgbClr val="DCE6F2"/>
                </a:solidFill>
                <a:latin typeface="Consolas" pitchFamily="34" charset="0"/>
                <a:ea typeface="Consolas" pitchFamily="34" charset="-122"/>
                <a:cs typeface="Consolas" pitchFamily="34" charset="-120"/>
              </a:rPr>
              <a:t>      </a:t>
            </a:r>
            <a:r>
              <a:rPr lang="en-US" sz="850" dirty="0">
                <a:solidFill>
                  <a:srgbClr val="7FD1FF"/>
                </a:solidFill>
                <a:latin typeface="Consolas" pitchFamily="34" charset="0"/>
                <a:ea typeface="Consolas" pitchFamily="34" charset="-122"/>
                <a:cs typeface="Consolas" pitchFamily="34" charset="-120"/>
              </a:rPr>
              <a:t>"ShortName"</a:t>
            </a:r>
            <a:r>
              <a:rPr lang="en-US" sz="850" dirty="0">
                <a:solidFill>
                  <a:srgbClr val="DCE6F2"/>
                </a:solidFill>
                <a:latin typeface="Consolas" pitchFamily="34" charset="0"/>
                <a:ea typeface="Consolas" pitchFamily="34" charset="-122"/>
                <a:cs typeface="Consolas" pitchFamily="34" charset="-120"/>
              </a:rPr>
              <a:t>: </a:t>
            </a:r>
            <a:r>
              <a:rPr lang="en-US" sz="850" dirty="0">
                <a:solidFill>
                  <a:srgbClr val="B5E48C"/>
                </a:solidFill>
                <a:latin typeface="Consolas" pitchFamily="34" charset="0"/>
                <a:ea typeface="Consolas" pitchFamily="34" charset="-122"/>
                <a:cs typeface="Consolas" pitchFamily="34" charset="-120"/>
              </a:rPr>
              <a:t>"P20100070970"</a:t>
            </a:r>
            <a:endParaRPr lang="en-US" sz="850" dirty="0"/>
          </a:p>
          <a:p>
            <a:pPr marL="0" indent="0">
              <a:lnSpc>
                <a:spcPct val="100000"/>
              </a:lnSpc>
              <a:buNone/>
            </a:pPr>
            <a:r>
              <a:rPr lang="en-US" sz="850" dirty="0">
                <a:solidFill>
                  <a:srgbClr val="DCE6F2"/>
                </a:solidFill>
                <a:latin typeface="Consolas" pitchFamily="34" charset="0"/>
                <a:ea typeface="Consolas" pitchFamily="34" charset="-122"/>
                <a:cs typeface="Consolas" pitchFamily="34" charset="-120"/>
              </a:rPr>
              <a:t>    }</a:t>
            </a:r>
            <a:endParaRPr lang="en-US" sz="850" dirty="0"/>
          </a:p>
          <a:p>
            <a:pPr marL="0" indent="0">
              <a:lnSpc>
                <a:spcPct val="100000"/>
              </a:lnSpc>
              <a:buNone/>
            </a:pPr>
            <a:r>
              <a:rPr lang="en-US" sz="850" dirty="0">
                <a:solidFill>
                  <a:srgbClr val="DCE6F2"/>
                </a:solidFill>
                <a:latin typeface="Consolas" pitchFamily="34" charset="0"/>
                <a:ea typeface="Consolas" pitchFamily="34" charset="-122"/>
                <a:cs typeface="Consolas" pitchFamily="34" charset="-120"/>
              </a:rPr>
              <a:t>  ]</a:t>
            </a:r>
            <a:endParaRPr lang="en-US" sz="850" dirty="0"/>
          </a:p>
          <a:p>
            <a:pPr marL="0" indent="0">
              <a:lnSpc>
                <a:spcPct val="100000"/>
              </a:lnSpc>
              <a:buNone/>
            </a:pPr>
            <a:r>
              <a:rPr lang="en-US" sz="850" dirty="0">
                <a:solidFill>
                  <a:srgbClr val="DCE6F2"/>
                </a:solidFill>
                <a:latin typeface="Consolas" pitchFamily="34" charset="0"/>
                <a:ea typeface="Consolas" pitchFamily="34" charset="-122"/>
                <a:cs typeface="Consolas" pitchFamily="34" charset="-120"/>
              </a:rPr>
              <a:t>}'</a:t>
            </a:r>
            <a:endParaRPr lang="en-US" sz="850" dirty="0"/>
          </a:p>
        </p:txBody>
      </p:sp>
      <p:sp>
        <p:nvSpPr>
          <p:cNvPr id="13" name="Shape 11"/>
          <p:cNvSpPr/>
          <p:nvPr/>
        </p:nvSpPr>
        <p:spPr>
          <a:xfrm>
            <a:off x="5394960" y="1417320"/>
            <a:ext cx="3291840" cy="731520"/>
          </a:xfrm>
          <a:prstGeom prst="roundRect">
            <a:avLst>
              <a:gd name="adj" fmla="val 10000"/>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14" name="Shape 12"/>
          <p:cNvSpPr/>
          <p:nvPr/>
        </p:nvSpPr>
        <p:spPr>
          <a:xfrm>
            <a:off x="5513832" y="1563624"/>
            <a:ext cx="438912" cy="438912"/>
          </a:xfrm>
          <a:prstGeom prst="ellipse">
            <a:avLst/>
          </a:prstGeom>
          <a:solidFill>
            <a:srgbClr val="E8F1FC"/>
          </a:solidFill>
          <a:ln w="12700">
            <a:solidFill>
              <a:srgbClr val="E8F1FC"/>
            </a:solidFill>
            <a:prstDash val="solid"/>
          </a:ln>
        </p:spPr>
      </p:sp>
      <p:pic>
        <p:nvPicPr>
          <p:cNvPr id="15" name="Image 0" descr="preencoded.png"/>
          <p:cNvPicPr>
            <a:picLocks noChangeAspect="1"/>
          </p:cNvPicPr>
          <p:nvPr/>
        </p:nvPicPr>
        <p:blipFill>
          <a:blip r:embed="rId3"/>
          <a:stretch>
            <a:fillRect/>
          </a:stretch>
        </p:blipFill>
        <p:spPr>
          <a:xfrm>
            <a:off x="5627949" y="1677741"/>
            <a:ext cx="210678" cy="210678"/>
          </a:xfrm>
          <a:prstGeom prst="rect">
            <a:avLst/>
          </a:prstGeom>
        </p:spPr>
      </p:pic>
      <p:sp>
        <p:nvSpPr>
          <p:cNvPr id="16" name="Text 13"/>
          <p:cNvSpPr txBox="1"/>
          <p:nvPr/>
        </p:nvSpPr>
        <p:spPr>
          <a:xfrm>
            <a:off x="6053328" y="1490472"/>
            <a:ext cx="2560320" cy="256032"/>
          </a:xfrm>
          <a:prstGeom prst="rect">
            <a:avLst/>
          </a:prstGeom>
          <a:noFill/>
          <a:ln/>
        </p:spPr>
        <p:txBody>
          <a:bodyPr wrap="square" lIns="0" tIns="0" rIns="0" bIns="0" rtlCol="0" anchor="t"/>
          <a:lstStyle/>
          <a:p>
            <a:pPr marL="0" indent="0">
              <a:buNone/>
            </a:pPr>
            <a:r>
              <a:rPr lang="en-US" sz="1150" b="1" dirty="0">
                <a:solidFill>
                  <a:srgbClr val="071B3F"/>
                </a:solidFill>
                <a:latin typeface="Segoe UI" pitchFamily="34" charset="0"/>
                <a:ea typeface="Segoe UI" pitchFamily="34" charset="-122"/>
                <a:cs typeface="Segoe UI" pitchFamily="34" charset="-120"/>
              </a:rPr>
              <a:t>Cuadre obligatorio</a:t>
            </a:r>
            <a:endParaRPr lang="en-US" sz="1150" dirty="0"/>
          </a:p>
        </p:txBody>
      </p:sp>
      <p:sp>
        <p:nvSpPr>
          <p:cNvPr id="17" name="Text 14"/>
          <p:cNvSpPr txBox="1"/>
          <p:nvPr/>
        </p:nvSpPr>
        <p:spPr>
          <a:xfrm>
            <a:off x="6053328" y="1746504"/>
            <a:ext cx="2560320" cy="384048"/>
          </a:xfrm>
          <a:prstGeom prst="rect">
            <a:avLst/>
          </a:prstGeom>
          <a:noFill/>
          <a:ln/>
        </p:spPr>
        <p:txBody>
          <a:bodyPr wrap="square" lIns="0" tIns="0" rIns="0" bIns="0" rtlCol="0" anchor="t"/>
          <a:lstStyle/>
          <a:p>
            <a:pPr marL="0" indent="0">
              <a:buNone/>
            </a:pPr>
            <a:r>
              <a:rPr lang="en-US" sz="980" dirty="0">
                <a:solidFill>
                  <a:srgbClr val="5B6B82"/>
                </a:solidFill>
                <a:latin typeface="Calibri" pitchFamily="34" charset="0"/>
                <a:ea typeface="Calibri" pitchFamily="34" charset="-122"/>
                <a:cs typeface="Calibri" pitchFamily="34" charset="-120"/>
              </a:rPr>
              <a:t>La suma de Debit debe ser igual a la suma de Credit.</a:t>
            </a:r>
            <a:endParaRPr lang="en-US" sz="980" dirty="0"/>
          </a:p>
        </p:txBody>
      </p:sp>
      <p:sp>
        <p:nvSpPr>
          <p:cNvPr id="18" name="Shape 15"/>
          <p:cNvSpPr/>
          <p:nvPr/>
        </p:nvSpPr>
        <p:spPr>
          <a:xfrm>
            <a:off x="5394960" y="2258568"/>
            <a:ext cx="3291840" cy="731520"/>
          </a:xfrm>
          <a:prstGeom prst="roundRect">
            <a:avLst>
              <a:gd name="adj" fmla="val 10000"/>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19" name="Shape 16"/>
          <p:cNvSpPr/>
          <p:nvPr/>
        </p:nvSpPr>
        <p:spPr>
          <a:xfrm>
            <a:off x="5513832" y="2404872"/>
            <a:ext cx="438912" cy="438912"/>
          </a:xfrm>
          <a:prstGeom prst="ellipse">
            <a:avLst/>
          </a:prstGeom>
          <a:solidFill>
            <a:srgbClr val="E8F1FC"/>
          </a:solidFill>
          <a:ln w="12700">
            <a:solidFill>
              <a:srgbClr val="E8F1FC"/>
            </a:solidFill>
            <a:prstDash val="solid"/>
          </a:ln>
        </p:spPr>
      </p:sp>
      <p:pic>
        <p:nvPicPr>
          <p:cNvPr id="20" name="Image 1" descr="preencoded.png"/>
          <p:cNvPicPr>
            <a:picLocks noChangeAspect="1"/>
          </p:cNvPicPr>
          <p:nvPr/>
        </p:nvPicPr>
        <p:blipFill>
          <a:blip r:embed="rId4"/>
          <a:stretch>
            <a:fillRect/>
          </a:stretch>
        </p:blipFill>
        <p:spPr>
          <a:xfrm>
            <a:off x="5627949" y="2518989"/>
            <a:ext cx="210678" cy="210678"/>
          </a:xfrm>
          <a:prstGeom prst="rect">
            <a:avLst/>
          </a:prstGeom>
        </p:spPr>
      </p:pic>
      <p:sp>
        <p:nvSpPr>
          <p:cNvPr id="21" name="Text 17"/>
          <p:cNvSpPr txBox="1"/>
          <p:nvPr/>
        </p:nvSpPr>
        <p:spPr>
          <a:xfrm>
            <a:off x="6053328" y="2331720"/>
            <a:ext cx="2560320" cy="256032"/>
          </a:xfrm>
          <a:prstGeom prst="rect">
            <a:avLst/>
          </a:prstGeom>
          <a:noFill/>
          <a:ln/>
        </p:spPr>
        <p:txBody>
          <a:bodyPr wrap="square" lIns="0" tIns="0" rIns="0" bIns="0" rtlCol="0" anchor="t"/>
          <a:lstStyle/>
          <a:p>
            <a:pPr marL="0" indent="0">
              <a:buNone/>
            </a:pPr>
            <a:r>
              <a:rPr lang="en-US" sz="1150" b="1" dirty="0">
                <a:solidFill>
                  <a:srgbClr val="071B3F"/>
                </a:solidFill>
                <a:latin typeface="Segoe UI" pitchFamily="34" charset="0"/>
                <a:ea typeface="Segoe UI" pitchFamily="34" charset="-122"/>
                <a:cs typeface="Segoe UI" pitchFamily="34" charset="-120"/>
              </a:rPr>
              <a:t>AccountCode</a:t>
            </a:r>
            <a:endParaRPr lang="en-US" sz="1150" dirty="0"/>
          </a:p>
        </p:txBody>
      </p:sp>
      <p:sp>
        <p:nvSpPr>
          <p:cNvPr id="22" name="Text 18"/>
          <p:cNvSpPr txBox="1"/>
          <p:nvPr/>
        </p:nvSpPr>
        <p:spPr>
          <a:xfrm>
            <a:off x="6053328" y="2587752"/>
            <a:ext cx="2560320" cy="384048"/>
          </a:xfrm>
          <a:prstGeom prst="rect">
            <a:avLst/>
          </a:prstGeom>
          <a:noFill/>
          <a:ln/>
        </p:spPr>
        <p:txBody>
          <a:bodyPr wrap="square" lIns="0" tIns="0" rIns="0" bIns="0" rtlCol="0" anchor="t"/>
          <a:lstStyle/>
          <a:p>
            <a:pPr marL="0" indent="0">
              <a:buNone/>
            </a:pPr>
            <a:r>
              <a:rPr lang="en-US" sz="980" dirty="0">
                <a:solidFill>
                  <a:srgbClr val="5B6B82"/>
                </a:solidFill>
                <a:latin typeface="Calibri" pitchFamily="34" charset="0"/>
                <a:ea typeface="Calibri" pitchFamily="34" charset="-122"/>
                <a:cs typeface="Calibri" pitchFamily="34" charset="-120"/>
              </a:rPr>
              <a:t>Código interno de la cuenta (AcctCode), no el formato segmentado.</a:t>
            </a:r>
            <a:endParaRPr lang="en-US" sz="980" dirty="0"/>
          </a:p>
        </p:txBody>
      </p:sp>
      <p:sp>
        <p:nvSpPr>
          <p:cNvPr id="23" name="Shape 19"/>
          <p:cNvSpPr/>
          <p:nvPr/>
        </p:nvSpPr>
        <p:spPr>
          <a:xfrm>
            <a:off x="5394960" y="3099816"/>
            <a:ext cx="3291840" cy="731520"/>
          </a:xfrm>
          <a:prstGeom prst="roundRect">
            <a:avLst>
              <a:gd name="adj" fmla="val 10000"/>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24" name="Shape 20"/>
          <p:cNvSpPr/>
          <p:nvPr/>
        </p:nvSpPr>
        <p:spPr>
          <a:xfrm>
            <a:off x="5513832" y="3246120"/>
            <a:ext cx="438912" cy="438912"/>
          </a:xfrm>
          <a:prstGeom prst="ellipse">
            <a:avLst/>
          </a:prstGeom>
          <a:solidFill>
            <a:srgbClr val="E8F1FC"/>
          </a:solidFill>
          <a:ln w="12700">
            <a:solidFill>
              <a:srgbClr val="E8F1FC"/>
            </a:solidFill>
            <a:prstDash val="solid"/>
          </a:ln>
        </p:spPr>
      </p:sp>
      <p:pic>
        <p:nvPicPr>
          <p:cNvPr id="25" name="Image 2" descr="preencoded.png"/>
          <p:cNvPicPr>
            <a:picLocks noChangeAspect="1"/>
          </p:cNvPicPr>
          <p:nvPr/>
        </p:nvPicPr>
        <p:blipFill>
          <a:blip r:embed="rId5"/>
          <a:stretch>
            <a:fillRect/>
          </a:stretch>
        </p:blipFill>
        <p:spPr>
          <a:xfrm>
            <a:off x="5627949" y="3360237"/>
            <a:ext cx="210678" cy="210678"/>
          </a:xfrm>
          <a:prstGeom prst="rect">
            <a:avLst/>
          </a:prstGeom>
        </p:spPr>
      </p:pic>
      <p:sp>
        <p:nvSpPr>
          <p:cNvPr id="26" name="Text 21"/>
          <p:cNvSpPr txBox="1"/>
          <p:nvPr/>
        </p:nvSpPr>
        <p:spPr>
          <a:xfrm>
            <a:off x="6053328" y="3172968"/>
            <a:ext cx="2560320" cy="256032"/>
          </a:xfrm>
          <a:prstGeom prst="rect">
            <a:avLst/>
          </a:prstGeom>
          <a:noFill/>
          <a:ln/>
        </p:spPr>
        <p:txBody>
          <a:bodyPr wrap="square" lIns="0" tIns="0" rIns="0" bIns="0" rtlCol="0" anchor="t"/>
          <a:lstStyle/>
          <a:p>
            <a:pPr marL="0" indent="0">
              <a:buNone/>
            </a:pPr>
            <a:r>
              <a:rPr lang="en-US" sz="1150" b="1" dirty="0">
                <a:solidFill>
                  <a:srgbClr val="071B3F"/>
                </a:solidFill>
                <a:latin typeface="Segoe UI" pitchFamily="34" charset="0"/>
                <a:ea typeface="Segoe UI" pitchFamily="34" charset="-122"/>
                <a:cs typeface="Segoe UI" pitchFamily="34" charset="-120"/>
              </a:rPr>
              <a:t>ShortName</a:t>
            </a:r>
            <a:endParaRPr lang="en-US" sz="1150" dirty="0"/>
          </a:p>
        </p:txBody>
      </p:sp>
      <p:sp>
        <p:nvSpPr>
          <p:cNvPr id="27" name="Text 22"/>
          <p:cNvSpPr txBox="1"/>
          <p:nvPr/>
        </p:nvSpPr>
        <p:spPr>
          <a:xfrm>
            <a:off x="6053328" y="3429000"/>
            <a:ext cx="2560320" cy="384048"/>
          </a:xfrm>
          <a:prstGeom prst="rect">
            <a:avLst/>
          </a:prstGeom>
          <a:noFill/>
          <a:ln/>
        </p:spPr>
        <p:txBody>
          <a:bodyPr wrap="square" lIns="0" tIns="0" rIns="0" bIns="0" rtlCol="0" anchor="t"/>
          <a:lstStyle/>
          <a:p>
            <a:pPr marL="0" indent="0">
              <a:buNone/>
            </a:pPr>
            <a:r>
              <a:rPr lang="en-US" sz="980" dirty="0">
                <a:solidFill>
                  <a:srgbClr val="5B6B82"/>
                </a:solidFill>
                <a:latin typeface="Calibri" pitchFamily="34" charset="0"/>
                <a:ea typeface="Calibri" pitchFamily="34" charset="-122"/>
                <a:cs typeface="Calibri" pitchFamily="34" charset="-120"/>
              </a:rPr>
              <a:t>CardCode del socio en líneas con cuenta asociada a un socio de negocio.</a:t>
            </a:r>
            <a:endParaRPr lang="en-US" sz="980" dirty="0"/>
          </a:p>
        </p:txBody>
      </p:sp>
      <p:sp>
        <p:nvSpPr>
          <p:cNvPr id="28" name="Shape 23"/>
          <p:cNvSpPr/>
          <p:nvPr/>
        </p:nvSpPr>
        <p:spPr>
          <a:xfrm>
            <a:off x="5394960" y="3941064"/>
            <a:ext cx="3291840" cy="731520"/>
          </a:xfrm>
          <a:prstGeom prst="roundRect">
            <a:avLst>
              <a:gd name="adj" fmla="val 10000"/>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29" name="Shape 24"/>
          <p:cNvSpPr/>
          <p:nvPr/>
        </p:nvSpPr>
        <p:spPr>
          <a:xfrm>
            <a:off x="5513832" y="4087368"/>
            <a:ext cx="438912" cy="438912"/>
          </a:xfrm>
          <a:prstGeom prst="ellipse">
            <a:avLst/>
          </a:prstGeom>
          <a:solidFill>
            <a:srgbClr val="E8F1FC"/>
          </a:solidFill>
          <a:ln w="12700">
            <a:solidFill>
              <a:srgbClr val="E8F1FC"/>
            </a:solidFill>
            <a:prstDash val="solid"/>
          </a:ln>
        </p:spPr>
      </p:sp>
      <p:pic>
        <p:nvPicPr>
          <p:cNvPr id="30" name="Image 3" descr="preencoded.png"/>
          <p:cNvPicPr>
            <a:picLocks noChangeAspect="1"/>
          </p:cNvPicPr>
          <p:nvPr/>
        </p:nvPicPr>
        <p:blipFill>
          <a:blip r:embed="rId6"/>
          <a:stretch>
            <a:fillRect/>
          </a:stretch>
        </p:blipFill>
        <p:spPr>
          <a:xfrm>
            <a:off x="5627949" y="4201485"/>
            <a:ext cx="210678" cy="210678"/>
          </a:xfrm>
          <a:prstGeom prst="rect">
            <a:avLst/>
          </a:prstGeom>
        </p:spPr>
      </p:pic>
      <p:sp>
        <p:nvSpPr>
          <p:cNvPr id="31" name="Text 25"/>
          <p:cNvSpPr txBox="1"/>
          <p:nvPr/>
        </p:nvSpPr>
        <p:spPr>
          <a:xfrm>
            <a:off x="6053328" y="4014216"/>
            <a:ext cx="2560320" cy="256032"/>
          </a:xfrm>
          <a:prstGeom prst="rect">
            <a:avLst/>
          </a:prstGeom>
          <a:noFill/>
          <a:ln/>
        </p:spPr>
        <p:txBody>
          <a:bodyPr wrap="square" lIns="0" tIns="0" rIns="0" bIns="0" rtlCol="0" anchor="t"/>
          <a:lstStyle/>
          <a:p>
            <a:pPr marL="0" indent="0">
              <a:buNone/>
            </a:pPr>
            <a:r>
              <a:rPr lang="en-US" sz="1150" b="1" dirty="0">
                <a:solidFill>
                  <a:srgbClr val="071B3F"/>
                </a:solidFill>
                <a:latin typeface="Segoe UI" pitchFamily="34" charset="0"/>
                <a:ea typeface="Segoe UI" pitchFamily="34" charset="-122"/>
                <a:cs typeface="Segoe UI" pitchFamily="34" charset="-120"/>
              </a:rPr>
              <a:t>Revertir</a:t>
            </a:r>
            <a:endParaRPr lang="en-US" sz="1150" dirty="0"/>
          </a:p>
        </p:txBody>
      </p:sp>
      <p:sp>
        <p:nvSpPr>
          <p:cNvPr id="32" name="Text 26"/>
          <p:cNvSpPr txBox="1"/>
          <p:nvPr/>
        </p:nvSpPr>
        <p:spPr>
          <a:xfrm>
            <a:off x="6053328" y="4270248"/>
            <a:ext cx="2560320" cy="384048"/>
          </a:xfrm>
          <a:prstGeom prst="rect">
            <a:avLst/>
          </a:prstGeom>
          <a:noFill/>
          <a:ln/>
        </p:spPr>
        <p:txBody>
          <a:bodyPr wrap="square" lIns="0" tIns="0" rIns="0" bIns="0" rtlCol="0" anchor="t"/>
          <a:lstStyle/>
          <a:p>
            <a:pPr marL="0" indent="0">
              <a:buNone/>
            </a:pPr>
            <a:r>
              <a:rPr lang="en-US" sz="980" dirty="0">
                <a:solidFill>
                  <a:srgbClr val="5B6B82"/>
                </a:solidFill>
                <a:latin typeface="Calibri" pitchFamily="34" charset="0"/>
                <a:ea typeface="Calibri" pitchFamily="34" charset="-122"/>
                <a:cs typeface="Calibri" pitchFamily="34" charset="-120"/>
              </a:rPr>
              <a:t>POST /JournalEntries(n)/Cancel genera el asiento de reversión.</a:t>
            </a:r>
            <a:endParaRPr lang="en-US" sz="980" dirty="0"/>
          </a:p>
        </p:txBody>
      </p:sp>
      <p:sp>
        <p:nvSpPr>
          <p:cNvPr id="33" name="Text 27"/>
          <p:cNvSpPr txBox="1"/>
          <p:nvPr/>
        </p:nvSpPr>
        <p:spPr>
          <a:xfrm>
            <a:off x="4663440" y="4828032"/>
            <a:ext cx="3474720" cy="182880"/>
          </a:xfrm>
          <a:prstGeom prst="rect">
            <a:avLst/>
          </a:prstGeom>
          <a:noFill/>
          <a:ln/>
        </p:spPr>
        <p:txBody>
          <a:bodyPr wrap="square" lIns="0" tIns="0" rIns="0" bIns="0" rtlCol="0" anchor="t"/>
          <a:lstStyle/>
          <a:p>
            <a:pPr marL="0" indent="0" algn="r">
              <a:buNone/>
            </a:pPr>
            <a:r>
              <a:rPr lang="en-US" sz="800" b="1" dirty="0">
                <a:solidFill>
                  <a:srgbClr val="0B4DA2"/>
                </a:solidFill>
                <a:latin typeface="Consolas" pitchFamily="34" charset="0"/>
                <a:ea typeface="Consolas" pitchFamily="34" charset="-122"/>
                <a:cs typeface="Consolas" pitchFamily="34" charset="-120"/>
              </a:rPr>
              <a:t>$SL</a:t>
            </a:r>
            <a:r>
              <a:rPr lang="en-US" sz="800" dirty="0">
                <a:solidFill>
                  <a:srgbClr val="8A9AB0"/>
                </a:solidFill>
                <a:latin typeface="Calibri" pitchFamily="34" charset="0"/>
                <a:ea typeface="Calibri" pitchFamily="34" charset="-122"/>
                <a:cs typeface="Calibri" pitchFamily="34" charset="-120"/>
              </a:rPr>
              <a:t> = https://sapserver:50000/b1s/v1   ·   cookies.txt obtenido en el Login</a:t>
            </a:r>
            <a:endParaRPr lang="en-US" sz="800" dirty="0"/>
          </a:p>
        </p:txBody>
      </p:sp>
      <p:sp>
        <p:nvSpPr>
          <p:cNvPr id="34"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xmlns="" val="0"/>
            </a:ext>
          </a:extLst>
        </p:spPr>
        <p:txBody>
          <a:bodyPr/>
          <a:lstStyle>
            <a:lvl1pPr>
              <a:defRPr sz="800">
                <a:solidFill>
                  <a:srgbClr val="8A9AB0"/>
                </a:solidFill>
                <a:latin typeface="Calibri"/>
                <a:ea typeface="Calibri"/>
                <a:cs typeface="Calibri"/>
              </a:defRPr>
            </a:lvl1pPr>
          </a:lstStyle>
          <a:p>
            <a:pPr algn="r"/>
            <a:fld id="{F7021451-1387-4CA6-816F-3879F97B5CBC}" type="slidenum">
              <a:rPr lang="en-US" b="0"/>
              <a:t>28</a:t>
            </a:fld>
            <a:endParaRPr 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1097280"/>
            <a:ext cx="2743200" cy="1280160"/>
          </a:xfrm>
          <a:prstGeom prst="rect">
            <a:avLst/>
          </a:prstGeom>
          <a:noFill/>
          <a:ln/>
        </p:spPr>
        <p:txBody>
          <a:bodyPr wrap="square" lIns="0" tIns="0" rIns="0" bIns="0" rtlCol="0" anchor="t"/>
          <a:lstStyle/>
          <a:p>
            <a:pPr marL="0" indent="0">
              <a:buNone/>
            </a:pPr>
            <a:r>
              <a:rPr lang="en-US" sz="8800" b="1" dirty="0">
                <a:solidFill>
                  <a:srgbClr val="F5A800"/>
                </a:solidFill>
                <a:latin typeface="Segoe UI" pitchFamily="34" charset="0"/>
                <a:ea typeface="Segoe UI" pitchFamily="34" charset="-122"/>
                <a:cs typeface="Segoe UI" pitchFamily="34" charset="-120"/>
              </a:rPr>
              <a:t>05</a:t>
            </a:r>
            <a:endParaRPr lang="en-US" sz="8800" dirty="0"/>
          </a:p>
        </p:txBody>
      </p:sp>
      <p:sp>
        <p:nvSpPr>
          <p:cNvPr id="3" name="Text 1"/>
          <p:cNvSpPr txBox="1"/>
          <p:nvPr/>
        </p:nvSpPr>
        <p:spPr>
          <a:xfrm>
            <a:off x="685800" y="914400"/>
            <a:ext cx="2743200" cy="274320"/>
          </a:xfrm>
          <a:prstGeom prst="rect">
            <a:avLst/>
          </a:prstGeom>
          <a:noFill/>
          <a:ln/>
        </p:spPr>
        <p:txBody>
          <a:bodyPr wrap="square" lIns="0" tIns="0" rIns="0" bIns="0" rtlCol="0" anchor="t"/>
          <a:lstStyle/>
          <a:p>
            <a:pPr marL="0" indent="0">
              <a:buNone/>
            </a:pPr>
            <a:r>
              <a:rPr lang="en-US" sz="1100" b="1" kern="0" spc="400" dirty="0">
                <a:solidFill>
                  <a:srgbClr val="29B6F6"/>
                </a:solidFill>
                <a:latin typeface="Segoe UI" pitchFamily="34" charset="0"/>
                <a:ea typeface="Segoe UI" pitchFamily="34" charset="-122"/>
                <a:cs typeface="Segoe UI" pitchFamily="34" charset="-120"/>
              </a:rPr>
              <a:t>CAPÍTULO</a:t>
            </a:r>
            <a:endParaRPr lang="en-US" sz="1100" dirty="0"/>
          </a:p>
        </p:txBody>
      </p:sp>
      <p:sp>
        <p:nvSpPr>
          <p:cNvPr id="4" name="Text 2"/>
          <p:cNvSpPr txBox="1"/>
          <p:nvPr/>
        </p:nvSpPr>
        <p:spPr>
          <a:xfrm>
            <a:off x="640080" y="2423160"/>
            <a:ext cx="7772400" cy="731520"/>
          </a:xfrm>
          <a:prstGeom prst="rect">
            <a:avLst/>
          </a:prstGeom>
          <a:noFill/>
          <a:ln/>
        </p:spPr>
        <p:txBody>
          <a:bodyPr wrap="square" lIns="0" tIns="0" rIns="0" bIns="0" rtlCol="0" anchor="t"/>
          <a:lstStyle/>
          <a:p>
            <a:pPr marL="0" indent="0">
              <a:buNone/>
            </a:pPr>
            <a:r>
              <a:rPr lang="en-US" sz="3400" b="1" dirty="0">
                <a:solidFill>
                  <a:srgbClr val="FFFFFF"/>
                </a:solidFill>
                <a:latin typeface="Segoe UI" pitchFamily="34" charset="0"/>
                <a:ea typeface="Segoe UI" pitchFamily="34" charset="-122"/>
                <a:cs typeface="Segoe UI" pitchFamily="34" charset="-120"/>
              </a:rPr>
              <a:t>Flujos de operación III</a:t>
            </a:r>
            <a:endParaRPr lang="en-US" sz="3400" dirty="0"/>
          </a:p>
        </p:txBody>
      </p:sp>
      <p:sp>
        <p:nvSpPr>
          <p:cNvPr id="5" name="Text 3"/>
          <p:cNvSpPr txBox="1"/>
          <p:nvPr/>
        </p:nvSpPr>
        <p:spPr>
          <a:xfrm>
            <a:off x="658368" y="3200400"/>
            <a:ext cx="7772400" cy="548640"/>
          </a:xfrm>
          <a:prstGeom prst="rect">
            <a:avLst/>
          </a:prstGeom>
          <a:noFill/>
          <a:ln/>
        </p:spPr>
        <p:txBody>
          <a:bodyPr wrap="square" lIns="0" tIns="0" rIns="0" bIns="0" rtlCol="0" anchor="t"/>
          <a:lstStyle/>
          <a:p>
            <a:pPr marL="0" indent="0">
              <a:buNone/>
            </a:pPr>
            <a:r>
              <a:rPr lang="en-US" sz="1400" dirty="0">
                <a:solidFill>
                  <a:srgbClr val="B9D3F0"/>
                </a:solidFill>
                <a:latin typeface="Calibri" pitchFamily="34" charset="0"/>
                <a:ea typeface="Calibri" pitchFamily="34" charset="-122"/>
                <a:cs typeface="Calibri" pitchFamily="34" charset="-120"/>
              </a:rPr>
              <a:t>Query options   •   Tablas de usuario vs UDO   •   CRUD completo   •   Batch y rollback</a:t>
            </a:r>
            <a:endParaRPr lang="en-US" sz="1400" dirty="0"/>
          </a:p>
        </p:txBody>
      </p:sp>
      <p:sp>
        <p:nvSpPr>
          <p:cNvPr id="6" name="Text 4"/>
          <p:cNvSpPr txBox="1"/>
          <p:nvPr/>
        </p:nvSpPr>
        <p:spPr>
          <a:xfrm>
            <a:off x="658368" y="4709160"/>
            <a:ext cx="4572000" cy="228600"/>
          </a:xfrm>
          <a:prstGeom prst="rect">
            <a:avLst/>
          </a:prstGeom>
          <a:noFill/>
          <a:ln/>
        </p:spPr>
        <p:txBody>
          <a:bodyPr wrap="square" lIns="0" tIns="0" rIns="0" bIns="0" rtlCol="0" anchor="t"/>
          <a:lstStyle/>
          <a:p>
            <a:pPr marL="0" indent="0">
              <a:buNone/>
            </a:pPr>
            <a:r>
              <a:rPr lang="en-US" sz="900" dirty="0">
                <a:solidFill>
                  <a:srgbClr val="8FB0D6"/>
                </a:solidFill>
                <a:latin typeface="Calibri" pitchFamily="34" charset="0"/>
                <a:ea typeface="Calibri" pitchFamily="34" charset="-122"/>
                <a:cs typeface="Calibri" pitchFamily="34" charset="-120"/>
              </a:rPr>
              <a:t>Ventura Soluciones  |  Capacitación técnica</a:t>
            </a:r>
            <a:endParaRPr lang="en-US" sz="900"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457200" y="256032"/>
            <a:ext cx="2505456" cy="237744"/>
          </a:xfrm>
          <a:prstGeom prst="roundRect">
            <a:avLst>
              <a:gd name="adj" fmla="val 50000"/>
            </a:avLst>
          </a:prstGeom>
          <a:solidFill>
            <a:srgbClr val="071B3F"/>
          </a:solidFill>
          <a:ln w="12700">
            <a:solidFill>
              <a:srgbClr val="071B3F"/>
            </a:solidFill>
            <a:prstDash val="solid"/>
          </a:ln>
        </p:spPr>
      </p:sp>
      <p:sp>
        <p:nvSpPr>
          <p:cNvPr id="3" name="Text 1"/>
          <p:cNvSpPr txBox="1"/>
          <p:nvPr/>
        </p:nvSpPr>
        <p:spPr>
          <a:xfrm>
            <a:off x="457200" y="256032"/>
            <a:ext cx="2505456" cy="237744"/>
          </a:xfrm>
          <a:prstGeom prst="rect">
            <a:avLst/>
          </a:prstGeom>
          <a:noFill/>
          <a:ln/>
        </p:spPr>
        <p:txBody>
          <a:bodyPr wrap="square" lIns="0" tIns="0" rIns="0" bIns="0" rtlCol="0" anchor="ctr"/>
          <a:lstStyle/>
          <a:p>
            <a:pPr marL="0" indent="0" algn="ctr">
              <a:buNone/>
            </a:pPr>
            <a:r>
              <a:rPr lang="en-US" sz="850" b="1" kern="0" spc="100" dirty="0">
                <a:solidFill>
                  <a:srgbClr val="F5A800"/>
                </a:solidFill>
                <a:latin typeface="Segoe UI" pitchFamily="34" charset="0"/>
                <a:ea typeface="Segoe UI" pitchFamily="34" charset="-122"/>
                <a:cs typeface="Segoe UI" pitchFamily="34" charset="-120"/>
              </a:rPr>
              <a:t>05  ·  FLUJOS DE OPERACIÓN III</a:t>
            </a:r>
            <a:endParaRPr lang="en-US" sz="850" dirty="0"/>
          </a:p>
        </p:txBody>
      </p:sp>
      <p:sp>
        <p:nvSpPr>
          <p:cNvPr id="4" name="Text 2"/>
          <p:cNvSpPr txBox="1"/>
          <p:nvPr/>
        </p:nvSpPr>
        <p:spPr>
          <a:xfrm>
            <a:off x="457200" y="566928"/>
            <a:ext cx="8229600" cy="502920"/>
          </a:xfrm>
          <a:prstGeom prst="rect">
            <a:avLst/>
          </a:prstGeom>
          <a:noFill/>
          <a:ln/>
        </p:spPr>
        <p:txBody>
          <a:bodyPr wrap="square" lIns="0" tIns="0" rIns="0" bIns="0" rtlCol="0" anchor="ctr"/>
          <a:lstStyle/>
          <a:p>
            <a:pPr marL="0" indent="0">
              <a:buNone/>
            </a:pPr>
            <a:r>
              <a:rPr lang="en-US" sz="2400" b="1" dirty="0">
                <a:solidFill>
                  <a:srgbClr val="071B3F"/>
                </a:solidFill>
                <a:latin typeface="Segoe UI" pitchFamily="34" charset="0"/>
                <a:ea typeface="Segoe UI" pitchFamily="34" charset="-122"/>
                <a:cs typeface="Segoe UI" pitchFamily="34" charset="-120"/>
              </a:rPr>
              <a:t>Query options: referencia rápida</a:t>
            </a:r>
            <a:endParaRPr lang="en-US" sz="2400" dirty="0"/>
          </a:p>
        </p:txBody>
      </p:sp>
      <p:sp>
        <p:nvSpPr>
          <p:cNvPr id="5" name="Text 3"/>
          <p:cNvSpPr txBox="1"/>
          <p:nvPr/>
        </p:nvSpPr>
        <p:spPr>
          <a:xfrm>
            <a:off x="457200" y="1051560"/>
            <a:ext cx="8229600" cy="274320"/>
          </a:xfrm>
          <a:prstGeom prst="rect">
            <a:avLst/>
          </a:prstGeom>
          <a:noFill/>
          <a:ln/>
        </p:spPr>
        <p:txBody>
          <a:bodyPr wrap="square" lIns="0" tIns="0" rIns="0" bIns="0" rtlCol="0" anchor="ctr"/>
          <a:lstStyle/>
          <a:p>
            <a:pPr marL="0" indent="0">
              <a:buNone/>
            </a:pPr>
            <a:r>
              <a:rPr lang="en-US" sz="1250" dirty="0">
                <a:solidFill>
                  <a:srgbClr val="5B6B82"/>
                </a:solidFill>
                <a:latin typeface="Calibri" pitchFamily="34" charset="0"/>
                <a:ea typeface="Calibri" pitchFamily="34" charset="-122"/>
                <a:cs typeface="Calibri" pitchFamily="34" charset="-120"/>
              </a:rPr>
              <a:t>Parámetros OData que se agregan a la URL de un GET para leer solo lo necesario</a:t>
            </a:r>
            <a:endParaRPr lang="en-US" sz="1250" dirty="0"/>
          </a:p>
        </p:txBody>
      </p:sp>
      <p:sp>
        <p:nvSpPr>
          <p:cNvPr id="6" name="Text 4"/>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00" dirty="0">
                <a:solidFill>
                  <a:srgbClr val="8A9AB0"/>
                </a:solidFill>
                <a:latin typeface="Calibri" pitchFamily="34" charset="0"/>
                <a:ea typeface="Calibri" pitchFamily="34" charset="-122"/>
                <a:cs typeface="Calibri" pitchFamily="34" charset="-120"/>
              </a:rPr>
              <a:t>Ventura Soluciones  |  SAP Business One · Service Layer</a:t>
            </a:r>
            <a:endParaRPr lang="en-US" sz="8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8229600" cy="2769616"/>
        </p:xfrm>
        <a:graphic>
          <a:graphicData uri="http://schemas.openxmlformats.org/drawingml/2006/table">
            <a:tbl>
              <a:tblPr/>
              <a:tblGrid>
                <a:gridCol w="1143000">
                  <a:extLst>
                    <a:ext uri="{9D8B030D-6E8A-4147-A177-3AD203B41FA5}">
                      <a16:colId xmlns:a16="http://schemas.microsoft.com/office/drawing/2014/main" val="20000"/>
                    </a:ext>
                  </a:extLst>
                </a:gridCol>
                <a:gridCol w="2788920">
                  <a:extLst>
                    <a:ext uri="{9D8B030D-6E8A-4147-A177-3AD203B41FA5}">
                      <a16:colId xmlns:a16="http://schemas.microsoft.com/office/drawing/2014/main" val="20001"/>
                    </a:ext>
                  </a:extLst>
                </a:gridCol>
                <a:gridCol w="4297680">
                  <a:extLst>
                    <a:ext uri="{9D8B030D-6E8A-4147-A177-3AD203B41FA5}">
                      <a16:colId xmlns:a16="http://schemas.microsoft.com/office/drawing/2014/main" val="20002"/>
                    </a:ext>
                  </a:extLst>
                </a:gridCol>
              </a:tblGrid>
              <a:tr h="301752">
                <a:tc>
                  <a:txBody>
                    <a:bodyPr/>
                    <a:lstStyle/>
                    <a:p>
                      <a:pPr marL="0" indent="0">
                        <a:buNone/>
                      </a:pPr>
                      <a:r>
                        <a:rPr lang="en-US" sz="1000" b="1" dirty="0">
                          <a:solidFill>
                            <a:srgbClr val="FFFFFF"/>
                          </a:solidFill>
                          <a:latin typeface="Segoe UI" pitchFamily="34" charset="0"/>
                          <a:ea typeface="Segoe UI" pitchFamily="34" charset="-122"/>
                          <a:cs typeface="Segoe UI" pitchFamily="34" charset="-120"/>
                        </a:rPr>
                        <a:t>Opción</a:t>
                      </a:r>
                      <a:endParaRPr lang="en-US" sz="1000" dirty="0">
                        <a:latin typeface="Segoe UI" charset="0"/>
                        <a:ea typeface="Segoe UI" charset="0"/>
                        <a:cs typeface="Segoe UI" charset="0"/>
                      </a:endParaRPr>
                    </a:p>
                  </a:txBody>
                  <a:tcPr marL="76200" marR="76200" marT="25400" marB="254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071B3F"/>
                    </a:solidFill>
                  </a:tcPr>
                </a:tc>
                <a:tc>
                  <a:txBody>
                    <a:bodyPr/>
                    <a:lstStyle/>
                    <a:p>
                      <a:pPr marL="0" indent="0">
                        <a:buNone/>
                      </a:pPr>
                      <a:r>
                        <a:rPr lang="en-US" sz="1000" b="1" dirty="0">
                          <a:solidFill>
                            <a:srgbClr val="FFFFFF"/>
                          </a:solidFill>
                          <a:latin typeface="Segoe UI" pitchFamily="34" charset="0"/>
                          <a:ea typeface="Segoe UI" pitchFamily="34" charset="-122"/>
                          <a:cs typeface="Segoe UI" pitchFamily="34" charset="-120"/>
                        </a:rPr>
                        <a:t>Qué hace</a:t>
                      </a:r>
                      <a:endParaRPr lang="en-US" sz="1000" dirty="0">
                        <a:latin typeface="Segoe UI" charset="0"/>
                        <a:ea typeface="Segoe UI" charset="0"/>
                        <a:cs typeface="Segoe UI" charset="0"/>
                      </a:endParaRPr>
                    </a:p>
                  </a:txBody>
                  <a:tcPr marL="76200" marR="76200" marT="25400" marB="254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071B3F"/>
                    </a:solidFill>
                  </a:tcPr>
                </a:tc>
                <a:tc>
                  <a:txBody>
                    <a:bodyPr/>
                    <a:lstStyle/>
                    <a:p>
                      <a:pPr marL="0" indent="0">
                        <a:buNone/>
                      </a:pPr>
                      <a:r>
                        <a:rPr lang="en-US" sz="1000" b="1" dirty="0">
                          <a:solidFill>
                            <a:srgbClr val="FFFFFF"/>
                          </a:solidFill>
                          <a:latin typeface="Segoe UI" pitchFamily="34" charset="0"/>
                          <a:ea typeface="Segoe UI" pitchFamily="34" charset="-122"/>
                          <a:cs typeface="Segoe UI" pitchFamily="34" charset="-120"/>
                        </a:rPr>
                        <a:t>Ejemplo</a:t>
                      </a:r>
                      <a:endParaRPr lang="en-US" sz="1000" dirty="0">
                        <a:latin typeface="Segoe UI" charset="0"/>
                        <a:ea typeface="Segoe UI" charset="0"/>
                        <a:cs typeface="Segoe UI" charset="0"/>
                      </a:endParaRPr>
                    </a:p>
                  </a:txBody>
                  <a:tcPr marL="76200" marR="76200" marT="25400" marB="254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071B3F"/>
                    </a:solidFill>
                  </a:tcPr>
                </a:tc>
                <a:extLst>
                  <a:ext uri="{0D108BD9-81ED-4DB2-BD59-A6C34878D82A}">
                    <a16:rowId xmlns:a16="http://schemas.microsoft.com/office/drawing/2014/main" val="10000"/>
                  </a:ext>
                </a:extLst>
              </a:tr>
              <a:tr h="301752">
                <a:tc>
                  <a:txBody>
                    <a:bodyPr/>
                    <a:lstStyle/>
                    <a:p>
                      <a:pPr marL="0" indent="0">
                        <a:buNone/>
                      </a:pPr>
                      <a:r>
                        <a:rPr lang="en-US" sz="1000" b="1" dirty="0">
                          <a:solidFill>
                            <a:srgbClr val="071B3F"/>
                          </a:solidFill>
                          <a:latin typeface="Consolas" pitchFamily="34" charset="0"/>
                          <a:ea typeface="Consolas" pitchFamily="34" charset="-122"/>
                          <a:cs typeface="Consolas" pitchFamily="34" charset="-120"/>
                        </a:rPr>
                        <a:t>$select</a:t>
                      </a:r>
                      <a:endParaRPr lang="en-US" sz="1000" dirty="0">
                        <a:latin typeface="Consolas" charset="0"/>
                        <a:ea typeface="Consolas" charset="0"/>
                        <a:cs typeface="Consolas" charset="0"/>
                      </a:endParaRPr>
                    </a:p>
                  </a:txBody>
                  <a:tcPr marL="76200" marR="76200" marT="25400" marB="254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EEF3FA"/>
                    </a:solidFill>
                  </a:tcPr>
                </a:tc>
                <a:tc>
                  <a:txBody>
                    <a:bodyPr/>
                    <a:lstStyle/>
                    <a:p>
                      <a:pPr marL="0" indent="0">
                        <a:buNone/>
                      </a:pPr>
                      <a:r>
                        <a:rPr lang="en-US" sz="1000" dirty="0">
                          <a:solidFill>
                            <a:srgbClr val="1B2433"/>
                          </a:solidFill>
                          <a:latin typeface="Calibri" pitchFamily="34" charset="0"/>
                          <a:ea typeface="Calibri" pitchFamily="34" charset="-122"/>
                          <a:cs typeface="Calibri" pitchFamily="34" charset="-120"/>
                        </a:rPr>
                        <a:t>Elige las propiedades a devolver</a:t>
                      </a:r>
                      <a:endParaRPr lang="en-US" sz="1000" dirty="0">
                        <a:latin typeface="Calibri" charset="0"/>
                        <a:ea typeface="Calibri" charset="0"/>
                        <a:cs typeface="Calibri" charset="0"/>
                      </a:endParaRPr>
                    </a:p>
                  </a:txBody>
                  <a:tcPr marL="76200" marR="76200" marT="25400" marB="254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EEF3FA"/>
                    </a:solidFill>
                  </a:tcPr>
                </a:tc>
                <a:tc>
                  <a:txBody>
                    <a:bodyPr/>
                    <a:lstStyle/>
                    <a:p>
                      <a:pPr marL="0" indent="0">
                        <a:buNone/>
                      </a:pPr>
                      <a:r>
                        <a:rPr lang="en-US" sz="850" dirty="0">
                          <a:solidFill>
                            <a:srgbClr val="0B4DA2"/>
                          </a:solidFill>
                          <a:latin typeface="Consolas" pitchFamily="34" charset="0"/>
                          <a:ea typeface="Consolas" pitchFamily="34" charset="-122"/>
                          <a:cs typeface="Consolas" pitchFamily="34" charset="-120"/>
                        </a:rPr>
                        <a:t>Items?$select=ItemCode,ItemName,QuantityOnStock</a:t>
                      </a:r>
                      <a:endParaRPr lang="en-US" sz="850" dirty="0">
                        <a:latin typeface="Consolas" charset="0"/>
                        <a:ea typeface="Consolas" charset="0"/>
                        <a:cs typeface="Consolas" charset="0"/>
                      </a:endParaRPr>
                    </a:p>
                  </a:txBody>
                  <a:tcPr marL="76200" marR="76200" marT="25400" marB="254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EEF3FA"/>
                    </a:solidFill>
                  </a:tcPr>
                </a:tc>
                <a:extLst>
                  <a:ext uri="{0D108BD9-81ED-4DB2-BD59-A6C34878D82A}">
                    <a16:rowId xmlns:a16="http://schemas.microsoft.com/office/drawing/2014/main" val="10001"/>
                  </a:ext>
                </a:extLst>
              </a:tr>
              <a:tr h="301752">
                <a:tc>
                  <a:txBody>
                    <a:bodyPr/>
                    <a:lstStyle/>
                    <a:p>
                      <a:pPr marL="0" indent="0">
                        <a:buNone/>
                      </a:pPr>
                      <a:r>
                        <a:rPr lang="en-US" sz="1000" b="1" dirty="0">
                          <a:solidFill>
                            <a:srgbClr val="071B3F"/>
                          </a:solidFill>
                          <a:latin typeface="Consolas" pitchFamily="34" charset="0"/>
                          <a:ea typeface="Consolas" pitchFamily="34" charset="-122"/>
                          <a:cs typeface="Consolas" pitchFamily="34" charset="-120"/>
                        </a:rPr>
                        <a:t>$filter</a:t>
                      </a:r>
                      <a:endParaRPr lang="en-US" sz="1000" dirty="0">
                        <a:latin typeface="Consolas" charset="0"/>
                        <a:ea typeface="Consolas" charset="0"/>
                        <a:cs typeface="Consolas" charset="0"/>
                      </a:endParaRPr>
                    </a:p>
                  </a:txBody>
                  <a:tcPr marL="76200" marR="76200" marT="25400" marB="254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FFFFFF"/>
                    </a:solidFill>
                  </a:tcPr>
                </a:tc>
                <a:tc>
                  <a:txBody>
                    <a:bodyPr/>
                    <a:lstStyle/>
                    <a:p>
                      <a:pPr marL="0" indent="0">
                        <a:buNone/>
                      </a:pPr>
                      <a:r>
                        <a:rPr lang="en-US" sz="1000" dirty="0">
                          <a:solidFill>
                            <a:srgbClr val="1B2433"/>
                          </a:solidFill>
                          <a:latin typeface="Calibri" pitchFamily="34" charset="0"/>
                          <a:ea typeface="Calibri" pitchFamily="34" charset="-122"/>
                          <a:cs typeface="Calibri" pitchFamily="34" charset="-120"/>
                        </a:rPr>
                        <a:t>Filtra con operadores y funciones</a:t>
                      </a:r>
                      <a:endParaRPr lang="en-US" sz="1000" dirty="0">
                        <a:latin typeface="Calibri" charset="0"/>
                        <a:ea typeface="Calibri" charset="0"/>
                        <a:cs typeface="Calibri" charset="0"/>
                      </a:endParaRPr>
                    </a:p>
                  </a:txBody>
                  <a:tcPr marL="76200" marR="76200" marT="25400" marB="254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FFFFFF"/>
                    </a:solidFill>
                  </a:tcPr>
                </a:tc>
                <a:tc>
                  <a:txBody>
                    <a:bodyPr/>
                    <a:lstStyle/>
                    <a:p>
                      <a:pPr marL="0" indent="0">
                        <a:buNone/>
                      </a:pPr>
                      <a:r>
                        <a:rPr lang="en-US" sz="850" dirty="0">
                          <a:solidFill>
                            <a:srgbClr val="0B4DA2"/>
                          </a:solidFill>
                          <a:latin typeface="Consolas" pitchFamily="34" charset="0"/>
                          <a:ea typeface="Consolas" pitchFamily="34" charset="-122"/>
                          <a:cs typeface="Consolas" pitchFamily="34" charset="-120"/>
                        </a:rPr>
                        <a:t>Orders?$filter=DocTotal gt 1000 and CardCode eq 'C001'</a:t>
                      </a:r>
                      <a:endParaRPr lang="en-US" sz="850" dirty="0">
                        <a:latin typeface="Consolas" charset="0"/>
                        <a:ea typeface="Consolas" charset="0"/>
                        <a:cs typeface="Consolas" charset="0"/>
                      </a:endParaRPr>
                    </a:p>
                  </a:txBody>
                  <a:tcPr marL="76200" marR="76200" marT="25400" marB="254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1752">
                <a:tc>
                  <a:txBody>
                    <a:bodyPr/>
                    <a:lstStyle/>
                    <a:p>
                      <a:pPr marL="0" indent="0">
                        <a:buNone/>
                      </a:pPr>
                      <a:r>
                        <a:rPr lang="en-US" sz="1000" b="1" dirty="0">
                          <a:solidFill>
                            <a:srgbClr val="071B3F"/>
                          </a:solidFill>
                          <a:latin typeface="Consolas" pitchFamily="34" charset="0"/>
                          <a:ea typeface="Consolas" pitchFamily="34" charset="-122"/>
                          <a:cs typeface="Consolas" pitchFamily="34" charset="-120"/>
                        </a:rPr>
                        <a:t>$orderby</a:t>
                      </a:r>
                      <a:endParaRPr lang="en-US" sz="1000" dirty="0">
                        <a:latin typeface="Consolas" charset="0"/>
                        <a:ea typeface="Consolas" charset="0"/>
                        <a:cs typeface="Consolas" charset="0"/>
                      </a:endParaRPr>
                    </a:p>
                  </a:txBody>
                  <a:tcPr marL="76200" marR="76200" marT="25400" marB="254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EEF3FA"/>
                    </a:solidFill>
                  </a:tcPr>
                </a:tc>
                <a:tc>
                  <a:txBody>
                    <a:bodyPr/>
                    <a:lstStyle/>
                    <a:p>
                      <a:pPr marL="0" indent="0">
                        <a:buNone/>
                      </a:pPr>
                      <a:r>
                        <a:rPr lang="en-US" sz="1000" dirty="0">
                          <a:solidFill>
                            <a:srgbClr val="1B2433"/>
                          </a:solidFill>
                          <a:latin typeface="Calibri" pitchFamily="34" charset="0"/>
                          <a:ea typeface="Calibri" pitchFamily="34" charset="-122"/>
                          <a:cs typeface="Calibri" pitchFamily="34" charset="-120"/>
                        </a:rPr>
                        <a:t>Ordena asc / desc por una o más propiedades</a:t>
                      </a:r>
                      <a:endParaRPr lang="en-US" sz="1000" dirty="0">
                        <a:latin typeface="Calibri" charset="0"/>
                        <a:ea typeface="Calibri" charset="0"/>
                        <a:cs typeface="Calibri" charset="0"/>
                      </a:endParaRPr>
                    </a:p>
                  </a:txBody>
                  <a:tcPr marL="76200" marR="76200" marT="25400" marB="254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EEF3FA"/>
                    </a:solidFill>
                  </a:tcPr>
                </a:tc>
                <a:tc>
                  <a:txBody>
                    <a:bodyPr/>
                    <a:lstStyle/>
                    <a:p>
                      <a:pPr marL="0" indent="0">
                        <a:buNone/>
                      </a:pPr>
                      <a:r>
                        <a:rPr lang="en-US" sz="850" dirty="0">
                          <a:solidFill>
                            <a:srgbClr val="0B4DA2"/>
                          </a:solidFill>
                          <a:latin typeface="Consolas" pitchFamily="34" charset="0"/>
                          <a:ea typeface="Consolas" pitchFamily="34" charset="-122"/>
                          <a:cs typeface="Consolas" pitchFamily="34" charset="-120"/>
                        </a:rPr>
                        <a:t>Invoices?$orderby=DocDate desc,DocNum asc</a:t>
                      </a:r>
                      <a:endParaRPr lang="en-US" sz="850" dirty="0">
                        <a:latin typeface="Consolas" charset="0"/>
                        <a:ea typeface="Consolas" charset="0"/>
                        <a:cs typeface="Consolas" charset="0"/>
                      </a:endParaRPr>
                    </a:p>
                  </a:txBody>
                  <a:tcPr marL="76200" marR="76200" marT="25400" marB="254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EEF3FA"/>
                    </a:solidFill>
                  </a:tcPr>
                </a:tc>
                <a:extLst>
                  <a:ext uri="{0D108BD9-81ED-4DB2-BD59-A6C34878D82A}">
                    <a16:rowId xmlns:a16="http://schemas.microsoft.com/office/drawing/2014/main" val="10003"/>
                  </a:ext>
                </a:extLst>
              </a:tr>
              <a:tr h="301752">
                <a:tc>
                  <a:txBody>
                    <a:bodyPr/>
                    <a:lstStyle/>
                    <a:p>
                      <a:pPr marL="0" indent="0">
                        <a:buNone/>
                      </a:pPr>
                      <a:r>
                        <a:rPr lang="en-US" sz="1000" b="1" dirty="0">
                          <a:solidFill>
                            <a:srgbClr val="071B3F"/>
                          </a:solidFill>
                          <a:latin typeface="Consolas" pitchFamily="34" charset="0"/>
                          <a:ea typeface="Consolas" pitchFamily="34" charset="-122"/>
                          <a:cs typeface="Consolas" pitchFamily="34" charset="-120"/>
                        </a:rPr>
                        <a:t>$top / $skip</a:t>
                      </a:r>
                      <a:endParaRPr lang="en-US" sz="1000" dirty="0">
                        <a:latin typeface="Consolas" charset="0"/>
                        <a:ea typeface="Consolas" charset="0"/>
                        <a:cs typeface="Consolas" charset="0"/>
                      </a:endParaRPr>
                    </a:p>
                  </a:txBody>
                  <a:tcPr marL="76200" marR="76200" marT="25400" marB="254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FFFFFF"/>
                    </a:solidFill>
                  </a:tcPr>
                </a:tc>
                <a:tc>
                  <a:txBody>
                    <a:bodyPr/>
                    <a:lstStyle/>
                    <a:p>
                      <a:pPr marL="0" indent="0">
                        <a:buNone/>
                      </a:pPr>
                      <a:r>
                        <a:rPr lang="en-US" sz="1000" dirty="0">
                          <a:solidFill>
                            <a:srgbClr val="1B2433"/>
                          </a:solidFill>
                          <a:latin typeface="Calibri" pitchFamily="34" charset="0"/>
                          <a:ea typeface="Calibri" pitchFamily="34" charset="-122"/>
                          <a:cs typeface="Calibri" pitchFamily="34" charset="-120"/>
                        </a:rPr>
                        <a:t>Limita y desplaza resultados (paginación manual)</a:t>
                      </a:r>
                      <a:endParaRPr lang="en-US" sz="1000" dirty="0">
                        <a:latin typeface="Calibri" charset="0"/>
                        <a:ea typeface="Calibri" charset="0"/>
                        <a:cs typeface="Calibri" charset="0"/>
                      </a:endParaRPr>
                    </a:p>
                  </a:txBody>
                  <a:tcPr marL="76200" marR="76200" marT="25400" marB="254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FFFFFF"/>
                    </a:solidFill>
                  </a:tcPr>
                </a:tc>
                <a:tc>
                  <a:txBody>
                    <a:bodyPr/>
                    <a:lstStyle/>
                    <a:p>
                      <a:pPr marL="0" indent="0">
                        <a:buNone/>
                      </a:pPr>
                      <a:r>
                        <a:rPr lang="en-US" sz="850" dirty="0">
                          <a:solidFill>
                            <a:srgbClr val="0B4DA2"/>
                          </a:solidFill>
                          <a:latin typeface="Consolas" pitchFamily="34" charset="0"/>
                          <a:ea typeface="Consolas" pitchFamily="34" charset="-122"/>
                          <a:cs typeface="Consolas" pitchFamily="34" charset="-120"/>
                        </a:rPr>
                        <a:t>BusinessPartners?$top=20&amp;$skip=40</a:t>
                      </a:r>
                      <a:endParaRPr lang="en-US" sz="850" dirty="0">
                        <a:latin typeface="Consolas" charset="0"/>
                        <a:ea typeface="Consolas" charset="0"/>
                        <a:cs typeface="Consolas" charset="0"/>
                      </a:endParaRPr>
                    </a:p>
                  </a:txBody>
                  <a:tcPr marL="76200" marR="76200" marT="25400" marB="254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1752">
                <a:tc>
                  <a:txBody>
                    <a:bodyPr/>
                    <a:lstStyle/>
                    <a:p>
                      <a:pPr marL="0" indent="0">
                        <a:buNone/>
                      </a:pPr>
                      <a:r>
                        <a:rPr lang="en-US" sz="1000" b="1" dirty="0">
                          <a:solidFill>
                            <a:srgbClr val="071B3F"/>
                          </a:solidFill>
                          <a:latin typeface="Consolas" pitchFamily="34" charset="0"/>
                          <a:ea typeface="Consolas" pitchFamily="34" charset="-122"/>
                          <a:cs typeface="Consolas" pitchFamily="34" charset="-120"/>
                        </a:rPr>
                        <a:t>$expand</a:t>
                      </a:r>
                      <a:endParaRPr lang="en-US" sz="1000" dirty="0">
                        <a:latin typeface="Consolas" charset="0"/>
                        <a:ea typeface="Consolas" charset="0"/>
                        <a:cs typeface="Consolas" charset="0"/>
                      </a:endParaRPr>
                    </a:p>
                  </a:txBody>
                  <a:tcPr marL="76200" marR="76200" marT="25400" marB="254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EEF3FA"/>
                    </a:solidFill>
                  </a:tcPr>
                </a:tc>
                <a:tc>
                  <a:txBody>
                    <a:bodyPr/>
                    <a:lstStyle/>
                    <a:p>
                      <a:pPr marL="0" indent="0">
                        <a:buNone/>
                      </a:pPr>
                      <a:r>
                        <a:rPr lang="en-US" sz="1000" dirty="0">
                          <a:solidFill>
                            <a:srgbClr val="1B2433"/>
                          </a:solidFill>
                          <a:latin typeface="Calibri" pitchFamily="34" charset="0"/>
                          <a:ea typeface="Calibri" pitchFamily="34" charset="-122"/>
                          <a:cs typeface="Calibri" pitchFamily="34" charset="-120"/>
                        </a:rPr>
                        <a:t>Incluye entidades relacionadas en la respuesta</a:t>
                      </a:r>
                      <a:endParaRPr lang="en-US" sz="1000" dirty="0">
                        <a:latin typeface="Calibri" charset="0"/>
                        <a:ea typeface="Calibri" charset="0"/>
                        <a:cs typeface="Calibri" charset="0"/>
                      </a:endParaRPr>
                    </a:p>
                  </a:txBody>
                  <a:tcPr marL="76200" marR="76200" marT="25400" marB="254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EEF3FA"/>
                    </a:solidFill>
                  </a:tcPr>
                </a:tc>
                <a:tc>
                  <a:txBody>
                    <a:bodyPr/>
                    <a:lstStyle/>
                    <a:p>
                      <a:pPr marL="0" indent="0">
                        <a:buNone/>
                      </a:pPr>
                      <a:r>
                        <a:rPr lang="en-US" sz="850" dirty="0">
                          <a:solidFill>
                            <a:srgbClr val="0B4DA2"/>
                          </a:solidFill>
                          <a:latin typeface="Consolas" pitchFamily="34" charset="0"/>
                          <a:ea typeface="Consolas" pitchFamily="34" charset="-122"/>
                          <a:cs typeface="Consolas" pitchFamily="34" charset="-120"/>
                        </a:rPr>
                        <a:t>Orders(125)?$expand=BusinessPartner</a:t>
                      </a:r>
                      <a:endParaRPr lang="en-US" sz="850" dirty="0">
                        <a:latin typeface="Consolas" charset="0"/>
                        <a:ea typeface="Consolas" charset="0"/>
                        <a:cs typeface="Consolas" charset="0"/>
                      </a:endParaRPr>
                    </a:p>
                  </a:txBody>
                  <a:tcPr marL="76200" marR="76200" marT="25400" marB="254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EEF3FA"/>
                    </a:solidFill>
                  </a:tcPr>
                </a:tc>
                <a:extLst>
                  <a:ext uri="{0D108BD9-81ED-4DB2-BD59-A6C34878D82A}">
                    <a16:rowId xmlns:a16="http://schemas.microsoft.com/office/drawing/2014/main" val="10005"/>
                  </a:ext>
                </a:extLst>
              </a:tr>
              <a:tr h="301752">
                <a:tc>
                  <a:txBody>
                    <a:bodyPr/>
                    <a:lstStyle/>
                    <a:p>
                      <a:pPr marL="0" indent="0">
                        <a:buNone/>
                      </a:pPr>
                      <a:r>
                        <a:rPr lang="en-US" sz="1000" b="1" dirty="0">
                          <a:solidFill>
                            <a:srgbClr val="071B3F"/>
                          </a:solidFill>
                          <a:latin typeface="Consolas" pitchFamily="34" charset="0"/>
                          <a:ea typeface="Consolas" pitchFamily="34" charset="-122"/>
                          <a:cs typeface="Consolas" pitchFamily="34" charset="-120"/>
                        </a:rPr>
                        <a:t>$count</a:t>
                      </a:r>
                      <a:endParaRPr lang="en-US" sz="1000" dirty="0">
                        <a:latin typeface="Consolas" charset="0"/>
                        <a:ea typeface="Consolas" charset="0"/>
                        <a:cs typeface="Consolas" charset="0"/>
                      </a:endParaRPr>
                    </a:p>
                  </a:txBody>
                  <a:tcPr marL="76200" marR="76200" marT="25400" marB="254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FFFFFF"/>
                    </a:solidFill>
                  </a:tcPr>
                </a:tc>
                <a:tc>
                  <a:txBody>
                    <a:bodyPr/>
                    <a:lstStyle/>
                    <a:p>
                      <a:pPr marL="0" indent="0">
                        <a:buNone/>
                      </a:pPr>
                      <a:r>
                        <a:rPr lang="en-US" sz="1000" dirty="0">
                          <a:solidFill>
                            <a:srgbClr val="1B2433"/>
                          </a:solidFill>
                          <a:latin typeface="Calibri" pitchFamily="34" charset="0"/>
                          <a:ea typeface="Calibri" pitchFamily="34" charset="-122"/>
                          <a:cs typeface="Calibri" pitchFamily="34" charset="-120"/>
                        </a:rPr>
                        <a:t>Devuelve el total de registros</a:t>
                      </a:r>
                      <a:endParaRPr lang="en-US" sz="1000" dirty="0">
                        <a:latin typeface="Calibri" charset="0"/>
                        <a:ea typeface="Calibri" charset="0"/>
                        <a:cs typeface="Calibri" charset="0"/>
                      </a:endParaRPr>
                    </a:p>
                  </a:txBody>
                  <a:tcPr marL="76200" marR="76200" marT="25400" marB="254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FFFFFF"/>
                    </a:solidFill>
                  </a:tcPr>
                </a:tc>
                <a:tc>
                  <a:txBody>
                    <a:bodyPr/>
                    <a:lstStyle/>
                    <a:p>
                      <a:pPr marL="0" indent="0">
                        <a:buNone/>
                      </a:pPr>
                      <a:r>
                        <a:rPr lang="en-US" sz="850" dirty="0">
                          <a:solidFill>
                            <a:srgbClr val="0B4DA2"/>
                          </a:solidFill>
                          <a:latin typeface="Consolas" pitchFamily="34" charset="0"/>
                          <a:ea typeface="Consolas" pitchFamily="34" charset="-122"/>
                          <a:cs typeface="Consolas" pitchFamily="34" charset="-120"/>
                        </a:rPr>
                        <a:t>Orders/$count?$filter=DocumentStatus eq 'bost_Open'</a:t>
                      </a:r>
                      <a:endParaRPr lang="en-US" sz="850" dirty="0">
                        <a:latin typeface="Consolas" charset="0"/>
                        <a:ea typeface="Consolas" charset="0"/>
                        <a:cs typeface="Consolas" charset="0"/>
                      </a:endParaRPr>
                    </a:p>
                  </a:txBody>
                  <a:tcPr marL="76200" marR="76200" marT="25400" marB="254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01752">
                <a:tc>
                  <a:txBody>
                    <a:bodyPr/>
                    <a:lstStyle/>
                    <a:p>
                      <a:pPr marL="0" indent="0">
                        <a:buNone/>
                      </a:pPr>
                      <a:r>
                        <a:rPr lang="en-US" sz="1000" b="1" dirty="0">
                          <a:solidFill>
                            <a:srgbClr val="071B3F"/>
                          </a:solidFill>
                          <a:latin typeface="Consolas" pitchFamily="34" charset="0"/>
                          <a:ea typeface="Consolas" pitchFamily="34" charset="-122"/>
                          <a:cs typeface="Consolas" pitchFamily="34" charset="-120"/>
                        </a:rPr>
                        <a:t>$apply</a:t>
                      </a:r>
                      <a:endParaRPr lang="en-US" sz="1000" dirty="0">
                        <a:latin typeface="Consolas" charset="0"/>
                        <a:ea typeface="Consolas" charset="0"/>
                        <a:cs typeface="Consolas" charset="0"/>
                      </a:endParaRPr>
                    </a:p>
                  </a:txBody>
                  <a:tcPr marL="76200" marR="76200" marT="25400" marB="254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EEF3FA"/>
                    </a:solidFill>
                  </a:tcPr>
                </a:tc>
                <a:tc>
                  <a:txBody>
                    <a:bodyPr/>
                    <a:lstStyle/>
                    <a:p>
                      <a:pPr marL="0" indent="0">
                        <a:buNone/>
                      </a:pPr>
                      <a:r>
                        <a:rPr lang="en-US" sz="1000" dirty="0">
                          <a:solidFill>
                            <a:srgbClr val="1B2433"/>
                          </a:solidFill>
                          <a:latin typeface="Calibri" pitchFamily="34" charset="0"/>
                          <a:ea typeface="Calibri" pitchFamily="34" charset="-122"/>
                          <a:cs typeface="Calibri" pitchFamily="34" charset="-120"/>
                        </a:rPr>
                        <a:t>Agrupa y agrega: groupby, aggregate (según versión)</a:t>
                      </a:r>
                      <a:endParaRPr lang="en-US" sz="1000" dirty="0">
                        <a:latin typeface="Calibri" charset="0"/>
                        <a:ea typeface="Calibri" charset="0"/>
                        <a:cs typeface="Calibri" charset="0"/>
                      </a:endParaRPr>
                    </a:p>
                  </a:txBody>
                  <a:tcPr marL="76200" marR="76200" marT="25400" marB="254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EEF3FA"/>
                    </a:solidFill>
                  </a:tcPr>
                </a:tc>
                <a:tc>
                  <a:txBody>
                    <a:bodyPr/>
                    <a:lstStyle/>
                    <a:p>
                      <a:pPr marL="0" indent="0">
                        <a:buNone/>
                      </a:pPr>
                      <a:r>
                        <a:rPr lang="en-US" sz="850" dirty="0">
                          <a:solidFill>
                            <a:srgbClr val="0B4DA2"/>
                          </a:solidFill>
                          <a:latin typeface="Consolas" pitchFamily="34" charset="0"/>
                          <a:ea typeface="Consolas" pitchFamily="34" charset="-122"/>
                          <a:cs typeface="Consolas" pitchFamily="34" charset="-120"/>
                        </a:rPr>
                        <a:t>Invoices?$apply=groupby((CardCode),aggregate(DocTotal with sum as Total))</a:t>
                      </a:r>
                      <a:endParaRPr lang="en-US" sz="850" dirty="0">
                        <a:latin typeface="Consolas" charset="0"/>
                        <a:ea typeface="Consolas" charset="0"/>
                        <a:cs typeface="Consolas" charset="0"/>
                      </a:endParaRPr>
                    </a:p>
                  </a:txBody>
                  <a:tcPr marL="76200" marR="76200" marT="25400" marB="254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EEF3FA"/>
                    </a:solidFill>
                  </a:tcPr>
                </a:tc>
                <a:extLst>
                  <a:ext uri="{0D108BD9-81ED-4DB2-BD59-A6C34878D82A}">
                    <a16:rowId xmlns:a16="http://schemas.microsoft.com/office/drawing/2014/main" val="10007"/>
                  </a:ext>
                </a:extLst>
              </a:tr>
              <a:tr h="301752">
                <a:tc>
                  <a:txBody>
                    <a:bodyPr/>
                    <a:lstStyle/>
                    <a:p>
                      <a:pPr marL="0" indent="0">
                        <a:buNone/>
                      </a:pPr>
                      <a:r>
                        <a:rPr lang="en-US" sz="1000" b="1" dirty="0">
                          <a:solidFill>
                            <a:srgbClr val="071B3F"/>
                          </a:solidFill>
                          <a:latin typeface="Consolas" pitchFamily="34" charset="0"/>
                          <a:ea typeface="Consolas" pitchFamily="34" charset="-122"/>
                          <a:cs typeface="Consolas" pitchFamily="34" charset="-120"/>
                        </a:rPr>
                        <a:t>$crossjoin</a:t>
                      </a:r>
                      <a:endParaRPr lang="en-US" sz="1000" dirty="0">
                        <a:latin typeface="Consolas" charset="0"/>
                        <a:ea typeface="Consolas" charset="0"/>
                        <a:cs typeface="Consolas" charset="0"/>
                      </a:endParaRPr>
                    </a:p>
                  </a:txBody>
                  <a:tcPr marL="76200" marR="76200" marT="25400" marB="254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FFFFFF"/>
                    </a:solidFill>
                  </a:tcPr>
                </a:tc>
                <a:tc>
                  <a:txBody>
                    <a:bodyPr/>
                    <a:lstStyle/>
                    <a:p>
                      <a:pPr marL="0" indent="0">
                        <a:buNone/>
                      </a:pPr>
                      <a:r>
                        <a:rPr lang="en-US" sz="1000" dirty="0">
                          <a:solidFill>
                            <a:srgbClr val="1B2433"/>
                          </a:solidFill>
                          <a:latin typeface="Calibri" pitchFamily="34" charset="0"/>
                          <a:ea typeface="Calibri" pitchFamily="34" charset="-122"/>
                          <a:cs typeface="Calibri" pitchFamily="34" charset="-120"/>
                        </a:rPr>
                        <a:t>Cruza dos o más entidades (tipo JOIN)</a:t>
                      </a:r>
                      <a:endParaRPr lang="en-US" sz="1000" dirty="0">
                        <a:latin typeface="Calibri" charset="0"/>
                        <a:ea typeface="Calibri" charset="0"/>
                        <a:cs typeface="Calibri" charset="0"/>
                      </a:endParaRPr>
                    </a:p>
                  </a:txBody>
                  <a:tcPr marL="76200" marR="76200" marT="25400" marB="254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FFFFFF"/>
                    </a:solidFill>
                  </a:tcPr>
                </a:tc>
                <a:tc>
                  <a:txBody>
                    <a:bodyPr/>
                    <a:lstStyle/>
                    <a:p>
                      <a:pPr marL="0" indent="0">
                        <a:buNone/>
                      </a:pPr>
                      <a:r>
                        <a:rPr lang="en-US" sz="850" dirty="0">
                          <a:solidFill>
                            <a:srgbClr val="0B4DA2"/>
                          </a:solidFill>
                          <a:latin typeface="Consolas" pitchFamily="34" charset="0"/>
                          <a:ea typeface="Consolas" pitchFamily="34" charset="-122"/>
                          <a:cs typeface="Consolas" pitchFamily="34" charset="-120"/>
                        </a:rPr>
                        <a:t>$crossjoin(Orders,BusinessPartners)?$filter=...</a:t>
                      </a:r>
                      <a:endParaRPr lang="en-US" sz="850" dirty="0">
                        <a:latin typeface="Consolas" charset="0"/>
                        <a:ea typeface="Consolas" charset="0"/>
                        <a:cs typeface="Consolas" charset="0"/>
                      </a:endParaRPr>
                    </a:p>
                  </a:txBody>
                  <a:tcPr marL="76200" marR="76200" marT="25400" marB="254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8" name="Shape 5"/>
          <p:cNvSpPr/>
          <p:nvPr/>
        </p:nvSpPr>
        <p:spPr>
          <a:xfrm>
            <a:off x="457200" y="4315968"/>
            <a:ext cx="8229600" cy="411480"/>
          </a:xfrm>
          <a:prstGeom prst="roundRect">
            <a:avLst>
              <a:gd name="adj" fmla="val 17778"/>
            </a:avLst>
          </a:prstGeom>
          <a:solidFill>
            <a:srgbClr val="FFF8E6"/>
          </a:solidFill>
          <a:ln w="9525">
            <a:solidFill>
              <a:srgbClr val="D5DFEC"/>
            </a:solidFill>
            <a:prstDash val="solid"/>
          </a:ln>
          <a:effectLst>
            <a:outerShdw blurRad="101600" dist="25400" dir="5400000" algn="bl" rotWithShape="0">
              <a:srgbClr val="0B2A55">
                <a:alpha val="12000"/>
              </a:srgbClr>
            </a:outerShdw>
          </a:effectLst>
        </p:spPr>
      </p:sp>
      <p:sp>
        <p:nvSpPr>
          <p:cNvPr id="9" name="Text 6"/>
          <p:cNvSpPr txBox="1"/>
          <p:nvPr/>
        </p:nvSpPr>
        <p:spPr>
          <a:xfrm>
            <a:off x="640080" y="4315968"/>
            <a:ext cx="7955280" cy="411480"/>
          </a:xfrm>
          <a:prstGeom prst="rect">
            <a:avLst/>
          </a:prstGeom>
          <a:noFill/>
          <a:ln/>
        </p:spPr>
        <p:txBody>
          <a:bodyPr wrap="square" lIns="0" tIns="0" rIns="0" bIns="0" rtlCol="0" anchor="ctr"/>
          <a:lstStyle/>
          <a:p>
            <a:pPr marL="0" indent="0">
              <a:buNone/>
            </a:pPr>
            <a:r>
              <a:rPr lang="en-US" sz="1050" b="1" dirty="0">
                <a:solidFill>
                  <a:srgbClr val="071B3F"/>
                </a:solidFill>
                <a:latin typeface="Calibri" pitchFamily="34" charset="0"/>
                <a:ea typeface="Calibri" pitchFamily="34" charset="-122"/>
                <a:cs typeface="Calibri" pitchFamily="34" charset="-120"/>
              </a:rPr>
              <a:t>Headers útiles: </a:t>
            </a:r>
            <a:r>
              <a:rPr lang="en-US" sz="1050" dirty="0">
                <a:solidFill>
                  <a:srgbClr val="0B4DA2"/>
                </a:solidFill>
                <a:latin typeface="Consolas" pitchFamily="34" charset="0"/>
                <a:ea typeface="Consolas" pitchFamily="34" charset="-122"/>
                <a:cs typeface="Consolas" pitchFamily="34" charset="-120"/>
              </a:rPr>
              <a:t>Prefer: odata.maxpagesize=100</a:t>
            </a:r>
            <a:r>
              <a:rPr lang="en-US" sz="1050" dirty="0">
                <a:solidFill>
                  <a:srgbClr val="1B2433"/>
                </a:solidFill>
                <a:latin typeface="Calibri" pitchFamily="34" charset="0"/>
                <a:ea typeface="Calibri" pitchFamily="34" charset="-122"/>
                <a:cs typeface="Calibri" pitchFamily="34" charset="-120"/>
              </a:rPr>
              <a:t>  (tamaño de página)   ·   </a:t>
            </a:r>
            <a:r>
              <a:rPr lang="en-US" sz="1050" dirty="0">
                <a:solidFill>
                  <a:srgbClr val="0B4DA2"/>
                </a:solidFill>
                <a:latin typeface="Consolas" pitchFamily="34" charset="0"/>
                <a:ea typeface="Consolas" pitchFamily="34" charset="-122"/>
                <a:cs typeface="Consolas" pitchFamily="34" charset="-120"/>
              </a:rPr>
              <a:t>B1S-CaseInsensitive: true</a:t>
            </a:r>
            <a:r>
              <a:rPr lang="en-US" sz="1050" dirty="0">
                <a:solidFill>
                  <a:srgbClr val="1B2433"/>
                </a:solidFill>
                <a:latin typeface="Calibri" pitchFamily="34" charset="0"/>
                <a:ea typeface="Calibri" pitchFamily="34" charset="-122"/>
                <a:cs typeface="Calibri" pitchFamily="34" charset="-120"/>
              </a:rPr>
              <a:t>  (ignora mayúsculas)</a:t>
            </a:r>
            <a:endParaRPr lang="en-US" sz="1050" dirty="0"/>
          </a:p>
        </p:txBody>
      </p:sp>
      <p:sp>
        <p:nvSpPr>
          <p:cNvPr id="25"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xmlns="" val="0"/>
            </a:ext>
          </a:extLst>
        </p:spPr>
        <p:txBody>
          <a:bodyPr/>
          <a:lstStyle>
            <a:lvl1pPr>
              <a:defRPr sz="800">
                <a:solidFill>
                  <a:srgbClr val="8A9AB0"/>
                </a:solidFill>
                <a:latin typeface="Calibri"/>
                <a:ea typeface="Calibri"/>
                <a:cs typeface="Calibri"/>
              </a:defRPr>
            </a:lvl1pPr>
          </a:lstStyle>
          <a:p>
            <a:pPr algn="r"/>
            <a:fld id="{F7021451-1387-4CA6-816F-3879F97B5CBC}" type="slidenum">
              <a:rPr lang="en-US" b="0"/>
              <a:t>30</a:t>
            </a:fld>
            <a:endParaRPr lang="en-US"/>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457200" y="256032"/>
            <a:ext cx="2505456" cy="237744"/>
          </a:xfrm>
          <a:prstGeom prst="roundRect">
            <a:avLst>
              <a:gd name="adj" fmla="val 50000"/>
            </a:avLst>
          </a:prstGeom>
          <a:solidFill>
            <a:srgbClr val="071B3F"/>
          </a:solidFill>
          <a:ln w="12700">
            <a:solidFill>
              <a:srgbClr val="071B3F"/>
            </a:solidFill>
            <a:prstDash val="solid"/>
          </a:ln>
        </p:spPr>
      </p:sp>
      <p:sp>
        <p:nvSpPr>
          <p:cNvPr id="3" name="Text 1"/>
          <p:cNvSpPr txBox="1"/>
          <p:nvPr/>
        </p:nvSpPr>
        <p:spPr>
          <a:xfrm>
            <a:off x="457200" y="256032"/>
            <a:ext cx="2505456" cy="237744"/>
          </a:xfrm>
          <a:prstGeom prst="rect">
            <a:avLst/>
          </a:prstGeom>
          <a:noFill/>
          <a:ln/>
        </p:spPr>
        <p:txBody>
          <a:bodyPr wrap="square" lIns="0" tIns="0" rIns="0" bIns="0" rtlCol="0" anchor="ctr"/>
          <a:lstStyle/>
          <a:p>
            <a:pPr marL="0" indent="0" algn="ctr">
              <a:buNone/>
            </a:pPr>
            <a:r>
              <a:rPr lang="en-US" sz="850" b="1" kern="0" spc="100" dirty="0">
                <a:solidFill>
                  <a:srgbClr val="F5A800"/>
                </a:solidFill>
                <a:latin typeface="Segoe UI" pitchFamily="34" charset="0"/>
                <a:ea typeface="Segoe UI" pitchFamily="34" charset="-122"/>
                <a:cs typeface="Segoe UI" pitchFamily="34" charset="-120"/>
              </a:rPr>
              <a:t>05  ·  FLUJOS DE OPERACIÓN III</a:t>
            </a:r>
            <a:endParaRPr lang="en-US" sz="850" dirty="0"/>
          </a:p>
        </p:txBody>
      </p:sp>
      <p:sp>
        <p:nvSpPr>
          <p:cNvPr id="4" name="Text 2"/>
          <p:cNvSpPr txBox="1"/>
          <p:nvPr/>
        </p:nvSpPr>
        <p:spPr>
          <a:xfrm>
            <a:off x="457200" y="566928"/>
            <a:ext cx="8229600" cy="502920"/>
          </a:xfrm>
          <a:prstGeom prst="rect">
            <a:avLst/>
          </a:prstGeom>
          <a:noFill/>
          <a:ln/>
        </p:spPr>
        <p:txBody>
          <a:bodyPr wrap="square" lIns="0" tIns="0" rIns="0" bIns="0" rtlCol="0" anchor="ctr"/>
          <a:lstStyle/>
          <a:p>
            <a:pPr marL="0" indent="0">
              <a:buNone/>
            </a:pPr>
            <a:r>
              <a:rPr lang="en-US" sz="2400" b="1" dirty="0">
                <a:solidFill>
                  <a:srgbClr val="071B3F"/>
                </a:solidFill>
                <a:latin typeface="Segoe UI" pitchFamily="34" charset="0"/>
                <a:ea typeface="Segoe UI" pitchFamily="34" charset="-122"/>
                <a:cs typeface="Segoe UI" pitchFamily="34" charset="-120"/>
              </a:rPr>
              <a:t>$filter: operadores, funciones y versiones</a:t>
            </a:r>
            <a:endParaRPr lang="en-US" sz="2400" dirty="0"/>
          </a:p>
        </p:txBody>
      </p:sp>
      <p:sp>
        <p:nvSpPr>
          <p:cNvPr id="5" name="Text 3"/>
          <p:cNvSpPr txBox="1"/>
          <p:nvPr/>
        </p:nvSpPr>
        <p:spPr>
          <a:xfrm>
            <a:off x="457200" y="1051560"/>
            <a:ext cx="8229600" cy="274320"/>
          </a:xfrm>
          <a:prstGeom prst="rect">
            <a:avLst/>
          </a:prstGeom>
          <a:noFill/>
          <a:ln/>
        </p:spPr>
        <p:txBody>
          <a:bodyPr wrap="square" lIns="0" tIns="0" rIns="0" bIns="0" rtlCol="0" anchor="ctr"/>
          <a:lstStyle/>
          <a:p>
            <a:pPr marL="0" indent="0">
              <a:buNone/>
            </a:pPr>
            <a:r>
              <a:rPr lang="en-US" sz="1250" dirty="0">
                <a:solidFill>
                  <a:srgbClr val="5B6B82"/>
                </a:solidFill>
                <a:latin typeface="Calibri" pitchFamily="34" charset="0"/>
                <a:ea typeface="Calibri" pitchFamily="34" charset="-122"/>
                <a:cs typeface="Calibri" pitchFamily="34" charset="-120"/>
              </a:rPr>
              <a:t>La opción más usada, y donde más cambian v1 (OData v3) y v2 (OData v4)</a:t>
            </a:r>
            <a:endParaRPr lang="en-US" sz="1250" dirty="0"/>
          </a:p>
        </p:txBody>
      </p:sp>
      <p:sp>
        <p:nvSpPr>
          <p:cNvPr id="6" name="Text 4"/>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00" dirty="0">
                <a:solidFill>
                  <a:srgbClr val="8A9AB0"/>
                </a:solidFill>
                <a:latin typeface="Calibri" pitchFamily="34" charset="0"/>
                <a:ea typeface="Calibri" pitchFamily="34" charset="-122"/>
                <a:cs typeface="Calibri" pitchFamily="34" charset="-120"/>
              </a:rPr>
              <a:t>Ventura Soluciones  |  SAP Business One · Service Layer</a:t>
            </a:r>
            <a:endParaRPr lang="en-US" sz="800" dirty="0"/>
          </a:p>
        </p:txBody>
      </p:sp>
      <p:sp>
        <p:nvSpPr>
          <p:cNvPr id="7" name="Text 5"/>
          <p:cNvSpPr txBox="1"/>
          <p:nvPr/>
        </p:nvSpPr>
        <p:spPr>
          <a:xfrm>
            <a:off x="457200" y="1371600"/>
            <a:ext cx="3840480" cy="256032"/>
          </a:xfrm>
          <a:prstGeom prst="rect">
            <a:avLst/>
          </a:prstGeom>
          <a:noFill/>
          <a:ln/>
        </p:spPr>
        <p:txBody>
          <a:bodyPr wrap="square" lIns="0" tIns="0" rIns="0" bIns="0" rtlCol="0" anchor="t"/>
          <a:lstStyle/>
          <a:p>
            <a:pPr marL="0" indent="0">
              <a:buNone/>
            </a:pPr>
            <a:r>
              <a:rPr lang="en-US" sz="1200" b="1" dirty="0">
                <a:solidFill>
                  <a:srgbClr val="071B3F"/>
                </a:solidFill>
                <a:latin typeface="Segoe UI" pitchFamily="34" charset="0"/>
                <a:ea typeface="Segoe UI" pitchFamily="34" charset="-122"/>
                <a:cs typeface="Segoe UI" pitchFamily="34" charset="-120"/>
              </a:rPr>
              <a:t>Operadores</a:t>
            </a:r>
            <a:endParaRPr lang="en-US" sz="1200" dirty="0"/>
          </a:p>
        </p:txBody>
      </p:sp>
      <p:sp>
        <p:nvSpPr>
          <p:cNvPr id="8" name="Shape 6"/>
          <p:cNvSpPr/>
          <p:nvPr/>
        </p:nvSpPr>
        <p:spPr>
          <a:xfrm>
            <a:off x="457200" y="1691640"/>
            <a:ext cx="868680" cy="512064"/>
          </a:xfrm>
          <a:prstGeom prst="roundRect">
            <a:avLst>
              <a:gd name="adj" fmla="val 10714"/>
            </a:avLst>
          </a:prstGeom>
          <a:solidFill>
            <a:srgbClr val="FFFFFF"/>
          </a:solidFill>
          <a:ln w="9525">
            <a:solidFill>
              <a:srgbClr val="D5DFEC"/>
            </a:solidFill>
            <a:prstDash val="solid"/>
          </a:ln>
        </p:spPr>
      </p:sp>
      <p:sp>
        <p:nvSpPr>
          <p:cNvPr id="9" name="Text 7"/>
          <p:cNvSpPr txBox="1"/>
          <p:nvPr/>
        </p:nvSpPr>
        <p:spPr>
          <a:xfrm>
            <a:off x="457200" y="1728216"/>
            <a:ext cx="868680" cy="237744"/>
          </a:xfrm>
          <a:prstGeom prst="rect">
            <a:avLst/>
          </a:prstGeom>
          <a:noFill/>
          <a:ln/>
        </p:spPr>
        <p:txBody>
          <a:bodyPr wrap="square" lIns="0" tIns="0" rIns="0" bIns="0" rtlCol="0" anchor="ctr"/>
          <a:lstStyle/>
          <a:p>
            <a:pPr marL="0" indent="0" algn="ctr">
              <a:buNone/>
            </a:pPr>
            <a:r>
              <a:rPr lang="en-US" sz="950" b="1" dirty="0">
                <a:solidFill>
                  <a:srgbClr val="0B4DA2"/>
                </a:solidFill>
                <a:latin typeface="Consolas" pitchFamily="34" charset="0"/>
                <a:ea typeface="Consolas" pitchFamily="34" charset="-122"/>
                <a:cs typeface="Consolas" pitchFamily="34" charset="-120"/>
              </a:rPr>
              <a:t>eq</a:t>
            </a:r>
            <a:endParaRPr lang="en-US" sz="950" dirty="0"/>
          </a:p>
        </p:txBody>
      </p:sp>
      <p:sp>
        <p:nvSpPr>
          <p:cNvPr id="10" name="Text 8"/>
          <p:cNvSpPr txBox="1"/>
          <p:nvPr/>
        </p:nvSpPr>
        <p:spPr>
          <a:xfrm>
            <a:off x="457200" y="1965960"/>
            <a:ext cx="868680" cy="201168"/>
          </a:xfrm>
          <a:prstGeom prst="rect">
            <a:avLst/>
          </a:prstGeom>
          <a:noFill/>
          <a:ln/>
        </p:spPr>
        <p:txBody>
          <a:bodyPr wrap="square" lIns="0" tIns="0" rIns="0" bIns="0" rtlCol="0" anchor="ctr"/>
          <a:lstStyle/>
          <a:p>
            <a:pPr marL="0" indent="0" algn="ctr">
              <a:buNone/>
            </a:pPr>
            <a:r>
              <a:rPr lang="en-US" sz="850" dirty="0">
                <a:solidFill>
                  <a:srgbClr val="5B6B82"/>
                </a:solidFill>
                <a:latin typeface="Calibri" pitchFamily="34" charset="0"/>
                <a:ea typeface="Calibri" pitchFamily="34" charset="-122"/>
                <a:cs typeface="Calibri" pitchFamily="34" charset="-120"/>
              </a:rPr>
              <a:t>igual</a:t>
            </a:r>
            <a:endParaRPr lang="en-US" sz="850" dirty="0"/>
          </a:p>
        </p:txBody>
      </p:sp>
      <p:sp>
        <p:nvSpPr>
          <p:cNvPr id="11" name="Shape 9"/>
          <p:cNvSpPr/>
          <p:nvPr/>
        </p:nvSpPr>
        <p:spPr>
          <a:xfrm>
            <a:off x="1399032" y="1691640"/>
            <a:ext cx="868680" cy="512064"/>
          </a:xfrm>
          <a:prstGeom prst="roundRect">
            <a:avLst>
              <a:gd name="adj" fmla="val 10714"/>
            </a:avLst>
          </a:prstGeom>
          <a:solidFill>
            <a:srgbClr val="FFFFFF"/>
          </a:solidFill>
          <a:ln w="9525">
            <a:solidFill>
              <a:srgbClr val="D5DFEC"/>
            </a:solidFill>
            <a:prstDash val="solid"/>
          </a:ln>
        </p:spPr>
      </p:sp>
      <p:sp>
        <p:nvSpPr>
          <p:cNvPr id="12" name="Text 10"/>
          <p:cNvSpPr txBox="1"/>
          <p:nvPr/>
        </p:nvSpPr>
        <p:spPr>
          <a:xfrm>
            <a:off x="1399032" y="1728216"/>
            <a:ext cx="868680" cy="237744"/>
          </a:xfrm>
          <a:prstGeom prst="rect">
            <a:avLst/>
          </a:prstGeom>
          <a:noFill/>
          <a:ln/>
        </p:spPr>
        <p:txBody>
          <a:bodyPr wrap="square" lIns="0" tIns="0" rIns="0" bIns="0" rtlCol="0" anchor="ctr"/>
          <a:lstStyle/>
          <a:p>
            <a:pPr marL="0" indent="0" algn="ctr">
              <a:buNone/>
            </a:pPr>
            <a:r>
              <a:rPr lang="en-US" sz="950" b="1" dirty="0">
                <a:solidFill>
                  <a:srgbClr val="0B4DA2"/>
                </a:solidFill>
                <a:latin typeface="Consolas" pitchFamily="34" charset="0"/>
                <a:ea typeface="Consolas" pitchFamily="34" charset="-122"/>
                <a:cs typeface="Consolas" pitchFamily="34" charset="-120"/>
              </a:rPr>
              <a:t>ne</a:t>
            </a:r>
            <a:endParaRPr lang="en-US" sz="950" dirty="0"/>
          </a:p>
        </p:txBody>
      </p:sp>
      <p:sp>
        <p:nvSpPr>
          <p:cNvPr id="13" name="Text 11"/>
          <p:cNvSpPr txBox="1"/>
          <p:nvPr/>
        </p:nvSpPr>
        <p:spPr>
          <a:xfrm>
            <a:off x="1399032" y="1965960"/>
            <a:ext cx="868680" cy="201168"/>
          </a:xfrm>
          <a:prstGeom prst="rect">
            <a:avLst/>
          </a:prstGeom>
          <a:noFill/>
          <a:ln/>
        </p:spPr>
        <p:txBody>
          <a:bodyPr wrap="square" lIns="0" tIns="0" rIns="0" bIns="0" rtlCol="0" anchor="ctr"/>
          <a:lstStyle/>
          <a:p>
            <a:pPr marL="0" indent="0" algn="ctr">
              <a:buNone/>
            </a:pPr>
            <a:r>
              <a:rPr lang="en-US" sz="850" dirty="0">
                <a:solidFill>
                  <a:srgbClr val="5B6B82"/>
                </a:solidFill>
                <a:latin typeface="Calibri" pitchFamily="34" charset="0"/>
                <a:ea typeface="Calibri" pitchFamily="34" charset="-122"/>
                <a:cs typeface="Calibri" pitchFamily="34" charset="-120"/>
              </a:rPr>
              <a:t>distinto</a:t>
            </a:r>
            <a:endParaRPr lang="en-US" sz="850" dirty="0"/>
          </a:p>
        </p:txBody>
      </p:sp>
      <p:sp>
        <p:nvSpPr>
          <p:cNvPr id="14" name="Shape 12"/>
          <p:cNvSpPr/>
          <p:nvPr/>
        </p:nvSpPr>
        <p:spPr>
          <a:xfrm>
            <a:off x="2340864" y="1691640"/>
            <a:ext cx="868680" cy="512064"/>
          </a:xfrm>
          <a:prstGeom prst="roundRect">
            <a:avLst>
              <a:gd name="adj" fmla="val 10714"/>
            </a:avLst>
          </a:prstGeom>
          <a:solidFill>
            <a:srgbClr val="FFFFFF"/>
          </a:solidFill>
          <a:ln w="9525">
            <a:solidFill>
              <a:srgbClr val="D5DFEC"/>
            </a:solidFill>
            <a:prstDash val="solid"/>
          </a:ln>
        </p:spPr>
      </p:sp>
      <p:sp>
        <p:nvSpPr>
          <p:cNvPr id="15" name="Text 13"/>
          <p:cNvSpPr txBox="1"/>
          <p:nvPr/>
        </p:nvSpPr>
        <p:spPr>
          <a:xfrm>
            <a:off x="2340864" y="1728216"/>
            <a:ext cx="868680" cy="237744"/>
          </a:xfrm>
          <a:prstGeom prst="rect">
            <a:avLst/>
          </a:prstGeom>
          <a:noFill/>
          <a:ln/>
        </p:spPr>
        <p:txBody>
          <a:bodyPr wrap="square" lIns="0" tIns="0" rIns="0" bIns="0" rtlCol="0" anchor="ctr"/>
          <a:lstStyle/>
          <a:p>
            <a:pPr marL="0" indent="0" algn="ctr">
              <a:buNone/>
            </a:pPr>
            <a:r>
              <a:rPr lang="en-US" sz="950" b="1" dirty="0">
                <a:solidFill>
                  <a:srgbClr val="0B4DA2"/>
                </a:solidFill>
                <a:latin typeface="Consolas" pitchFamily="34" charset="0"/>
                <a:ea typeface="Consolas" pitchFamily="34" charset="-122"/>
                <a:cs typeface="Consolas" pitchFamily="34" charset="-120"/>
              </a:rPr>
              <a:t>gt</a:t>
            </a:r>
            <a:endParaRPr lang="en-US" sz="950" dirty="0"/>
          </a:p>
        </p:txBody>
      </p:sp>
      <p:sp>
        <p:nvSpPr>
          <p:cNvPr id="16" name="Text 14"/>
          <p:cNvSpPr txBox="1"/>
          <p:nvPr/>
        </p:nvSpPr>
        <p:spPr>
          <a:xfrm>
            <a:off x="2340864" y="1965960"/>
            <a:ext cx="868680" cy="201168"/>
          </a:xfrm>
          <a:prstGeom prst="rect">
            <a:avLst/>
          </a:prstGeom>
          <a:noFill/>
          <a:ln/>
        </p:spPr>
        <p:txBody>
          <a:bodyPr wrap="square" lIns="0" tIns="0" rIns="0" bIns="0" rtlCol="0" anchor="ctr"/>
          <a:lstStyle/>
          <a:p>
            <a:pPr marL="0" indent="0" algn="ctr">
              <a:buNone/>
            </a:pPr>
            <a:r>
              <a:rPr lang="en-US" sz="850" dirty="0">
                <a:solidFill>
                  <a:srgbClr val="5B6B82"/>
                </a:solidFill>
                <a:latin typeface="Calibri" pitchFamily="34" charset="0"/>
                <a:ea typeface="Calibri" pitchFamily="34" charset="-122"/>
                <a:cs typeface="Calibri" pitchFamily="34" charset="-120"/>
              </a:rPr>
              <a:t>mayor</a:t>
            </a:r>
            <a:endParaRPr lang="en-US" sz="850" dirty="0"/>
          </a:p>
        </p:txBody>
      </p:sp>
      <p:sp>
        <p:nvSpPr>
          <p:cNvPr id="17" name="Shape 15"/>
          <p:cNvSpPr/>
          <p:nvPr/>
        </p:nvSpPr>
        <p:spPr>
          <a:xfrm>
            <a:off x="3282696" y="1691640"/>
            <a:ext cx="868680" cy="512064"/>
          </a:xfrm>
          <a:prstGeom prst="roundRect">
            <a:avLst>
              <a:gd name="adj" fmla="val 10714"/>
            </a:avLst>
          </a:prstGeom>
          <a:solidFill>
            <a:srgbClr val="FFFFFF"/>
          </a:solidFill>
          <a:ln w="9525">
            <a:solidFill>
              <a:srgbClr val="D5DFEC"/>
            </a:solidFill>
            <a:prstDash val="solid"/>
          </a:ln>
        </p:spPr>
      </p:sp>
      <p:sp>
        <p:nvSpPr>
          <p:cNvPr id="18" name="Text 16"/>
          <p:cNvSpPr txBox="1"/>
          <p:nvPr/>
        </p:nvSpPr>
        <p:spPr>
          <a:xfrm>
            <a:off x="3282696" y="1728216"/>
            <a:ext cx="868680" cy="237744"/>
          </a:xfrm>
          <a:prstGeom prst="rect">
            <a:avLst/>
          </a:prstGeom>
          <a:noFill/>
          <a:ln/>
        </p:spPr>
        <p:txBody>
          <a:bodyPr wrap="square" lIns="0" tIns="0" rIns="0" bIns="0" rtlCol="0" anchor="ctr"/>
          <a:lstStyle/>
          <a:p>
            <a:pPr marL="0" indent="0" algn="ctr">
              <a:buNone/>
            </a:pPr>
            <a:r>
              <a:rPr lang="en-US" sz="950" b="1" dirty="0">
                <a:solidFill>
                  <a:srgbClr val="0B4DA2"/>
                </a:solidFill>
                <a:latin typeface="Consolas" pitchFamily="34" charset="0"/>
                <a:ea typeface="Consolas" pitchFamily="34" charset="-122"/>
                <a:cs typeface="Consolas" pitchFamily="34" charset="-120"/>
              </a:rPr>
              <a:t>ge</a:t>
            </a:r>
            <a:endParaRPr lang="en-US" sz="950" dirty="0"/>
          </a:p>
        </p:txBody>
      </p:sp>
      <p:sp>
        <p:nvSpPr>
          <p:cNvPr id="19" name="Text 17"/>
          <p:cNvSpPr txBox="1"/>
          <p:nvPr/>
        </p:nvSpPr>
        <p:spPr>
          <a:xfrm>
            <a:off x="3282696" y="1965960"/>
            <a:ext cx="868680" cy="201168"/>
          </a:xfrm>
          <a:prstGeom prst="rect">
            <a:avLst/>
          </a:prstGeom>
          <a:noFill/>
          <a:ln/>
        </p:spPr>
        <p:txBody>
          <a:bodyPr wrap="square" lIns="0" tIns="0" rIns="0" bIns="0" rtlCol="0" anchor="ctr"/>
          <a:lstStyle/>
          <a:p>
            <a:pPr marL="0" indent="0" algn="ctr">
              <a:buNone/>
            </a:pPr>
            <a:r>
              <a:rPr lang="en-US" sz="850" dirty="0">
                <a:solidFill>
                  <a:srgbClr val="5B6B82"/>
                </a:solidFill>
                <a:latin typeface="Calibri" pitchFamily="34" charset="0"/>
                <a:ea typeface="Calibri" pitchFamily="34" charset="-122"/>
                <a:cs typeface="Calibri" pitchFamily="34" charset="-120"/>
              </a:rPr>
              <a:t>mayor o igual</a:t>
            </a:r>
            <a:endParaRPr lang="en-US" sz="850" dirty="0"/>
          </a:p>
        </p:txBody>
      </p:sp>
      <p:sp>
        <p:nvSpPr>
          <p:cNvPr id="20" name="Shape 18"/>
          <p:cNvSpPr/>
          <p:nvPr/>
        </p:nvSpPr>
        <p:spPr>
          <a:xfrm>
            <a:off x="457200" y="2295144"/>
            <a:ext cx="868680" cy="512064"/>
          </a:xfrm>
          <a:prstGeom prst="roundRect">
            <a:avLst>
              <a:gd name="adj" fmla="val 10714"/>
            </a:avLst>
          </a:prstGeom>
          <a:solidFill>
            <a:srgbClr val="FFFFFF"/>
          </a:solidFill>
          <a:ln w="9525">
            <a:solidFill>
              <a:srgbClr val="D5DFEC"/>
            </a:solidFill>
            <a:prstDash val="solid"/>
          </a:ln>
        </p:spPr>
      </p:sp>
      <p:sp>
        <p:nvSpPr>
          <p:cNvPr id="21" name="Text 19"/>
          <p:cNvSpPr txBox="1"/>
          <p:nvPr/>
        </p:nvSpPr>
        <p:spPr>
          <a:xfrm>
            <a:off x="457200" y="2331720"/>
            <a:ext cx="868680" cy="237744"/>
          </a:xfrm>
          <a:prstGeom prst="rect">
            <a:avLst/>
          </a:prstGeom>
          <a:noFill/>
          <a:ln/>
        </p:spPr>
        <p:txBody>
          <a:bodyPr wrap="square" lIns="0" tIns="0" rIns="0" bIns="0" rtlCol="0" anchor="ctr"/>
          <a:lstStyle/>
          <a:p>
            <a:pPr marL="0" indent="0" algn="ctr">
              <a:buNone/>
            </a:pPr>
            <a:r>
              <a:rPr lang="en-US" sz="950" b="1" dirty="0">
                <a:solidFill>
                  <a:srgbClr val="0B4DA2"/>
                </a:solidFill>
                <a:latin typeface="Consolas" pitchFamily="34" charset="0"/>
                <a:ea typeface="Consolas" pitchFamily="34" charset="-122"/>
                <a:cs typeface="Consolas" pitchFamily="34" charset="-120"/>
              </a:rPr>
              <a:t>lt</a:t>
            </a:r>
            <a:endParaRPr lang="en-US" sz="950" dirty="0"/>
          </a:p>
        </p:txBody>
      </p:sp>
      <p:sp>
        <p:nvSpPr>
          <p:cNvPr id="22" name="Text 20"/>
          <p:cNvSpPr txBox="1"/>
          <p:nvPr/>
        </p:nvSpPr>
        <p:spPr>
          <a:xfrm>
            <a:off x="457200" y="2569464"/>
            <a:ext cx="868680" cy="201168"/>
          </a:xfrm>
          <a:prstGeom prst="rect">
            <a:avLst/>
          </a:prstGeom>
          <a:noFill/>
          <a:ln/>
        </p:spPr>
        <p:txBody>
          <a:bodyPr wrap="square" lIns="0" tIns="0" rIns="0" bIns="0" rtlCol="0" anchor="ctr"/>
          <a:lstStyle/>
          <a:p>
            <a:pPr marL="0" indent="0" algn="ctr">
              <a:buNone/>
            </a:pPr>
            <a:r>
              <a:rPr lang="en-US" sz="850" dirty="0">
                <a:solidFill>
                  <a:srgbClr val="5B6B82"/>
                </a:solidFill>
                <a:latin typeface="Calibri" pitchFamily="34" charset="0"/>
                <a:ea typeface="Calibri" pitchFamily="34" charset="-122"/>
                <a:cs typeface="Calibri" pitchFamily="34" charset="-120"/>
              </a:rPr>
              <a:t>menor</a:t>
            </a:r>
            <a:endParaRPr lang="en-US" sz="850" dirty="0"/>
          </a:p>
        </p:txBody>
      </p:sp>
      <p:sp>
        <p:nvSpPr>
          <p:cNvPr id="23" name="Shape 21"/>
          <p:cNvSpPr/>
          <p:nvPr/>
        </p:nvSpPr>
        <p:spPr>
          <a:xfrm>
            <a:off x="1399032" y="2295144"/>
            <a:ext cx="868680" cy="512064"/>
          </a:xfrm>
          <a:prstGeom prst="roundRect">
            <a:avLst>
              <a:gd name="adj" fmla="val 10714"/>
            </a:avLst>
          </a:prstGeom>
          <a:solidFill>
            <a:srgbClr val="FFFFFF"/>
          </a:solidFill>
          <a:ln w="9525">
            <a:solidFill>
              <a:srgbClr val="D5DFEC"/>
            </a:solidFill>
            <a:prstDash val="solid"/>
          </a:ln>
        </p:spPr>
      </p:sp>
      <p:sp>
        <p:nvSpPr>
          <p:cNvPr id="24" name="Text 22"/>
          <p:cNvSpPr txBox="1"/>
          <p:nvPr/>
        </p:nvSpPr>
        <p:spPr>
          <a:xfrm>
            <a:off x="1399032" y="2331720"/>
            <a:ext cx="868680" cy="237744"/>
          </a:xfrm>
          <a:prstGeom prst="rect">
            <a:avLst/>
          </a:prstGeom>
          <a:noFill/>
          <a:ln/>
        </p:spPr>
        <p:txBody>
          <a:bodyPr wrap="square" lIns="0" tIns="0" rIns="0" bIns="0" rtlCol="0" anchor="ctr"/>
          <a:lstStyle/>
          <a:p>
            <a:pPr marL="0" indent="0" algn="ctr">
              <a:buNone/>
            </a:pPr>
            <a:r>
              <a:rPr lang="en-US" sz="950" b="1" dirty="0">
                <a:solidFill>
                  <a:srgbClr val="0B4DA2"/>
                </a:solidFill>
                <a:latin typeface="Consolas" pitchFamily="34" charset="0"/>
                <a:ea typeface="Consolas" pitchFamily="34" charset="-122"/>
                <a:cs typeface="Consolas" pitchFamily="34" charset="-120"/>
              </a:rPr>
              <a:t>le</a:t>
            </a:r>
            <a:endParaRPr lang="en-US" sz="950" dirty="0"/>
          </a:p>
        </p:txBody>
      </p:sp>
      <p:sp>
        <p:nvSpPr>
          <p:cNvPr id="25" name="Text 23"/>
          <p:cNvSpPr txBox="1"/>
          <p:nvPr/>
        </p:nvSpPr>
        <p:spPr>
          <a:xfrm>
            <a:off x="1399032" y="2569464"/>
            <a:ext cx="868680" cy="201168"/>
          </a:xfrm>
          <a:prstGeom prst="rect">
            <a:avLst/>
          </a:prstGeom>
          <a:noFill/>
          <a:ln/>
        </p:spPr>
        <p:txBody>
          <a:bodyPr wrap="square" lIns="0" tIns="0" rIns="0" bIns="0" rtlCol="0" anchor="ctr"/>
          <a:lstStyle/>
          <a:p>
            <a:pPr marL="0" indent="0" algn="ctr">
              <a:buNone/>
            </a:pPr>
            <a:r>
              <a:rPr lang="en-US" sz="850" dirty="0">
                <a:solidFill>
                  <a:srgbClr val="5B6B82"/>
                </a:solidFill>
                <a:latin typeface="Calibri" pitchFamily="34" charset="0"/>
                <a:ea typeface="Calibri" pitchFamily="34" charset="-122"/>
                <a:cs typeface="Calibri" pitchFamily="34" charset="-120"/>
              </a:rPr>
              <a:t>menor o igual</a:t>
            </a:r>
            <a:endParaRPr lang="en-US" sz="850" dirty="0"/>
          </a:p>
        </p:txBody>
      </p:sp>
      <p:sp>
        <p:nvSpPr>
          <p:cNvPr id="26" name="Shape 24"/>
          <p:cNvSpPr/>
          <p:nvPr/>
        </p:nvSpPr>
        <p:spPr>
          <a:xfrm>
            <a:off x="2340864" y="2295144"/>
            <a:ext cx="868680" cy="512064"/>
          </a:xfrm>
          <a:prstGeom prst="roundRect">
            <a:avLst>
              <a:gd name="adj" fmla="val 10714"/>
            </a:avLst>
          </a:prstGeom>
          <a:solidFill>
            <a:srgbClr val="FFFFFF"/>
          </a:solidFill>
          <a:ln w="9525">
            <a:solidFill>
              <a:srgbClr val="D5DFEC"/>
            </a:solidFill>
            <a:prstDash val="solid"/>
          </a:ln>
        </p:spPr>
      </p:sp>
      <p:sp>
        <p:nvSpPr>
          <p:cNvPr id="27" name="Text 25"/>
          <p:cNvSpPr txBox="1"/>
          <p:nvPr/>
        </p:nvSpPr>
        <p:spPr>
          <a:xfrm>
            <a:off x="2340864" y="2331720"/>
            <a:ext cx="868680" cy="237744"/>
          </a:xfrm>
          <a:prstGeom prst="rect">
            <a:avLst/>
          </a:prstGeom>
          <a:noFill/>
          <a:ln/>
        </p:spPr>
        <p:txBody>
          <a:bodyPr wrap="square" lIns="0" tIns="0" rIns="0" bIns="0" rtlCol="0" anchor="ctr"/>
          <a:lstStyle/>
          <a:p>
            <a:pPr marL="0" indent="0" algn="ctr">
              <a:buNone/>
            </a:pPr>
            <a:r>
              <a:rPr lang="en-US" sz="950" b="1" dirty="0">
                <a:solidFill>
                  <a:srgbClr val="0B4DA2"/>
                </a:solidFill>
                <a:latin typeface="Consolas" pitchFamily="34" charset="0"/>
                <a:ea typeface="Consolas" pitchFamily="34" charset="-122"/>
                <a:cs typeface="Consolas" pitchFamily="34" charset="-120"/>
              </a:rPr>
              <a:t>and</a:t>
            </a:r>
            <a:endParaRPr lang="en-US" sz="950" dirty="0"/>
          </a:p>
        </p:txBody>
      </p:sp>
      <p:sp>
        <p:nvSpPr>
          <p:cNvPr id="28" name="Text 26"/>
          <p:cNvSpPr txBox="1"/>
          <p:nvPr/>
        </p:nvSpPr>
        <p:spPr>
          <a:xfrm>
            <a:off x="2340864" y="2569464"/>
            <a:ext cx="868680" cy="201168"/>
          </a:xfrm>
          <a:prstGeom prst="rect">
            <a:avLst/>
          </a:prstGeom>
          <a:noFill/>
          <a:ln/>
        </p:spPr>
        <p:txBody>
          <a:bodyPr wrap="square" lIns="0" tIns="0" rIns="0" bIns="0" rtlCol="0" anchor="ctr"/>
          <a:lstStyle/>
          <a:p>
            <a:pPr marL="0" indent="0" algn="ctr">
              <a:buNone/>
            </a:pPr>
            <a:r>
              <a:rPr lang="en-US" sz="850" dirty="0">
                <a:solidFill>
                  <a:srgbClr val="5B6B82"/>
                </a:solidFill>
                <a:latin typeface="Calibri" pitchFamily="34" charset="0"/>
                <a:ea typeface="Calibri" pitchFamily="34" charset="-122"/>
                <a:cs typeface="Calibri" pitchFamily="34" charset="-120"/>
              </a:rPr>
              <a:t>y lógico</a:t>
            </a:r>
            <a:endParaRPr lang="en-US" sz="850" dirty="0"/>
          </a:p>
        </p:txBody>
      </p:sp>
      <p:sp>
        <p:nvSpPr>
          <p:cNvPr id="29" name="Shape 27"/>
          <p:cNvSpPr/>
          <p:nvPr/>
        </p:nvSpPr>
        <p:spPr>
          <a:xfrm>
            <a:off x="3282696" y="2295144"/>
            <a:ext cx="868680" cy="512064"/>
          </a:xfrm>
          <a:prstGeom prst="roundRect">
            <a:avLst>
              <a:gd name="adj" fmla="val 10714"/>
            </a:avLst>
          </a:prstGeom>
          <a:solidFill>
            <a:srgbClr val="FFFFFF"/>
          </a:solidFill>
          <a:ln w="9525">
            <a:solidFill>
              <a:srgbClr val="D5DFEC"/>
            </a:solidFill>
            <a:prstDash val="solid"/>
          </a:ln>
        </p:spPr>
      </p:sp>
      <p:sp>
        <p:nvSpPr>
          <p:cNvPr id="30" name="Text 28"/>
          <p:cNvSpPr txBox="1"/>
          <p:nvPr/>
        </p:nvSpPr>
        <p:spPr>
          <a:xfrm>
            <a:off x="3282696" y="2331720"/>
            <a:ext cx="868680" cy="237744"/>
          </a:xfrm>
          <a:prstGeom prst="rect">
            <a:avLst/>
          </a:prstGeom>
          <a:noFill/>
          <a:ln/>
        </p:spPr>
        <p:txBody>
          <a:bodyPr wrap="square" lIns="0" tIns="0" rIns="0" bIns="0" rtlCol="0" anchor="ctr"/>
          <a:lstStyle/>
          <a:p>
            <a:pPr marL="0" indent="0" algn="ctr">
              <a:buNone/>
            </a:pPr>
            <a:r>
              <a:rPr lang="en-US" sz="950" b="1" dirty="0">
                <a:solidFill>
                  <a:srgbClr val="0B4DA2"/>
                </a:solidFill>
                <a:latin typeface="Consolas" pitchFamily="34" charset="0"/>
                <a:ea typeface="Consolas" pitchFamily="34" charset="-122"/>
                <a:cs typeface="Consolas" pitchFamily="34" charset="-120"/>
              </a:rPr>
              <a:t>or</a:t>
            </a:r>
            <a:endParaRPr lang="en-US" sz="950" dirty="0"/>
          </a:p>
        </p:txBody>
      </p:sp>
      <p:sp>
        <p:nvSpPr>
          <p:cNvPr id="31" name="Text 29"/>
          <p:cNvSpPr txBox="1"/>
          <p:nvPr/>
        </p:nvSpPr>
        <p:spPr>
          <a:xfrm>
            <a:off x="3282696" y="2569464"/>
            <a:ext cx="868680" cy="201168"/>
          </a:xfrm>
          <a:prstGeom prst="rect">
            <a:avLst/>
          </a:prstGeom>
          <a:noFill/>
          <a:ln/>
        </p:spPr>
        <p:txBody>
          <a:bodyPr wrap="square" lIns="0" tIns="0" rIns="0" bIns="0" rtlCol="0" anchor="ctr"/>
          <a:lstStyle/>
          <a:p>
            <a:pPr marL="0" indent="0" algn="ctr">
              <a:buNone/>
            </a:pPr>
            <a:r>
              <a:rPr lang="en-US" sz="850" dirty="0">
                <a:solidFill>
                  <a:srgbClr val="5B6B82"/>
                </a:solidFill>
                <a:latin typeface="Calibri" pitchFamily="34" charset="0"/>
                <a:ea typeface="Calibri" pitchFamily="34" charset="-122"/>
                <a:cs typeface="Calibri" pitchFamily="34" charset="-120"/>
              </a:rPr>
              <a:t>o lógico</a:t>
            </a:r>
            <a:endParaRPr lang="en-US" sz="850" dirty="0"/>
          </a:p>
        </p:txBody>
      </p:sp>
      <p:sp>
        <p:nvSpPr>
          <p:cNvPr id="32" name="Text 30"/>
          <p:cNvSpPr txBox="1"/>
          <p:nvPr/>
        </p:nvSpPr>
        <p:spPr>
          <a:xfrm>
            <a:off x="457200" y="3017520"/>
            <a:ext cx="3840480" cy="256032"/>
          </a:xfrm>
          <a:prstGeom prst="rect">
            <a:avLst/>
          </a:prstGeom>
          <a:noFill/>
          <a:ln/>
        </p:spPr>
        <p:txBody>
          <a:bodyPr wrap="square" lIns="0" tIns="0" rIns="0" bIns="0" rtlCol="0" anchor="t"/>
          <a:lstStyle/>
          <a:p>
            <a:pPr marL="0" indent="0">
              <a:buNone/>
            </a:pPr>
            <a:r>
              <a:rPr lang="en-US" sz="1200" b="1" dirty="0">
                <a:solidFill>
                  <a:srgbClr val="071B3F"/>
                </a:solidFill>
                <a:latin typeface="Segoe UI" pitchFamily="34" charset="0"/>
                <a:ea typeface="Segoe UI" pitchFamily="34" charset="-122"/>
                <a:cs typeface="Segoe UI" pitchFamily="34" charset="-120"/>
              </a:rPr>
              <a:t>Funciones de texto</a:t>
            </a:r>
            <a:endParaRPr lang="en-US" sz="1200" dirty="0"/>
          </a:p>
        </p:txBody>
      </p:sp>
      <p:sp>
        <p:nvSpPr>
          <p:cNvPr id="33" name="Shape 31"/>
          <p:cNvSpPr/>
          <p:nvPr/>
        </p:nvSpPr>
        <p:spPr>
          <a:xfrm>
            <a:off x="457200" y="3337560"/>
            <a:ext cx="868680" cy="512064"/>
          </a:xfrm>
          <a:prstGeom prst="roundRect">
            <a:avLst>
              <a:gd name="adj" fmla="val 10714"/>
            </a:avLst>
          </a:prstGeom>
          <a:solidFill>
            <a:srgbClr val="FFFFFF"/>
          </a:solidFill>
          <a:ln w="9525">
            <a:solidFill>
              <a:srgbClr val="D5DFEC"/>
            </a:solidFill>
            <a:prstDash val="solid"/>
          </a:ln>
        </p:spPr>
      </p:sp>
      <p:sp>
        <p:nvSpPr>
          <p:cNvPr id="34" name="Text 32"/>
          <p:cNvSpPr txBox="1"/>
          <p:nvPr/>
        </p:nvSpPr>
        <p:spPr>
          <a:xfrm>
            <a:off x="457200" y="3374136"/>
            <a:ext cx="868680" cy="237744"/>
          </a:xfrm>
          <a:prstGeom prst="rect">
            <a:avLst/>
          </a:prstGeom>
          <a:noFill/>
          <a:ln/>
        </p:spPr>
        <p:txBody>
          <a:bodyPr wrap="square" lIns="0" tIns="0" rIns="0" bIns="0" rtlCol="0" anchor="ctr"/>
          <a:lstStyle/>
          <a:p>
            <a:pPr marL="0" indent="0" algn="ctr">
              <a:buNone/>
            </a:pPr>
            <a:r>
              <a:rPr lang="en-US" sz="950" b="1" dirty="0">
                <a:solidFill>
                  <a:srgbClr val="B07A00"/>
                </a:solidFill>
                <a:latin typeface="Consolas" pitchFamily="34" charset="0"/>
                <a:ea typeface="Consolas" pitchFamily="34" charset="-122"/>
                <a:cs typeface="Consolas" pitchFamily="34" charset="-120"/>
              </a:rPr>
              <a:t>startswith</a:t>
            </a:r>
            <a:endParaRPr lang="en-US" sz="950" dirty="0"/>
          </a:p>
        </p:txBody>
      </p:sp>
      <p:sp>
        <p:nvSpPr>
          <p:cNvPr id="35" name="Text 33"/>
          <p:cNvSpPr txBox="1"/>
          <p:nvPr/>
        </p:nvSpPr>
        <p:spPr>
          <a:xfrm>
            <a:off x="457200" y="3611880"/>
            <a:ext cx="868680" cy="201168"/>
          </a:xfrm>
          <a:prstGeom prst="rect">
            <a:avLst/>
          </a:prstGeom>
          <a:noFill/>
          <a:ln/>
        </p:spPr>
        <p:txBody>
          <a:bodyPr wrap="square" lIns="0" tIns="0" rIns="0" bIns="0" rtlCol="0" anchor="ctr"/>
          <a:lstStyle/>
          <a:p>
            <a:pPr marL="0" indent="0" algn="ctr">
              <a:buNone/>
            </a:pPr>
            <a:r>
              <a:rPr lang="en-US" sz="850" dirty="0">
                <a:solidFill>
                  <a:srgbClr val="5B6B82"/>
                </a:solidFill>
                <a:latin typeface="Calibri" pitchFamily="34" charset="0"/>
                <a:ea typeface="Calibri" pitchFamily="34" charset="-122"/>
                <a:cs typeface="Calibri" pitchFamily="34" charset="-120"/>
              </a:rPr>
              <a:t>empieza con</a:t>
            </a:r>
            <a:endParaRPr lang="en-US" sz="850" dirty="0"/>
          </a:p>
        </p:txBody>
      </p:sp>
      <p:sp>
        <p:nvSpPr>
          <p:cNvPr id="36" name="Shape 34"/>
          <p:cNvSpPr/>
          <p:nvPr/>
        </p:nvSpPr>
        <p:spPr>
          <a:xfrm>
            <a:off x="1399032" y="3337560"/>
            <a:ext cx="868680" cy="512064"/>
          </a:xfrm>
          <a:prstGeom prst="roundRect">
            <a:avLst>
              <a:gd name="adj" fmla="val 10714"/>
            </a:avLst>
          </a:prstGeom>
          <a:solidFill>
            <a:srgbClr val="FFFFFF"/>
          </a:solidFill>
          <a:ln w="9525">
            <a:solidFill>
              <a:srgbClr val="D5DFEC"/>
            </a:solidFill>
            <a:prstDash val="solid"/>
          </a:ln>
        </p:spPr>
      </p:sp>
      <p:sp>
        <p:nvSpPr>
          <p:cNvPr id="37" name="Text 35"/>
          <p:cNvSpPr txBox="1"/>
          <p:nvPr/>
        </p:nvSpPr>
        <p:spPr>
          <a:xfrm>
            <a:off x="1399032" y="3374136"/>
            <a:ext cx="868680" cy="237744"/>
          </a:xfrm>
          <a:prstGeom prst="rect">
            <a:avLst/>
          </a:prstGeom>
          <a:noFill/>
          <a:ln/>
        </p:spPr>
        <p:txBody>
          <a:bodyPr wrap="square" lIns="0" tIns="0" rIns="0" bIns="0" rtlCol="0" anchor="ctr"/>
          <a:lstStyle/>
          <a:p>
            <a:pPr marL="0" indent="0" algn="ctr">
              <a:buNone/>
            </a:pPr>
            <a:r>
              <a:rPr lang="en-US" sz="950" b="1" dirty="0">
                <a:solidFill>
                  <a:srgbClr val="B07A00"/>
                </a:solidFill>
                <a:latin typeface="Consolas" pitchFamily="34" charset="0"/>
                <a:ea typeface="Consolas" pitchFamily="34" charset="-122"/>
                <a:cs typeface="Consolas" pitchFamily="34" charset="-120"/>
              </a:rPr>
              <a:t>endswith</a:t>
            </a:r>
            <a:endParaRPr lang="en-US" sz="950" dirty="0"/>
          </a:p>
        </p:txBody>
      </p:sp>
      <p:sp>
        <p:nvSpPr>
          <p:cNvPr id="38" name="Text 36"/>
          <p:cNvSpPr txBox="1"/>
          <p:nvPr/>
        </p:nvSpPr>
        <p:spPr>
          <a:xfrm>
            <a:off x="1399032" y="3611880"/>
            <a:ext cx="868680" cy="201168"/>
          </a:xfrm>
          <a:prstGeom prst="rect">
            <a:avLst/>
          </a:prstGeom>
          <a:noFill/>
          <a:ln/>
        </p:spPr>
        <p:txBody>
          <a:bodyPr wrap="square" lIns="0" tIns="0" rIns="0" bIns="0" rtlCol="0" anchor="ctr"/>
          <a:lstStyle/>
          <a:p>
            <a:pPr marL="0" indent="0" algn="ctr">
              <a:buNone/>
            </a:pPr>
            <a:r>
              <a:rPr lang="en-US" sz="850" dirty="0">
                <a:solidFill>
                  <a:srgbClr val="5B6B82"/>
                </a:solidFill>
                <a:latin typeface="Calibri" pitchFamily="34" charset="0"/>
                <a:ea typeface="Calibri" pitchFamily="34" charset="-122"/>
                <a:cs typeface="Calibri" pitchFamily="34" charset="-120"/>
              </a:rPr>
              <a:t>termina con</a:t>
            </a:r>
            <a:endParaRPr lang="en-US" sz="850" dirty="0"/>
          </a:p>
        </p:txBody>
      </p:sp>
      <p:sp>
        <p:nvSpPr>
          <p:cNvPr id="39" name="Shape 37"/>
          <p:cNvSpPr/>
          <p:nvPr/>
        </p:nvSpPr>
        <p:spPr>
          <a:xfrm>
            <a:off x="2340864" y="3337560"/>
            <a:ext cx="868680" cy="512064"/>
          </a:xfrm>
          <a:prstGeom prst="roundRect">
            <a:avLst>
              <a:gd name="adj" fmla="val 10714"/>
            </a:avLst>
          </a:prstGeom>
          <a:solidFill>
            <a:srgbClr val="FFFFFF"/>
          </a:solidFill>
          <a:ln w="9525">
            <a:solidFill>
              <a:srgbClr val="D5DFEC"/>
            </a:solidFill>
            <a:prstDash val="solid"/>
          </a:ln>
        </p:spPr>
      </p:sp>
      <p:sp>
        <p:nvSpPr>
          <p:cNvPr id="40" name="Text 38"/>
          <p:cNvSpPr txBox="1"/>
          <p:nvPr/>
        </p:nvSpPr>
        <p:spPr>
          <a:xfrm>
            <a:off x="2340864" y="3374136"/>
            <a:ext cx="868680" cy="237744"/>
          </a:xfrm>
          <a:prstGeom prst="rect">
            <a:avLst/>
          </a:prstGeom>
          <a:noFill/>
          <a:ln/>
        </p:spPr>
        <p:txBody>
          <a:bodyPr wrap="square" lIns="0" tIns="0" rIns="0" bIns="0" rtlCol="0" anchor="ctr"/>
          <a:lstStyle/>
          <a:p>
            <a:pPr marL="0" indent="0" algn="ctr">
              <a:buNone/>
            </a:pPr>
            <a:r>
              <a:rPr lang="en-US" sz="950" b="1" dirty="0">
                <a:solidFill>
                  <a:srgbClr val="B07A00"/>
                </a:solidFill>
                <a:latin typeface="Consolas" pitchFamily="34" charset="0"/>
                <a:ea typeface="Consolas" pitchFamily="34" charset="-122"/>
                <a:cs typeface="Consolas" pitchFamily="34" charset="-120"/>
              </a:rPr>
              <a:t>contains</a:t>
            </a:r>
            <a:endParaRPr lang="en-US" sz="950" dirty="0"/>
          </a:p>
        </p:txBody>
      </p:sp>
      <p:sp>
        <p:nvSpPr>
          <p:cNvPr id="41" name="Text 39"/>
          <p:cNvSpPr txBox="1"/>
          <p:nvPr/>
        </p:nvSpPr>
        <p:spPr>
          <a:xfrm>
            <a:off x="2340864" y="3611880"/>
            <a:ext cx="868680" cy="201168"/>
          </a:xfrm>
          <a:prstGeom prst="rect">
            <a:avLst/>
          </a:prstGeom>
          <a:noFill/>
          <a:ln/>
        </p:spPr>
        <p:txBody>
          <a:bodyPr wrap="square" lIns="0" tIns="0" rIns="0" bIns="0" rtlCol="0" anchor="ctr"/>
          <a:lstStyle/>
          <a:p>
            <a:pPr marL="0" indent="0" algn="ctr">
              <a:buNone/>
            </a:pPr>
            <a:r>
              <a:rPr lang="en-US" sz="850" dirty="0">
                <a:solidFill>
                  <a:srgbClr val="5B6B82"/>
                </a:solidFill>
                <a:latin typeface="Calibri" pitchFamily="34" charset="0"/>
                <a:ea typeface="Calibri" pitchFamily="34" charset="-122"/>
                <a:cs typeface="Calibri" pitchFamily="34" charset="-120"/>
              </a:rPr>
              <a:t>contiene (v2)</a:t>
            </a:r>
            <a:endParaRPr lang="en-US" sz="850" dirty="0"/>
          </a:p>
        </p:txBody>
      </p:sp>
      <p:sp>
        <p:nvSpPr>
          <p:cNvPr id="42" name="Shape 40"/>
          <p:cNvSpPr/>
          <p:nvPr/>
        </p:nvSpPr>
        <p:spPr>
          <a:xfrm>
            <a:off x="3282696" y="3337560"/>
            <a:ext cx="868680" cy="512064"/>
          </a:xfrm>
          <a:prstGeom prst="roundRect">
            <a:avLst>
              <a:gd name="adj" fmla="val 10714"/>
            </a:avLst>
          </a:prstGeom>
          <a:solidFill>
            <a:srgbClr val="FFFFFF"/>
          </a:solidFill>
          <a:ln w="9525">
            <a:solidFill>
              <a:srgbClr val="D5DFEC"/>
            </a:solidFill>
            <a:prstDash val="solid"/>
          </a:ln>
        </p:spPr>
      </p:sp>
      <p:sp>
        <p:nvSpPr>
          <p:cNvPr id="43" name="Text 41"/>
          <p:cNvSpPr txBox="1"/>
          <p:nvPr/>
        </p:nvSpPr>
        <p:spPr>
          <a:xfrm>
            <a:off x="3282696" y="3374136"/>
            <a:ext cx="868680" cy="237744"/>
          </a:xfrm>
          <a:prstGeom prst="rect">
            <a:avLst/>
          </a:prstGeom>
          <a:noFill/>
          <a:ln/>
        </p:spPr>
        <p:txBody>
          <a:bodyPr wrap="square" lIns="0" tIns="0" rIns="0" bIns="0" rtlCol="0" anchor="ctr"/>
          <a:lstStyle/>
          <a:p>
            <a:pPr marL="0" indent="0" algn="ctr">
              <a:buNone/>
            </a:pPr>
            <a:r>
              <a:rPr lang="en-US" sz="950" b="1" dirty="0">
                <a:solidFill>
                  <a:srgbClr val="B07A00"/>
                </a:solidFill>
                <a:latin typeface="Consolas" pitchFamily="34" charset="0"/>
                <a:ea typeface="Consolas" pitchFamily="34" charset="-122"/>
                <a:cs typeface="Consolas" pitchFamily="34" charset="-120"/>
              </a:rPr>
              <a:t>substringof</a:t>
            </a:r>
            <a:endParaRPr lang="en-US" sz="950" dirty="0"/>
          </a:p>
        </p:txBody>
      </p:sp>
      <p:sp>
        <p:nvSpPr>
          <p:cNvPr id="44" name="Text 42"/>
          <p:cNvSpPr txBox="1"/>
          <p:nvPr/>
        </p:nvSpPr>
        <p:spPr>
          <a:xfrm>
            <a:off x="3282696" y="3611880"/>
            <a:ext cx="868680" cy="201168"/>
          </a:xfrm>
          <a:prstGeom prst="rect">
            <a:avLst/>
          </a:prstGeom>
          <a:noFill/>
          <a:ln/>
        </p:spPr>
        <p:txBody>
          <a:bodyPr wrap="square" lIns="0" tIns="0" rIns="0" bIns="0" rtlCol="0" anchor="ctr"/>
          <a:lstStyle/>
          <a:p>
            <a:pPr marL="0" indent="0" algn="ctr">
              <a:buNone/>
            </a:pPr>
            <a:r>
              <a:rPr lang="en-US" sz="850" dirty="0">
                <a:solidFill>
                  <a:srgbClr val="5B6B82"/>
                </a:solidFill>
                <a:latin typeface="Calibri" pitchFamily="34" charset="0"/>
                <a:ea typeface="Calibri" pitchFamily="34" charset="-122"/>
                <a:cs typeface="Calibri" pitchFamily="34" charset="-120"/>
              </a:rPr>
              <a:t>contiene (v1)</a:t>
            </a:r>
            <a:endParaRPr lang="en-US" sz="85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389120" y="1371600"/>
          <a:ext cx="4297680" cy="2743200"/>
        </p:xfrm>
        <a:graphic>
          <a:graphicData uri="http://schemas.openxmlformats.org/drawingml/2006/table">
            <a:tbl>
              <a:tblPr/>
              <a:tblGrid>
                <a:gridCol w="100584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457200">
                <a:tc>
                  <a:txBody>
                    <a:bodyPr/>
                    <a:lstStyle/>
                    <a:p>
                      <a:pPr marL="0" indent="0">
                        <a:buNone/>
                      </a:pPr>
                      <a:r>
                        <a:rPr lang="en-US" sz="1200" b="1" dirty="0">
                          <a:solidFill>
                            <a:srgbClr val="FFFFFF"/>
                          </a:solidFill>
                          <a:latin typeface="Segoe UI" pitchFamily="34" charset="0"/>
                          <a:ea typeface="Segoe UI" pitchFamily="34" charset="-122"/>
                          <a:cs typeface="Segoe UI" pitchFamily="34" charset="-120"/>
                        </a:rPr>
                        <a:t>Caso</a:t>
                      </a:r>
                      <a:endParaRPr lang="en-US" sz="1200" dirty="0">
                        <a:latin typeface="Segoe UI" charset="0"/>
                        <a:ea typeface="Segoe UI" charset="0"/>
                        <a:cs typeface="Segoe UI" charset="0"/>
                      </a:endParaRPr>
                    </a:p>
                  </a:txBody>
                  <a:tcPr marL="63500" marR="63500" marT="25400" marB="254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071B3F"/>
                    </a:solidFill>
                  </a:tcPr>
                </a:tc>
                <a:tc>
                  <a:txBody>
                    <a:bodyPr/>
                    <a:lstStyle/>
                    <a:p>
                      <a:pPr marL="0" indent="0">
                        <a:buNone/>
                      </a:pPr>
                      <a:r>
                        <a:rPr lang="en-US" sz="1200" b="1" dirty="0">
                          <a:solidFill>
                            <a:srgbClr val="FFFFFF"/>
                          </a:solidFill>
                          <a:latin typeface="Segoe UI" pitchFamily="34" charset="0"/>
                          <a:ea typeface="Segoe UI" pitchFamily="34" charset="-122"/>
                          <a:cs typeface="Segoe UI" pitchFamily="34" charset="-120"/>
                        </a:rPr>
                        <a:t>v1 · OData v3</a:t>
                      </a:r>
                      <a:endParaRPr lang="en-US" sz="1200" dirty="0">
                        <a:latin typeface="Segoe UI" charset="0"/>
                        <a:ea typeface="Segoe UI" charset="0"/>
                        <a:cs typeface="Segoe UI" charset="0"/>
                      </a:endParaRPr>
                    </a:p>
                  </a:txBody>
                  <a:tcPr marL="63500" marR="63500" marT="25400" marB="254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0B4DA2"/>
                    </a:solidFill>
                  </a:tcPr>
                </a:tc>
                <a:tc>
                  <a:txBody>
                    <a:bodyPr/>
                    <a:lstStyle/>
                    <a:p>
                      <a:pPr marL="0" indent="0">
                        <a:buNone/>
                      </a:pPr>
                      <a:r>
                        <a:rPr lang="en-US" sz="1200" b="1" dirty="0">
                          <a:solidFill>
                            <a:srgbClr val="071B3F"/>
                          </a:solidFill>
                          <a:latin typeface="Segoe UI" pitchFamily="34" charset="0"/>
                          <a:ea typeface="Segoe UI" pitchFamily="34" charset="-122"/>
                          <a:cs typeface="Segoe UI" pitchFamily="34" charset="-120"/>
                        </a:rPr>
                        <a:t>v2 · OData v4</a:t>
                      </a:r>
                      <a:endParaRPr lang="en-US" sz="1200" dirty="0">
                        <a:latin typeface="Segoe UI" charset="0"/>
                        <a:ea typeface="Segoe UI" charset="0"/>
                        <a:cs typeface="Segoe UI" charset="0"/>
                      </a:endParaRPr>
                    </a:p>
                  </a:txBody>
                  <a:tcPr marL="63500" marR="63500" marT="25400" marB="254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F5A800"/>
                    </a:solidFill>
                  </a:tcPr>
                </a:tc>
                <a:extLst>
                  <a:ext uri="{0D108BD9-81ED-4DB2-BD59-A6C34878D82A}">
                    <a16:rowId xmlns:a16="http://schemas.microsoft.com/office/drawing/2014/main" val="10000"/>
                  </a:ext>
                </a:extLst>
              </a:tr>
              <a:tr h="457200">
                <a:tc>
                  <a:txBody>
                    <a:bodyPr/>
                    <a:lstStyle/>
                    <a:p>
                      <a:pPr marL="0" indent="0">
                        <a:buNone/>
                      </a:pPr>
                      <a:r>
                        <a:rPr lang="en-US" sz="950" b="1" dirty="0">
                          <a:solidFill>
                            <a:srgbClr val="071B3F"/>
                          </a:solidFill>
                          <a:latin typeface="Calibri" pitchFamily="34" charset="0"/>
                          <a:ea typeface="Calibri" pitchFamily="34" charset="-122"/>
                          <a:cs typeface="Calibri" pitchFamily="34" charset="-120"/>
                        </a:rPr>
                        <a:t>Contiene texto</a:t>
                      </a:r>
                      <a:endParaRPr lang="en-US" sz="950" dirty="0">
                        <a:latin typeface="Calibri" charset="0"/>
                        <a:ea typeface="Calibri" charset="0"/>
                        <a:cs typeface="Calibri" charset="0"/>
                      </a:endParaRPr>
                    </a:p>
                  </a:txBody>
                  <a:tcPr marL="63500" marR="63500" marT="25400" marB="254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EEF3FA"/>
                    </a:solidFill>
                  </a:tcPr>
                </a:tc>
                <a:tc>
                  <a:txBody>
                    <a:bodyPr/>
                    <a:lstStyle/>
                    <a:p>
                      <a:pPr marL="0" indent="0">
                        <a:buNone/>
                      </a:pPr>
                      <a:r>
                        <a:rPr lang="en-US" sz="800" dirty="0">
                          <a:solidFill>
                            <a:srgbClr val="0B4DA2"/>
                          </a:solidFill>
                          <a:latin typeface="Consolas" pitchFamily="34" charset="0"/>
                          <a:ea typeface="Consolas" pitchFamily="34" charset="-122"/>
                          <a:cs typeface="Consolas" pitchFamily="34" charset="-120"/>
                        </a:rPr>
                        <a:t>substringof('X',ItemName)</a:t>
                      </a:r>
                      <a:endParaRPr lang="en-US" sz="800" dirty="0">
                        <a:latin typeface="Consolas" charset="0"/>
                        <a:ea typeface="Consolas" charset="0"/>
                        <a:cs typeface="Consolas" charset="0"/>
                      </a:endParaRPr>
                    </a:p>
                  </a:txBody>
                  <a:tcPr marL="63500" marR="63500" marT="25400" marB="254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EEF3FA"/>
                    </a:solidFill>
                  </a:tcPr>
                </a:tc>
                <a:tc>
                  <a:txBody>
                    <a:bodyPr/>
                    <a:lstStyle/>
                    <a:p>
                      <a:pPr marL="0" indent="0">
                        <a:buNone/>
                      </a:pPr>
                      <a:r>
                        <a:rPr lang="en-US" sz="800" dirty="0">
                          <a:solidFill>
                            <a:srgbClr val="0B4DA2"/>
                          </a:solidFill>
                          <a:latin typeface="Consolas" pitchFamily="34" charset="0"/>
                          <a:ea typeface="Consolas" pitchFamily="34" charset="-122"/>
                          <a:cs typeface="Consolas" pitchFamily="34" charset="-120"/>
                        </a:rPr>
                        <a:t>contains(ItemName,'X')</a:t>
                      </a:r>
                      <a:endParaRPr lang="en-US" sz="800" dirty="0">
                        <a:latin typeface="Consolas" charset="0"/>
                        <a:ea typeface="Consolas" charset="0"/>
                        <a:cs typeface="Consolas" charset="0"/>
                      </a:endParaRPr>
                    </a:p>
                  </a:txBody>
                  <a:tcPr marL="63500" marR="63500" marT="25400" marB="254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EEF3FA"/>
                    </a:solidFill>
                  </a:tcPr>
                </a:tc>
                <a:extLst>
                  <a:ext uri="{0D108BD9-81ED-4DB2-BD59-A6C34878D82A}">
                    <a16:rowId xmlns:a16="http://schemas.microsoft.com/office/drawing/2014/main" val="10001"/>
                  </a:ext>
                </a:extLst>
              </a:tr>
              <a:tr h="457200">
                <a:tc>
                  <a:txBody>
                    <a:bodyPr/>
                    <a:lstStyle/>
                    <a:p>
                      <a:pPr marL="0" indent="0">
                        <a:buNone/>
                      </a:pPr>
                      <a:r>
                        <a:rPr lang="en-US" sz="950" b="1" dirty="0">
                          <a:solidFill>
                            <a:srgbClr val="071B3F"/>
                          </a:solidFill>
                          <a:latin typeface="Calibri" pitchFamily="34" charset="0"/>
                          <a:ea typeface="Calibri" pitchFamily="34" charset="-122"/>
                          <a:cs typeface="Calibri" pitchFamily="34" charset="-120"/>
                        </a:rPr>
                        <a:t>Fechas</a:t>
                      </a:r>
                      <a:endParaRPr lang="en-US" sz="950" dirty="0">
                        <a:latin typeface="Calibri" charset="0"/>
                        <a:ea typeface="Calibri" charset="0"/>
                        <a:cs typeface="Calibri" charset="0"/>
                      </a:endParaRPr>
                    </a:p>
                  </a:txBody>
                  <a:tcPr marL="63500" marR="63500" marT="25400" marB="254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FFFFFF"/>
                    </a:solidFill>
                  </a:tcPr>
                </a:tc>
                <a:tc>
                  <a:txBody>
                    <a:bodyPr/>
                    <a:lstStyle/>
                    <a:p>
                      <a:pPr marL="0" indent="0">
                        <a:buNone/>
                      </a:pPr>
                      <a:r>
                        <a:rPr lang="en-US" sz="800" dirty="0">
                          <a:solidFill>
                            <a:srgbClr val="0B4DA2"/>
                          </a:solidFill>
                          <a:latin typeface="Consolas" pitchFamily="34" charset="0"/>
                          <a:ea typeface="Consolas" pitchFamily="34" charset="-122"/>
                          <a:cs typeface="Consolas" pitchFamily="34" charset="-120"/>
                        </a:rPr>
                        <a:t>DocDate ge '2026-09-01'</a:t>
                      </a:r>
                      <a:endParaRPr lang="en-US" sz="800" dirty="0">
                        <a:latin typeface="Consolas" charset="0"/>
                        <a:ea typeface="Consolas" charset="0"/>
                        <a:cs typeface="Consolas" charset="0"/>
                      </a:endParaRPr>
                    </a:p>
                  </a:txBody>
                  <a:tcPr marL="63500" marR="63500" marT="25400" marB="254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FFFFFF"/>
                    </a:solidFill>
                  </a:tcPr>
                </a:tc>
                <a:tc>
                  <a:txBody>
                    <a:bodyPr/>
                    <a:lstStyle/>
                    <a:p>
                      <a:pPr marL="0" indent="0">
                        <a:buNone/>
                      </a:pPr>
                      <a:r>
                        <a:rPr lang="en-US" sz="800" dirty="0">
                          <a:solidFill>
                            <a:srgbClr val="0B4DA2"/>
                          </a:solidFill>
                          <a:latin typeface="Consolas" pitchFamily="34" charset="0"/>
                          <a:ea typeface="Consolas" pitchFamily="34" charset="-122"/>
                          <a:cs typeface="Consolas" pitchFamily="34" charset="-120"/>
                        </a:rPr>
                        <a:t>DocDate ge 2026-09-01</a:t>
                      </a:r>
                      <a:endParaRPr lang="en-US" sz="800" dirty="0">
                        <a:latin typeface="Consolas" charset="0"/>
                        <a:ea typeface="Consolas" charset="0"/>
                        <a:cs typeface="Consolas" charset="0"/>
                      </a:endParaRPr>
                    </a:p>
                  </a:txBody>
                  <a:tcPr marL="63500" marR="63500" marT="25400" marB="254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950" b="1" dirty="0">
                          <a:solidFill>
                            <a:srgbClr val="071B3F"/>
                          </a:solidFill>
                          <a:latin typeface="Calibri" pitchFamily="34" charset="0"/>
                          <a:ea typeface="Calibri" pitchFamily="34" charset="-122"/>
                          <a:cs typeface="Calibri" pitchFamily="34" charset="-120"/>
                        </a:rPr>
                        <a:t>Total en la respuesta</a:t>
                      </a:r>
                      <a:endParaRPr lang="en-US" sz="950" dirty="0">
                        <a:latin typeface="Calibri" charset="0"/>
                        <a:ea typeface="Calibri" charset="0"/>
                        <a:cs typeface="Calibri" charset="0"/>
                      </a:endParaRPr>
                    </a:p>
                  </a:txBody>
                  <a:tcPr marL="63500" marR="63500" marT="25400" marB="254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EEF3FA"/>
                    </a:solidFill>
                  </a:tcPr>
                </a:tc>
                <a:tc>
                  <a:txBody>
                    <a:bodyPr/>
                    <a:lstStyle/>
                    <a:p>
                      <a:pPr marL="0" indent="0">
                        <a:buNone/>
                      </a:pPr>
                      <a:r>
                        <a:rPr lang="en-US" sz="800" dirty="0">
                          <a:solidFill>
                            <a:srgbClr val="0B4DA2"/>
                          </a:solidFill>
                          <a:latin typeface="Consolas" pitchFamily="34" charset="0"/>
                          <a:ea typeface="Consolas" pitchFamily="34" charset="-122"/>
                          <a:cs typeface="Consolas" pitchFamily="34" charset="-120"/>
                        </a:rPr>
                        <a:t>$inlinecount=allpages</a:t>
                      </a:r>
                      <a:endParaRPr lang="en-US" sz="800" dirty="0">
                        <a:latin typeface="Consolas" charset="0"/>
                        <a:ea typeface="Consolas" charset="0"/>
                        <a:cs typeface="Consolas" charset="0"/>
                      </a:endParaRPr>
                    </a:p>
                  </a:txBody>
                  <a:tcPr marL="63500" marR="63500" marT="25400" marB="254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EEF3FA"/>
                    </a:solidFill>
                  </a:tcPr>
                </a:tc>
                <a:tc>
                  <a:txBody>
                    <a:bodyPr/>
                    <a:lstStyle/>
                    <a:p>
                      <a:pPr marL="0" indent="0">
                        <a:buNone/>
                      </a:pPr>
                      <a:r>
                        <a:rPr lang="en-US" sz="800" dirty="0">
                          <a:solidFill>
                            <a:srgbClr val="0B4DA2"/>
                          </a:solidFill>
                          <a:latin typeface="Consolas" pitchFamily="34" charset="0"/>
                          <a:ea typeface="Consolas" pitchFamily="34" charset="-122"/>
                          <a:cs typeface="Consolas" pitchFamily="34" charset="-120"/>
                        </a:rPr>
                        <a:t>$count=true</a:t>
                      </a:r>
                      <a:endParaRPr lang="en-US" sz="800" dirty="0">
                        <a:latin typeface="Consolas" charset="0"/>
                        <a:ea typeface="Consolas" charset="0"/>
                        <a:cs typeface="Consolas" charset="0"/>
                      </a:endParaRPr>
                    </a:p>
                  </a:txBody>
                  <a:tcPr marL="63500" marR="63500" marT="25400" marB="254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EEF3FA"/>
                    </a:solidFill>
                  </a:tcPr>
                </a:tc>
                <a:extLst>
                  <a:ext uri="{0D108BD9-81ED-4DB2-BD59-A6C34878D82A}">
                    <a16:rowId xmlns:a16="http://schemas.microsoft.com/office/drawing/2014/main" val="10003"/>
                  </a:ext>
                </a:extLst>
              </a:tr>
              <a:tr h="457200">
                <a:tc>
                  <a:txBody>
                    <a:bodyPr/>
                    <a:lstStyle/>
                    <a:p>
                      <a:pPr marL="0" indent="0">
                        <a:buNone/>
                      </a:pPr>
                      <a:r>
                        <a:rPr lang="en-US" sz="950" b="1" dirty="0">
                          <a:solidFill>
                            <a:srgbClr val="071B3F"/>
                          </a:solidFill>
                          <a:latin typeface="Calibri" pitchFamily="34" charset="0"/>
                          <a:ea typeface="Calibri" pitchFamily="34" charset="-122"/>
                          <a:cs typeface="Calibri" pitchFamily="34" charset="-120"/>
                        </a:rPr>
                        <a:t>Solo el total</a:t>
                      </a:r>
                      <a:endParaRPr lang="en-US" sz="950" dirty="0">
                        <a:latin typeface="Calibri" charset="0"/>
                        <a:ea typeface="Calibri" charset="0"/>
                        <a:cs typeface="Calibri" charset="0"/>
                      </a:endParaRPr>
                    </a:p>
                  </a:txBody>
                  <a:tcPr marL="63500" marR="63500" marT="25400" marB="254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FFFFFF"/>
                    </a:solidFill>
                  </a:tcPr>
                </a:tc>
                <a:tc>
                  <a:txBody>
                    <a:bodyPr/>
                    <a:lstStyle/>
                    <a:p>
                      <a:pPr marL="0" indent="0">
                        <a:buNone/>
                      </a:pPr>
                      <a:r>
                        <a:rPr lang="en-US" sz="800" dirty="0">
                          <a:solidFill>
                            <a:srgbClr val="0B4DA2"/>
                          </a:solidFill>
                          <a:latin typeface="Consolas" pitchFamily="34" charset="0"/>
                          <a:ea typeface="Consolas" pitchFamily="34" charset="-122"/>
                          <a:cs typeface="Consolas" pitchFamily="34" charset="-120"/>
                        </a:rPr>
                        <a:t>Orders/$count</a:t>
                      </a:r>
                      <a:endParaRPr lang="en-US" sz="800" dirty="0">
                        <a:latin typeface="Consolas" charset="0"/>
                        <a:ea typeface="Consolas" charset="0"/>
                        <a:cs typeface="Consolas" charset="0"/>
                      </a:endParaRPr>
                    </a:p>
                  </a:txBody>
                  <a:tcPr marL="63500" marR="63500" marT="25400" marB="254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FFFFFF"/>
                    </a:solidFill>
                  </a:tcPr>
                </a:tc>
                <a:tc>
                  <a:txBody>
                    <a:bodyPr/>
                    <a:lstStyle/>
                    <a:p>
                      <a:pPr marL="0" indent="0">
                        <a:buNone/>
                      </a:pPr>
                      <a:r>
                        <a:rPr lang="en-US" sz="800" dirty="0">
                          <a:solidFill>
                            <a:srgbClr val="0B4DA2"/>
                          </a:solidFill>
                          <a:latin typeface="Consolas" pitchFamily="34" charset="0"/>
                          <a:ea typeface="Consolas" pitchFamily="34" charset="-122"/>
                          <a:cs typeface="Consolas" pitchFamily="34" charset="-120"/>
                        </a:rPr>
                        <a:t>Orders/$count</a:t>
                      </a:r>
                      <a:endParaRPr lang="en-US" sz="800" dirty="0">
                        <a:latin typeface="Consolas" charset="0"/>
                        <a:ea typeface="Consolas" charset="0"/>
                        <a:cs typeface="Consolas" charset="0"/>
                      </a:endParaRPr>
                    </a:p>
                  </a:txBody>
                  <a:tcPr marL="63500" marR="63500" marT="25400" marB="254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950" b="1" dirty="0">
                          <a:solidFill>
                            <a:srgbClr val="071B3F"/>
                          </a:solidFill>
                          <a:latin typeface="Calibri" pitchFamily="34" charset="0"/>
                          <a:ea typeface="Calibri" pitchFamily="34" charset="-122"/>
                          <a:cs typeface="Calibri" pitchFamily="34" charset="-120"/>
                        </a:rPr>
                        <a:t>Campos de usuario</a:t>
                      </a:r>
                      <a:endParaRPr lang="en-US" sz="950" dirty="0">
                        <a:latin typeface="Calibri" charset="0"/>
                        <a:ea typeface="Calibri" charset="0"/>
                        <a:cs typeface="Calibri" charset="0"/>
                      </a:endParaRPr>
                    </a:p>
                  </a:txBody>
                  <a:tcPr marL="63500" marR="63500" marT="25400" marB="254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EEF3FA"/>
                    </a:solidFill>
                  </a:tcPr>
                </a:tc>
                <a:tc>
                  <a:txBody>
                    <a:bodyPr/>
                    <a:lstStyle/>
                    <a:p>
                      <a:pPr marL="0" indent="0">
                        <a:buNone/>
                      </a:pPr>
                      <a:r>
                        <a:rPr lang="en-US" sz="800" dirty="0">
                          <a:solidFill>
                            <a:srgbClr val="0B4DA2"/>
                          </a:solidFill>
                          <a:latin typeface="Consolas" pitchFamily="34" charset="0"/>
                          <a:ea typeface="Consolas" pitchFamily="34" charset="-122"/>
                          <a:cs typeface="Consolas" pitchFamily="34" charset="-120"/>
                        </a:rPr>
                        <a:t>U_VS_Estado eq 'A'</a:t>
                      </a:r>
                      <a:endParaRPr lang="en-US" sz="800" dirty="0">
                        <a:latin typeface="Consolas" charset="0"/>
                        <a:ea typeface="Consolas" charset="0"/>
                        <a:cs typeface="Consolas" charset="0"/>
                      </a:endParaRPr>
                    </a:p>
                  </a:txBody>
                  <a:tcPr marL="63500" marR="63500" marT="25400" marB="254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EEF3FA"/>
                    </a:solidFill>
                  </a:tcPr>
                </a:tc>
                <a:tc>
                  <a:txBody>
                    <a:bodyPr/>
                    <a:lstStyle/>
                    <a:p>
                      <a:pPr marL="0" indent="0">
                        <a:buNone/>
                      </a:pPr>
                      <a:r>
                        <a:rPr lang="en-US" sz="800" dirty="0">
                          <a:solidFill>
                            <a:srgbClr val="0B4DA2"/>
                          </a:solidFill>
                          <a:latin typeface="Consolas" pitchFamily="34" charset="0"/>
                          <a:ea typeface="Consolas" pitchFamily="34" charset="-122"/>
                          <a:cs typeface="Consolas" pitchFamily="34" charset="-120"/>
                        </a:rPr>
                        <a:t>U_VS_Estado eq 'A'</a:t>
                      </a:r>
                      <a:endParaRPr lang="en-US" sz="800" dirty="0">
                        <a:latin typeface="Consolas" charset="0"/>
                        <a:ea typeface="Consolas" charset="0"/>
                        <a:cs typeface="Consolas" charset="0"/>
                      </a:endParaRPr>
                    </a:p>
                  </a:txBody>
                  <a:tcPr marL="63500" marR="63500" marT="25400" marB="254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EEF3FA"/>
                    </a:solidFill>
                  </a:tcPr>
                </a:tc>
                <a:extLst>
                  <a:ext uri="{0D108BD9-81ED-4DB2-BD59-A6C34878D82A}">
                    <a16:rowId xmlns:a16="http://schemas.microsoft.com/office/drawing/2014/main" val="10005"/>
                  </a:ext>
                </a:extLst>
              </a:tr>
            </a:tbl>
          </a:graphicData>
        </a:graphic>
      </p:graphicFrame>
      <p:sp>
        <p:nvSpPr>
          <p:cNvPr id="46" name="Shape 43"/>
          <p:cNvSpPr/>
          <p:nvPr/>
        </p:nvSpPr>
        <p:spPr>
          <a:xfrm>
            <a:off x="4389120" y="4224528"/>
            <a:ext cx="4297680" cy="502920"/>
          </a:xfrm>
          <a:prstGeom prst="roundRect">
            <a:avLst>
              <a:gd name="adj" fmla="val 14545"/>
            </a:avLst>
          </a:prstGeom>
          <a:solidFill>
            <a:srgbClr val="FFF8E6"/>
          </a:solidFill>
          <a:ln w="9525">
            <a:solidFill>
              <a:srgbClr val="D5DFEC"/>
            </a:solidFill>
            <a:prstDash val="solid"/>
          </a:ln>
          <a:effectLst>
            <a:outerShdw blurRad="101600" dist="25400" dir="5400000" algn="bl" rotWithShape="0">
              <a:srgbClr val="0B2A55">
                <a:alpha val="12000"/>
              </a:srgbClr>
            </a:outerShdw>
          </a:effectLst>
        </p:spPr>
      </p:sp>
      <p:sp>
        <p:nvSpPr>
          <p:cNvPr id="47" name="Text 44"/>
          <p:cNvSpPr txBox="1"/>
          <p:nvPr/>
        </p:nvSpPr>
        <p:spPr>
          <a:xfrm>
            <a:off x="4526280" y="4224528"/>
            <a:ext cx="4069080" cy="502920"/>
          </a:xfrm>
          <a:prstGeom prst="rect">
            <a:avLst/>
          </a:prstGeom>
          <a:noFill/>
          <a:ln/>
        </p:spPr>
        <p:txBody>
          <a:bodyPr wrap="square" lIns="0" tIns="0" rIns="0" bIns="0" rtlCol="0" anchor="ctr"/>
          <a:lstStyle/>
          <a:p>
            <a:pPr marL="0" indent="0">
              <a:buNone/>
            </a:pPr>
            <a:r>
              <a:rPr lang="en-US" sz="1000" b="1" dirty="0">
                <a:solidFill>
                  <a:srgbClr val="071B3F"/>
                </a:solidFill>
                <a:latin typeface="Calibri" pitchFamily="34" charset="0"/>
                <a:ea typeface="Calibri" pitchFamily="34" charset="-122"/>
                <a:cs typeface="Calibri" pitchFamily="34" charset="-120"/>
              </a:rPr>
              <a:t>Enumeraciones como texto: </a:t>
            </a:r>
            <a:r>
              <a:rPr lang="en-US" sz="900" dirty="0">
                <a:solidFill>
                  <a:srgbClr val="0B4DA2"/>
                </a:solidFill>
                <a:latin typeface="Consolas" pitchFamily="34" charset="0"/>
                <a:ea typeface="Consolas" pitchFamily="34" charset="-122"/>
                <a:cs typeface="Consolas" pitchFamily="34" charset="-120"/>
              </a:rPr>
              <a:t>DocumentStatus eq 'bost_Open', CardType eq 'cCustomer'</a:t>
            </a:r>
            <a:endParaRPr lang="en-US" sz="1000" dirty="0"/>
          </a:p>
        </p:txBody>
      </p:sp>
      <p:sp>
        <p:nvSpPr>
          <p:cNvPr id="48"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xmlns="" val="0"/>
            </a:ext>
          </a:extLst>
        </p:spPr>
        <p:txBody>
          <a:bodyPr/>
          <a:lstStyle>
            <a:lvl1pPr>
              <a:defRPr sz="800">
                <a:solidFill>
                  <a:srgbClr val="8A9AB0"/>
                </a:solidFill>
                <a:latin typeface="Calibri"/>
                <a:ea typeface="Calibri"/>
                <a:cs typeface="Calibri"/>
              </a:defRPr>
            </a:lvl1pPr>
          </a:lstStyle>
          <a:p>
            <a:pPr algn="r"/>
            <a:fld id="{F7021451-1387-4CA6-816F-3879F97B5CBC}" type="slidenum">
              <a:rPr lang="en-US" b="0"/>
              <a:t>31</a:t>
            </a:fld>
            <a:endParaRPr lang="en-US"/>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457200" y="256032"/>
            <a:ext cx="2505456" cy="237744"/>
          </a:xfrm>
          <a:prstGeom prst="roundRect">
            <a:avLst>
              <a:gd name="adj" fmla="val 50000"/>
            </a:avLst>
          </a:prstGeom>
          <a:solidFill>
            <a:srgbClr val="071B3F"/>
          </a:solidFill>
          <a:ln w="12700">
            <a:solidFill>
              <a:srgbClr val="071B3F"/>
            </a:solidFill>
            <a:prstDash val="solid"/>
          </a:ln>
        </p:spPr>
      </p:sp>
      <p:sp>
        <p:nvSpPr>
          <p:cNvPr id="3" name="Text 1"/>
          <p:cNvSpPr txBox="1"/>
          <p:nvPr/>
        </p:nvSpPr>
        <p:spPr>
          <a:xfrm>
            <a:off x="457200" y="256032"/>
            <a:ext cx="2505456" cy="237744"/>
          </a:xfrm>
          <a:prstGeom prst="rect">
            <a:avLst/>
          </a:prstGeom>
          <a:noFill/>
          <a:ln/>
        </p:spPr>
        <p:txBody>
          <a:bodyPr wrap="square" lIns="0" tIns="0" rIns="0" bIns="0" rtlCol="0" anchor="ctr"/>
          <a:lstStyle/>
          <a:p>
            <a:pPr marL="0" indent="0" algn="ctr">
              <a:buNone/>
            </a:pPr>
            <a:r>
              <a:rPr lang="en-US" sz="850" b="1" kern="0" spc="100" dirty="0">
                <a:solidFill>
                  <a:srgbClr val="F5A800"/>
                </a:solidFill>
                <a:latin typeface="Segoe UI" pitchFamily="34" charset="0"/>
                <a:ea typeface="Segoe UI" pitchFamily="34" charset="-122"/>
                <a:cs typeface="Segoe UI" pitchFamily="34" charset="-120"/>
              </a:rPr>
              <a:t>05  ·  FLUJOS DE OPERACIÓN III</a:t>
            </a:r>
            <a:endParaRPr lang="en-US" sz="850" dirty="0"/>
          </a:p>
        </p:txBody>
      </p:sp>
      <p:sp>
        <p:nvSpPr>
          <p:cNvPr id="4" name="Text 2"/>
          <p:cNvSpPr txBox="1"/>
          <p:nvPr/>
        </p:nvSpPr>
        <p:spPr>
          <a:xfrm>
            <a:off x="457200" y="566928"/>
            <a:ext cx="8229600" cy="502920"/>
          </a:xfrm>
          <a:prstGeom prst="rect">
            <a:avLst/>
          </a:prstGeom>
          <a:noFill/>
          <a:ln/>
        </p:spPr>
        <p:txBody>
          <a:bodyPr wrap="square" lIns="0" tIns="0" rIns="0" bIns="0" rtlCol="0" anchor="ctr"/>
          <a:lstStyle/>
          <a:p>
            <a:pPr marL="0" indent="0">
              <a:buNone/>
            </a:pPr>
            <a:r>
              <a:rPr lang="en-US" sz="2400" b="1" dirty="0">
                <a:solidFill>
                  <a:srgbClr val="071B3F"/>
                </a:solidFill>
                <a:latin typeface="Segoe UI" pitchFamily="34" charset="0"/>
                <a:ea typeface="Segoe UI" pitchFamily="34" charset="-122"/>
                <a:cs typeface="Segoe UI" pitchFamily="34" charset="-120"/>
              </a:rPr>
              <a:t>Query options en la práctica</a:t>
            </a:r>
            <a:endParaRPr lang="en-US" sz="2400" dirty="0"/>
          </a:p>
        </p:txBody>
      </p:sp>
      <p:sp>
        <p:nvSpPr>
          <p:cNvPr id="5" name="Text 3"/>
          <p:cNvSpPr txBox="1"/>
          <p:nvPr/>
        </p:nvSpPr>
        <p:spPr>
          <a:xfrm>
            <a:off x="457200" y="1051560"/>
            <a:ext cx="8229600" cy="274320"/>
          </a:xfrm>
          <a:prstGeom prst="rect">
            <a:avLst/>
          </a:prstGeom>
          <a:noFill/>
          <a:ln/>
        </p:spPr>
        <p:txBody>
          <a:bodyPr wrap="square" lIns="0" tIns="0" rIns="0" bIns="0" rtlCol="0" anchor="ctr"/>
          <a:lstStyle/>
          <a:p>
            <a:pPr marL="0" indent="0">
              <a:buNone/>
            </a:pPr>
            <a:r>
              <a:rPr lang="en-US" sz="1250" dirty="0">
                <a:solidFill>
                  <a:srgbClr val="5B6B82"/>
                </a:solidFill>
                <a:latin typeface="Calibri" pitchFamily="34" charset="0"/>
                <a:ea typeface="Calibri" pitchFamily="34" charset="-122"/>
                <a:cs typeface="Calibri" pitchFamily="34" charset="-120"/>
              </a:rPr>
              <a:t>Consultas típicas para probar en Postman</a:t>
            </a:r>
            <a:endParaRPr lang="en-US" sz="1250" dirty="0"/>
          </a:p>
        </p:txBody>
      </p:sp>
      <p:sp>
        <p:nvSpPr>
          <p:cNvPr id="6" name="Text 4"/>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00" dirty="0">
                <a:solidFill>
                  <a:srgbClr val="8A9AB0"/>
                </a:solidFill>
                <a:latin typeface="Calibri" pitchFamily="34" charset="0"/>
                <a:ea typeface="Calibri" pitchFamily="34" charset="-122"/>
                <a:cs typeface="Calibri" pitchFamily="34" charset="-120"/>
              </a:rPr>
              <a:t>Ventura Soluciones  |  SAP Business One · Service Layer</a:t>
            </a:r>
            <a:endParaRPr lang="en-US" sz="800" dirty="0"/>
          </a:p>
        </p:txBody>
      </p:sp>
      <p:sp>
        <p:nvSpPr>
          <p:cNvPr id="7" name="Shape 5"/>
          <p:cNvSpPr/>
          <p:nvPr/>
        </p:nvSpPr>
        <p:spPr>
          <a:xfrm>
            <a:off x="457200" y="1371600"/>
            <a:ext cx="4023360" cy="1600200"/>
          </a:xfrm>
          <a:prstGeom prst="roundRect">
            <a:avLst>
              <a:gd name="adj" fmla="val 4000"/>
            </a:avLst>
          </a:prstGeom>
          <a:solidFill>
            <a:srgbClr val="0E1B2E"/>
          </a:solidFill>
          <a:ln w="12700">
            <a:solidFill>
              <a:srgbClr val="0E1B2E"/>
            </a:solidFill>
            <a:prstDash val="solid"/>
          </a:ln>
          <a:effectLst>
            <a:outerShdw blurRad="101600" dist="25400" dir="5400000" algn="bl" rotWithShape="0">
              <a:srgbClr val="0B2A55">
                <a:alpha val="12000"/>
              </a:srgbClr>
            </a:outerShdw>
          </a:effectLst>
        </p:spPr>
      </p:sp>
      <p:sp>
        <p:nvSpPr>
          <p:cNvPr id="8" name="Shape 6"/>
          <p:cNvSpPr/>
          <p:nvPr/>
        </p:nvSpPr>
        <p:spPr>
          <a:xfrm>
            <a:off x="594360" y="1481328"/>
            <a:ext cx="73152" cy="73152"/>
          </a:xfrm>
          <a:prstGeom prst="ellipse">
            <a:avLst/>
          </a:prstGeom>
          <a:solidFill>
            <a:srgbClr val="FF5F56"/>
          </a:solidFill>
          <a:ln w="12700">
            <a:solidFill>
              <a:srgbClr val="FF5F56"/>
            </a:solidFill>
            <a:prstDash val="solid"/>
          </a:ln>
        </p:spPr>
      </p:sp>
      <p:sp>
        <p:nvSpPr>
          <p:cNvPr id="9" name="Shape 7"/>
          <p:cNvSpPr/>
          <p:nvPr/>
        </p:nvSpPr>
        <p:spPr>
          <a:xfrm>
            <a:off x="722376" y="1481328"/>
            <a:ext cx="73152" cy="73152"/>
          </a:xfrm>
          <a:prstGeom prst="ellipse">
            <a:avLst/>
          </a:prstGeom>
          <a:solidFill>
            <a:srgbClr val="FFBD2E"/>
          </a:solidFill>
          <a:ln w="12700">
            <a:solidFill>
              <a:srgbClr val="FFBD2E"/>
            </a:solidFill>
            <a:prstDash val="solid"/>
          </a:ln>
        </p:spPr>
      </p:sp>
      <p:sp>
        <p:nvSpPr>
          <p:cNvPr id="10" name="Shape 8"/>
          <p:cNvSpPr/>
          <p:nvPr/>
        </p:nvSpPr>
        <p:spPr>
          <a:xfrm>
            <a:off x="850392" y="1481328"/>
            <a:ext cx="73152" cy="73152"/>
          </a:xfrm>
          <a:prstGeom prst="ellipse">
            <a:avLst/>
          </a:prstGeom>
          <a:solidFill>
            <a:srgbClr val="27C93F"/>
          </a:solidFill>
          <a:ln w="12700">
            <a:solidFill>
              <a:srgbClr val="27C93F"/>
            </a:solidFill>
            <a:prstDash val="solid"/>
          </a:ln>
        </p:spPr>
      </p:sp>
      <p:sp>
        <p:nvSpPr>
          <p:cNvPr id="11" name="Text 9"/>
          <p:cNvSpPr txBox="1"/>
          <p:nvPr/>
        </p:nvSpPr>
        <p:spPr>
          <a:xfrm>
            <a:off x="1024128" y="1426464"/>
            <a:ext cx="3337560" cy="182880"/>
          </a:xfrm>
          <a:prstGeom prst="rect">
            <a:avLst/>
          </a:prstGeom>
          <a:noFill/>
          <a:ln/>
        </p:spPr>
        <p:txBody>
          <a:bodyPr wrap="square" lIns="0" tIns="0" rIns="0" bIns="0" rtlCol="0" anchor="ctr"/>
          <a:lstStyle/>
          <a:p>
            <a:pPr marL="0" indent="0">
              <a:buNone/>
            </a:pPr>
            <a:r>
              <a:rPr lang="en-US" sz="850" b="1" dirty="0">
                <a:solidFill>
                  <a:srgbClr val="F5A800"/>
                </a:solidFill>
                <a:latin typeface="Segoe UI" pitchFamily="34" charset="0"/>
                <a:ea typeface="Segoe UI" pitchFamily="34" charset="-122"/>
                <a:cs typeface="Segoe UI" pitchFamily="34" charset="-120"/>
              </a:rPr>
              <a:t>Pedidos abiertos de un cliente</a:t>
            </a:r>
            <a:endParaRPr lang="en-US" sz="850" dirty="0"/>
          </a:p>
        </p:txBody>
      </p:sp>
      <p:sp>
        <p:nvSpPr>
          <p:cNvPr id="12" name="Text 10"/>
          <p:cNvSpPr txBox="1"/>
          <p:nvPr/>
        </p:nvSpPr>
        <p:spPr>
          <a:xfrm>
            <a:off x="594360" y="1664208"/>
            <a:ext cx="3749040" cy="1234440"/>
          </a:xfrm>
          <a:prstGeom prst="rect">
            <a:avLst/>
          </a:prstGeom>
          <a:noFill/>
          <a:ln/>
        </p:spPr>
        <p:txBody>
          <a:bodyPr wrap="square" lIns="0" tIns="0" rIns="0" bIns="0" rtlCol="0" anchor="t"/>
          <a:lstStyle/>
          <a:p>
            <a:pPr marL="0" indent="0">
              <a:lnSpc>
                <a:spcPct val="100000"/>
              </a:lnSpc>
              <a:buNone/>
            </a:pPr>
            <a:r>
              <a:rPr lang="en-US" sz="780" b="1" dirty="0">
                <a:solidFill>
                  <a:srgbClr val="F5A800"/>
                </a:solidFill>
                <a:latin typeface="Consolas" pitchFamily="34" charset="0"/>
                <a:ea typeface="Consolas" pitchFamily="34" charset="-122"/>
                <a:cs typeface="Consolas" pitchFamily="34" charset="-120"/>
              </a:rPr>
              <a:t>GET</a:t>
            </a:r>
            <a:r>
              <a:rPr lang="en-US" sz="780" dirty="0">
                <a:solidFill>
                  <a:srgbClr val="DCE6F2"/>
                </a:solidFill>
                <a:latin typeface="Consolas" pitchFamily="34" charset="0"/>
                <a:ea typeface="Consolas" pitchFamily="34" charset="-122"/>
                <a:cs typeface="Consolas" pitchFamily="34" charset="-120"/>
              </a:rPr>
              <a:t> /b1s/v1/Orders</a:t>
            </a:r>
            <a:endParaRPr lang="en-US" sz="780" dirty="0"/>
          </a:p>
          <a:p>
            <a:pPr marL="0" indent="0">
              <a:lnSpc>
                <a:spcPct val="100000"/>
              </a:lnSpc>
              <a:buNone/>
            </a:pPr>
            <a:r>
              <a:rPr lang="en-US" sz="780" dirty="0">
                <a:solidFill>
                  <a:srgbClr val="DCE6F2"/>
                </a:solidFill>
                <a:latin typeface="Consolas" pitchFamily="34" charset="0"/>
                <a:ea typeface="Consolas" pitchFamily="34" charset="-122"/>
                <a:cs typeface="Consolas" pitchFamily="34" charset="-120"/>
              </a:rPr>
              <a:t>  ?$select=DocEntry,DocNum,DocDate,DocTotal</a:t>
            </a:r>
            <a:endParaRPr lang="en-US" sz="780" dirty="0"/>
          </a:p>
          <a:p>
            <a:pPr marL="0" indent="0">
              <a:lnSpc>
                <a:spcPct val="100000"/>
              </a:lnSpc>
              <a:buNone/>
            </a:pPr>
            <a:r>
              <a:rPr lang="en-US" sz="780" dirty="0">
                <a:solidFill>
                  <a:srgbClr val="DCE6F2"/>
                </a:solidFill>
                <a:latin typeface="Consolas" pitchFamily="34" charset="0"/>
                <a:ea typeface="Consolas" pitchFamily="34" charset="-122"/>
                <a:cs typeface="Consolas" pitchFamily="34" charset="-120"/>
              </a:rPr>
              <a:t>  &amp;$filter=CardCode eq 'C20601234567'</a:t>
            </a:r>
            <a:endParaRPr lang="en-US" sz="780" dirty="0"/>
          </a:p>
          <a:p>
            <a:pPr marL="0" indent="0">
              <a:lnSpc>
                <a:spcPct val="100000"/>
              </a:lnSpc>
              <a:buNone/>
            </a:pPr>
            <a:r>
              <a:rPr lang="en-US" sz="780" dirty="0">
                <a:solidFill>
                  <a:srgbClr val="DCE6F2"/>
                </a:solidFill>
                <a:latin typeface="Consolas" pitchFamily="34" charset="0"/>
                <a:ea typeface="Consolas" pitchFamily="34" charset="-122"/>
                <a:cs typeface="Consolas" pitchFamily="34" charset="-120"/>
              </a:rPr>
              <a:t>     and DocumentStatus eq 'bost_Open'</a:t>
            </a:r>
            <a:endParaRPr lang="en-US" sz="780" dirty="0"/>
          </a:p>
          <a:p>
            <a:pPr marL="0" indent="0">
              <a:lnSpc>
                <a:spcPct val="100000"/>
              </a:lnSpc>
              <a:buNone/>
            </a:pPr>
            <a:r>
              <a:rPr lang="en-US" sz="780" dirty="0">
                <a:solidFill>
                  <a:srgbClr val="DCE6F2"/>
                </a:solidFill>
                <a:latin typeface="Consolas" pitchFamily="34" charset="0"/>
                <a:ea typeface="Consolas" pitchFamily="34" charset="-122"/>
                <a:cs typeface="Consolas" pitchFamily="34" charset="-120"/>
              </a:rPr>
              <a:t>  &amp;$orderby=DocDate desc</a:t>
            </a:r>
            <a:endParaRPr lang="en-US" sz="780" dirty="0"/>
          </a:p>
          <a:p>
            <a:pPr marL="0" indent="0">
              <a:lnSpc>
                <a:spcPct val="100000"/>
              </a:lnSpc>
              <a:buNone/>
            </a:pPr>
            <a:r>
              <a:rPr lang="en-US" sz="780" dirty="0">
                <a:solidFill>
                  <a:srgbClr val="DCE6F2"/>
                </a:solidFill>
                <a:latin typeface="Consolas" pitchFamily="34" charset="0"/>
                <a:ea typeface="Consolas" pitchFamily="34" charset="-122"/>
                <a:cs typeface="Consolas" pitchFamily="34" charset="-120"/>
              </a:rPr>
              <a:t>  &amp;$top=10</a:t>
            </a:r>
            <a:endParaRPr lang="en-US" sz="780" dirty="0"/>
          </a:p>
        </p:txBody>
      </p:sp>
      <p:sp>
        <p:nvSpPr>
          <p:cNvPr id="13" name="Shape 11"/>
          <p:cNvSpPr/>
          <p:nvPr/>
        </p:nvSpPr>
        <p:spPr>
          <a:xfrm>
            <a:off x="4663440" y="1371600"/>
            <a:ext cx="4023360" cy="1600200"/>
          </a:xfrm>
          <a:prstGeom prst="roundRect">
            <a:avLst>
              <a:gd name="adj" fmla="val 4000"/>
            </a:avLst>
          </a:prstGeom>
          <a:solidFill>
            <a:srgbClr val="0E1B2E"/>
          </a:solidFill>
          <a:ln w="12700">
            <a:solidFill>
              <a:srgbClr val="0E1B2E"/>
            </a:solidFill>
            <a:prstDash val="solid"/>
          </a:ln>
          <a:effectLst>
            <a:outerShdw blurRad="101600" dist="25400" dir="5400000" algn="bl" rotWithShape="0">
              <a:srgbClr val="0B2A55">
                <a:alpha val="12000"/>
              </a:srgbClr>
            </a:outerShdw>
          </a:effectLst>
        </p:spPr>
      </p:sp>
      <p:sp>
        <p:nvSpPr>
          <p:cNvPr id="14" name="Shape 12"/>
          <p:cNvSpPr/>
          <p:nvPr/>
        </p:nvSpPr>
        <p:spPr>
          <a:xfrm>
            <a:off x="4800600" y="1481328"/>
            <a:ext cx="73152" cy="73152"/>
          </a:xfrm>
          <a:prstGeom prst="ellipse">
            <a:avLst/>
          </a:prstGeom>
          <a:solidFill>
            <a:srgbClr val="FF5F56"/>
          </a:solidFill>
          <a:ln w="12700">
            <a:solidFill>
              <a:srgbClr val="FF5F56"/>
            </a:solidFill>
            <a:prstDash val="solid"/>
          </a:ln>
        </p:spPr>
      </p:sp>
      <p:sp>
        <p:nvSpPr>
          <p:cNvPr id="15" name="Shape 13"/>
          <p:cNvSpPr/>
          <p:nvPr/>
        </p:nvSpPr>
        <p:spPr>
          <a:xfrm>
            <a:off x="4928616" y="1481328"/>
            <a:ext cx="73152" cy="73152"/>
          </a:xfrm>
          <a:prstGeom prst="ellipse">
            <a:avLst/>
          </a:prstGeom>
          <a:solidFill>
            <a:srgbClr val="FFBD2E"/>
          </a:solidFill>
          <a:ln w="12700">
            <a:solidFill>
              <a:srgbClr val="FFBD2E"/>
            </a:solidFill>
            <a:prstDash val="solid"/>
          </a:ln>
        </p:spPr>
      </p:sp>
      <p:sp>
        <p:nvSpPr>
          <p:cNvPr id="16" name="Shape 14"/>
          <p:cNvSpPr/>
          <p:nvPr/>
        </p:nvSpPr>
        <p:spPr>
          <a:xfrm>
            <a:off x="5056632" y="1481328"/>
            <a:ext cx="73152" cy="73152"/>
          </a:xfrm>
          <a:prstGeom prst="ellipse">
            <a:avLst/>
          </a:prstGeom>
          <a:solidFill>
            <a:srgbClr val="27C93F"/>
          </a:solidFill>
          <a:ln w="12700">
            <a:solidFill>
              <a:srgbClr val="27C93F"/>
            </a:solidFill>
            <a:prstDash val="solid"/>
          </a:ln>
        </p:spPr>
      </p:sp>
      <p:sp>
        <p:nvSpPr>
          <p:cNvPr id="17" name="Text 15"/>
          <p:cNvSpPr txBox="1"/>
          <p:nvPr/>
        </p:nvSpPr>
        <p:spPr>
          <a:xfrm>
            <a:off x="5230368" y="1426464"/>
            <a:ext cx="3337560" cy="182880"/>
          </a:xfrm>
          <a:prstGeom prst="rect">
            <a:avLst/>
          </a:prstGeom>
          <a:noFill/>
          <a:ln/>
        </p:spPr>
        <p:txBody>
          <a:bodyPr wrap="square" lIns="0" tIns="0" rIns="0" bIns="0" rtlCol="0" anchor="ctr"/>
          <a:lstStyle/>
          <a:p>
            <a:pPr marL="0" indent="0">
              <a:buNone/>
            </a:pPr>
            <a:r>
              <a:rPr lang="en-US" sz="850" b="1" dirty="0">
                <a:solidFill>
                  <a:srgbClr val="F5A800"/>
                </a:solidFill>
                <a:latin typeface="Segoe UI" pitchFamily="34" charset="0"/>
                <a:ea typeface="Segoe UI" pitchFamily="34" charset="-122"/>
                <a:cs typeface="Segoe UI" pitchFamily="34" charset="-120"/>
              </a:rPr>
              <a:t>Búsqueda de texto + campo de usuario</a:t>
            </a:r>
            <a:endParaRPr lang="en-US" sz="850" dirty="0"/>
          </a:p>
        </p:txBody>
      </p:sp>
      <p:sp>
        <p:nvSpPr>
          <p:cNvPr id="18" name="Text 16"/>
          <p:cNvSpPr txBox="1"/>
          <p:nvPr/>
        </p:nvSpPr>
        <p:spPr>
          <a:xfrm>
            <a:off x="4800600" y="1664208"/>
            <a:ext cx="3749040" cy="1234440"/>
          </a:xfrm>
          <a:prstGeom prst="rect">
            <a:avLst/>
          </a:prstGeom>
          <a:noFill/>
          <a:ln/>
        </p:spPr>
        <p:txBody>
          <a:bodyPr wrap="square" lIns="0" tIns="0" rIns="0" bIns="0" rtlCol="0" anchor="t"/>
          <a:lstStyle/>
          <a:p>
            <a:pPr marL="0" indent="0">
              <a:lnSpc>
                <a:spcPct val="100000"/>
              </a:lnSpc>
              <a:buNone/>
            </a:pPr>
            <a:r>
              <a:rPr lang="en-US" sz="780" i="1" dirty="0">
                <a:solidFill>
                  <a:srgbClr val="7D8FA8"/>
                </a:solidFill>
                <a:latin typeface="Consolas" pitchFamily="34" charset="0"/>
                <a:ea typeface="Consolas" pitchFamily="34" charset="-122"/>
                <a:cs typeface="Consolas" pitchFamily="34" charset="-120"/>
              </a:rPr>
              <a:t>// v1 (OData v3)</a:t>
            </a:r>
            <a:endParaRPr lang="en-US" sz="780" dirty="0"/>
          </a:p>
          <a:p>
            <a:pPr marL="0" indent="0">
              <a:lnSpc>
                <a:spcPct val="100000"/>
              </a:lnSpc>
              <a:buNone/>
            </a:pPr>
            <a:r>
              <a:rPr lang="en-US" sz="780" b="1" dirty="0">
                <a:solidFill>
                  <a:srgbClr val="F5A800"/>
                </a:solidFill>
                <a:latin typeface="Consolas" pitchFamily="34" charset="0"/>
                <a:ea typeface="Consolas" pitchFamily="34" charset="-122"/>
                <a:cs typeface="Consolas" pitchFamily="34" charset="-120"/>
              </a:rPr>
              <a:t>GET</a:t>
            </a:r>
            <a:r>
              <a:rPr lang="en-US" sz="780" dirty="0">
                <a:solidFill>
                  <a:srgbClr val="DCE6F2"/>
                </a:solidFill>
                <a:latin typeface="Consolas" pitchFamily="34" charset="0"/>
                <a:ea typeface="Consolas" pitchFamily="34" charset="-122"/>
                <a:cs typeface="Consolas" pitchFamily="34" charset="-120"/>
              </a:rPr>
              <a:t> /b1s/v1/Items?$select=ItemCode,ItemName</a:t>
            </a:r>
            <a:endParaRPr lang="en-US" sz="780" dirty="0"/>
          </a:p>
          <a:p>
            <a:pPr marL="0" indent="0">
              <a:lnSpc>
                <a:spcPct val="100000"/>
              </a:lnSpc>
              <a:buNone/>
            </a:pPr>
            <a:r>
              <a:rPr lang="en-US" sz="780" dirty="0">
                <a:solidFill>
                  <a:srgbClr val="DCE6F2"/>
                </a:solidFill>
                <a:latin typeface="Consolas" pitchFamily="34" charset="0"/>
                <a:ea typeface="Consolas" pitchFamily="34" charset="-122"/>
                <a:cs typeface="Consolas" pitchFamily="34" charset="-120"/>
              </a:rPr>
              <a:t>  &amp;$filter=substringof('LAPTOP',ItemName)</a:t>
            </a:r>
            <a:endParaRPr lang="en-US" sz="780" dirty="0"/>
          </a:p>
          <a:p>
            <a:pPr marL="0" indent="0">
              <a:lnSpc>
                <a:spcPct val="100000"/>
              </a:lnSpc>
              <a:buNone/>
            </a:pPr>
            <a:r>
              <a:rPr lang="en-US" sz="780" dirty="0">
                <a:solidFill>
                  <a:srgbClr val="DCE6F2"/>
                </a:solidFill>
                <a:latin typeface="Consolas" pitchFamily="34" charset="0"/>
                <a:ea typeface="Consolas" pitchFamily="34" charset="-122"/>
                <a:cs typeface="Consolas" pitchFamily="34" charset="-120"/>
              </a:rPr>
              <a:t>     and U_VS_Linea eq 'TEC'</a:t>
            </a:r>
            <a:endParaRPr lang="en-US" sz="780" dirty="0"/>
          </a:p>
          <a:p>
            <a:pPr marL="0" indent="0">
              <a:lnSpc>
                <a:spcPct val="100000"/>
              </a:lnSpc>
              <a:buNone/>
            </a:pPr>
            <a:r>
              <a:rPr lang="en-US" sz="780" i="1" dirty="0">
                <a:solidFill>
                  <a:srgbClr val="7D8FA8"/>
                </a:solidFill>
                <a:latin typeface="Consolas" pitchFamily="34" charset="0"/>
                <a:ea typeface="Consolas" pitchFamily="34" charset="-122"/>
                <a:cs typeface="Consolas" pitchFamily="34" charset="-120"/>
              </a:rPr>
              <a:t>// v2 (OData v4)</a:t>
            </a:r>
            <a:endParaRPr lang="en-US" sz="780" dirty="0"/>
          </a:p>
          <a:p>
            <a:pPr marL="0" indent="0">
              <a:lnSpc>
                <a:spcPct val="100000"/>
              </a:lnSpc>
              <a:buNone/>
            </a:pPr>
            <a:r>
              <a:rPr lang="en-US" sz="780" b="1" dirty="0">
                <a:solidFill>
                  <a:srgbClr val="F5A800"/>
                </a:solidFill>
                <a:latin typeface="Consolas" pitchFamily="34" charset="0"/>
                <a:ea typeface="Consolas" pitchFamily="34" charset="-122"/>
                <a:cs typeface="Consolas" pitchFamily="34" charset="-120"/>
              </a:rPr>
              <a:t>GET</a:t>
            </a:r>
            <a:r>
              <a:rPr lang="en-US" sz="780" dirty="0">
                <a:solidFill>
                  <a:srgbClr val="DCE6F2"/>
                </a:solidFill>
                <a:latin typeface="Consolas" pitchFamily="34" charset="0"/>
                <a:ea typeface="Consolas" pitchFamily="34" charset="-122"/>
                <a:cs typeface="Consolas" pitchFamily="34" charset="-120"/>
              </a:rPr>
              <a:t> /b1s/v2/Items?$select=ItemCode,ItemName</a:t>
            </a:r>
            <a:endParaRPr lang="en-US" sz="780" dirty="0"/>
          </a:p>
          <a:p>
            <a:pPr marL="0" indent="0">
              <a:lnSpc>
                <a:spcPct val="100000"/>
              </a:lnSpc>
              <a:buNone/>
            </a:pPr>
            <a:r>
              <a:rPr lang="en-US" sz="780" dirty="0">
                <a:solidFill>
                  <a:srgbClr val="DCE6F2"/>
                </a:solidFill>
                <a:latin typeface="Consolas" pitchFamily="34" charset="0"/>
                <a:ea typeface="Consolas" pitchFamily="34" charset="-122"/>
                <a:cs typeface="Consolas" pitchFamily="34" charset="-120"/>
              </a:rPr>
              <a:t>  &amp;$filter=contains(ItemName,'LAPTOP')</a:t>
            </a:r>
            <a:endParaRPr lang="en-US" sz="780" dirty="0"/>
          </a:p>
        </p:txBody>
      </p:sp>
      <p:sp>
        <p:nvSpPr>
          <p:cNvPr id="19" name="Shape 17"/>
          <p:cNvSpPr/>
          <p:nvPr/>
        </p:nvSpPr>
        <p:spPr>
          <a:xfrm>
            <a:off x="457200" y="3081528"/>
            <a:ext cx="4023360" cy="1600200"/>
          </a:xfrm>
          <a:prstGeom prst="roundRect">
            <a:avLst>
              <a:gd name="adj" fmla="val 4000"/>
            </a:avLst>
          </a:prstGeom>
          <a:solidFill>
            <a:srgbClr val="0E1B2E"/>
          </a:solidFill>
          <a:ln w="12700">
            <a:solidFill>
              <a:srgbClr val="0E1B2E"/>
            </a:solidFill>
            <a:prstDash val="solid"/>
          </a:ln>
          <a:effectLst>
            <a:outerShdw blurRad="101600" dist="25400" dir="5400000" algn="bl" rotWithShape="0">
              <a:srgbClr val="0B2A55">
                <a:alpha val="12000"/>
              </a:srgbClr>
            </a:outerShdw>
          </a:effectLst>
        </p:spPr>
      </p:sp>
      <p:sp>
        <p:nvSpPr>
          <p:cNvPr id="20" name="Shape 18"/>
          <p:cNvSpPr/>
          <p:nvPr/>
        </p:nvSpPr>
        <p:spPr>
          <a:xfrm>
            <a:off x="594360" y="3191256"/>
            <a:ext cx="73152" cy="73152"/>
          </a:xfrm>
          <a:prstGeom prst="ellipse">
            <a:avLst/>
          </a:prstGeom>
          <a:solidFill>
            <a:srgbClr val="FF5F56"/>
          </a:solidFill>
          <a:ln w="12700">
            <a:solidFill>
              <a:srgbClr val="FF5F56"/>
            </a:solidFill>
            <a:prstDash val="solid"/>
          </a:ln>
        </p:spPr>
      </p:sp>
      <p:sp>
        <p:nvSpPr>
          <p:cNvPr id="21" name="Shape 19"/>
          <p:cNvSpPr/>
          <p:nvPr/>
        </p:nvSpPr>
        <p:spPr>
          <a:xfrm>
            <a:off x="722376" y="3191256"/>
            <a:ext cx="73152" cy="73152"/>
          </a:xfrm>
          <a:prstGeom prst="ellipse">
            <a:avLst/>
          </a:prstGeom>
          <a:solidFill>
            <a:srgbClr val="FFBD2E"/>
          </a:solidFill>
          <a:ln w="12700">
            <a:solidFill>
              <a:srgbClr val="FFBD2E"/>
            </a:solidFill>
            <a:prstDash val="solid"/>
          </a:ln>
        </p:spPr>
      </p:sp>
      <p:sp>
        <p:nvSpPr>
          <p:cNvPr id="22" name="Shape 20"/>
          <p:cNvSpPr/>
          <p:nvPr/>
        </p:nvSpPr>
        <p:spPr>
          <a:xfrm>
            <a:off x="850392" y="3191256"/>
            <a:ext cx="73152" cy="73152"/>
          </a:xfrm>
          <a:prstGeom prst="ellipse">
            <a:avLst/>
          </a:prstGeom>
          <a:solidFill>
            <a:srgbClr val="27C93F"/>
          </a:solidFill>
          <a:ln w="12700">
            <a:solidFill>
              <a:srgbClr val="27C93F"/>
            </a:solidFill>
            <a:prstDash val="solid"/>
          </a:ln>
        </p:spPr>
      </p:sp>
      <p:sp>
        <p:nvSpPr>
          <p:cNvPr id="23" name="Text 21"/>
          <p:cNvSpPr txBox="1"/>
          <p:nvPr/>
        </p:nvSpPr>
        <p:spPr>
          <a:xfrm>
            <a:off x="1024128" y="3136392"/>
            <a:ext cx="3337560" cy="182880"/>
          </a:xfrm>
          <a:prstGeom prst="rect">
            <a:avLst/>
          </a:prstGeom>
          <a:noFill/>
          <a:ln/>
        </p:spPr>
        <p:txBody>
          <a:bodyPr wrap="square" lIns="0" tIns="0" rIns="0" bIns="0" rtlCol="0" anchor="ctr"/>
          <a:lstStyle/>
          <a:p>
            <a:pPr marL="0" indent="0">
              <a:buNone/>
            </a:pPr>
            <a:r>
              <a:rPr lang="en-US" sz="850" b="1" dirty="0">
                <a:solidFill>
                  <a:srgbClr val="F5A800"/>
                </a:solidFill>
                <a:latin typeface="Segoe UI" pitchFamily="34" charset="0"/>
                <a:ea typeface="Segoe UI" pitchFamily="34" charset="-122"/>
                <a:cs typeface="Segoe UI" pitchFamily="34" charset="-120"/>
              </a:rPr>
              <a:t>Conteo y paginación</a:t>
            </a:r>
            <a:endParaRPr lang="en-US" sz="850" dirty="0"/>
          </a:p>
        </p:txBody>
      </p:sp>
      <p:sp>
        <p:nvSpPr>
          <p:cNvPr id="24" name="Text 22"/>
          <p:cNvSpPr txBox="1"/>
          <p:nvPr/>
        </p:nvSpPr>
        <p:spPr>
          <a:xfrm>
            <a:off x="594360" y="3374136"/>
            <a:ext cx="3749040" cy="1234440"/>
          </a:xfrm>
          <a:prstGeom prst="rect">
            <a:avLst/>
          </a:prstGeom>
          <a:noFill/>
          <a:ln/>
        </p:spPr>
        <p:txBody>
          <a:bodyPr wrap="square" lIns="0" tIns="0" rIns="0" bIns="0" rtlCol="0" anchor="t"/>
          <a:lstStyle/>
          <a:p>
            <a:pPr marL="0" indent="0">
              <a:lnSpc>
                <a:spcPct val="100000"/>
              </a:lnSpc>
              <a:buNone/>
            </a:pPr>
            <a:r>
              <a:rPr lang="en-US" sz="780" b="1" dirty="0">
                <a:solidFill>
                  <a:srgbClr val="F5A800"/>
                </a:solidFill>
                <a:latin typeface="Consolas" pitchFamily="34" charset="0"/>
                <a:ea typeface="Consolas" pitchFamily="34" charset="-122"/>
                <a:cs typeface="Consolas" pitchFamily="34" charset="-120"/>
              </a:rPr>
              <a:t>GET</a:t>
            </a:r>
            <a:r>
              <a:rPr lang="en-US" sz="780" dirty="0">
                <a:solidFill>
                  <a:srgbClr val="DCE6F2"/>
                </a:solidFill>
                <a:latin typeface="Consolas" pitchFamily="34" charset="0"/>
                <a:ea typeface="Consolas" pitchFamily="34" charset="-122"/>
                <a:cs typeface="Consolas" pitchFamily="34" charset="-120"/>
              </a:rPr>
              <a:t> /b1s/v1/BusinessPartners/$count</a:t>
            </a:r>
            <a:endParaRPr lang="en-US" sz="780" dirty="0"/>
          </a:p>
          <a:p>
            <a:pPr marL="0" indent="0">
              <a:lnSpc>
                <a:spcPct val="100000"/>
              </a:lnSpc>
              <a:buNone/>
            </a:pPr>
            <a:r>
              <a:rPr lang="en-US" sz="780" dirty="0">
                <a:solidFill>
                  <a:srgbClr val="DCE6F2"/>
                </a:solidFill>
                <a:latin typeface="Consolas" pitchFamily="34" charset="0"/>
                <a:ea typeface="Consolas" pitchFamily="34" charset="-122"/>
                <a:cs typeface="Consolas" pitchFamily="34" charset="-120"/>
              </a:rPr>
              <a:t>  ?$filter=CardType eq 'cCustomer'</a:t>
            </a:r>
            <a:endParaRPr lang="en-US" sz="780" dirty="0"/>
          </a:p>
          <a:p>
            <a:pPr marL="0" indent="0">
              <a:lnSpc>
                <a:spcPct val="100000"/>
              </a:lnSpc>
              <a:buNone/>
            </a:pPr>
            <a:r>
              <a:rPr lang="en-US" sz="780" dirty="0">
                <a:solidFill>
                  <a:srgbClr val="DCE6F2"/>
                </a:solidFill>
                <a:latin typeface="Consolas" pitchFamily="34" charset="0"/>
                <a:ea typeface="Consolas" pitchFamily="34" charset="-122"/>
                <a:cs typeface="Consolas" pitchFamily="34" charset="-120"/>
              </a:rPr>
              <a:t> </a:t>
            </a:r>
            <a:endParaRPr lang="en-US" sz="780" dirty="0"/>
          </a:p>
          <a:p>
            <a:pPr marL="0" indent="0">
              <a:lnSpc>
                <a:spcPct val="100000"/>
              </a:lnSpc>
              <a:buNone/>
            </a:pPr>
            <a:r>
              <a:rPr lang="en-US" sz="780" b="1" dirty="0">
                <a:solidFill>
                  <a:srgbClr val="F5A800"/>
                </a:solidFill>
                <a:latin typeface="Consolas" pitchFamily="34" charset="0"/>
                <a:ea typeface="Consolas" pitchFamily="34" charset="-122"/>
                <a:cs typeface="Consolas" pitchFamily="34" charset="-120"/>
              </a:rPr>
              <a:t>GET</a:t>
            </a:r>
            <a:r>
              <a:rPr lang="en-US" sz="780" dirty="0">
                <a:solidFill>
                  <a:srgbClr val="DCE6F2"/>
                </a:solidFill>
                <a:latin typeface="Consolas" pitchFamily="34" charset="0"/>
                <a:ea typeface="Consolas" pitchFamily="34" charset="-122"/>
                <a:cs typeface="Consolas" pitchFamily="34" charset="-120"/>
              </a:rPr>
              <a:t> /b1s/v1/BusinessPartners?$select=CardCode</a:t>
            </a:r>
            <a:endParaRPr lang="en-US" sz="780" dirty="0"/>
          </a:p>
          <a:p>
            <a:pPr marL="0" indent="0">
              <a:lnSpc>
                <a:spcPct val="100000"/>
              </a:lnSpc>
              <a:buNone/>
            </a:pPr>
            <a:r>
              <a:rPr lang="en-US" sz="780" dirty="0">
                <a:solidFill>
                  <a:srgbClr val="DCE6F2"/>
                </a:solidFill>
                <a:latin typeface="Consolas" pitchFamily="34" charset="0"/>
                <a:ea typeface="Consolas" pitchFamily="34" charset="-122"/>
                <a:cs typeface="Consolas" pitchFamily="34" charset="-120"/>
              </a:rPr>
              <a:t>Prefer: odata.maxpagesize=100</a:t>
            </a:r>
            <a:endParaRPr lang="en-US" sz="780" dirty="0"/>
          </a:p>
          <a:p>
            <a:pPr marL="0" indent="0">
              <a:lnSpc>
                <a:spcPct val="100000"/>
              </a:lnSpc>
              <a:buNone/>
            </a:pPr>
            <a:r>
              <a:rPr lang="en-US" sz="780" i="1" dirty="0">
                <a:solidFill>
                  <a:srgbClr val="7D8FA8"/>
                </a:solidFill>
                <a:latin typeface="Consolas" pitchFamily="34" charset="0"/>
                <a:ea typeface="Consolas" pitchFamily="34" charset="-122"/>
                <a:cs typeface="Consolas" pitchFamily="34" charset="-120"/>
              </a:rPr>
              <a:t>// siguiente página: seguir "odata.nextLink"</a:t>
            </a:r>
            <a:endParaRPr lang="en-US" sz="780" dirty="0"/>
          </a:p>
        </p:txBody>
      </p:sp>
      <p:sp>
        <p:nvSpPr>
          <p:cNvPr id="25" name="Shape 23"/>
          <p:cNvSpPr/>
          <p:nvPr/>
        </p:nvSpPr>
        <p:spPr>
          <a:xfrm>
            <a:off x="4663440" y="3081528"/>
            <a:ext cx="4023360" cy="1600200"/>
          </a:xfrm>
          <a:prstGeom prst="roundRect">
            <a:avLst>
              <a:gd name="adj" fmla="val 4000"/>
            </a:avLst>
          </a:prstGeom>
          <a:solidFill>
            <a:srgbClr val="0E1B2E"/>
          </a:solidFill>
          <a:ln w="12700">
            <a:solidFill>
              <a:srgbClr val="0E1B2E"/>
            </a:solidFill>
            <a:prstDash val="solid"/>
          </a:ln>
          <a:effectLst>
            <a:outerShdw blurRad="101600" dist="25400" dir="5400000" algn="bl" rotWithShape="0">
              <a:srgbClr val="0B2A55">
                <a:alpha val="12000"/>
              </a:srgbClr>
            </a:outerShdw>
          </a:effectLst>
        </p:spPr>
      </p:sp>
      <p:sp>
        <p:nvSpPr>
          <p:cNvPr id="26" name="Shape 24"/>
          <p:cNvSpPr/>
          <p:nvPr/>
        </p:nvSpPr>
        <p:spPr>
          <a:xfrm>
            <a:off x="4800600" y="3191256"/>
            <a:ext cx="73152" cy="73152"/>
          </a:xfrm>
          <a:prstGeom prst="ellipse">
            <a:avLst/>
          </a:prstGeom>
          <a:solidFill>
            <a:srgbClr val="FF5F56"/>
          </a:solidFill>
          <a:ln w="12700">
            <a:solidFill>
              <a:srgbClr val="FF5F56"/>
            </a:solidFill>
            <a:prstDash val="solid"/>
          </a:ln>
        </p:spPr>
      </p:sp>
      <p:sp>
        <p:nvSpPr>
          <p:cNvPr id="27" name="Shape 25"/>
          <p:cNvSpPr/>
          <p:nvPr/>
        </p:nvSpPr>
        <p:spPr>
          <a:xfrm>
            <a:off x="4928616" y="3191256"/>
            <a:ext cx="73152" cy="73152"/>
          </a:xfrm>
          <a:prstGeom prst="ellipse">
            <a:avLst/>
          </a:prstGeom>
          <a:solidFill>
            <a:srgbClr val="FFBD2E"/>
          </a:solidFill>
          <a:ln w="12700">
            <a:solidFill>
              <a:srgbClr val="FFBD2E"/>
            </a:solidFill>
            <a:prstDash val="solid"/>
          </a:ln>
        </p:spPr>
      </p:sp>
      <p:sp>
        <p:nvSpPr>
          <p:cNvPr id="28" name="Shape 26"/>
          <p:cNvSpPr/>
          <p:nvPr/>
        </p:nvSpPr>
        <p:spPr>
          <a:xfrm>
            <a:off x="5056632" y="3191256"/>
            <a:ext cx="73152" cy="73152"/>
          </a:xfrm>
          <a:prstGeom prst="ellipse">
            <a:avLst/>
          </a:prstGeom>
          <a:solidFill>
            <a:srgbClr val="27C93F"/>
          </a:solidFill>
          <a:ln w="12700">
            <a:solidFill>
              <a:srgbClr val="27C93F"/>
            </a:solidFill>
            <a:prstDash val="solid"/>
          </a:ln>
        </p:spPr>
      </p:sp>
      <p:sp>
        <p:nvSpPr>
          <p:cNvPr id="29" name="Text 27"/>
          <p:cNvSpPr txBox="1"/>
          <p:nvPr/>
        </p:nvSpPr>
        <p:spPr>
          <a:xfrm>
            <a:off x="5230368" y="3136392"/>
            <a:ext cx="3337560" cy="182880"/>
          </a:xfrm>
          <a:prstGeom prst="rect">
            <a:avLst/>
          </a:prstGeom>
          <a:noFill/>
          <a:ln/>
        </p:spPr>
        <p:txBody>
          <a:bodyPr wrap="square" lIns="0" tIns="0" rIns="0" bIns="0" rtlCol="0" anchor="ctr"/>
          <a:lstStyle/>
          <a:p>
            <a:pPr marL="0" indent="0">
              <a:buNone/>
            </a:pPr>
            <a:r>
              <a:rPr lang="en-US" sz="850" b="1" dirty="0">
                <a:solidFill>
                  <a:srgbClr val="F5A800"/>
                </a:solidFill>
                <a:latin typeface="Segoe UI" pitchFamily="34" charset="0"/>
                <a:ea typeface="Segoe UI" pitchFamily="34" charset="-122"/>
                <a:cs typeface="Segoe UI" pitchFamily="34" charset="-120"/>
              </a:rPr>
              <a:t>Agregación y cruce de entidades</a:t>
            </a:r>
            <a:endParaRPr lang="en-US" sz="850" dirty="0"/>
          </a:p>
        </p:txBody>
      </p:sp>
      <p:sp>
        <p:nvSpPr>
          <p:cNvPr id="30" name="Text 28"/>
          <p:cNvSpPr txBox="1"/>
          <p:nvPr/>
        </p:nvSpPr>
        <p:spPr>
          <a:xfrm>
            <a:off x="4800600" y="3374136"/>
            <a:ext cx="3749040" cy="1234440"/>
          </a:xfrm>
          <a:prstGeom prst="rect">
            <a:avLst/>
          </a:prstGeom>
          <a:noFill/>
          <a:ln/>
        </p:spPr>
        <p:txBody>
          <a:bodyPr wrap="square" lIns="0" tIns="0" rIns="0" bIns="0" rtlCol="0" anchor="t"/>
          <a:lstStyle/>
          <a:p>
            <a:pPr marL="0" indent="0">
              <a:lnSpc>
                <a:spcPct val="100000"/>
              </a:lnSpc>
              <a:buNone/>
            </a:pPr>
            <a:r>
              <a:rPr lang="en-US" sz="780" b="1" dirty="0">
                <a:solidFill>
                  <a:srgbClr val="F5A800"/>
                </a:solidFill>
                <a:latin typeface="Consolas" pitchFamily="34" charset="0"/>
                <a:ea typeface="Consolas" pitchFamily="34" charset="-122"/>
                <a:cs typeface="Consolas" pitchFamily="34" charset="-120"/>
              </a:rPr>
              <a:t>GET</a:t>
            </a:r>
            <a:r>
              <a:rPr lang="en-US" sz="780" dirty="0">
                <a:solidFill>
                  <a:srgbClr val="DCE6F2"/>
                </a:solidFill>
                <a:latin typeface="Consolas" pitchFamily="34" charset="0"/>
                <a:ea typeface="Consolas" pitchFamily="34" charset="-122"/>
                <a:cs typeface="Consolas" pitchFamily="34" charset="-120"/>
              </a:rPr>
              <a:t> /b1s/v1/Invoices?$apply=</a:t>
            </a:r>
            <a:endParaRPr lang="en-US" sz="780" dirty="0"/>
          </a:p>
          <a:p>
            <a:pPr marL="0" indent="0">
              <a:lnSpc>
                <a:spcPct val="100000"/>
              </a:lnSpc>
              <a:buNone/>
            </a:pPr>
            <a:r>
              <a:rPr lang="en-US" sz="780" dirty="0">
                <a:solidFill>
                  <a:srgbClr val="DCE6F2"/>
                </a:solidFill>
                <a:latin typeface="Consolas" pitchFamily="34" charset="0"/>
                <a:ea typeface="Consolas" pitchFamily="34" charset="-122"/>
                <a:cs typeface="Consolas" pitchFamily="34" charset="-120"/>
              </a:rPr>
              <a:t>  groupby((CardCode),</a:t>
            </a:r>
            <a:endParaRPr lang="en-US" sz="780" dirty="0"/>
          </a:p>
          <a:p>
            <a:pPr marL="0" indent="0">
              <a:lnSpc>
                <a:spcPct val="100000"/>
              </a:lnSpc>
              <a:buNone/>
            </a:pPr>
            <a:r>
              <a:rPr lang="en-US" sz="780" dirty="0">
                <a:solidFill>
                  <a:srgbClr val="DCE6F2"/>
                </a:solidFill>
                <a:latin typeface="Consolas" pitchFamily="34" charset="0"/>
                <a:ea typeface="Consolas" pitchFamily="34" charset="-122"/>
                <a:cs typeface="Consolas" pitchFamily="34" charset="-120"/>
              </a:rPr>
              <a:t>    aggregate(DocTotal with sum as Total))</a:t>
            </a:r>
            <a:endParaRPr lang="en-US" sz="780" dirty="0"/>
          </a:p>
          <a:p>
            <a:pPr marL="0" indent="0">
              <a:lnSpc>
                <a:spcPct val="100000"/>
              </a:lnSpc>
              <a:buNone/>
            </a:pPr>
            <a:r>
              <a:rPr lang="en-US" sz="780" dirty="0">
                <a:solidFill>
                  <a:srgbClr val="DCE6F2"/>
                </a:solidFill>
                <a:latin typeface="Consolas" pitchFamily="34" charset="0"/>
                <a:ea typeface="Consolas" pitchFamily="34" charset="-122"/>
                <a:cs typeface="Consolas" pitchFamily="34" charset="-120"/>
              </a:rPr>
              <a:t> </a:t>
            </a:r>
            <a:endParaRPr lang="en-US" sz="780" dirty="0"/>
          </a:p>
          <a:p>
            <a:pPr marL="0" indent="0">
              <a:lnSpc>
                <a:spcPct val="100000"/>
              </a:lnSpc>
              <a:buNone/>
            </a:pPr>
            <a:r>
              <a:rPr lang="en-US" sz="780" b="1" dirty="0">
                <a:solidFill>
                  <a:srgbClr val="F5A800"/>
                </a:solidFill>
                <a:latin typeface="Consolas" pitchFamily="34" charset="0"/>
                <a:ea typeface="Consolas" pitchFamily="34" charset="-122"/>
                <a:cs typeface="Consolas" pitchFamily="34" charset="-120"/>
              </a:rPr>
              <a:t>GET</a:t>
            </a:r>
            <a:r>
              <a:rPr lang="en-US" sz="780" dirty="0">
                <a:solidFill>
                  <a:srgbClr val="DCE6F2"/>
                </a:solidFill>
                <a:latin typeface="Consolas" pitchFamily="34" charset="0"/>
                <a:ea typeface="Consolas" pitchFamily="34" charset="-122"/>
                <a:cs typeface="Consolas" pitchFamily="34" charset="-120"/>
              </a:rPr>
              <a:t> /b1s/v1/$crossjoin(Orders,BusinessPartners)</a:t>
            </a:r>
            <a:endParaRPr lang="en-US" sz="780" dirty="0"/>
          </a:p>
          <a:p>
            <a:pPr marL="0" indent="0">
              <a:lnSpc>
                <a:spcPct val="100000"/>
              </a:lnSpc>
              <a:buNone/>
            </a:pPr>
            <a:r>
              <a:rPr lang="en-US" sz="780" dirty="0">
                <a:solidFill>
                  <a:srgbClr val="DCE6F2"/>
                </a:solidFill>
                <a:latin typeface="Consolas" pitchFamily="34" charset="0"/>
                <a:ea typeface="Consolas" pitchFamily="34" charset="-122"/>
                <a:cs typeface="Consolas" pitchFamily="34" charset="-120"/>
              </a:rPr>
              <a:t>  ?$expand=Orders($select=DocNum),</a:t>
            </a:r>
            <a:endParaRPr lang="en-US" sz="780" dirty="0"/>
          </a:p>
          <a:p>
            <a:pPr marL="0" indent="0">
              <a:lnSpc>
                <a:spcPct val="100000"/>
              </a:lnSpc>
              <a:buNone/>
            </a:pPr>
            <a:r>
              <a:rPr lang="en-US" sz="780" dirty="0">
                <a:solidFill>
                  <a:srgbClr val="DCE6F2"/>
                </a:solidFill>
                <a:latin typeface="Consolas" pitchFamily="34" charset="0"/>
                <a:ea typeface="Consolas" pitchFamily="34" charset="-122"/>
                <a:cs typeface="Consolas" pitchFamily="34" charset="-120"/>
              </a:rPr>
              <a:t>     BusinessPartners($select=CardName)</a:t>
            </a:r>
            <a:endParaRPr lang="en-US" sz="780" dirty="0"/>
          </a:p>
          <a:p>
            <a:pPr marL="0" indent="0">
              <a:lnSpc>
                <a:spcPct val="100000"/>
              </a:lnSpc>
              <a:buNone/>
            </a:pPr>
            <a:r>
              <a:rPr lang="en-US" sz="780" dirty="0">
                <a:solidFill>
                  <a:srgbClr val="DCE6F2"/>
                </a:solidFill>
                <a:latin typeface="Consolas" pitchFamily="34" charset="0"/>
                <a:ea typeface="Consolas" pitchFamily="34" charset="-122"/>
                <a:cs typeface="Consolas" pitchFamily="34" charset="-120"/>
              </a:rPr>
              <a:t>  &amp;$filter=Orders/CardCode eq</a:t>
            </a:r>
            <a:endParaRPr lang="en-US" sz="780" dirty="0"/>
          </a:p>
          <a:p>
            <a:pPr marL="0" indent="0">
              <a:lnSpc>
                <a:spcPct val="100000"/>
              </a:lnSpc>
              <a:buNone/>
            </a:pPr>
            <a:r>
              <a:rPr lang="en-US" sz="780" dirty="0">
                <a:solidFill>
                  <a:srgbClr val="DCE6F2"/>
                </a:solidFill>
                <a:latin typeface="Consolas" pitchFamily="34" charset="0"/>
                <a:ea typeface="Consolas" pitchFamily="34" charset="-122"/>
                <a:cs typeface="Consolas" pitchFamily="34" charset="-120"/>
              </a:rPr>
              <a:t>     BusinessPartners/CardCode</a:t>
            </a:r>
            <a:endParaRPr lang="en-US" sz="780" dirty="0"/>
          </a:p>
        </p:txBody>
      </p:sp>
      <p:sp>
        <p:nvSpPr>
          <p:cNvPr id="31"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xmlns="" val="0"/>
            </a:ext>
          </a:extLst>
        </p:spPr>
        <p:txBody>
          <a:bodyPr/>
          <a:lstStyle>
            <a:lvl1pPr>
              <a:defRPr sz="800">
                <a:solidFill>
                  <a:srgbClr val="8A9AB0"/>
                </a:solidFill>
                <a:latin typeface="Calibri"/>
                <a:ea typeface="Calibri"/>
                <a:cs typeface="Calibri"/>
              </a:defRPr>
            </a:lvl1pPr>
          </a:lstStyle>
          <a:p>
            <a:pPr algn="r"/>
            <a:fld id="{F7021451-1387-4CA6-816F-3879F97B5CBC}" type="slidenum">
              <a:rPr lang="en-US" b="0"/>
              <a:t>32</a:t>
            </a:fld>
            <a:endParaRPr lang="en-US"/>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457200" y="256032"/>
            <a:ext cx="2505456" cy="237744"/>
          </a:xfrm>
          <a:prstGeom prst="roundRect">
            <a:avLst>
              <a:gd name="adj" fmla="val 50000"/>
            </a:avLst>
          </a:prstGeom>
          <a:solidFill>
            <a:srgbClr val="071B3F"/>
          </a:solidFill>
          <a:ln w="12700">
            <a:solidFill>
              <a:srgbClr val="071B3F"/>
            </a:solidFill>
            <a:prstDash val="solid"/>
          </a:ln>
        </p:spPr>
      </p:sp>
      <p:sp>
        <p:nvSpPr>
          <p:cNvPr id="3" name="Text 1"/>
          <p:cNvSpPr txBox="1"/>
          <p:nvPr/>
        </p:nvSpPr>
        <p:spPr>
          <a:xfrm>
            <a:off x="457200" y="256032"/>
            <a:ext cx="2505456" cy="237744"/>
          </a:xfrm>
          <a:prstGeom prst="rect">
            <a:avLst/>
          </a:prstGeom>
          <a:noFill/>
          <a:ln/>
        </p:spPr>
        <p:txBody>
          <a:bodyPr wrap="square" lIns="0" tIns="0" rIns="0" bIns="0" rtlCol="0" anchor="ctr"/>
          <a:lstStyle/>
          <a:p>
            <a:pPr marL="0" indent="0" algn="ctr">
              <a:buNone/>
            </a:pPr>
            <a:r>
              <a:rPr lang="en-US" sz="850" b="1" kern="0" spc="100" dirty="0">
                <a:solidFill>
                  <a:srgbClr val="F5A800"/>
                </a:solidFill>
                <a:latin typeface="Segoe UI" pitchFamily="34" charset="0"/>
                <a:ea typeface="Segoe UI" pitchFamily="34" charset="-122"/>
                <a:cs typeface="Segoe UI" pitchFamily="34" charset="-120"/>
              </a:rPr>
              <a:t>05  ·  FLUJOS DE OPERACIÓN III</a:t>
            </a:r>
            <a:endParaRPr lang="en-US" sz="850" dirty="0"/>
          </a:p>
        </p:txBody>
      </p:sp>
      <p:sp>
        <p:nvSpPr>
          <p:cNvPr id="4" name="Text 2"/>
          <p:cNvSpPr txBox="1"/>
          <p:nvPr/>
        </p:nvSpPr>
        <p:spPr>
          <a:xfrm>
            <a:off x="457200" y="566928"/>
            <a:ext cx="8229600" cy="502920"/>
          </a:xfrm>
          <a:prstGeom prst="rect">
            <a:avLst/>
          </a:prstGeom>
          <a:noFill/>
          <a:ln/>
        </p:spPr>
        <p:txBody>
          <a:bodyPr wrap="square" lIns="0" tIns="0" rIns="0" bIns="0" rtlCol="0" anchor="ctr"/>
          <a:lstStyle/>
          <a:p>
            <a:pPr marL="0" indent="0">
              <a:buNone/>
            </a:pPr>
            <a:r>
              <a:rPr lang="en-US" sz="2400" b="1" dirty="0">
                <a:solidFill>
                  <a:srgbClr val="071B3F"/>
                </a:solidFill>
                <a:latin typeface="Segoe UI" pitchFamily="34" charset="0"/>
                <a:ea typeface="Segoe UI" pitchFamily="34" charset="-122"/>
                <a:cs typeface="Segoe UI" pitchFamily="34" charset="-120"/>
              </a:rPr>
              <a:t>Tablas de usuario (UDT) vs UDO</a:t>
            </a:r>
            <a:endParaRPr lang="en-US" sz="2400" dirty="0"/>
          </a:p>
        </p:txBody>
      </p:sp>
      <p:sp>
        <p:nvSpPr>
          <p:cNvPr id="5" name="Text 3"/>
          <p:cNvSpPr txBox="1"/>
          <p:nvPr/>
        </p:nvSpPr>
        <p:spPr>
          <a:xfrm>
            <a:off x="457200" y="1051560"/>
            <a:ext cx="8229600" cy="274320"/>
          </a:xfrm>
          <a:prstGeom prst="rect">
            <a:avLst/>
          </a:prstGeom>
          <a:noFill/>
          <a:ln/>
        </p:spPr>
        <p:txBody>
          <a:bodyPr wrap="square" lIns="0" tIns="0" rIns="0" bIns="0" rtlCol="0" anchor="ctr"/>
          <a:lstStyle/>
          <a:p>
            <a:pPr marL="0" indent="0">
              <a:buNone/>
            </a:pPr>
            <a:r>
              <a:rPr lang="en-US" sz="1250" dirty="0">
                <a:solidFill>
                  <a:srgbClr val="5B6B82"/>
                </a:solidFill>
                <a:latin typeface="Calibri" pitchFamily="34" charset="0"/>
                <a:ea typeface="Calibri" pitchFamily="34" charset="-122"/>
                <a:cs typeface="Calibri" pitchFamily="34" charset="-120"/>
              </a:rPr>
              <a:t>Cómo se exponen y operan en Service Layer</a:t>
            </a:r>
            <a:endParaRPr lang="en-US" sz="1250" dirty="0"/>
          </a:p>
        </p:txBody>
      </p:sp>
      <p:sp>
        <p:nvSpPr>
          <p:cNvPr id="6" name="Text 4"/>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00" dirty="0">
                <a:solidFill>
                  <a:srgbClr val="8A9AB0"/>
                </a:solidFill>
                <a:latin typeface="Calibri" pitchFamily="34" charset="0"/>
                <a:ea typeface="Calibri" pitchFamily="34" charset="-122"/>
                <a:cs typeface="Calibri" pitchFamily="34" charset="-120"/>
              </a:rPr>
              <a:t>Ventura Soluciones  |  SAP Business One · Service Layer</a:t>
            </a:r>
            <a:endParaRPr lang="en-US" sz="8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8229600" cy="3218688"/>
        </p:xfrm>
        <a:graphic>
          <a:graphicData uri="http://schemas.openxmlformats.org/drawingml/2006/table">
            <a:tbl>
              <a:tblPr/>
              <a:tblGrid>
                <a:gridCol w="155448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3749040">
                  <a:extLst>
                    <a:ext uri="{9D8B030D-6E8A-4147-A177-3AD203B41FA5}">
                      <a16:colId xmlns:a16="http://schemas.microsoft.com/office/drawing/2014/main" val="20002"/>
                    </a:ext>
                  </a:extLst>
                </a:gridCol>
              </a:tblGrid>
              <a:tr h="402336">
                <a:tc>
                  <a:txBody>
                    <a:bodyPr/>
                    <a:lstStyle/>
                    <a:p>
                      <a:pPr marL="0" indent="0">
                        <a:buNone/>
                      </a:pPr>
                      <a:r>
                        <a:rPr lang="en-US" sz="1050" b="1" dirty="0">
                          <a:solidFill>
                            <a:srgbClr val="FFFFFF"/>
                          </a:solidFill>
                          <a:latin typeface="Segoe UI" pitchFamily="34" charset="0"/>
                          <a:ea typeface="Segoe UI" pitchFamily="34" charset="-122"/>
                          <a:cs typeface="Segoe UI" pitchFamily="34" charset="-120"/>
                        </a:rPr>
                        <a:t>Aspecto</a:t>
                      </a:r>
                      <a:endParaRPr lang="en-US" sz="1050" dirty="0">
                        <a:latin typeface="Segoe UI" charset="0"/>
                        <a:ea typeface="Segoe UI" charset="0"/>
                        <a:cs typeface="Segoe UI" charset="0"/>
                      </a:endParaRPr>
                    </a:p>
                  </a:txBody>
                  <a:tcPr marL="88900" marR="88900" marT="38100" marB="381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071B3F"/>
                    </a:solidFill>
                  </a:tcPr>
                </a:tc>
                <a:tc>
                  <a:txBody>
                    <a:bodyPr/>
                    <a:lstStyle/>
                    <a:p>
                      <a:pPr marL="0" indent="0">
                        <a:buNone/>
                      </a:pPr>
                      <a:r>
                        <a:rPr lang="en-US" sz="1050" b="1" dirty="0">
                          <a:solidFill>
                            <a:srgbClr val="FFFFFF"/>
                          </a:solidFill>
                          <a:latin typeface="Segoe UI" pitchFamily="34" charset="0"/>
                          <a:ea typeface="Segoe UI" pitchFamily="34" charset="-122"/>
                          <a:cs typeface="Segoe UI" pitchFamily="34" charset="-120"/>
                        </a:rPr>
                        <a:t>Tabla de usuario (UDT)</a:t>
                      </a:r>
                      <a:endParaRPr lang="en-US" sz="1050" dirty="0">
                        <a:latin typeface="Segoe UI" charset="0"/>
                        <a:ea typeface="Segoe UI" charset="0"/>
                        <a:cs typeface="Segoe UI" charset="0"/>
                      </a:endParaRPr>
                    </a:p>
                  </a:txBody>
                  <a:tcPr marL="88900" marR="88900" marT="38100" marB="381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0B4DA2"/>
                    </a:solidFill>
                  </a:tcPr>
                </a:tc>
                <a:tc>
                  <a:txBody>
                    <a:bodyPr/>
                    <a:lstStyle/>
                    <a:p>
                      <a:pPr marL="0" indent="0">
                        <a:buNone/>
                      </a:pPr>
                      <a:r>
                        <a:rPr lang="en-US" sz="1050" b="1" dirty="0">
                          <a:solidFill>
                            <a:srgbClr val="071B3F"/>
                          </a:solidFill>
                          <a:latin typeface="Segoe UI" pitchFamily="34" charset="0"/>
                          <a:ea typeface="Segoe UI" pitchFamily="34" charset="-122"/>
                          <a:cs typeface="Segoe UI" pitchFamily="34" charset="-120"/>
                        </a:rPr>
                        <a:t>Objeto definido por usuario (UDO)</a:t>
                      </a:r>
                      <a:endParaRPr lang="en-US" sz="1050" dirty="0">
                        <a:latin typeface="Segoe UI" charset="0"/>
                        <a:ea typeface="Segoe UI" charset="0"/>
                        <a:cs typeface="Segoe UI" charset="0"/>
                      </a:endParaRPr>
                    </a:p>
                  </a:txBody>
                  <a:tcPr marL="88900" marR="88900" marT="38100" marB="381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F5A800"/>
                    </a:solidFill>
                  </a:tcPr>
                </a:tc>
                <a:extLst>
                  <a:ext uri="{0D108BD9-81ED-4DB2-BD59-A6C34878D82A}">
                    <a16:rowId xmlns:a16="http://schemas.microsoft.com/office/drawing/2014/main" val="10000"/>
                  </a:ext>
                </a:extLst>
              </a:tr>
              <a:tr h="402336">
                <a:tc>
                  <a:txBody>
                    <a:bodyPr/>
                    <a:lstStyle/>
                    <a:p>
                      <a:pPr marL="0" indent="0">
                        <a:buNone/>
                      </a:pPr>
                      <a:r>
                        <a:rPr lang="en-US" sz="1050" b="1" dirty="0">
                          <a:solidFill>
                            <a:srgbClr val="071B3F"/>
                          </a:solidFill>
                          <a:latin typeface="Calibri" pitchFamily="34" charset="0"/>
                          <a:ea typeface="Calibri" pitchFamily="34" charset="-122"/>
                          <a:cs typeface="Calibri" pitchFamily="34" charset="-120"/>
                        </a:rPr>
                        <a:t>Definición</a:t>
                      </a:r>
                      <a:endParaRPr lang="en-US" sz="1050" dirty="0">
                        <a:latin typeface="Calibri" charset="0"/>
                        <a:ea typeface="Calibri" charset="0"/>
                        <a:cs typeface="Calibri" charset="0"/>
                      </a:endParaRPr>
                    </a:p>
                  </a:txBody>
                  <a:tcPr marL="88900" marR="88900" marT="38100" marB="381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EEF3FA"/>
                    </a:solidFill>
                  </a:tcPr>
                </a:tc>
                <a:tc>
                  <a:txBody>
                    <a:bodyPr/>
                    <a:lstStyle/>
                    <a:p>
                      <a:pPr marL="0" indent="0">
                        <a:buNone/>
                      </a:pPr>
                      <a:r>
                        <a:rPr lang="en-US" sz="1050" dirty="0">
                          <a:solidFill>
                            <a:srgbClr val="1B2433"/>
                          </a:solidFill>
                          <a:latin typeface="Calibri" pitchFamily="34" charset="0"/>
                          <a:ea typeface="Calibri" pitchFamily="34" charset="-122"/>
                          <a:cs typeface="Calibri" pitchFamily="34" charset="-120"/>
                        </a:rPr>
                        <a:t>Tabla registrada "sin objeto"</a:t>
                      </a:r>
                      <a:endParaRPr lang="en-US" sz="1050" dirty="0">
                        <a:latin typeface="Calibri" charset="0"/>
                        <a:ea typeface="Calibri" charset="0"/>
                        <a:cs typeface="Calibri" charset="0"/>
                      </a:endParaRPr>
                    </a:p>
                  </a:txBody>
                  <a:tcPr marL="88900" marR="88900" marT="38100" marB="381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EEF3FA"/>
                    </a:solidFill>
                  </a:tcPr>
                </a:tc>
                <a:tc>
                  <a:txBody>
                    <a:bodyPr/>
                    <a:lstStyle/>
                    <a:p>
                      <a:pPr marL="0" indent="0">
                        <a:buNone/>
                      </a:pPr>
                      <a:r>
                        <a:rPr lang="en-US" sz="1050" dirty="0">
                          <a:solidFill>
                            <a:srgbClr val="1B2433"/>
                          </a:solidFill>
                          <a:latin typeface="Calibri" pitchFamily="34" charset="0"/>
                          <a:ea typeface="Calibri" pitchFamily="34" charset="-122"/>
                          <a:cs typeface="Calibri" pitchFamily="34" charset="-120"/>
                        </a:rPr>
                        <a:t>Objeto registrado sobre una UDT cabecera + UDT hijas</a:t>
                      </a:r>
                      <a:endParaRPr lang="en-US" sz="1050" dirty="0">
                        <a:latin typeface="Calibri" charset="0"/>
                        <a:ea typeface="Calibri" charset="0"/>
                        <a:cs typeface="Calibri" charset="0"/>
                      </a:endParaRPr>
                    </a:p>
                  </a:txBody>
                  <a:tcPr marL="88900" marR="88900" marT="38100" marB="381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EEF3FA"/>
                    </a:solidFill>
                  </a:tcPr>
                </a:tc>
                <a:extLst>
                  <a:ext uri="{0D108BD9-81ED-4DB2-BD59-A6C34878D82A}">
                    <a16:rowId xmlns:a16="http://schemas.microsoft.com/office/drawing/2014/main" val="10001"/>
                  </a:ext>
                </a:extLst>
              </a:tr>
              <a:tr h="402336">
                <a:tc>
                  <a:txBody>
                    <a:bodyPr/>
                    <a:lstStyle/>
                    <a:p>
                      <a:pPr marL="0" indent="0">
                        <a:buNone/>
                      </a:pPr>
                      <a:r>
                        <a:rPr lang="en-US" sz="1050" b="1" dirty="0">
                          <a:solidFill>
                            <a:srgbClr val="071B3F"/>
                          </a:solidFill>
                          <a:latin typeface="Calibri" pitchFamily="34" charset="0"/>
                          <a:ea typeface="Calibri" pitchFamily="34" charset="-122"/>
                          <a:cs typeface="Calibri" pitchFamily="34" charset="-120"/>
                        </a:rPr>
                        <a:t>Endpoint</a:t>
                      </a:r>
                      <a:endParaRPr lang="en-US" sz="1050" dirty="0">
                        <a:latin typeface="Calibri" charset="0"/>
                        <a:ea typeface="Calibri" charset="0"/>
                        <a:cs typeface="Calibri" charset="0"/>
                      </a:endParaRPr>
                    </a:p>
                  </a:txBody>
                  <a:tcPr marL="88900" marR="88900" marT="38100" marB="381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FFFFFF"/>
                    </a:solidFill>
                  </a:tcPr>
                </a:tc>
                <a:tc>
                  <a:txBody>
                    <a:bodyPr/>
                    <a:lstStyle/>
                    <a:p>
                      <a:pPr marL="0" indent="0">
                        <a:buNone/>
                      </a:pPr>
                      <a:r>
                        <a:rPr lang="en-US" sz="950" dirty="0">
                          <a:solidFill>
                            <a:srgbClr val="1B2433"/>
                          </a:solidFill>
                          <a:latin typeface="Consolas" pitchFamily="34" charset="0"/>
                          <a:ea typeface="Consolas" pitchFamily="34" charset="-122"/>
                          <a:cs typeface="Consolas" pitchFamily="34" charset="-120"/>
                        </a:rPr>
                        <a:t>/U_&lt;TABLA&gt;   ej. /U_VS_CONFIG</a:t>
                      </a:r>
                      <a:endParaRPr lang="en-US" sz="950" dirty="0">
                        <a:latin typeface="Consolas" charset="0"/>
                        <a:ea typeface="Consolas" charset="0"/>
                        <a:cs typeface="Consolas" charset="0"/>
                      </a:endParaRPr>
                    </a:p>
                  </a:txBody>
                  <a:tcPr marL="88900" marR="88900" marT="38100" marB="381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FFFFFF"/>
                    </a:solidFill>
                  </a:tcPr>
                </a:tc>
                <a:tc>
                  <a:txBody>
                    <a:bodyPr/>
                    <a:lstStyle/>
                    <a:p>
                      <a:pPr marL="0" indent="0">
                        <a:buNone/>
                      </a:pPr>
                      <a:r>
                        <a:rPr lang="en-US" sz="950" dirty="0">
                          <a:solidFill>
                            <a:srgbClr val="1B2433"/>
                          </a:solidFill>
                          <a:latin typeface="Consolas" pitchFamily="34" charset="0"/>
                          <a:ea typeface="Consolas" pitchFamily="34" charset="-122"/>
                          <a:cs typeface="Consolas" pitchFamily="34" charset="-120"/>
                        </a:rPr>
                        <a:t>/&lt;CódigoUDO&gt;   ej. /VSVEHICULO</a:t>
                      </a:r>
                      <a:endParaRPr lang="en-US" sz="950" dirty="0">
                        <a:latin typeface="Consolas" charset="0"/>
                        <a:ea typeface="Consolas" charset="0"/>
                        <a:cs typeface="Consolas" charset="0"/>
                      </a:endParaRPr>
                    </a:p>
                  </a:txBody>
                  <a:tcPr marL="88900" marR="88900" marT="38100" marB="381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2336">
                <a:tc>
                  <a:txBody>
                    <a:bodyPr/>
                    <a:lstStyle/>
                    <a:p>
                      <a:pPr marL="0" indent="0">
                        <a:buNone/>
                      </a:pPr>
                      <a:r>
                        <a:rPr lang="en-US" sz="1050" b="1" dirty="0">
                          <a:solidFill>
                            <a:srgbClr val="071B3F"/>
                          </a:solidFill>
                          <a:latin typeface="Calibri" pitchFamily="34" charset="0"/>
                          <a:ea typeface="Calibri" pitchFamily="34" charset="-122"/>
                          <a:cs typeface="Calibri" pitchFamily="34" charset="-120"/>
                        </a:rPr>
                        <a:t>Clave</a:t>
                      </a:r>
                      <a:endParaRPr lang="en-US" sz="1050" dirty="0">
                        <a:latin typeface="Calibri" charset="0"/>
                        <a:ea typeface="Calibri" charset="0"/>
                        <a:cs typeface="Calibri" charset="0"/>
                      </a:endParaRPr>
                    </a:p>
                  </a:txBody>
                  <a:tcPr marL="88900" marR="88900" marT="38100" marB="381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EEF3FA"/>
                    </a:solidFill>
                  </a:tcPr>
                </a:tc>
                <a:tc>
                  <a:txBody>
                    <a:bodyPr/>
                    <a:lstStyle/>
                    <a:p>
                      <a:pPr marL="0" indent="0">
                        <a:buNone/>
                      </a:pPr>
                      <a:r>
                        <a:rPr lang="en-US" sz="1050" dirty="0">
                          <a:solidFill>
                            <a:srgbClr val="1B2433"/>
                          </a:solidFill>
                          <a:latin typeface="Calibri" pitchFamily="34" charset="0"/>
                          <a:ea typeface="Calibri" pitchFamily="34" charset="-122"/>
                          <a:cs typeface="Calibri" pitchFamily="34" charset="-120"/>
                        </a:rPr>
                        <a:t>Code (texto)</a:t>
                      </a:r>
                      <a:endParaRPr lang="en-US" sz="1050" dirty="0">
                        <a:latin typeface="Calibri" charset="0"/>
                        <a:ea typeface="Calibri" charset="0"/>
                        <a:cs typeface="Calibri" charset="0"/>
                      </a:endParaRPr>
                    </a:p>
                  </a:txBody>
                  <a:tcPr marL="88900" marR="88900" marT="38100" marB="381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EEF3FA"/>
                    </a:solidFill>
                  </a:tcPr>
                </a:tc>
                <a:tc>
                  <a:txBody>
                    <a:bodyPr/>
                    <a:lstStyle/>
                    <a:p>
                      <a:pPr marL="0" indent="0">
                        <a:buNone/>
                      </a:pPr>
                      <a:r>
                        <a:rPr lang="en-US" sz="1050" dirty="0">
                          <a:solidFill>
                            <a:srgbClr val="1B2433"/>
                          </a:solidFill>
                          <a:latin typeface="Calibri" pitchFamily="34" charset="0"/>
                          <a:ea typeface="Calibri" pitchFamily="34" charset="-122"/>
                          <a:cs typeface="Calibri" pitchFamily="34" charset="-120"/>
                        </a:rPr>
                        <a:t>Code (tipo Maestro)  ·  DocEntry (tipo Documento)</a:t>
                      </a:r>
                      <a:endParaRPr lang="en-US" sz="1050" dirty="0">
                        <a:latin typeface="Calibri" charset="0"/>
                        <a:ea typeface="Calibri" charset="0"/>
                        <a:cs typeface="Calibri" charset="0"/>
                      </a:endParaRPr>
                    </a:p>
                  </a:txBody>
                  <a:tcPr marL="88900" marR="88900" marT="38100" marB="381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EEF3FA"/>
                    </a:solidFill>
                  </a:tcPr>
                </a:tc>
                <a:extLst>
                  <a:ext uri="{0D108BD9-81ED-4DB2-BD59-A6C34878D82A}">
                    <a16:rowId xmlns:a16="http://schemas.microsoft.com/office/drawing/2014/main" val="10003"/>
                  </a:ext>
                </a:extLst>
              </a:tr>
              <a:tr h="402336">
                <a:tc>
                  <a:txBody>
                    <a:bodyPr/>
                    <a:lstStyle/>
                    <a:p>
                      <a:pPr marL="0" indent="0">
                        <a:buNone/>
                      </a:pPr>
                      <a:r>
                        <a:rPr lang="en-US" sz="1050" b="1" dirty="0">
                          <a:solidFill>
                            <a:srgbClr val="071B3F"/>
                          </a:solidFill>
                          <a:latin typeface="Calibri" pitchFamily="34" charset="0"/>
                          <a:ea typeface="Calibri" pitchFamily="34" charset="-122"/>
                          <a:cs typeface="Calibri" pitchFamily="34" charset="-120"/>
                        </a:rPr>
                        <a:t>Tablas hijas</a:t>
                      </a:r>
                      <a:endParaRPr lang="en-US" sz="1050" dirty="0">
                        <a:latin typeface="Calibri" charset="0"/>
                        <a:ea typeface="Calibri" charset="0"/>
                        <a:cs typeface="Calibri" charset="0"/>
                      </a:endParaRPr>
                    </a:p>
                  </a:txBody>
                  <a:tcPr marL="88900" marR="88900" marT="38100" marB="381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FFFFFF"/>
                    </a:solidFill>
                  </a:tcPr>
                </a:tc>
                <a:tc>
                  <a:txBody>
                    <a:bodyPr/>
                    <a:lstStyle/>
                    <a:p>
                      <a:pPr marL="0" indent="0">
                        <a:buNone/>
                      </a:pPr>
                      <a:r>
                        <a:rPr lang="en-US" sz="1050" dirty="0">
                          <a:solidFill>
                            <a:srgbClr val="1B2433"/>
                          </a:solidFill>
                          <a:latin typeface="Calibri" pitchFamily="34" charset="0"/>
                          <a:ea typeface="Calibri" pitchFamily="34" charset="-122"/>
                          <a:cs typeface="Calibri" pitchFamily="34" charset="-120"/>
                        </a:rPr>
                        <a:t>No aplica</a:t>
                      </a:r>
                      <a:endParaRPr lang="en-US" sz="1050" dirty="0">
                        <a:latin typeface="Calibri" charset="0"/>
                        <a:ea typeface="Calibri" charset="0"/>
                        <a:cs typeface="Calibri" charset="0"/>
                      </a:endParaRPr>
                    </a:p>
                  </a:txBody>
                  <a:tcPr marL="88900" marR="88900" marT="38100" marB="381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FFFFFF"/>
                    </a:solidFill>
                  </a:tcPr>
                </a:tc>
                <a:tc>
                  <a:txBody>
                    <a:bodyPr/>
                    <a:lstStyle/>
                    <a:p>
                      <a:pPr marL="0" indent="0">
                        <a:buNone/>
                      </a:pPr>
                      <a:r>
                        <a:rPr lang="en-US" sz="1050" dirty="0">
                          <a:solidFill>
                            <a:srgbClr val="1B2433"/>
                          </a:solidFill>
                          <a:latin typeface="Calibri" pitchFamily="34" charset="0"/>
                          <a:ea typeface="Calibri" pitchFamily="34" charset="-122"/>
                          <a:cs typeface="Calibri" pitchFamily="34" charset="-120"/>
                        </a:rPr>
                        <a:t>Sí, como colección &lt;TablaHija&gt;Collection</a:t>
                      </a:r>
                      <a:endParaRPr lang="en-US" sz="1050" dirty="0">
                        <a:latin typeface="Calibri" charset="0"/>
                        <a:ea typeface="Calibri" charset="0"/>
                        <a:cs typeface="Calibri" charset="0"/>
                      </a:endParaRPr>
                    </a:p>
                  </a:txBody>
                  <a:tcPr marL="88900" marR="88900" marT="38100" marB="381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02336">
                <a:tc>
                  <a:txBody>
                    <a:bodyPr/>
                    <a:lstStyle/>
                    <a:p>
                      <a:pPr marL="0" indent="0">
                        <a:buNone/>
                      </a:pPr>
                      <a:r>
                        <a:rPr lang="en-US" sz="1050" b="1" dirty="0">
                          <a:solidFill>
                            <a:srgbClr val="071B3F"/>
                          </a:solidFill>
                          <a:latin typeface="Calibri" pitchFamily="34" charset="0"/>
                          <a:ea typeface="Calibri" pitchFamily="34" charset="-122"/>
                          <a:cs typeface="Calibri" pitchFamily="34" charset="-120"/>
                        </a:rPr>
                        <a:t>Lógica de negocio</a:t>
                      </a:r>
                      <a:endParaRPr lang="en-US" sz="1050" dirty="0">
                        <a:latin typeface="Calibri" charset="0"/>
                        <a:ea typeface="Calibri" charset="0"/>
                        <a:cs typeface="Calibri" charset="0"/>
                      </a:endParaRPr>
                    </a:p>
                  </a:txBody>
                  <a:tcPr marL="88900" marR="88900" marT="38100" marB="381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EEF3FA"/>
                    </a:solidFill>
                  </a:tcPr>
                </a:tc>
                <a:tc>
                  <a:txBody>
                    <a:bodyPr/>
                    <a:lstStyle/>
                    <a:p>
                      <a:pPr marL="0" indent="0">
                        <a:buNone/>
                      </a:pPr>
                      <a:r>
                        <a:rPr lang="en-US" sz="1050" dirty="0">
                          <a:solidFill>
                            <a:srgbClr val="1B2433"/>
                          </a:solidFill>
                          <a:latin typeface="Calibri" pitchFamily="34" charset="0"/>
                          <a:ea typeface="Calibri" pitchFamily="34" charset="-122"/>
                          <a:cs typeface="Calibri" pitchFamily="34" charset="-120"/>
                        </a:rPr>
                        <a:t>Ninguna: solo persistencia</a:t>
                      </a:r>
                      <a:endParaRPr lang="en-US" sz="1050" dirty="0">
                        <a:latin typeface="Calibri" charset="0"/>
                        <a:ea typeface="Calibri" charset="0"/>
                        <a:cs typeface="Calibri" charset="0"/>
                      </a:endParaRPr>
                    </a:p>
                  </a:txBody>
                  <a:tcPr marL="88900" marR="88900" marT="38100" marB="381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EEF3FA"/>
                    </a:solidFill>
                  </a:tcPr>
                </a:tc>
                <a:tc>
                  <a:txBody>
                    <a:bodyPr/>
                    <a:lstStyle/>
                    <a:p>
                      <a:pPr marL="0" indent="0">
                        <a:buNone/>
                      </a:pPr>
                      <a:r>
                        <a:rPr lang="en-US" sz="1050" dirty="0">
                          <a:solidFill>
                            <a:srgbClr val="1B2433"/>
                          </a:solidFill>
                          <a:latin typeface="Calibri" pitchFamily="34" charset="0"/>
                          <a:ea typeface="Calibri" pitchFamily="34" charset="-122"/>
                          <a:cs typeface="Calibri" pitchFamily="34" charset="-120"/>
                        </a:rPr>
                        <a:t>Series, log de cambios, autorizaciones, Cancel / Close</a:t>
                      </a:r>
                      <a:endParaRPr lang="en-US" sz="1050" dirty="0">
                        <a:latin typeface="Calibri" charset="0"/>
                        <a:ea typeface="Calibri" charset="0"/>
                        <a:cs typeface="Calibri" charset="0"/>
                      </a:endParaRPr>
                    </a:p>
                  </a:txBody>
                  <a:tcPr marL="88900" marR="88900" marT="38100" marB="381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EEF3FA"/>
                    </a:solidFill>
                  </a:tcPr>
                </a:tc>
                <a:extLst>
                  <a:ext uri="{0D108BD9-81ED-4DB2-BD59-A6C34878D82A}">
                    <a16:rowId xmlns:a16="http://schemas.microsoft.com/office/drawing/2014/main" val="10005"/>
                  </a:ext>
                </a:extLst>
              </a:tr>
              <a:tr h="402336">
                <a:tc>
                  <a:txBody>
                    <a:bodyPr/>
                    <a:lstStyle/>
                    <a:p>
                      <a:pPr marL="0" indent="0">
                        <a:buNone/>
                      </a:pPr>
                      <a:r>
                        <a:rPr lang="en-US" sz="1050" b="1" dirty="0">
                          <a:solidFill>
                            <a:srgbClr val="071B3F"/>
                          </a:solidFill>
                          <a:latin typeface="Calibri" pitchFamily="34" charset="0"/>
                          <a:ea typeface="Calibri" pitchFamily="34" charset="-122"/>
                          <a:cs typeface="Calibri" pitchFamily="34" charset="-120"/>
                        </a:rPr>
                        <a:t>DELETE</a:t>
                      </a:r>
                      <a:endParaRPr lang="en-US" sz="1050" dirty="0">
                        <a:latin typeface="Calibri" charset="0"/>
                        <a:ea typeface="Calibri" charset="0"/>
                        <a:cs typeface="Calibri" charset="0"/>
                      </a:endParaRPr>
                    </a:p>
                  </a:txBody>
                  <a:tcPr marL="88900" marR="88900" marT="38100" marB="381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FFFFFF"/>
                    </a:solidFill>
                  </a:tcPr>
                </a:tc>
                <a:tc>
                  <a:txBody>
                    <a:bodyPr/>
                    <a:lstStyle/>
                    <a:p>
                      <a:pPr marL="0" indent="0">
                        <a:buNone/>
                      </a:pPr>
                      <a:r>
                        <a:rPr lang="en-US" sz="1050" dirty="0">
                          <a:solidFill>
                            <a:srgbClr val="1B2433"/>
                          </a:solidFill>
                          <a:latin typeface="Calibri" pitchFamily="34" charset="0"/>
                          <a:ea typeface="Calibri" pitchFamily="34" charset="-122"/>
                          <a:cs typeface="Calibri" pitchFamily="34" charset="-120"/>
                        </a:rPr>
                        <a:t>Permitido</a:t>
                      </a:r>
                      <a:endParaRPr lang="en-US" sz="1050" dirty="0">
                        <a:latin typeface="Calibri" charset="0"/>
                        <a:ea typeface="Calibri" charset="0"/>
                        <a:cs typeface="Calibri" charset="0"/>
                      </a:endParaRPr>
                    </a:p>
                  </a:txBody>
                  <a:tcPr marL="88900" marR="88900" marT="38100" marB="381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FFFFFF"/>
                    </a:solidFill>
                  </a:tcPr>
                </a:tc>
                <a:tc>
                  <a:txBody>
                    <a:bodyPr/>
                    <a:lstStyle/>
                    <a:p>
                      <a:pPr marL="0" indent="0">
                        <a:buNone/>
                      </a:pPr>
                      <a:r>
                        <a:rPr lang="en-US" sz="1050" dirty="0">
                          <a:solidFill>
                            <a:srgbClr val="1B2433"/>
                          </a:solidFill>
                          <a:latin typeface="Calibri" pitchFamily="34" charset="0"/>
                          <a:ea typeface="Calibri" pitchFamily="34" charset="-122"/>
                          <a:cs typeface="Calibri" pitchFamily="34" charset="-120"/>
                        </a:rPr>
                        <a:t>Maestro: si "Can Delete" · Documento: Cancel / Close</a:t>
                      </a:r>
                      <a:endParaRPr lang="en-US" sz="1050" dirty="0">
                        <a:latin typeface="Calibri" charset="0"/>
                        <a:ea typeface="Calibri" charset="0"/>
                        <a:cs typeface="Calibri" charset="0"/>
                      </a:endParaRPr>
                    </a:p>
                  </a:txBody>
                  <a:tcPr marL="88900" marR="88900" marT="38100" marB="381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02336">
                <a:tc>
                  <a:txBody>
                    <a:bodyPr/>
                    <a:lstStyle/>
                    <a:p>
                      <a:pPr marL="0" indent="0">
                        <a:buNone/>
                      </a:pPr>
                      <a:r>
                        <a:rPr lang="en-US" sz="1050" b="1" dirty="0">
                          <a:solidFill>
                            <a:srgbClr val="071B3F"/>
                          </a:solidFill>
                          <a:latin typeface="Calibri" pitchFamily="34" charset="0"/>
                          <a:ea typeface="Calibri" pitchFamily="34" charset="-122"/>
                          <a:cs typeface="Calibri" pitchFamily="34" charset="-120"/>
                        </a:rPr>
                        <a:t>Cuándo usarla</a:t>
                      </a:r>
                      <a:endParaRPr lang="en-US" sz="1050" dirty="0">
                        <a:latin typeface="Calibri" charset="0"/>
                        <a:ea typeface="Calibri" charset="0"/>
                        <a:cs typeface="Calibri" charset="0"/>
                      </a:endParaRPr>
                    </a:p>
                  </a:txBody>
                  <a:tcPr marL="88900" marR="88900" marT="38100" marB="381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EEF3FA"/>
                    </a:solidFill>
                  </a:tcPr>
                </a:tc>
                <a:tc>
                  <a:txBody>
                    <a:bodyPr/>
                    <a:lstStyle/>
                    <a:p>
                      <a:pPr marL="0" indent="0">
                        <a:buNone/>
                      </a:pPr>
                      <a:r>
                        <a:rPr lang="en-US" sz="1050" dirty="0">
                          <a:solidFill>
                            <a:srgbClr val="1B2433"/>
                          </a:solidFill>
                          <a:latin typeface="Calibri" pitchFamily="34" charset="0"/>
                          <a:ea typeface="Calibri" pitchFamily="34" charset="-122"/>
                          <a:cs typeface="Calibri" pitchFamily="34" charset="-120"/>
                        </a:rPr>
                        <a:t>Parámetros, catálogos simples, logs</a:t>
                      </a:r>
                      <a:endParaRPr lang="en-US" sz="1050" dirty="0">
                        <a:latin typeface="Calibri" charset="0"/>
                        <a:ea typeface="Calibri" charset="0"/>
                        <a:cs typeface="Calibri" charset="0"/>
                      </a:endParaRPr>
                    </a:p>
                  </a:txBody>
                  <a:tcPr marL="88900" marR="88900" marT="38100" marB="381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EEF3FA"/>
                    </a:solidFill>
                  </a:tcPr>
                </a:tc>
                <a:tc>
                  <a:txBody>
                    <a:bodyPr/>
                    <a:lstStyle/>
                    <a:p>
                      <a:pPr marL="0" indent="0">
                        <a:buNone/>
                      </a:pPr>
                      <a:r>
                        <a:rPr lang="en-US" sz="1050" dirty="0">
                          <a:solidFill>
                            <a:srgbClr val="1B2433"/>
                          </a:solidFill>
                          <a:latin typeface="Calibri" pitchFamily="34" charset="0"/>
                          <a:ea typeface="Calibri" pitchFamily="34" charset="-122"/>
                          <a:cs typeface="Calibri" pitchFamily="34" charset="-120"/>
                        </a:rPr>
                        <a:t>Entidades de negocio con cabecera-detalle y trazabilidad</a:t>
                      </a:r>
                      <a:endParaRPr lang="en-US" sz="1050" dirty="0">
                        <a:latin typeface="Calibri" charset="0"/>
                        <a:ea typeface="Calibri" charset="0"/>
                        <a:cs typeface="Calibri" charset="0"/>
                      </a:endParaRPr>
                    </a:p>
                  </a:txBody>
                  <a:tcPr marL="88900" marR="88900" marT="38100" marB="38100" anchor="ctr">
                    <a:lnL w="6350" cap="flat" cmpd="sng" algn="ctr">
                      <a:solidFill>
                        <a:srgbClr val="D5DFEC"/>
                      </a:solidFill>
                      <a:prstDash val="solid"/>
                      <a:round/>
                      <a:headEnd type="none" w="med" len="med"/>
                      <a:tailEnd type="none" w="med" len="med"/>
                    </a:lnL>
                    <a:lnR w="6350" cap="flat" cmpd="sng" algn="ctr">
                      <a:solidFill>
                        <a:srgbClr val="D5DFEC"/>
                      </a:solidFill>
                      <a:prstDash val="solid"/>
                      <a:round/>
                      <a:headEnd type="none" w="med" len="med"/>
                      <a:tailEnd type="none" w="med" len="med"/>
                    </a:lnR>
                    <a:lnT w="6350" cap="flat" cmpd="sng" algn="ctr">
                      <a:solidFill>
                        <a:srgbClr val="D5DFEC"/>
                      </a:solidFill>
                      <a:prstDash val="solid"/>
                      <a:round/>
                      <a:headEnd type="none" w="med" len="med"/>
                      <a:tailEnd type="none" w="med" len="med"/>
                    </a:lnT>
                    <a:lnB w="6350" cap="flat" cmpd="sng" algn="ctr">
                      <a:solidFill>
                        <a:srgbClr val="D5DFEC"/>
                      </a:solidFill>
                      <a:prstDash val="solid"/>
                      <a:round/>
                      <a:headEnd type="none" w="med" len="med"/>
                      <a:tailEnd type="none" w="med" len="med"/>
                    </a:lnB>
                    <a:solidFill>
                      <a:srgbClr val="EEF3FA"/>
                    </a:solidFill>
                  </a:tcPr>
                </a:tc>
                <a:extLst>
                  <a:ext uri="{0D108BD9-81ED-4DB2-BD59-A6C34878D82A}">
                    <a16:rowId xmlns:a16="http://schemas.microsoft.com/office/drawing/2014/main" val="10007"/>
                  </a:ext>
                </a:extLst>
              </a:tr>
            </a:tbl>
          </a:graphicData>
        </a:graphic>
      </p:graphicFrame>
      <p:sp>
        <p:nvSpPr>
          <p:cNvPr id="8" name="Text 5"/>
          <p:cNvSpPr txBox="1"/>
          <p:nvPr/>
        </p:nvSpPr>
        <p:spPr>
          <a:xfrm>
            <a:off x="457200" y="4617720"/>
            <a:ext cx="8229600" cy="228600"/>
          </a:xfrm>
          <a:prstGeom prst="rect">
            <a:avLst/>
          </a:prstGeom>
          <a:noFill/>
          <a:ln/>
        </p:spPr>
        <p:txBody>
          <a:bodyPr wrap="square" lIns="0" tIns="0" rIns="0" bIns="0" rtlCol="0" anchor="t"/>
          <a:lstStyle/>
          <a:p>
            <a:pPr marL="0" indent="0">
              <a:buNone/>
            </a:pPr>
            <a:r>
              <a:rPr lang="en-US" sz="1000" i="1" dirty="0">
                <a:solidFill>
                  <a:srgbClr val="5B6B82"/>
                </a:solidFill>
                <a:latin typeface="Calibri" pitchFamily="34" charset="0"/>
                <a:ea typeface="Calibri" pitchFamily="34" charset="-122"/>
                <a:cs typeface="Calibri" pitchFamily="34" charset="-120"/>
              </a:rPr>
              <a:t>En Service Layer la tabla se nombra sin "@" y con prefijo U_: la tabla @VS_CONFIG se consume como /U_VS_CONFIG.</a:t>
            </a:r>
            <a:endParaRPr lang="en-US" sz="1000" dirty="0"/>
          </a:p>
        </p:txBody>
      </p:sp>
      <p:sp>
        <p:nvSpPr>
          <p:cNvPr id="25"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xmlns="" val="0"/>
            </a:ext>
          </a:extLst>
        </p:spPr>
        <p:txBody>
          <a:bodyPr/>
          <a:lstStyle>
            <a:lvl1pPr>
              <a:defRPr sz="800">
                <a:solidFill>
                  <a:srgbClr val="8A9AB0"/>
                </a:solidFill>
                <a:latin typeface="Calibri"/>
                <a:ea typeface="Calibri"/>
                <a:cs typeface="Calibri"/>
              </a:defRPr>
            </a:lvl1pPr>
          </a:lstStyle>
          <a:p>
            <a:pPr algn="r"/>
            <a:fld id="{F7021451-1387-4CA6-816F-3879F97B5CBC}" type="slidenum">
              <a:rPr lang="en-US" b="0"/>
              <a:t>33</a:t>
            </a:fld>
            <a:endParaRPr lang="en-US"/>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457200" y="256032"/>
            <a:ext cx="2505456" cy="237744"/>
          </a:xfrm>
          <a:prstGeom prst="roundRect">
            <a:avLst>
              <a:gd name="adj" fmla="val 50000"/>
            </a:avLst>
          </a:prstGeom>
          <a:solidFill>
            <a:srgbClr val="071B3F"/>
          </a:solidFill>
          <a:ln w="12700">
            <a:solidFill>
              <a:srgbClr val="071B3F"/>
            </a:solidFill>
            <a:prstDash val="solid"/>
          </a:ln>
        </p:spPr>
      </p:sp>
      <p:sp>
        <p:nvSpPr>
          <p:cNvPr id="3" name="Text 1"/>
          <p:cNvSpPr txBox="1"/>
          <p:nvPr/>
        </p:nvSpPr>
        <p:spPr>
          <a:xfrm>
            <a:off x="457200" y="256032"/>
            <a:ext cx="2505456" cy="237744"/>
          </a:xfrm>
          <a:prstGeom prst="rect">
            <a:avLst/>
          </a:prstGeom>
          <a:noFill/>
          <a:ln/>
        </p:spPr>
        <p:txBody>
          <a:bodyPr wrap="square" lIns="0" tIns="0" rIns="0" bIns="0" rtlCol="0" anchor="ctr"/>
          <a:lstStyle/>
          <a:p>
            <a:pPr marL="0" indent="0" algn="ctr">
              <a:buNone/>
            </a:pPr>
            <a:r>
              <a:rPr lang="en-US" sz="850" b="1" kern="0" spc="100" dirty="0">
                <a:solidFill>
                  <a:srgbClr val="F5A800"/>
                </a:solidFill>
                <a:latin typeface="Segoe UI" pitchFamily="34" charset="0"/>
                <a:ea typeface="Segoe UI" pitchFamily="34" charset="-122"/>
                <a:cs typeface="Segoe UI" pitchFamily="34" charset="-120"/>
              </a:rPr>
              <a:t>05  ·  FLUJOS DE OPERACIÓN III</a:t>
            </a:r>
            <a:endParaRPr lang="en-US" sz="850" dirty="0"/>
          </a:p>
        </p:txBody>
      </p:sp>
      <p:sp>
        <p:nvSpPr>
          <p:cNvPr id="4" name="Text 2"/>
          <p:cNvSpPr txBox="1"/>
          <p:nvPr/>
        </p:nvSpPr>
        <p:spPr>
          <a:xfrm>
            <a:off x="457200" y="566928"/>
            <a:ext cx="8229600" cy="502920"/>
          </a:xfrm>
          <a:prstGeom prst="rect">
            <a:avLst/>
          </a:prstGeom>
          <a:noFill/>
          <a:ln/>
        </p:spPr>
        <p:txBody>
          <a:bodyPr wrap="square" lIns="0" tIns="0" rIns="0" bIns="0" rtlCol="0" anchor="ctr"/>
          <a:lstStyle/>
          <a:p>
            <a:pPr marL="0" indent="0">
              <a:buNone/>
            </a:pPr>
            <a:r>
              <a:rPr lang="en-US" sz="2400" b="1" dirty="0">
                <a:solidFill>
                  <a:srgbClr val="071B3F"/>
                </a:solidFill>
                <a:latin typeface="Segoe UI" pitchFamily="34" charset="0"/>
                <a:ea typeface="Segoe UI" pitchFamily="34" charset="-122"/>
                <a:cs typeface="Segoe UI" pitchFamily="34" charset="-120"/>
              </a:rPr>
              <a:t>Tabla de usuario: todos los métodos</a:t>
            </a:r>
            <a:endParaRPr lang="en-US" sz="2400" dirty="0"/>
          </a:p>
        </p:txBody>
      </p:sp>
      <p:sp>
        <p:nvSpPr>
          <p:cNvPr id="5" name="Text 3"/>
          <p:cNvSpPr txBox="1"/>
          <p:nvPr/>
        </p:nvSpPr>
        <p:spPr>
          <a:xfrm>
            <a:off x="457200" y="1051560"/>
            <a:ext cx="8229600" cy="274320"/>
          </a:xfrm>
          <a:prstGeom prst="rect">
            <a:avLst/>
          </a:prstGeom>
          <a:noFill/>
          <a:ln/>
        </p:spPr>
        <p:txBody>
          <a:bodyPr wrap="square" lIns="0" tIns="0" rIns="0" bIns="0" rtlCol="0" anchor="ctr"/>
          <a:lstStyle/>
          <a:p>
            <a:pPr marL="0" indent="0">
              <a:buNone/>
            </a:pPr>
            <a:r>
              <a:rPr lang="en-US" sz="1250" dirty="0">
                <a:solidFill>
                  <a:srgbClr val="5B6B82"/>
                </a:solidFill>
                <a:latin typeface="Calibri" pitchFamily="34" charset="0"/>
                <a:ea typeface="Calibri" pitchFamily="34" charset="-122"/>
                <a:cs typeface="Calibri" pitchFamily="34" charset="-120"/>
              </a:rPr>
              <a:t>Ejemplo: tabla @VS_CONFIG con campos U_Valor y U_Activo</a:t>
            </a:r>
            <a:endParaRPr lang="en-US" sz="1250" dirty="0"/>
          </a:p>
        </p:txBody>
      </p:sp>
      <p:sp>
        <p:nvSpPr>
          <p:cNvPr id="6" name="Text 4"/>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00" dirty="0">
                <a:solidFill>
                  <a:srgbClr val="8A9AB0"/>
                </a:solidFill>
                <a:latin typeface="Calibri" pitchFamily="34" charset="0"/>
                <a:ea typeface="Calibri" pitchFamily="34" charset="-122"/>
                <a:cs typeface="Calibri" pitchFamily="34" charset="-120"/>
              </a:rPr>
              <a:t>Ventura Soluciones  |  SAP Business One · Service Layer</a:t>
            </a:r>
            <a:endParaRPr lang="en-US" sz="800" dirty="0"/>
          </a:p>
        </p:txBody>
      </p:sp>
      <p:sp>
        <p:nvSpPr>
          <p:cNvPr id="7" name="Shape 5"/>
          <p:cNvSpPr/>
          <p:nvPr/>
        </p:nvSpPr>
        <p:spPr>
          <a:xfrm>
            <a:off x="457200" y="1371600"/>
            <a:ext cx="2651760" cy="1536192"/>
          </a:xfrm>
          <a:prstGeom prst="roundRect">
            <a:avLst>
              <a:gd name="adj" fmla="val 4167"/>
            </a:avLst>
          </a:prstGeom>
          <a:solidFill>
            <a:srgbClr val="0E1B2E"/>
          </a:solidFill>
          <a:ln w="12700">
            <a:solidFill>
              <a:srgbClr val="0E1B2E"/>
            </a:solidFill>
            <a:prstDash val="solid"/>
          </a:ln>
          <a:effectLst>
            <a:outerShdw blurRad="101600" dist="25400" dir="5400000" algn="bl" rotWithShape="0">
              <a:srgbClr val="0B2A55">
                <a:alpha val="12000"/>
              </a:srgbClr>
            </a:outerShdw>
          </a:effectLst>
        </p:spPr>
      </p:sp>
      <p:sp>
        <p:nvSpPr>
          <p:cNvPr id="8" name="Shape 6"/>
          <p:cNvSpPr/>
          <p:nvPr/>
        </p:nvSpPr>
        <p:spPr>
          <a:xfrm>
            <a:off x="594360" y="1481328"/>
            <a:ext cx="73152" cy="73152"/>
          </a:xfrm>
          <a:prstGeom prst="ellipse">
            <a:avLst/>
          </a:prstGeom>
          <a:solidFill>
            <a:srgbClr val="FF5F56"/>
          </a:solidFill>
          <a:ln w="12700">
            <a:solidFill>
              <a:srgbClr val="FF5F56"/>
            </a:solidFill>
            <a:prstDash val="solid"/>
          </a:ln>
        </p:spPr>
      </p:sp>
      <p:sp>
        <p:nvSpPr>
          <p:cNvPr id="9" name="Shape 7"/>
          <p:cNvSpPr/>
          <p:nvPr/>
        </p:nvSpPr>
        <p:spPr>
          <a:xfrm>
            <a:off x="722376" y="1481328"/>
            <a:ext cx="73152" cy="73152"/>
          </a:xfrm>
          <a:prstGeom prst="ellipse">
            <a:avLst/>
          </a:prstGeom>
          <a:solidFill>
            <a:srgbClr val="FFBD2E"/>
          </a:solidFill>
          <a:ln w="12700">
            <a:solidFill>
              <a:srgbClr val="FFBD2E"/>
            </a:solidFill>
            <a:prstDash val="solid"/>
          </a:ln>
        </p:spPr>
      </p:sp>
      <p:sp>
        <p:nvSpPr>
          <p:cNvPr id="10" name="Shape 8"/>
          <p:cNvSpPr/>
          <p:nvPr/>
        </p:nvSpPr>
        <p:spPr>
          <a:xfrm>
            <a:off x="850392" y="1481328"/>
            <a:ext cx="73152" cy="73152"/>
          </a:xfrm>
          <a:prstGeom prst="ellipse">
            <a:avLst/>
          </a:prstGeom>
          <a:solidFill>
            <a:srgbClr val="27C93F"/>
          </a:solidFill>
          <a:ln w="12700">
            <a:solidFill>
              <a:srgbClr val="27C93F"/>
            </a:solidFill>
            <a:prstDash val="solid"/>
          </a:ln>
        </p:spPr>
      </p:sp>
      <p:sp>
        <p:nvSpPr>
          <p:cNvPr id="11" name="Text 9"/>
          <p:cNvSpPr txBox="1"/>
          <p:nvPr/>
        </p:nvSpPr>
        <p:spPr>
          <a:xfrm>
            <a:off x="1024128" y="1426464"/>
            <a:ext cx="1965960" cy="182880"/>
          </a:xfrm>
          <a:prstGeom prst="rect">
            <a:avLst/>
          </a:prstGeom>
          <a:noFill/>
          <a:ln/>
        </p:spPr>
        <p:txBody>
          <a:bodyPr wrap="square" lIns="0" tIns="0" rIns="0" bIns="0" rtlCol="0" anchor="ctr"/>
          <a:lstStyle/>
          <a:p>
            <a:pPr marL="0" indent="0">
              <a:buNone/>
            </a:pPr>
            <a:r>
              <a:rPr lang="en-US" sz="850" b="1" dirty="0">
                <a:solidFill>
                  <a:srgbClr val="F5A800"/>
                </a:solidFill>
                <a:latin typeface="Segoe UI" pitchFamily="34" charset="0"/>
                <a:ea typeface="Segoe UI" pitchFamily="34" charset="-122"/>
                <a:cs typeface="Segoe UI" pitchFamily="34" charset="-120"/>
              </a:rPr>
              <a:t>POST · crear</a:t>
            </a:r>
            <a:endParaRPr lang="en-US" sz="850" dirty="0"/>
          </a:p>
        </p:txBody>
      </p:sp>
      <p:sp>
        <p:nvSpPr>
          <p:cNvPr id="12" name="Text 10"/>
          <p:cNvSpPr txBox="1"/>
          <p:nvPr/>
        </p:nvSpPr>
        <p:spPr>
          <a:xfrm>
            <a:off x="594360" y="1664208"/>
            <a:ext cx="2377440" cy="1170432"/>
          </a:xfrm>
          <a:prstGeom prst="rect">
            <a:avLst/>
          </a:prstGeom>
          <a:noFill/>
          <a:ln/>
        </p:spPr>
        <p:txBody>
          <a:bodyPr wrap="square" lIns="0" tIns="0" rIns="0" bIns="0" rtlCol="0" anchor="t"/>
          <a:lstStyle/>
          <a:p>
            <a:pPr marL="0" indent="0">
              <a:lnSpc>
                <a:spcPct val="100000"/>
              </a:lnSpc>
              <a:buNone/>
            </a:pPr>
            <a:r>
              <a:rPr lang="en-US" sz="780" b="1" dirty="0">
                <a:solidFill>
                  <a:srgbClr val="F5A800"/>
                </a:solidFill>
                <a:latin typeface="Consolas" pitchFamily="34" charset="0"/>
                <a:ea typeface="Consolas" pitchFamily="34" charset="-122"/>
                <a:cs typeface="Consolas" pitchFamily="34" charset="-120"/>
              </a:rPr>
              <a:t>POST</a:t>
            </a:r>
            <a:r>
              <a:rPr lang="en-US" sz="780" dirty="0">
                <a:solidFill>
                  <a:srgbClr val="DCE6F2"/>
                </a:solidFill>
                <a:latin typeface="Consolas" pitchFamily="34" charset="0"/>
                <a:ea typeface="Consolas" pitchFamily="34" charset="-122"/>
                <a:cs typeface="Consolas" pitchFamily="34" charset="-120"/>
              </a:rPr>
              <a:t> /b1s/v1/U_VS_CONFIG</a:t>
            </a:r>
            <a:endParaRPr lang="en-US" sz="780" dirty="0"/>
          </a:p>
          <a:p>
            <a:pPr marL="0" indent="0">
              <a:lnSpc>
                <a:spcPct val="100000"/>
              </a:lnSpc>
              <a:buNone/>
            </a:pPr>
            <a:r>
              <a:rPr lang="en-US" sz="780" dirty="0">
                <a:solidFill>
                  <a:srgbClr val="DCE6F2"/>
                </a:solidFill>
                <a:latin typeface="Consolas" pitchFamily="34" charset="0"/>
                <a:ea typeface="Consolas" pitchFamily="34" charset="-122"/>
                <a:cs typeface="Consolas" pitchFamily="34" charset="-120"/>
              </a:rPr>
              <a:t>{</a:t>
            </a:r>
            <a:endParaRPr lang="en-US" sz="780" dirty="0"/>
          </a:p>
          <a:p>
            <a:pPr marL="0" indent="0">
              <a:lnSpc>
                <a:spcPct val="100000"/>
              </a:lnSpc>
              <a:buNone/>
            </a:pPr>
            <a:r>
              <a:rPr lang="en-US" sz="780" dirty="0">
                <a:solidFill>
                  <a:srgbClr val="DCE6F2"/>
                </a:solidFill>
                <a:latin typeface="Consolas" pitchFamily="34" charset="0"/>
                <a:ea typeface="Consolas" pitchFamily="34" charset="-122"/>
                <a:cs typeface="Consolas" pitchFamily="34" charset="-120"/>
              </a:rPr>
              <a:t>  </a:t>
            </a:r>
            <a:r>
              <a:rPr lang="en-US" sz="780" dirty="0">
                <a:solidFill>
                  <a:srgbClr val="7FD1FF"/>
                </a:solidFill>
                <a:latin typeface="Consolas" pitchFamily="34" charset="0"/>
                <a:ea typeface="Consolas" pitchFamily="34" charset="-122"/>
                <a:cs typeface="Consolas" pitchFamily="34" charset="-120"/>
              </a:rPr>
              <a:t>"Code"</a:t>
            </a:r>
            <a:r>
              <a:rPr lang="en-US" sz="780" dirty="0">
                <a:solidFill>
                  <a:srgbClr val="DCE6F2"/>
                </a:solidFill>
                <a:latin typeface="Consolas" pitchFamily="34" charset="0"/>
                <a:ea typeface="Consolas" pitchFamily="34" charset="-122"/>
                <a:cs typeface="Consolas" pitchFamily="34" charset="-120"/>
              </a:rPr>
              <a:t>: </a:t>
            </a:r>
            <a:r>
              <a:rPr lang="en-US" sz="780" dirty="0">
                <a:solidFill>
                  <a:srgbClr val="B5E48C"/>
                </a:solidFill>
                <a:latin typeface="Consolas" pitchFamily="34" charset="0"/>
                <a:ea typeface="Consolas" pitchFamily="34" charset="-122"/>
                <a:cs typeface="Consolas" pitchFamily="34" charset="-120"/>
              </a:rPr>
              <a:t>"001"</a:t>
            </a:r>
            <a:r>
              <a:rPr lang="en-US" sz="780" dirty="0">
                <a:solidFill>
                  <a:srgbClr val="DCE6F2"/>
                </a:solidFill>
                <a:latin typeface="Consolas" pitchFamily="34" charset="0"/>
                <a:ea typeface="Consolas" pitchFamily="34" charset="-122"/>
                <a:cs typeface="Consolas" pitchFamily="34" charset="-120"/>
              </a:rPr>
              <a:t>,</a:t>
            </a:r>
            <a:endParaRPr lang="en-US" sz="780" dirty="0"/>
          </a:p>
          <a:p>
            <a:pPr marL="0" indent="0">
              <a:lnSpc>
                <a:spcPct val="100000"/>
              </a:lnSpc>
              <a:buNone/>
            </a:pPr>
            <a:r>
              <a:rPr lang="en-US" sz="780" dirty="0">
                <a:solidFill>
                  <a:srgbClr val="DCE6F2"/>
                </a:solidFill>
                <a:latin typeface="Consolas" pitchFamily="34" charset="0"/>
                <a:ea typeface="Consolas" pitchFamily="34" charset="-122"/>
                <a:cs typeface="Consolas" pitchFamily="34" charset="-120"/>
              </a:rPr>
              <a:t>  </a:t>
            </a:r>
            <a:r>
              <a:rPr lang="en-US" sz="780" dirty="0">
                <a:solidFill>
                  <a:srgbClr val="7FD1FF"/>
                </a:solidFill>
                <a:latin typeface="Consolas" pitchFamily="34" charset="0"/>
                <a:ea typeface="Consolas" pitchFamily="34" charset="-122"/>
                <a:cs typeface="Consolas" pitchFamily="34" charset="-120"/>
              </a:rPr>
              <a:t>"Name"</a:t>
            </a:r>
            <a:r>
              <a:rPr lang="en-US" sz="780" dirty="0">
                <a:solidFill>
                  <a:srgbClr val="DCE6F2"/>
                </a:solidFill>
                <a:latin typeface="Consolas" pitchFamily="34" charset="0"/>
                <a:ea typeface="Consolas" pitchFamily="34" charset="-122"/>
                <a:cs typeface="Consolas" pitchFamily="34" charset="-120"/>
              </a:rPr>
              <a:t>: </a:t>
            </a:r>
            <a:r>
              <a:rPr lang="en-US" sz="780" dirty="0">
                <a:solidFill>
                  <a:srgbClr val="B5E48C"/>
                </a:solidFill>
                <a:latin typeface="Consolas" pitchFamily="34" charset="0"/>
                <a:ea typeface="Consolas" pitchFamily="34" charset="-122"/>
                <a:cs typeface="Consolas" pitchFamily="34" charset="-120"/>
              </a:rPr>
              <a:t>"URL_API"</a:t>
            </a:r>
            <a:r>
              <a:rPr lang="en-US" sz="780" dirty="0">
                <a:solidFill>
                  <a:srgbClr val="DCE6F2"/>
                </a:solidFill>
                <a:latin typeface="Consolas" pitchFamily="34" charset="0"/>
                <a:ea typeface="Consolas" pitchFamily="34" charset="-122"/>
                <a:cs typeface="Consolas" pitchFamily="34" charset="-120"/>
              </a:rPr>
              <a:t>,</a:t>
            </a:r>
            <a:endParaRPr lang="en-US" sz="780" dirty="0"/>
          </a:p>
          <a:p>
            <a:pPr marL="0" indent="0">
              <a:lnSpc>
                <a:spcPct val="100000"/>
              </a:lnSpc>
              <a:buNone/>
            </a:pPr>
            <a:r>
              <a:rPr lang="en-US" sz="780" dirty="0">
                <a:solidFill>
                  <a:srgbClr val="DCE6F2"/>
                </a:solidFill>
                <a:latin typeface="Consolas" pitchFamily="34" charset="0"/>
                <a:ea typeface="Consolas" pitchFamily="34" charset="-122"/>
                <a:cs typeface="Consolas" pitchFamily="34" charset="-120"/>
              </a:rPr>
              <a:t>  </a:t>
            </a:r>
            <a:r>
              <a:rPr lang="en-US" sz="780" dirty="0">
                <a:solidFill>
                  <a:srgbClr val="7FD1FF"/>
                </a:solidFill>
                <a:latin typeface="Consolas" pitchFamily="34" charset="0"/>
                <a:ea typeface="Consolas" pitchFamily="34" charset="-122"/>
                <a:cs typeface="Consolas" pitchFamily="34" charset="-120"/>
              </a:rPr>
              <a:t>"U_Valor"</a:t>
            </a:r>
            <a:r>
              <a:rPr lang="en-US" sz="780" dirty="0">
                <a:solidFill>
                  <a:srgbClr val="DCE6F2"/>
                </a:solidFill>
                <a:latin typeface="Consolas" pitchFamily="34" charset="0"/>
                <a:ea typeface="Consolas" pitchFamily="34" charset="-122"/>
                <a:cs typeface="Consolas" pitchFamily="34" charset="-120"/>
              </a:rPr>
              <a:t>: </a:t>
            </a:r>
            <a:r>
              <a:rPr lang="en-US" sz="780" dirty="0">
                <a:solidFill>
                  <a:srgbClr val="B5E48C"/>
                </a:solidFill>
                <a:latin typeface="Consolas" pitchFamily="34" charset="0"/>
                <a:ea typeface="Consolas" pitchFamily="34" charset="-122"/>
                <a:cs typeface="Consolas" pitchFamily="34" charset="-120"/>
              </a:rPr>
              <a:t>"https://api.demo.pe"</a:t>
            </a:r>
            <a:r>
              <a:rPr lang="en-US" sz="780" dirty="0">
                <a:solidFill>
                  <a:srgbClr val="DCE6F2"/>
                </a:solidFill>
                <a:latin typeface="Consolas" pitchFamily="34" charset="0"/>
                <a:ea typeface="Consolas" pitchFamily="34" charset="-122"/>
                <a:cs typeface="Consolas" pitchFamily="34" charset="-120"/>
              </a:rPr>
              <a:t>,</a:t>
            </a:r>
            <a:endParaRPr lang="en-US" sz="780" dirty="0"/>
          </a:p>
          <a:p>
            <a:pPr marL="0" indent="0">
              <a:lnSpc>
                <a:spcPct val="100000"/>
              </a:lnSpc>
              <a:buNone/>
            </a:pPr>
            <a:r>
              <a:rPr lang="en-US" sz="780" dirty="0">
                <a:solidFill>
                  <a:srgbClr val="DCE6F2"/>
                </a:solidFill>
                <a:latin typeface="Consolas" pitchFamily="34" charset="0"/>
                <a:ea typeface="Consolas" pitchFamily="34" charset="-122"/>
                <a:cs typeface="Consolas" pitchFamily="34" charset="-120"/>
              </a:rPr>
              <a:t>  </a:t>
            </a:r>
            <a:r>
              <a:rPr lang="en-US" sz="780" dirty="0">
                <a:solidFill>
                  <a:srgbClr val="7FD1FF"/>
                </a:solidFill>
                <a:latin typeface="Consolas" pitchFamily="34" charset="0"/>
                <a:ea typeface="Consolas" pitchFamily="34" charset="-122"/>
                <a:cs typeface="Consolas" pitchFamily="34" charset="-120"/>
              </a:rPr>
              <a:t>"U_Activo"</a:t>
            </a:r>
            <a:r>
              <a:rPr lang="en-US" sz="780" dirty="0">
                <a:solidFill>
                  <a:srgbClr val="DCE6F2"/>
                </a:solidFill>
                <a:latin typeface="Consolas" pitchFamily="34" charset="0"/>
                <a:ea typeface="Consolas" pitchFamily="34" charset="-122"/>
                <a:cs typeface="Consolas" pitchFamily="34" charset="-120"/>
              </a:rPr>
              <a:t>: </a:t>
            </a:r>
            <a:r>
              <a:rPr lang="en-US" sz="780" dirty="0">
                <a:solidFill>
                  <a:srgbClr val="B5E48C"/>
                </a:solidFill>
                <a:latin typeface="Consolas" pitchFamily="34" charset="0"/>
                <a:ea typeface="Consolas" pitchFamily="34" charset="-122"/>
                <a:cs typeface="Consolas" pitchFamily="34" charset="-120"/>
              </a:rPr>
              <a:t>"Y"</a:t>
            </a:r>
            <a:endParaRPr lang="en-US" sz="780" dirty="0"/>
          </a:p>
          <a:p>
            <a:pPr marL="0" indent="0">
              <a:lnSpc>
                <a:spcPct val="100000"/>
              </a:lnSpc>
              <a:buNone/>
            </a:pPr>
            <a:r>
              <a:rPr lang="en-US" sz="780" dirty="0">
                <a:solidFill>
                  <a:srgbClr val="DCE6F2"/>
                </a:solidFill>
                <a:latin typeface="Consolas" pitchFamily="34" charset="0"/>
                <a:ea typeface="Consolas" pitchFamily="34" charset="-122"/>
                <a:cs typeface="Consolas" pitchFamily="34" charset="-120"/>
              </a:rPr>
              <a:t>}</a:t>
            </a:r>
            <a:endParaRPr lang="en-US" sz="780" dirty="0"/>
          </a:p>
        </p:txBody>
      </p:sp>
      <p:sp>
        <p:nvSpPr>
          <p:cNvPr id="13" name="Shape 11"/>
          <p:cNvSpPr/>
          <p:nvPr/>
        </p:nvSpPr>
        <p:spPr>
          <a:xfrm>
            <a:off x="3246120" y="1371600"/>
            <a:ext cx="2651760" cy="1536192"/>
          </a:xfrm>
          <a:prstGeom prst="roundRect">
            <a:avLst>
              <a:gd name="adj" fmla="val 4167"/>
            </a:avLst>
          </a:prstGeom>
          <a:solidFill>
            <a:srgbClr val="0E1B2E"/>
          </a:solidFill>
          <a:ln w="12700">
            <a:solidFill>
              <a:srgbClr val="0E1B2E"/>
            </a:solidFill>
            <a:prstDash val="solid"/>
          </a:ln>
          <a:effectLst>
            <a:outerShdw blurRad="101600" dist="25400" dir="5400000" algn="bl" rotWithShape="0">
              <a:srgbClr val="0B2A55">
                <a:alpha val="12000"/>
              </a:srgbClr>
            </a:outerShdw>
          </a:effectLst>
        </p:spPr>
      </p:sp>
      <p:sp>
        <p:nvSpPr>
          <p:cNvPr id="14" name="Shape 12"/>
          <p:cNvSpPr/>
          <p:nvPr/>
        </p:nvSpPr>
        <p:spPr>
          <a:xfrm>
            <a:off x="3383280" y="1481328"/>
            <a:ext cx="73152" cy="73152"/>
          </a:xfrm>
          <a:prstGeom prst="ellipse">
            <a:avLst/>
          </a:prstGeom>
          <a:solidFill>
            <a:srgbClr val="FF5F56"/>
          </a:solidFill>
          <a:ln w="12700">
            <a:solidFill>
              <a:srgbClr val="FF5F56"/>
            </a:solidFill>
            <a:prstDash val="solid"/>
          </a:ln>
        </p:spPr>
      </p:sp>
      <p:sp>
        <p:nvSpPr>
          <p:cNvPr id="15" name="Shape 13"/>
          <p:cNvSpPr/>
          <p:nvPr/>
        </p:nvSpPr>
        <p:spPr>
          <a:xfrm>
            <a:off x="3511296" y="1481328"/>
            <a:ext cx="73152" cy="73152"/>
          </a:xfrm>
          <a:prstGeom prst="ellipse">
            <a:avLst/>
          </a:prstGeom>
          <a:solidFill>
            <a:srgbClr val="FFBD2E"/>
          </a:solidFill>
          <a:ln w="12700">
            <a:solidFill>
              <a:srgbClr val="FFBD2E"/>
            </a:solidFill>
            <a:prstDash val="solid"/>
          </a:ln>
        </p:spPr>
      </p:sp>
      <p:sp>
        <p:nvSpPr>
          <p:cNvPr id="16" name="Shape 14"/>
          <p:cNvSpPr/>
          <p:nvPr/>
        </p:nvSpPr>
        <p:spPr>
          <a:xfrm>
            <a:off x="3639312" y="1481328"/>
            <a:ext cx="73152" cy="73152"/>
          </a:xfrm>
          <a:prstGeom prst="ellipse">
            <a:avLst/>
          </a:prstGeom>
          <a:solidFill>
            <a:srgbClr val="27C93F"/>
          </a:solidFill>
          <a:ln w="12700">
            <a:solidFill>
              <a:srgbClr val="27C93F"/>
            </a:solidFill>
            <a:prstDash val="solid"/>
          </a:ln>
        </p:spPr>
      </p:sp>
      <p:sp>
        <p:nvSpPr>
          <p:cNvPr id="17" name="Text 15"/>
          <p:cNvSpPr txBox="1"/>
          <p:nvPr/>
        </p:nvSpPr>
        <p:spPr>
          <a:xfrm>
            <a:off x="3813048" y="1426464"/>
            <a:ext cx="1965960" cy="182880"/>
          </a:xfrm>
          <a:prstGeom prst="rect">
            <a:avLst/>
          </a:prstGeom>
          <a:noFill/>
          <a:ln/>
        </p:spPr>
        <p:txBody>
          <a:bodyPr wrap="square" lIns="0" tIns="0" rIns="0" bIns="0" rtlCol="0" anchor="ctr"/>
          <a:lstStyle/>
          <a:p>
            <a:pPr marL="0" indent="0">
              <a:buNone/>
            </a:pPr>
            <a:r>
              <a:rPr lang="en-US" sz="850" b="1" dirty="0">
                <a:solidFill>
                  <a:srgbClr val="F5A800"/>
                </a:solidFill>
                <a:latin typeface="Segoe UI" pitchFamily="34" charset="0"/>
                <a:ea typeface="Segoe UI" pitchFamily="34" charset="-122"/>
                <a:cs typeface="Segoe UI" pitchFamily="34" charset="-120"/>
              </a:rPr>
              <a:t>GET · leer</a:t>
            </a:r>
            <a:endParaRPr lang="en-US" sz="850" dirty="0"/>
          </a:p>
        </p:txBody>
      </p:sp>
      <p:sp>
        <p:nvSpPr>
          <p:cNvPr id="18" name="Text 16"/>
          <p:cNvSpPr txBox="1"/>
          <p:nvPr/>
        </p:nvSpPr>
        <p:spPr>
          <a:xfrm>
            <a:off x="3383280" y="1664208"/>
            <a:ext cx="2377440" cy="1170432"/>
          </a:xfrm>
          <a:prstGeom prst="rect">
            <a:avLst/>
          </a:prstGeom>
          <a:noFill/>
          <a:ln/>
        </p:spPr>
        <p:txBody>
          <a:bodyPr wrap="square" lIns="0" tIns="0" rIns="0" bIns="0" rtlCol="0" anchor="t"/>
          <a:lstStyle/>
          <a:p>
            <a:pPr marL="0" indent="0">
              <a:lnSpc>
                <a:spcPct val="100000"/>
              </a:lnSpc>
              <a:buNone/>
            </a:pPr>
            <a:r>
              <a:rPr lang="en-US" sz="780" b="1" dirty="0">
                <a:solidFill>
                  <a:srgbClr val="F5A800"/>
                </a:solidFill>
                <a:latin typeface="Consolas" pitchFamily="34" charset="0"/>
                <a:ea typeface="Consolas" pitchFamily="34" charset="-122"/>
                <a:cs typeface="Consolas" pitchFamily="34" charset="-120"/>
              </a:rPr>
              <a:t>GET</a:t>
            </a:r>
            <a:r>
              <a:rPr lang="en-US" sz="780" dirty="0">
                <a:solidFill>
                  <a:srgbClr val="DCE6F2"/>
                </a:solidFill>
                <a:latin typeface="Consolas" pitchFamily="34" charset="0"/>
                <a:ea typeface="Consolas" pitchFamily="34" charset="-122"/>
                <a:cs typeface="Consolas" pitchFamily="34" charset="-120"/>
              </a:rPr>
              <a:t> /b1s/v1/U_VS_CONFIG('001')</a:t>
            </a:r>
            <a:endParaRPr lang="en-US" sz="780" dirty="0"/>
          </a:p>
          <a:p>
            <a:pPr marL="0" indent="0">
              <a:lnSpc>
                <a:spcPct val="100000"/>
              </a:lnSpc>
              <a:buNone/>
            </a:pPr>
            <a:r>
              <a:rPr lang="en-US" sz="780" dirty="0">
                <a:solidFill>
                  <a:srgbClr val="DCE6F2"/>
                </a:solidFill>
                <a:latin typeface="Consolas" pitchFamily="34" charset="0"/>
                <a:ea typeface="Consolas" pitchFamily="34" charset="-122"/>
                <a:cs typeface="Consolas" pitchFamily="34" charset="-120"/>
              </a:rPr>
              <a:t> </a:t>
            </a:r>
            <a:endParaRPr lang="en-US" sz="780" dirty="0"/>
          </a:p>
          <a:p>
            <a:pPr marL="0" indent="0">
              <a:lnSpc>
                <a:spcPct val="100000"/>
              </a:lnSpc>
              <a:buNone/>
            </a:pPr>
            <a:r>
              <a:rPr lang="en-US" sz="780" b="1" dirty="0">
                <a:solidFill>
                  <a:srgbClr val="F5A800"/>
                </a:solidFill>
                <a:latin typeface="Consolas" pitchFamily="34" charset="0"/>
                <a:ea typeface="Consolas" pitchFamily="34" charset="-122"/>
                <a:cs typeface="Consolas" pitchFamily="34" charset="-120"/>
              </a:rPr>
              <a:t>GET</a:t>
            </a:r>
            <a:r>
              <a:rPr lang="en-US" sz="780" dirty="0">
                <a:solidFill>
                  <a:srgbClr val="DCE6F2"/>
                </a:solidFill>
                <a:latin typeface="Consolas" pitchFamily="34" charset="0"/>
                <a:ea typeface="Consolas" pitchFamily="34" charset="-122"/>
                <a:cs typeface="Consolas" pitchFamily="34" charset="-120"/>
              </a:rPr>
              <a:t> /b1s/v1/U_VS_CONFIG</a:t>
            </a:r>
            <a:endParaRPr lang="en-US" sz="780" dirty="0"/>
          </a:p>
          <a:p>
            <a:pPr marL="0" indent="0">
              <a:lnSpc>
                <a:spcPct val="100000"/>
              </a:lnSpc>
              <a:buNone/>
            </a:pPr>
            <a:r>
              <a:rPr lang="en-US" sz="780" dirty="0">
                <a:solidFill>
                  <a:srgbClr val="DCE6F2"/>
                </a:solidFill>
                <a:latin typeface="Consolas" pitchFamily="34" charset="0"/>
                <a:ea typeface="Consolas" pitchFamily="34" charset="-122"/>
                <a:cs typeface="Consolas" pitchFamily="34" charset="-120"/>
              </a:rPr>
              <a:t>  ?$select=Code,U_Valor</a:t>
            </a:r>
            <a:endParaRPr lang="en-US" sz="780" dirty="0"/>
          </a:p>
          <a:p>
            <a:pPr marL="0" indent="0">
              <a:lnSpc>
                <a:spcPct val="100000"/>
              </a:lnSpc>
              <a:buNone/>
            </a:pPr>
            <a:r>
              <a:rPr lang="en-US" sz="780" dirty="0">
                <a:solidFill>
                  <a:srgbClr val="DCE6F2"/>
                </a:solidFill>
                <a:latin typeface="Consolas" pitchFamily="34" charset="0"/>
                <a:ea typeface="Consolas" pitchFamily="34" charset="-122"/>
                <a:cs typeface="Consolas" pitchFamily="34" charset="-120"/>
              </a:rPr>
              <a:t>  &amp;$filter=U_Activo eq 'Y'</a:t>
            </a:r>
            <a:endParaRPr lang="en-US" sz="780" dirty="0"/>
          </a:p>
        </p:txBody>
      </p:sp>
      <p:sp>
        <p:nvSpPr>
          <p:cNvPr id="19" name="Shape 17"/>
          <p:cNvSpPr/>
          <p:nvPr/>
        </p:nvSpPr>
        <p:spPr>
          <a:xfrm>
            <a:off x="6035040" y="1371600"/>
            <a:ext cx="2651760" cy="1536192"/>
          </a:xfrm>
          <a:prstGeom prst="roundRect">
            <a:avLst>
              <a:gd name="adj" fmla="val 4167"/>
            </a:avLst>
          </a:prstGeom>
          <a:solidFill>
            <a:srgbClr val="0E1B2E"/>
          </a:solidFill>
          <a:ln w="12700">
            <a:solidFill>
              <a:srgbClr val="0E1B2E"/>
            </a:solidFill>
            <a:prstDash val="solid"/>
          </a:ln>
          <a:effectLst>
            <a:outerShdw blurRad="101600" dist="25400" dir="5400000" algn="bl" rotWithShape="0">
              <a:srgbClr val="0B2A55">
                <a:alpha val="12000"/>
              </a:srgbClr>
            </a:outerShdw>
          </a:effectLst>
        </p:spPr>
      </p:sp>
      <p:sp>
        <p:nvSpPr>
          <p:cNvPr id="20" name="Shape 18"/>
          <p:cNvSpPr/>
          <p:nvPr/>
        </p:nvSpPr>
        <p:spPr>
          <a:xfrm>
            <a:off x="6172200" y="1481328"/>
            <a:ext cx="73152" cy="73152"/>
          </a:xfrm>
          <a:prstGeom prst="ellipse">
            <a:avLst/>
          </a:prstGeom>
          <a:solidFill>
            <a:srgbClr val="FF5F56"/>
          </a:solidFill>
          <a:ln w="12700">
            <a:solidFill>
              <a:srgbClr val="FF5F56"/>
            </a:solidFill>
            <a:prstDash val="solid"/>
          </a:ln>
        </p:spPr>
      </p:sp>
      <p:sp>
        <p:nvSpPr>
          <p:cNvPr id="21" name="Shape 19"/>
          <p:cNvSpPr/>
          <p:nvPr/>
        </p:nvSpPr>
        <p:spPr>
          <a:xfrm>
            <a:off x="6300216" y="1481328"/>
            <a:ext cx="73152" cy="73152"/>
          </a:xfrm>
          <a:prstGeom prst="ellipse">
            <a:avLst/>
          </a:prstGeom>
          <a:solidFill>
            <a:srgbClr val="FFBD2E"/>
          </a:solidFill>
          <a:ln w="12700">
            <a:solidFill>
              <a:srgbClr val="FFBD2E"/>
            </a:solidFill>
            <a:prstDash val="solid"/>
          </a:ln>
        </p:spPr>
      </p:sp>
      <p:sp>
        <p:nvSpPr>
          <p:cNvPr id="22" name="Shape 20"/>
          <p:cNvSpPr/>
          <p:nvPr/>
        </p:nvSpPr>
        <p:spPr>
          <a:xfrm>
            <a:off x="6428232" y="1481328"/>
            <a:ext cx="73152" cy="73152"/>
          </a:xfrm>
          <a:prstGeom prst="ellipse">
            <a:avLst/>
          </a:prstGeom>
          <a:solidFill>
            <a:srgbClr val="27C93F"/>
          </a:solidFill>
          <a:ln w="12700">
            <a:solidFill>
              <a:srgbClr val="27C93F"/>
            </a:solidFill>
            <a:prstDash val="solid"/>
          </a:ln>
        </p:spPr>
      </p:sp>
      <p:sp>
        <p:nvSpPr>
          <p:cNvPr id="23" name="Text 21"/>
          <p:cNvSpPr txBox="1"/>
          <p:nvPr/>
        </p:nvSpPr>
        <p:spPr>
          <a:xfrm>
            <a:off x="6601968" y="1426464"/>
            <a:ext cx="1965960" cy="182880"/>
          </a:xfrm>
          <a:prstGeom prst="rect">
            <a:avLst/>
          </a:prstGeom>
          <a:noFill/>
          <a:ln/>
        </p:spPr>
        <p:txBody>
          <a:bodyPr wrap="square" lIns="0" tIns="0" rIns="0" bIns="0" rtlCol="0" anchor="ctr"/>
          <a:lstStyle/>
          <a:p>
            <a:pPr marL="0" indent="0">
              <a:buNone/>
            </a:pPr>
            <a:r>
              <a:rPr lang="en-US" sz="850" b="1" dirty="0">
                <a:solidFill>
                  <a:srgbClr val="F5A800"/>
                </a:solidFill>
                <a:latin typeface="Segoe UI" pitchFamily="34" charset="0"/>
                <a:ea typeface="Segoe UI" pitchFamily="34" charset="-122"/>
                <a:cs typeface="Segoe UI" pitchFamily="34" charset="-120"/>
              </a:rPr>
              <a:t>PATCH · actualizar parcial</a:t>
            </a:r>
            <a:endParaRPr lang="en-US" sz="850" dirty="0"/>
          </a:p>
        </p:txBody>
      </p:sp>
      <p:sp>
        <p:nvSpPr>
          <p:cNvPr id="24" name="Text 22"/>
          <p:cNvSpPr txBox="1"/>
          <p:nvPr/>
        </p:nvSpPr>
        <p:spPr>
          <a:xfrm>
            <a:off x="6172200" y="1664208"/>
            <a:ext cx="2377440" cy="1170432"/>
          </a:xfrm>
          <a:prstGeom prst="rect">
            <a:avLst/>
          </a:prstGeom>
          <a:noFill/>
          <a:ln/>
        </p:spPr>
        <p:txBody>
          <a:bodyPr wrap="square" lIns="0" tIns="0" rIns="0" bIns="0" rtlCol="0" anchor="t"/>
          <a:lstStyle/>
          <a:p>
            <a:pPr marL="0" indent="0">
              <a:lnSpc>
                <a:spcPct val="100000"/>
              </a:lnSpc>
              <a:buNone/>
            </a:pPr>
            <a:r>
              <a:rPr lang="en-US" sz="780" b="1" dirty="0">
                <a:solidFill>
                  <a:srgbClr val="F5A800"/>
                </a:solidFill>
                <a:latin typeface="Consolas" pitchFamily="34" charset="0"/>
                <a:ea typeface="Consolas" pitchFamily="34" charset="-122"/>
                <a:cs typeface="Consolas" pitchFamily="34" charset="-120"/>
              </a:rPr>
              <a:t>PATCH</a:t>
            </a:r>
            <a:r>
              <a:rPr lang="en-US" sz="780" dirty="0">
                <a:solidFill>
                  <a:srgbClr val="DCE6F2"/>
                </a:solidFill>
                <a:latin typeface="Consolas" pitchFamily="34" charset="0"/>
                <a:ea typeface="Consolas" pitchFamily="34" charset="-122"/>
                <a:cs typeface="Consolas" pitchFamily="34" charset="-120"/>
              </a:rPr>
              <a:t> /b1s/v1/U_VS_CONFIG('001')</a:t>
            </a:r>
            <a:endParaRPr lang="en-US" sz="780" dirty="0"/>
          </a:p>
          <a:p>
            <a:pPr marL="0" indent="0">
              <a:lnSpc>
                <a:spcPct val="100000"/>
              </a:lnSpc>
              <a:buNone/>
            </a:pPr>
            <a:r>
              <a:rPr lang="en-US" sz="780" dirty="0">
                <a:solidFill>
                  <a:srgbClr val="DCE6F2"/>
                </a:solidFill>
                <a:latin typeface="Consolas" pitchFamily="34" charset="0"/>
                <a:ea typeface="Consolas" pitchFamily="34" charset="-122"/>
                <a:cs typeface="Consolas" pitchFamily="34" charset="-120"/>
              </a:rPr>
              <a:t>{</a:t>
            </a:r>
            <a:endParaRPr lang="en-US" sz="780" dirty="0"/>
          </a:p>
          <a:p>
            <a:pPr marL="0" indent="0">
              <a:lnSpc>
                <a:spcPct val="100000"/>
              </a:lnSpc>
              <a:buNone/>
            </a:pPr>
            <a:r>
              <a:rPr lang="en-US" sz="780" dirty="0">
                <a:solidFill>
                  <a:srgbClr val="DCE6F2"/>
                </a:solidFill>
                <a:latin typeface="Consolas" pitchFamily="34" charset="0"/>
                <a:ea typeface="Consolas" pitchFamily="34" charset="-122"/>
                <a:cs typeface="Consolas" pitchFamily="34" charset="-120"/>
              </a:rPr>
              <a:t>  </a:t>
            </a:r>
            <a:r>
              <a:rPr lang="en-US" sz="780" dirty="0">
                <a:solidFill>
                  <a:srgbClr val="7FD1FF"/>
                </a:solidFill>
                <a:latin typeface="Consolas" pitchFamily="34" charset="0"/>
                <a:ea typeface="Consolas" pitchFamily="34" charset="-122"/>
                <a:cs typeface="Consolas" pitchFamily="34" charset="-120"/>
              </a:rPr>
              <a:t>"U_Valor"</a:t>
            </a:r>
            <a:r>
              <a:rPr lang="en-US" sz="780" dirty="0">
                <a:solidFill>
                  <a:srgbClr val="DCE6F2"/>
                </a:solidFill>
                <a:latin typeface="Consolas" pitchFamily="34" charset="0"/>
                <a:ea typeface="Consolas" pitchFamily="34" charset="-122"/>
                <a:cs typeface="Consolas" pitchFamily="34" charset="-120"/>
              </a:rPr>
              <a:t>: </a:t>
            </a:r>
            <a:r>
              <a:rPr lang="en-US" sz="780" dirty="0">
                <a:solidFill>
                  <a:srgbClr val="B5E48C"/>
                </a:solidFill>
                <a:latin typeface="Consolas" pitchFamily="34" charset="0"/>
                <a:ea typeface="Consolas" pitchFamily="34" charset="-122"/>
                <a:cs typeface="Consolas" pitchFamily="34" charset="-120"/>
              </a:rPr>
              <a:t>"https://api.prod.pe"</a:t>
            </a:r>
            <a:endParaRPr lang="en-US" sz="780" dirty="0"/>
          </a:p>
          <a:p>
            <a:pPr marL="0" indent="0">
              <a:lnSpc>
                <a:spcPct val="100000"/>
              </a:lnSpc>
              <a:buNone/>
            </a:pPr>
            <a:r>
              <a:rPr lang="en-US" sz="780" dirty="0">
                <a:solidFill>
                  <a:srgbClr val="DCE6F2"/>
                </a:solidFill>
                <a:latin typeface="Consolas" pitchFamily="34" charset="0"/>
                <a:ea typeface="Consolas" pitchFamily="34" charset="-122"/>
                <a:cs typeface="Consolas" pitchFamily="34" charset="-120"/>
              </a:rPr>
              <a:t>}</a:t>
            </a:r>
            <a:endParaRPr lang="en-US" sz="780" dirty="0"/>
          </a:p>
          <a:p>
            <a:pPr marL="0" indent="0">
              <a:lnSpc>
                <a:spcPct val="100000"/>
              </a:lnSpc>
              <a:buNone/>
            </a:pPr>
            <a:r>
              <a:rPr lang="en-US" sz="780" i="1" dirty="0">
                <a:solidFill>
                  <a:srgbClr val="7D8FA8"/>
                </a:solidFill>
                <a:latin typeface="Consolas" pitchFamily="34" charset="0"/>
                <a:ea typeface="Consolas" pitchFamily="34" charset="-122"/>
                <a:cs typeface="Consolas" pitchFamily="34" charset="-120"/>
              </a:rPr>
              <a:t>// 204 No Content</a:t>
            </a:r>
            <a:endParaRPr lang="en-US" sz="780" dirty="0"/>
          </a:p>
        </p:txBody>
      </p:sp>
      <p:sp>
        <p:nvSpPr>
          <p:cNvPr id="25" name="Shape 23"/>
          <p:cNvSpPr/>
          <p:nvPr/>
        </p:nvSpPr>
        <p:spPr>
          <a:xfrm>
            <a:off x="457200" y="3044952"/>
            <a:ext cx="2651760" cy="1536192"/>
          </a:xfrm>
          <a:prstGeom prst="roundRect">
            <a:avLst>
              <a:gd name="adj" fmla="val 4167"/>
            </a:avLst>
          </a:prstGeom>
          <a:solidFill>
            <a:srgbClr val="0E1B2E"/>
          </a:solidFill>
          <a:ln w="12700">
            <a:solidFill>
              <a:srgbClr val="0E1B2E"/>
            </a:solidFill>
            <a:prstDash val="solid"/>
          </a:ln>
          <a:effectLst>
            <a:outerShdw blurRad="101600" dist="25400" dir="5400000" algn="bl" rotWithShape="0">
              <a:srgbClr val="0B2A55">
                <a:alpha val="12000"/>
              </a:srgbClr>
            </a:outerShdw>
          </a:effectLst>
        </p:spPr>
      </p:sp>
      <p:sp>
        <p:nvSpPr>
          <p:cNvPr id="26" name="Shape 24"/>
          <p:cNvSpPr/>
          <p:nvPr/>
        </p:nvSpPr>
        <p:spPr>
          <a:xfrm>
            <a:off x="594360" y="3154680"/>
            <a:ext cx="73152" cy="73152"/>
          </a:xfrm>
          <a:prstGeom prst="ellipse">
            <a:avLst/>
          </a:prstGeom>
          <a:solidFill>
            <a:srgbClr val="FF5F56"/>
          </a:solidFill>
          <a:ln w="12700">
            <a:solidFill>
              <a:srgbClr val="FF5F56"/>
            </a:solidFill>
            <a:prstDash val="solid"/>
          </a:ln>
        </p:spPr>
      </p:sp>
      <p:sp>
        <p:nvSpPr>
          <p:cNvPr id="27" name="Shape 25"/>
          <p:cNvSpPr/>
          <p:nvPr/>
        </p:nvSpPr>
        <p:spPr>
          <a:xfrm>
            <a:off x="722376" y="3154680"/>
            <a:ext cx="73152" cy="73152"/>
          </a:xfrm>
          <a:prstGeom prst="ellipse">
            <a:avLst/>
          </a:prstGeom>
          <a:solidFill>
            <a:srgbClr val="FFBD2E"/>
          </a:solidFill>
          <a:ln w="12700">
            <a:solidFill>
              <a:srgbClr val="FFBD2E"/>
            </a:solidFill>
            <a:prstDash val="solid"/>
          </a:ln>
        </p:spPr>
      </p:sp>
      <p:sp>
        <p:nvSpPr>
          <p:cNvPr id="28" name="Shape 26"/>
          <p:cNvSpPr/>
          <p:nvPr/>
        </p:nvSpPr>
        <p:spPr>
          <a:xfrm>
            <a:off x="850392" y="3154680"/>
            <a:ext cx="73152" cy="73152"/>
          </a:xfrm>
          <a:prstGeom prst="ellipse">
            <a:avLst/>
          </a:prstGeom>
          <a:solidFill>
            <a:srgbClr val="27C93F"/>
          </a:solidFill>
          <a:ln w="12700">
            <a:solidFill>
              <a:srgbClr val="27C93F"/>
            </a:solidFill>
            <a:prstDash val="solid"/>
          </a:ln>
        </p:spPr>
      </p:sp>
      <p:sp>
        <p:nvSpPr>
          <p:cNvPr id="29" name="Text 27"/>
          <p:cNvSpPr txBox="1"/>
          <p:nvPr/>
        </p:nvSpPr>
        <p:spPr>
          <a:xfrm>
            <a:off x="1024128" y="3099816"/>
            <a:ext cx="1965960" cy="182880"/>
          </a:xfrm>
          <a:prstGeom prst="rect">
            <a:avLst/>
          </a:prstGeom>
          <a:noFill/>
          <a:ln/>
        </p:spPr>
        <p:txBody>
          <a:bodyPr wrap="square" lIns="0" tIns="0" rIns="0" bIns="0" rtlCol="0" anchor="ctr"/>
          <a:lstStyle/>
          <a:p>
            <a:pPr marL="0" indent="0">
              <a:buNone/>
            </a:pPr>
            <a:r>
              <a:rPr lang="en-US" sz="850" b="1" dirty="0">
                <a:solidFill>
                  <a:srgbClr val="F5A800"/>
                </a:solidFill>
                <a:latin typeface="Segoe UI" pitchFamily="34" charset="0"/>
                <a:ea typeface="Segoe UI" pitchFamily="34" charset="-122"/>
                <a:cs typeface="Segoe UI" pitchFamily="34" charset="-120"/>
              </a:rPr>
              <a:t>PUT · reemplazar</a:t>
            </a:r>
            <a:endParaRPr lang="en-US" sz="850" dirty="0"/>
          </a:p>
        </p:txBody>
      </p:sp>
      <p:sp>
        <p:nvSpPr>
          <p:cNvPr id="30" name="Text 28"/>
          <p:cNvSpPr txBox="1"/>
          <p:nvPr/>
        </p:nvSpPr>
        <p:spPr>
          <a:xfrm>
            <a:off x="594360" y="3337560"/>
            <a:ext cx="2377440" cy="1170432"/>
          </a:xfrm>
          <a:prstGeom prst="rect">
            <a:avLst/>
          </a:prstGeom>
          <a:noFill/>
          <a:ln/>
        </p:spPr>
        <p:txBody>
          <a:bodyPr wrap="square" lIns="0" tIns="0" rIns="0" bIns="0" rtlCol="0" anchor="t"/>
          <a:lstStyle/>
          <a:p>
            <a:pPr marL="0" indent="0">
              <a:lnSpc>
                <a:spcPct val="100000"/>
              </a:lnSpc>
              <a:buNone/>
            </a:pPr>
            <a:r>
              <a:rPr lang="en-US" sz="780" b="1" dirty="0">
                <a:solidFill>
                  <a:srgbClr val="F5A800"/>
                </a:solidFill>
                <a:latin typeface="Consolas" pitchFamily="34" charset="0"/>
                <a:ea typeface="Consolas" pitchFamily="34" charset="-122"/>
                <a:cs typeface="Consolas" pitchFamily="34" charset="-120"/>
              </a:rPr>
              <a:t>PUT</a:t>
            </a:r>
            <a:r>
              <a:rPr lang="en-US" sz="780" dirty="0">
                <a:solidFill>
                  <a:srgbClr val="DCE6F2"/>
                </a:solidFill>
                <a:latin typeface="Consolas" pitchFamily="34" charset="0"/>
                <a:ea typeface="Consolas" pitchFamily="34" charset="-122"/>
                <a:cs typeface="Consolas" pitchFamily="34" charset="-120"/>
              </a:rPr>
              <a:t> /b1s/v1/U_VS_CONFIG('001')</a:t>
            </a:r>
            <a:endParaRPr lang="en-US" sz="780" dirty="0"/>
          </a:p>
          <a:p>
            <a:pPr marL="0" indent="0">
              <a:lnSpc>
                <a:spcPct val="100000"/>
              </a:lnSpc>
              <a:buNone/>
            </a:pPr>
            <a:r>
              <a:rPr lang="en-US" sz="780" dirty="0">
                <a:solidFill>
                  <a:srgbClr val="DCE6F2"/>
                </a:solidFill>
                <a:latin typeface="Consolas" pitchFamily="34" charset="0"/>
                <a:ea typeface="Consolas" pitchFamily="34" charset="-122"/>
                <a:cs typeface="Consolas" pitchFamily="34" charset="-120"/>
              </a:rPr>
              <a:t>{</a:t>
            </a:r>
            <a:endParaRPr lang="en-US" sz="780" dirty="0"/>
          </a:p>
          <a:p>
            <a:pPr marL="0" indent="0">
              <a:lnSpc>
                <a:spcPct val="100000"/>
              </a:lnSpc>
              <a:buNone/>
            </a:pPr>
            <a:r>
              <a:rPr lang="en-US" sz="780" dirty="0">
                <a:solidFill>
                  <a:srgbClr val="DCE6F2"/>
                </a:solidFill>
                <a:latin typeface="Consolas" pitchFamily="34" charset="0"/>
                <a:ea typeface="Consolas" pitchFamily="34" charset="-122"/>
                <a:cs typeface="Consolas" pitchFamily="34" charset="-120"/>
              </a:rPr>
              <a:t>  </a:t>
            </a:r>
            <a:r>
              <a:rPr lang="en-US" sz="780" dirty="0">
                <a:solidFill>
                  <a:srgbClr val="7FD1FF"/>
                </a:solidFill>
                <a:latin typeface="Consolas" pitchFamily="34" charset="0"/>
                <a:ea typeface="Consolas" pitchFamily="34" charset="-122"/>
                <a:cs typeface="Consolas" pitchFamily="34" charset="-120"/>
              </a:rPr>
              <a:t>"Code"</a:t>
            </a:r>
            <a:r>
              <a:rPr lang="en-US" sz="780" dirty="0">
                <a:solidFill>
                  <a:srgbClr val="DCE6F2"/>
                </a:solidFill>
                <a:latin typeface="Consolas" pitchFamily="34" charset="0"/>
                <a:ea typeface="Consolas" pitchFamily="34" charset="-122"/>
                <a:cs typeface="Consolas" pitchFamily="34" charset="-120"/>
              </a:rPr>
              <a:t>: </a:t>
            </a:r>
            <a:r>
              <a:rPr lang="en-US" sz="780" dirty="0">
                <a:solidFill>
                  <a:srgbClr val="B5E48C"/>
                </a:solidFill>
                <a:latin typeface="Consolas" pitchFamily="34" charset="0"/>
                <a:ea typeface="Consolas" pitchFamily="34" charset="-122"/>
                <a:cs typeface="Consolas" pitchFamily="34" charset="-120"/>
              </a:rPr>
              <a:t>"001"</a:t>
            </a:r>
            <a:r>
              <a:rPr lang="en-US" sz="780" dirty="0">
                <a:solidFill>
                  <a:srgbClr val="DCE6F2"/>
                </a:solidFill>
                <a:latin typeface="Consolas" pitchFamily="34" charset="0"/>
                <a:ea typeface="Consolas" pitchFamily="34" charset="-122"/>
                <a:cs typeface="Consolas" pitchFamily="34" charset="-120"/>
              </a:rPr>
              <a:t>,</a:t>
            </a:r>
            <a:endParaRPr lang="en-US" sz="780" dirty="0"/>
          </a:p>
          <a:p>
            <a:pPr marL="0" indent="0">
              <a:lnSpc>
                <a:spcPct val="100000"/>
              </a:lnSpc>
              <a:buNone/>
            </a:pPr>
            <a:r>
              <a:rPr lang="en-US" sz="780" dirty="0">
                <a:solidFill>
                  <a:srgbClr val="DCE6F2"/>
                </a:solidFill>
                <a:latin typeface="Consolas" pitchFamily="34" charset="0"/>
                <a:ea typeface="Consolas" pitchFamily="34" charset="-122"/>
                <a:cs typeface="Consolas" pitchFamily="34" charset="-120"/>
              </a:rPr>
              <a:t>  </a:t>
            </a:r>
            <a:r>
              <a:rPr lang="en-US" sz="780" dirty="0">
                <a:solidFill>
                  <a:srgbClr val="7FD1FF"/>
                </a:solidFill>
                <a:latin typeface="Consolas" pitchFamily="34" charset="0"/>
                <a:ea typeface="Consolas" pitchFamily="34" charset="-122"/>
                <a:cs typeface="Consolas" pitchFamily="34" charset="-120"/>
              </a:rPr>
              <a:t>"Name"</a:t>
            </a:r>
            <a:r>
              <a:rPr lang="en-US" sz="780" dirty="0">
                <a:solidFill>
                  <a:srgbClr val="DCE6F2"/>
                </a:solidFill>
                <a:latin typeface="Consolas" pitchFamily="34" charset="0"/>
                <a:ea typeface="Consolas" pitchFamily="34" charset="-122"/>
                <a:cs typeface="Consolas" pitchFamily="34" charset="-120"/>
              </a:rPr>
              <a:t>: </a:t>
            </a:r>
            <a:r>
              <a:rPr lang="en-US" sz="780" dirty="0">
                <a:solidFill>
                  <a:srgbClr val="B5E48C"/>
                </a:solidFill>
                <a:latin typeface="Consolas" pitchFamily="34" charset="0"/>
                <a:ea typeface="Consolas" pitchFamily="34" charset="-122"/>
                <a:cs typeface="Consolas" pitchFamily="34" charset="-120"/>
              </a:rPr>
              <a:t>"URL_API"</a:t>
            </a:r>
            <a:r>
              <a:rPr lang="en-US" sz="780" dirty="0">
                <a:solidFill>
                  <a:srgbClr val="DCE6F2"/>
                </a:solidFill>
                <a:latin typeface="Consolas" pitchFamily="34" charset="0"/>
                <a:ea typeface="Consolas" pitchFamily="34" charset="-122"/>
                <a:cs typeface="Consolas" pitchFamily="34" charset="-120"/>
              </a:rPr>
              <a:t>,</a:t>
            </a:r>
            <a:endParaRPr lang="en-US" sz="780" dirty="0"/>
          </a:p>
          <a:p>
            <a:pPr marL="0" indent="0">
              <a:lnSpc>
                <a:spcPct val="100000"/>
              </a:lnSpc>
              <a:buNone/>
            </a:pPr>
            <a:r>
              <a:rPr lang="en-US" sz="780" dirty="0">
                <a:solidFill>
                  <a:srgbClr val="DCE6F2"/>
                </a:solidFill>
                <a:latin typeface="Consolas" pitchFamily="34" charset="0"/>
                <a:ea typeface="Consolas" pitchFamily="34" charset="-122"/>
                <a:cs typeface="Consolas" pitchFamily="34" charset="-120"/>
              </a:rPr>
              <a:t>  </a:t>
            </a:r>
            <a:r>
              <a:rPr lang="en-US" sz="780" dirty="0">
                <a:solidFill>
                  <a:srgbClr val="7FD1FF"/>
                </a:solidFill>
                <a:latin typeface="Consolas" pitchFamily="34" charset="0"/>
                <a:ea typeface="Consolas" pitchFamily="34" charset="-122"/>
                <a:cs typeface="Consolas" pitchFamily="34" charset="-120"/>
              </a:rPr>
              <a:t>"U_Valor"</a:t>
            </a:r>
            <a:r>
              <a:rPr lang="en-US" sz="780" dirty="0">
                <a:solidFill>
                  <a:srgbClr val="DCE6F2"/>
                </a:solidFill>
                <a:latin typeface="Consolas" pitchFamily="34" charset="0"/>
                <a:ea typeface="Consolas" pitchFamily="34" charset="-122"/>
                <a:cs typeface="Consolas" pitchFamily="34" charset="-120"/>
              </a:rPr>
              <a:t>: </a:t>
            </a:r>
            <a:r>
              <a:rPr lang="en-US" sz="780" dirty="0">
                <a:solidFill>
                  <a:srgbClr val="B5E48C"/>
                </a:solidFill>
                <a:latin typeface="Consolas" pitchFamily="34" charset="0"/>
                <a:ea typeface="Consolas" pitchFamily="34" charset="-122"/>
                <a:cs typeface="Consolas" pitchFamily="34" charset="-120"/>
              </a:rPr>
              <a:t>"https://api.prod.pe"</a:t>
            </a:r>
            <a:r>
              <a:rPr lang="en-US" sz="780" dirty="0">
                <a:solidFill>
                  <a:srgbClr val="DCE6F2"/>
                </a:solidFill>
                <a:latin typeface="Consolas" pitchFamily="34" charset="0"/>
                <a:ea typeface="Consolas" pitchFamily="34" charset="-122"/>
                <a:cs typeface="Consolas" pitchFamily="34" charset="-120"/>
              </a:rPr>
              <a:t>,</a:t>
            </a:r>
            <a:endParaRPr lang="en-US" sz="780" dirty="0"/>
          </a:p>
          <a:p>
            <a:pPr marL="0" indent="0">
              <a:lnSpc>
                <a:spcPct val="100000"/>
              </a:lnSpc>
              <a:buNone/>
            </a:pPr>
            <a:r>
              <a:rPr lang="en-US" sz="780" dirty="0">
                <a:solidFill>
                  <a:srgbClr val="DCE6F2"/>
                </a:solidFill>
                <a:latin typeface="Consolas" pitchFamily="34" charset="0"/>
                <a:ea typeface="Consolas" pitchFamily="34" charset="-122"/>
                <a:cs typeface="Consolas" pitchFamily="34" charset="-120"/>
              </a:rPr>
              <a:t>  </a:t>
            </a:r>
            <a:r>
              <a:rPr lang="en-US" sz="780" dirty="0">
                <a:solidFill>
                  <a:srgbClr val="7FD1FF"/>
                </a:solidFill>
                <a:latin typeface="Consolas" pitchFamily="34" charset="0"/>
                <a:ea typeface="Consolas" pitchFamily="34" charset="-122"/>
                <a:cs typeface="Consolas" pitchFamily="34" charset="-120"/>
              </a:rPr>
              <a:t>"U_Activo"</a:t>
            </a:r>
            <a:r>
              <a:rPr lang="en-US" sz="780" dirty="0">
                <a:solidFill>
                  <a:srgbClr val="DCE6F2"/>
                </a:solidFill>
                <a:latin typeface="Consolas" pitchFamily="34" charset="0"/>
                <a:ea typeface="Consolas" pitchFamily="34" charset="-122"/>
                <a:cs typeface="Consolas" pitchFamily="34" charset="-120"/>
              </a:rPr>
              <a:t>: </a:t>
            </a:r>
            <a:r>
              <a:rPr lang="en-US" sz="780" dirty="0">
                <a:solidFill>
                  <a:srgbClr val="B5E48C"/>
                </a:solidFill>
                <a:latin typeface="Consolas" pitchFamily="34" charset="0"/>
                <a:ea typeface="Consolas" pitchFamily="34" charset="-122"/>
                <a:cs typeface="Consolas" pitchFamily="34" charset="-120"/>
              </a:rPr>
              <a:t>"N"</a:t>
            </a:r>
            <a:endParaRPr lang="en-US" sz="780" dirty="0"/>
          </a:p>
          <a:p>
            <a:pPr marL="0" indent="0">
              <a:lnSpc>
                <a:spcPct val="100000"/>
              </a:lnSpc>
              <a:buNone/>
            </a:pPr>
            <a:r>
              <a:rPr lang="en-US" sz="780" dirty="0">
                <a:solidFill>
                  <a:srgbClr val="DCE6F2"/>
                </a:solidFill>
                <a:latin typeface="Consolas" pitchFamily="34" charset="0"/>
                <a:ea typeface="Consolas" pitchFamily="34" charset="-122"/>
                <a:cs typeface="Consolas" pitchFamily="34" charset="-120"/>
              </a:rPr>
              <a:t>}</a:t>
            </a:r>
            <a:endParaRPr lang="en-US" sz="780" dirty="0"/>
          </a:p>
        </p:txBody>
      </p:sp>
      <p:sp>
        <p:nvSpPr>
          <p:cNvPr id="31" name="Shape 29"/>
          <p:cNvSpPr/>
          <p:nvPr/>
        </p:nvSpPr>
        <p:spPr>
          <a:xfrm>
            <a:off x="3246120" y="3044952"/>
            <a:ext cx="2651760" cy="1536192"/>
          </a:xfrm>
          <a:prstGeom prst="roundRect">
            <a:avLst>
              <a:gd name="adj" fmla="val 4167"/>
            </a:avLst>
          </a:prstGeom>
          <a:solidFill>
            <a:srgbClr val="0E1B2E"/>
          </a:solidFill>
          <a:ln w="12700">
            <a:solidFill>
              <a:srgbClr val="0E1B2E"/>
            </a:solidFill>
            <a:prstDash val="solid"/>
          </a:ln>
          <a:effectLst>
            <a:outerShdw blurRad="101600" dist="25400" dir="5400000" algn="bl" rotWithShape="0">
              <a:srgbClr val="0B2A55">
                <a:alpha val="12000"/>
              </a:srgbClr>
            </a:outerShdw>
          </a:effectLst>
        </p:spPr>
      </p:sp>
      <p:sp>
        <p:nvSpPr>
          <p:cNvPr id="32" name="Shape 30"/>
          <p:cNvSpPr/>
          <p:nvPr/>
        </p:nvSpPr>
        <p:spPr>
          <a:xfrm>
            <a:off x="3383280" y="3154680"/>
            <a:ext cx="73152" cy="73152"/>
          </a:xfrm>
          <a:prstGeom prst="ellipse">
            <a:avLst/>
          </a:prstGeom>
          <a:solidFill>
            <a:srgbClr val="FF5F56"/>
          </a:solidFill>
          <a:ln w="12700">
            <a:solidFill>
              <a:srgbClr val="FF5F56"/>
            </a:solidFill>
            <a:prstDash val="solid"/>
          </a:ln>
        </p:spPr>
      </p:sp>
      <p:sp>
        <p:nvSpPr>
          <p:cNvPr id="33" name="Shape 31"/>
          <p:cNvSpPr/>
          <p:nvPr/>
        </p:nvSpPr>
        <p:spPr>
          <a:xfrm>
            <a:off x="3511296" y="3154680"/>
            <a:ext cx="73152" cy="73152"/>
          </a:xfrm>
          <a:prstGeom prst="ellipse">
            <a:avLst/>
          </a:prstGeom>
          <a:solidFill>
            <a:srgbClr val="FFBD2E"/>
          </a:solidFill>
          <a:ln w="12700">
            <a:solidFill>
              <a:srgbClr val="FFBD2E"/>
            </a:solidFill>
            <a:prstDash val="solid"/>
          </a:ln>
        </p:spPr>
      </p:sp>
      <p:sp>
        <p:nvSpPr>
          <p:cNvPr id="34" name="Shape 32"/>
          <p:cNvSpPr/>
          <p:nvPr/>
        </p:nvSpPr>
        <p:spPr>
          <a:xfrm>
            <a:off x="3639312" y="3154680"/>
            <a:ext cx="73152" cy="73152"/>
          </a:xfrm>
          <a:prstGeom prst="ellipse">
            <a:avLst/>
          </a:prstGeom>
          <a:solidFill>
            <a:srgbClr val="27C93F"/>
          </a:solidFill>
          <a:ln w="12700">
            <a:solidFill>
              <a:srgbClr val="27C93F"/>
            </a:solidFill>
            <a:prstDash val="solid"/>
          </a:ln>
        </p:spPr>
      </p:sp>
      <p:sp>
        <p:nvSpPr>
          <p:cNvPr id="35" name="Text 33"/>
          <p:cNvSpPr txBox="1"/>
          <p:nvPr/>
        </p:nvSpPr>
        <p:spPr>
          <a:xfrm>
            <a:off x="3813048" y="3099816"/>
            <a:ext cx="1965960" cy="182880"/>
          </a:xfrm>
          <a:prstGeom prst="rect">
            <a:avLst/>
          </a:prstGeom>
          <a:noFill/>
          <a:ln/>
        </p:spPr>
        <p:txBody>
          <a:bodyPr wrap="square" lIns="0" tIns="0" rIns="0" bIns="0" rtlCol="0" anchor="ctr"/>
          <a:lstStyle/>
          <a:p>
            <a:pPr marL="0" indent="0">
              <a:buNone/>
            </a:pPr>
            <a:r>
              <a:rPr lang="en-US" sz="850" b="1" dirty="0">
                <a:solidFill>
                  <a:srgbClr val="F5A800"/>
                </a:solidFill>
                <a:latin typeface="Segoe UI" pitchFamily="34" charset="0"/>
                <a:ea typeface="Segoe UI" pitchFamily="34" charset="-122"/>
                <a:cs typeface="Segoe UI" pitchFamily="34" charset="-120"/>
              </a:rPr>
              <a:t>DELETE · eliminar</a:t>
            </a:r>
            <a:endParaRPr lang="en-US" sz="850" dirty="0"/>
          </a:p>
        </p:txBody>
      </p:sp>
      <p:sp>
        <p:nvSpPr>
          <p:cNvPr id="36" name="Text 34"/>
          <p:cNvSpPr txBox="1"/>
          <p:nvPr/>
        </p:nvSpPr>
        <p:spPr>
          <a:xfrm>
            <a:off x="3383280" y="3337560"/>
            <a:ext cx="2377440" cy="1170432"/>
          </a:xfrm>
          <a:prstGeom prst="rect">
            <a:avLst/>
          </a:prstGeom>
          <a:noFill/>
          <a:ln/>
        </p:spPr>
        <p:txBody>
          <a:bodyPr wrap="square" lIns="0" tIns="0" rIns="0" bIns="0" rtlCol="0" anchor="t"/>
          <a:lstStyle/>
          <a:p>
            <a:pPr marL="0" indent="0">
              <a:lnSpc>
                <a:spcPct val="100000"/>
              </a:lnSpc>
              <a:buNone/>
            </a:pPr>
            <a:r>
              <a:rPr lang="en-US" sz="780" b="1" dirty="0">
                <a:solidFill>
                  <a:srgbClr val="F5A800"/>
                </a:solidFill>
                <a:latin typeface="Consolas" pitchFamily="34" charset="0"/>
                <a:ea typeface="Consolas" pitchFamily="34" charset="-122"/>
                <a:cs typeface="Consolas" pitchFamily="34" charset="-120"/>
              </a:rPr>
              <a:t>DELETE</a:t>
            </a:r>
            <a:r>
              <a:rPr lang="en-US" sz="780" dirty="0">
                <a:solidFill>
                  <a:srgbClr val="DCE6F2"/>
                </a:solidFill>
                <a:latin typeface="Consolas" pitchFamily="34" charset="0"/>
                <a:ea typeface="Consolas" pitchFamily="34" charset="-122"/>
                <a:cs typeface="Consolas" pitchFamily="34" charset="-120"/>
              </a:rPr>
              <a:t> /b1s/v1/U_VS_CONFIG('001')</a:t>
            </a:r>
            <a:endParaRPr lang="en-US" sz="780" dirty="0"/>
          </a:p>
          <a:p>
            <a:pPr marL="0" indent="0">
              <a:lnSpc>
                <a:spcPct val="100000"/>
              </a:lnSpc>
              <a:buNone/>
            </a:pPr>
            <a:r>
              <a:rPr lang="en-US" sz="780" dirty="0">
                <a:solidFill>
                  <a:srgbClr val="DCE6F2"/>
                </a:solidFill>
                <a:latin typeface="Consolas" pitchFamily="34" charset="0"/>
                <a:ea typeface="Consolas" pitchFamily="34" charset="-122"/>
                <a:cs typeface="Consolas" pitchFamily="34" charset="-120"/>
              </a:rPr>
              <a:t> </a:t>
            </a:r>
            <a:endParaRPr lang="en-US" sz="780" dirty="0"/>
          </a:p>
          <a:p>
            <a:pPr marL="0" indent="0">
              <a:lnSpc>
                <a:spcPct val="100000"/>
              </a:lnSpc>
              <a:buNone/>
            </a:pPr>
            <a:r>
              <a:rPr lang="en-US" sz="780" i="1" dirty="0">
                <a:solidFill>
                  <a:srgbClr val="7D8FA8"/>
                </a:solidFill>
                <a:latin typeface="Consolas" pitchFamily="34" charset="0"/>
                <a:ea typeface="Consolas" pitchFamily="34" charset="-122"/>
                <a:cs typeface="Consolas" pitchFamily="34" charset="-120"/>
              </a:rPr>
              <a:t>// 204 No Content</a:t>
            </a:r>
            <a:endParaRPr lang="en-US" sz="780" dirty="0"/>
          </a:p>
          <a:p>
            <a:pPr marL="0" indent="0">
              <a:lnSpc>
                <a:spcPct val="100000"/>
              </a:lnSpc>
              <a:buNone/>
            </a:pPr>
            <a:r>
              <a:rPr lang="en-US" sz="780" i="1" dirty="0">
                <a:solidFill>
                  <a:srgbClr val="7D8FA8"/>
                </a:solidFill>
                <a:latin typeface="Consolas" pitchFamily="34" charset="0"/>
                <a:ea typeface="Consolas" pitchFamily="34" charset="-122"/>
                <a:cs typeface="Consolas" pitchFamily="34" charset="-120"/>
              </a:rPr>
              <a:t>// 404 si el Code no existe</a:t>
            </a:r>
            <a:endParaRPr lang="en-US" sz="780" dirty="0"/>
          </a:p>
        </p:txBody>
      </p:sp>
      <p:sp>
        <p:nvSpPr>
          <p:cNvPr id="37" name="Shape 35"/>
          <p:cNvSpPr/>
          <p:nvPr/>
        </p:nvSpPr>
        <p:spPr>
          <a:xfrm>
            <a:off x="6035040" y="3044952"/>
            <a:ext cx="2651760" cy="1536192"/>
          </a:xfrm>
          <a:prstGeom prst="roundRect">
            <a:avLst>
              <a:gd name="adj" fmla="val 4762"/>
            </a:avLst>
          </a:prstGeom>
          <a:solidFill>
            <a:srgbClr val="FFF8E6"/>
          </a:solidFill>
          <a:ln w="9525">
            <a:solidFill>
              <a:srgbClr val="D5DFEC"/>
            </a:solidFill>
            <a:prstDash val="solid"/>
          </a:ln>
          <a:effectLst>
            <a:outerShdw blurRad="101600" dist="25400" dir="5400000" algn="bl" rotWithShape="0">
              <a:srgbClr val="0B2A55">
                <a:alpha val="12000"/>
              </a:srgbClr>
            </a:outerShdw>
          </a:effectLst>
        </p:spPr>
      </p:sp>
      <p:sp>
        <p:nvSpPr>
          <p:cNvPr id="38" name="Text 36"/>
          <p:cNvSpPr txBox="1"/>
          <p:nvPr/>
        </p:nvSpPr>
        <p:spPr>
          <a:xfrm>
            <a:off x="6172200" y="3154680"/>
            <a:ext cx="2377440" cy="1316736"/>
          </a:xfrm>
          <a:prstGeom prst="rect">
            <a:avLst/>
          </a:prstGeom>
          <a:noFill/>
          <a:ln/>
        </p:spPr>
        <p:txBody>
          <a:bodyPr wrap="square" lIns="0" tIns="0" rIns="0" bIns="0" rtlCol="0" anchor="t"/>
          <a:lstStyle/>
          <a:p>
            <a:pPr marL="0" indent="0">
              <a:buNone/>
            </a:pPr>
            <a:r>
              <a:rPr lang="en-US" sz="1100" b="1" dirty="0">
                <a:solidFill>
                  <a:srgbClr val="071B3F"/>
                </a:solidFill>
                <a:latin typeface="Segoe UI" pitchFamily="34" charset="0"/>
                <a:ea typeface="Segoe UI" pitchFamily="34" charset="-122"/>
                <a:cs typeface="Segoe UI" pitchFamily="34" charset="-120"/>
              </a:rPr>
              <a:t>Claves a recordar</a:t>
            </a:r>
            <a:endParaRPr lang="en-US" sz="980" dirty="0"/>
          </a:p>
          <a:p>
            <a:pPr marL="342900" indent="-342900">
              <a:buSzPct val="100000"/>
              <a:buChar char="•"/>
            </a:pPr>
            <a:r>
              <a:rPr lang="en-US" sz="980" dirty="0">
                <a:solidFill>
                  <a:srgbClr val="1B2433"/>
                </a:solidFill>
                <a:latin typeface="Calibri" pitchFamily="34" charset="0"/>
                <a:ea typeface="Calibri" pitchFamily="34" charset="-122"/>
                <a:cs typeface="Calibri" pitchFamily="34" charset="-120"/>
              </a:rPr>
              <a:t>Code y Name son obligatorios y Code es la clave.</a:t>
            </a:r>
            <a:endParaRPr lang="en-US" sz="980" dirty="0"/>
          </a:p>
          <a:p>
            <a:pPr marL="342900" indent="-342900">
              <a:buSzPct val="100000"/>
              <a:buChar char="•"/>
            </a:pPr>
            <a:r>
              <a:rPr lang="en-US" sz="980" dirty="0">
                <a:solidFill>
                  <a:srgbClr val="1B2433"/>
                </a:solidFill>
                <a:latin typeface="Calibri" pitchFamily="34" charset="0"/>
                <a:ea typeface="Calibri" pitchFamily="34" charset="-122"/>
                <a:cs typeface="Calibri" pitchFamily="34" charset="-120"/>
              </a:rPr>
              <a:t>Solo tablas de tipo "sin objeto" se exponen como U_.</a:t>
            </a:r>
            <a:endParaRPr lang="en-US" sz="980" dirty="0"/>
          </a:p>
          <a:p>
            <a:pPr marL="342900" indent="-342900">
              <a:buSzPct val="100000"/>
              <a:buChar char="•"/>
            </a:pPr>
            <a:r>
              <a:rPr lang="en-US" sz="980" dirty="0">
                <a:solidFill>
                  <a:srgbClr val="1B2433"/>
                </a:solidFill>
                <a:latin typeface="Calibri" pitchFamily="34" charset="0"/>
                <a:ea typeface="Calibri" pitchFamily="34" charset="-122"/>
                <a:cs typeface="Calibri" pitchFamily="34" charset="-120"/>
              </a:rPr>
              <a:t>Tras crear tablas o campos, reinicia SL para verlos en $metadata.</a:t>
            </a:r>
            <a:endParaRPr lang="en-US" sz="980" dirty="0"/>
          </a:p>
        </p:txBody>
      </p:sp>
      <p:sp>
        <p:nvSpPr>
          <p:cNvPr id="39"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xmlns="" val="0"/>
            </a:ext>
          </a:extLst>
        </p:spPr>
        <p:txBody>
          <a:bodyPr/>
          <a:lstStyle>
            <a:lvl1pPr>
              <a:defRPr sz="800">
                <a:solidFill>
                  <a:srgbClr val="8A9AB0"/>
                </a:solidFill>
                <a:latin typeface="Calibri"/>
                <a:ea typeface="Calibri"/>
                <a:cs typeface="Calibri"/>
              </a:defRPr>
            </a:lvl1pPr>
          </a:lstStyle>
          <a:p>
            <a:pPr algn="r"/>
            <a:fld id="{F7021451-1387-4CA6-816F-3879F97B5CBC}" type="slidenum">
              <a:rPr lang="en-US" b="0"/>
              <a:t>34</a:t>
            </a:fld>
            <a:endParaRPr lang="en-US"/>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457200" y="256032"/>
            <a:ext cx="2505456" cy="237744"/>
          </a:xfrm>
          <a:prstGeom prst="roundRect">
            <a:avLst>
              <a:gd name="adj" fmla="val 50000"/>
            </a:avLst>
          </a:prstGeom>
          <a:solidFill>
            <a:srgbClr val="071B3F"/>
          </a:solidFill>
          <a:ln w="12700">
            <a:solidFill>
              <a:srgbClr val="071B3F"/>
            </a:solidFill>
            <a:prstDash val="solid"/>
          </a:ln>
        </p:spPr>
      </p:sp>
      <p:sp>
        <p:nvSpPr>
          <p:cNvPr id="3" name="Text 1"/>
          <p:cNvSpPr txBox="1"/>
          <p:nvPr/>
        </p:nvSpPr>
        <p:spPr>
          <a:xfrm>
            <a:off x="457200" y="256032"/>
            <a:ext cx="2505456" cy="237744"/>
          </a:xfrm>
          <a:prstGeom prst="rect">
            <a:avLst/>
          </a:prstGeom>
          <a:noFill/>
          <a:ln/>
        </p:spPr>
        <p:txBody>
          <a:bodyPr wrap="square" lIns="0" tIns="0" rIns="0" bIns="0" rtlCol="0" anchor="ctr"/>
          <a:lstStyle/>
          <a:p>
            <a:pPr marL="0" indent="0" algn="ctr">
              <a:buNone/>
            </a:pPr>
            <a:r>
              <a:rPr lang="en-US" sz="850" b="1" kern="0" spc="100" dirty="0">
                <a:solidFill>
                  <a:srgbClr val="F5A800"/>
                </a:solidFill>
                <a:latin typeface="Segoe UI" pitchFamily="34" charset="0"/>
                <a:ea typeface="Segoe UI" pitchFamily="34" charset="-122"/>
                <a:cs typeface="Segoe UI" pitchFamily="34" charset="-120"/>
              </a:rPr>
              <a:t>05  ·  FLUJOS DE OPERACIÓN III</a:t>
            </a:r>
            <a:endParaRPr lang="en-US" sz="850" dirty="0"/>
          </a:p>
        </p:txBody>
      </p:sp>
      <p:sp>
        <p:nvSpPr>
          <p:cNvPr id="4" name="Text 2"/>
          <p:cNvSpPr txBox="1"/>
          <p:nvPr/>
        </p:nvSpPr>
        <p:spPr>
          <a:xfrm>
            <a:off x="457200" y="566928"/>
            <a:ext cx="8229600" cy="502920"/>
          </a:xfrm>
          <a:prstGeom prst="rect">
            <a:avLst/>
          </a:prstGeom>
          <a:noFill/>
          <a:ln/>
        </p:spPr>
        <p:txBody>
          <a:bodyPr wrap="square" lIns="0" tIns="0" rIns="0" bIns="0" rtlCol="0" anchor="ctr"/>
          <a:lstStyle/>
          <a:p>
            <a:pPr marL="0" indent="0">
              <a:buNone/>
            </a:pPr>
            <a:r>
              <a:rPr lang="en-US" sz="2400" b="1" dirty="0">
                <a:solidFill>
                  <a:srgbClr val="071B3F"/>
                </a:solidFill>
                <a:latin typeface="Segoe UI" pitchFamily="34" charset="0"/>
                <a:ea typeface="Segoe UI" pitchFamily="34" charset="-122"/>
                <a:cs typeface="Segoe UI" pitchFamily="34" charset="-120"/>
              </a:rPr>
              <a:t>UDO: todos los métodos</a:t>
            </a:r>
            <a:endParaRPr lang="en-US" sz="2400" dirty="0"/>
          </a:p>
        </p:txBody>
      </p:sp>
      <p:sp>
        <p:nvSpPr>
          <p:cNvPr id="5" name="Text 3"/>
          <p:cNvSpPr txBox="1"/>
          <p:nvPr/>
        </p:nvSpPr>
        <p:spPr>
          <a:xfrm>
            <a:off x="457200" y="1051560"/>
            <a:ext cx="8229600" cy="274320"/>
          </a:xfrm>
          <a:prstGeom prst="rect">
            <a:avLst/>
          </a:prstGeom>
          <a:noFill/>
          <a:ln/>
        </p:spPr>
        <p:txBody>
          <a:bodyPr wrap="square" lIns="0" tIns="0" rIns="0" bIns="0" rtlCol="0" anchor="ctr"/>
          <a:lstStyle/>
          <a:p>
            <a:pPr marL="0" indent="0">
              <a:buNone/>
            </a:pPr>
            <a:r>
              <a:rPr lang="en-US" sz="1250" dirty="0">
                <a:solidFill>
                  <a:srgbClr val="5B6B82"/>
                </a:solidFill>
                <a:latin typeface="Calibri" pitchFamily="34" charset="0"/>
                <a:ea typeface="Calibri" pitchFamily="34" charset="-122"/>
                <a:cs typeface="Calibri" pitchFamily="34" charset="-120"/>
              </a:rPr>
              <a:t>Ejemplo: UDO maestro VSVEHICULO (cabecera @VS_OVEH, hija @VS_VEH1)</a:t>
            </a:r>
            <a:endParaRPr lang="en-US" sz="1250" dirty="0"/>
          </a:p>
        </p:txBody>
      </p:sp>
      <p:sp>
        <p:nvSpPr>
          <p:cNvPr id="6" name="Text 4"/>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00" dirty="0">
                <a:solidFill>
                  <a:srgbClr val="8A9AB0"/>
                </a:solidFill>
                <a:latin typeface="Calibri" pitchFamily="34" charset="0"/>
                <a:ea typeface="Calibri" pitchFamily="34" charset="-122"/>
                <a:cs typeface="Calibri" pitchFamily="34" charset="-120"/>
              </a:rPr>
              <a:t>Ventura Soluciones  |  SAP Business One · Service Layer</a:t>
            </a:r>
            <a:endParaRPr lang="en-US" sz="800" dirty="0"/>
          </a:p>
        </p:txBody>
      </p:sp>
      <p:sp>
        <p:nvSpPr>
          <p:cNvPr id="7" name="Shape 5"/>
          <p:cNvSpPr/>
          <p:nvPr/>
        </p:nvSpPr>
        <p:spPr>
          <a:xfrm>
            <a:off x="457200" y="1371600"/>
            <a:ext cx="2651760" cy="1536192"/>
          </a:xfrm>
          <a:prstGeom prst="roundRect">
            <a:avLst>
              <a:gd name="adj" fmla="val 4167"/>
            </a:avLst>
          </a:prstGeom>
          <a:solidFill>
            <a:srgbClr val="0E1B2E"/>
          </a:solidFill>
          <a:ln w="12700">
            <a:solidFill>
              <a:srgbClr val="0E1B2E"/>
            </a:solidFill>
            <a:prstDash val="solid"/>
          </a:ln>
          <a:effectLst>
            <a:outerShdw blurRad="101600" dist="25400" dir="5400000" algn="bl" rotWithShape="0">
              <a:srgbClr val="0B2A55">
                <a:alpha val="12000"/>
              </a:srgbClr>
            </a:outerShdw>
          </a:effectLst>
        </p:spPr>
      </p:sp>
      <p:sp>
        <p:nvSpPr>
          <p:cNvPr id="8" name="Shape 6"/>
          <p:cNvSpPr/>
          <p:nvPr/>
        </p:nvSpPr>
        <p:spPr>
          <a:xfrm>
            <a:off x="594360" y="1481328"/>
            <a:ext cx="73152" cy="73152"/>
          </a:xfrm>
          <a:prstGeom prst="ellipse">
            <a:avLst/>
          </a:prstGeom>
          <a:solidFill>
            <a:srgbClr val="FF5F56"/>
          </a:solidFill>
          <a:ln w="12700">
            <a:solidFill>
              <a:srgbClr val="FF5F56"/>
            </a:solidFill>
            <a:prstDash val="solid"/>
          </a:ln>
        </p:spPr>
      </p:sp>
      <p:sp>
        <p:nvSpPr>
          <p:cNvPr id="9" name="Shape 7"/>
          <p:cNvSpPr/>
          <p:nvPr/>
        </p:nvSpPr>
        <p:spPr>
          <a:xfrm>
            <a:off x="722376" y="1481328"/>
            <a:ext cx="73152" cy="73152"/>
          </a:xfrm>
          <a:prstGeom prst="ellipse">
            <a:avLst/>
          </a:prstGeom>
          <a:solidFill>
            <a:srgbClr val="FFBD2E"/>
          </a:solidFill>
          <a:ln w="12700">
            <a:solidFill>
              <a:srgbClr val="FFBD2E"/>
            </a:solidFill>
            <a:prstDash val="solid"/>
          </a:ln>
        </p:spPr>
      </p:sp>
      <p:sp>
        <p:nvSpPr>
          <p:cNvPr id="10" name="Shape 8"/>
          <p:cNvSpPr/>
          <p:nvPr/>
        </p:nvSpPr>
        <p:spPr>
          <a:xfrm>
            <a:off x="850392" y="1481328"/>
            <a:ext cx="73152" cy="73152"/>
          </a:xfrm>
          <a:prstGeom prst="ellipse">
            <a:avLst/>
          </a:prstGeom>
          <a:solidFill>
            <a:srgbClr val="27C93F"/>
          </a:solidFill>
          <a:ln w="12700">
            <a:solidFill>
              <a:srgbClr val="27C93F"/>
            </a:solidFill>
            <a:prstDash val="solid"/>
          </a:ln>
        </p:spPr>
      </p:sp>
      <p:sp>
        <p:nvSpPr>
          <p:cNvPr id="11" name="Text 9"/>
          <p:cNvSpPr txBox="1"/>
          <p:nvPr/>
        </p:nvSpPr>
        <p:spPr>
          <a:xfrm>
            <a:off x="1024128" y="1426464"/>
            <a:ext cx="1965960" cy="182880"/>
          </a:xfrm>
          <a:prstGeom prst="rect">
            <a:avLst/>
          </a:prstGeom>
          <a:noFill/>
          <a:ln/>
        </p:spPr>
        <p:txBody>
          <a:bodyPr wrap="square" lIns="0" tIns="0" rIns="0" bIns="0" rtlCol="0" anchor="ctr"/>
          <a:lstStyle/>
          <a:p>
            <a:pPr marL="0" indent="0">
              <a:buNone/>
            </a:pPr>
            <a:r>
              <a:rPr lang="en-US" sz="850" b="1" dirty="0">
                <a:solidFill>
                  <a:srgbClr val="F5A800"/>
                </a:solidFill>
                <a:latin typeface="Segoe UI" pitchFamily="34" charset="0"/>
                <a:ea typeface="Segoe UI" pitchFamily="34" charset="-122"/>
                <a:cs typeface="Segoe UI" pitchFamily="34" charset="-120"/>
              </a:rPr>
              <a:t>POST · crear con hijas</a:t>
            </a:r>
            <a:endParaRPr lang="en-US" sz="850" dirty="0"/>
          </a:p>
        </p:txBody>
      </p:sp>
      <p:sp>
        <p:nvSpPr>
          <p:cNvPr id="12" name="Text 10"/>
          <p:cNvSpPr txBox="1"/>
          <p:nvPr/>
        </p:nvSpPr>
        <p:spPr>
          <a:xfrm>
            <a:off x="594360" y="1664208"/>
            <a:ext cx="2377440" cy="1170432"/>
          </a:xfrm>
          <a:prstGeom prst="rect">
            <a:avLst/>
          </a:prstGeom>
          <a:noFill/>
          <a:ln/>
        </p:spPr>
        <p:txBody>
          <a:bodyPr wrap="square" lIns="0" tIns="0" rIns="0" bIns="0" rtlCol="0" anchor="t"/>
          <a:lstStyle/>
          <a:p>
            <a:pPr marL="0" indent="0">
              <a:lnSpc>
                <a:spcPct val="100000"/>
              </a:lnSpc>
              <a:buNone/>
            </a:pPr>
            <a:r>
              <a:rPr lang="en-US" sz="780" b="1" dirty="0">
                <a:solidFill>
                  <a:srgbClr val="F5A800"/>
                </a:solidFill>
                <a:latin typeface="Consolas" pitchFamily="34" charset="0"/>
                <a:ea typeface="Consolas" pitchFamily="34" charset="-122"/>
                <a:cs typeface="Consolas" pitchFamily="34" charset="-120"/>
              </a:rPr>
              <a:t>POST</a:t>
            </a:r>
            <a:r>
              <a:rPr lang="en-US" sz="780" dirty="0">
                <a:solidFill>
                  <a:srgbClr val="DCE6F2"/>
                </a:solidFill>
                <a:latin typeface="Consolas" pitchFamily="34" charset="0"/>
                <a:ea typeface="Consolas" pitchFamily="34" charset="-122"/>
                <a:cs typeface="Consolas" pitchFamily="34" charset="-120"/>
              </a:rPr>
              <a:t> /b1s/v1/VSVEHICULO</a:t>
            </a:r>
            <a:endParaRPr lang="en-US" sz="780" dirty="0"/>
          </a:p>
          <a:p>
            <a:pPr marL="0" indent="0">
              <a:lnSpc>
                <a:spcPct val="100000"/>
              </a:lnSpc>
              <a:buNone/>
            </a:pPr>
            <a:r>
              <a:rPr lang="en-US" sz="780" dirty="0">
                <a:solidFill>
                  <a:srgbClr val="DCE6F2"/>
                </a:solidFill>
                <a:latin typeface="Consolas" pitchFamily="34" charset="0"/>
                <a:ea typeface="Consolas" pitchFamily="34" charset="-122"/>
                <a:cs typeface="Consolas" pitchFamily="34" charset="-120"/>
              </a:rPr>
              <a:t>{</a:t>
            </a:r>
            <a:endParaRPr lang="en-US" sz="780" dirty="0"/>
          </a:p>
          <a:p>
            <a:pPr marL="0" indent="0">
              <a:lnSpc>
                <a:spcPct val="100000"/>
              </a:lnSpc>
              <a:buNone/>
            </a:pPr>
            <a:r>
              <a:rPr lang="en-US" sz="780" dirty="0">
                <a:solidFill>
                  <a:srgbClr val="DCE6F2"/>
                </a:solidFill>
                <a:latin typeface="Consolas" pitchFamily="34" charset="0"/>
                <a:ea typeface="Consolas" pitchFamily="34" charset="-122"/>
                <a:cs typeface="Consolas" pitchFamily="34" charset="-120"/>
              </a:rPr>
              <a:t>  </a:t>
            </a:r>
            <a:r>
              <a:rPr lang="en-US" sz="780" dirty="0">
                <a:solidFill>
                  <a:srgbClr val="7FD1FF"/>
                </a:solidFill>
                <a:latin typeface="Consolas" pitchFamily="34" charset="0"/>
                <a:ea typeface="Consolas" pitchFamily="34" charset="-122"/>
                <a:cs typeface="Consolas" pitchFamily="34" charset="-120"/>
              </a:rPr>
              <a:t>"Code"</a:t>
            </a:r>
            <a:r>
              <a:rPr lang="en-US" sz="780" dirty="0">
                <a:solidFill>
                  <a:srgbClr val="DCE6F2"/>
                </a:solidFill>
                <a:latin typeface="Consolas" pitchFamily="34" charset="0"/>
                <a:ea typeface="Consolas" pitchFamily="34" charset="-122"/>
                <a:cs typeface="Consolas" pitchFamily="34" charset="-120"/>
              </a:rPr>
              <a:t>: </a:t>
            </a:r>
            <a:r>
              <a:rPr lang="en-US" sz="780" dirty="0">
                <a:solidFill>
                  <a:srgbClr val="B5E48C"/>
                </a:solidFill>
                <a:latin typeface="Consolas" pitchFamily="34" charset="0"/>
                <a:ea typeface="Consolas" pitchFamily="34" charset="-122"/>
                <a:cs typeface="Consolas" pitchFamily="34" charset="-120"/>
              </a:rPr>
              <a:t>"V001"</a:t>
            </a:r>
            <a:r>
              <a:rPr lang="en-US" sz="780" dirty="0">
                <a:solidFill>
                  <a:srgbClr val="DCE6F2"/>
                </a:solidFill>
                <a:latin typeface="Consolas" pitchFamily="34" charset="0"/>
                <a:ea typeface="Consolas" pitchFamily="34" charset="-122"/>
                <a:cs typeface="Consolas" pitchFamily="34" charset="-120"/>
              </a:rPr>
              <a:t>,</a:t>
            </a:r>
            <a:endParaRPr lang="en-US" sz="780" dirty="0"/>
          </a:p>
          <a:p>
            <a:pPr marL="0" indent="0">
              <a:lnSpc>
                <a:spcPct val="100000"/>
              </a:lnSpc>
              <a:buNone/>
            </a:pPr>
            <a:r>
              <a:rPr lang="en-US" sz="780" dirty="0">
                <a:solidFill>
                  <a:srgbClr val="DCE6F2"/>
                </a:solidFill>
                <a:latin typeface="Consolas" pitchFamily="34" charset="0"/>
                <a:ea typeface="Consolas" pitchFamily="34" charset="-122"/>
                <a:cs typeface="Consolas" pitchFamily="34" charset="-120"/>
              </a:rPr>
              <a:t>  </a:t>
            </a:r>
            <a:r>
              <a:rPr lang="en-US" sz="780" dirty="0">
                <a:solidFill>
                  <a:srgbClr val="7FD1FF"/>
                </a:solidFill>
                <a:latin typeface="Consolas" pitchFamily="34" charset="0"/>
                <a:ea typeface="Consolas" pitchFamily="34" charset="-122"/>
                <a:cs typeface="Consolas" pitchFamily="34" charset="-120"/>
              </a:rPr>
              <a:t>"Name"</a:t>
            </a:r>
            <a:r>
              <a:rPr lang="en-US" sz="780" dirty="0">
                <a:solidFill>
                  <a:srgbClr val="DCE6F2"/>
                </a:solidFill>
                <a:latin typeface="Consolas" pitchFamily="34" charset="0"/>
                <a:ea typeface="Consolas" pitchFamily="34" charset="-122"/>
                <a:cs typeface="Consolas" pitchFamily="34" charset="-120"/>
              </a:rPr>
              <a:t>: </a:t>
            </a:r>
            <a:r>
              <a:rPr lang="en-US" sz="780" dirty="0">
                <a:solidFill>
                  <a:srgbClr val="B5E48C"/>
                </a:solidFill>
                <a:latin typeface="Consolas" pitchFamily="34" charset="0"/>
                <a:ea typeface="Consolas" pitchFamily="34" charset="-122"/>
                <a:cs typeface="Consolas" pitchFamily="34" charset="-120"/>
              </a:rPr>
              <a:t>"Camión Volvo FH"</a:t>
            </a:r>
            <a:r>
              <a:rPr lang="en-US" sz="780" dirty="0">
                <a:solidFill>
                  <a:srgbClr val="DCE6F2"/>
                </a:solidFill>
                <a:latin typeface="Consolas" pitchFamily="34" charset="0"/>
                <a:ea typeface="Consolas" pitchFamily="34" charset="-122"/>
                <a:cs typeface="Consolas" pitchFamily="34" charset="-120"/>
              </a:rPr>
              <a:t>,</a:t>
            </a:r>
            <a:endParaRPr lang="en-US" sz="780" dirty="0"/>
          </a:p>
          <a:p>
            <a:pPr marL="0" indent="0">
              <a:lnSpc>
                <a:spcPct val="100000"/>
              </a:lnSpc>
              <a:buNone/>
            </a:pPr>
            <a:r>
              <a:rPr lang="en-US" sz="780" dirty="0">
                <a:solidFill>
                  <a:srgbClr val="DCE6F2"/>
                </a:solidFill>
                <a:latin typeface="Consolas" pitchFamily="34" charset="0"/>
                <a:ea typeface="Consolas" pitchFamily="34" charset="-122"/>
                <a:cs typeface="Consolas" pitchFamily="34" charset="-120"/>
              </a:rPr>
              <a:t>  </a:t>
            </a:r>
            <a:r>
              <a:rPr lang="en-US" sz="780" dirty="0">
                <a:solidFill>
                  <a:srgbClr val="7FD1FF"/>
                </a:solidFill>
                <a:latin typeface="Consolas" pitchFamily="34" charset="0"/>
                <a:ea typeface="Consolas" pitchFamily="34" charset="-122"/>
                <a:cs typeface="Consolas" pitchFamily="34" charset="-120"/>
              </a:rPr>
              <a:t>"U_Placa"</a:t>
            </a:r>
            <a:r>
              <a:rPr lang="en-US" sz="780" dirty="0">
                <a:solidFill>
                  <a:srgbClr val="DCE6F2"/>
                </a:solidFill>
                <a:latin typeface="Consolas" pitchFamily="34" charset="0"/>
                <a:ea typeface="Consolas" pitchFamily="34" charset="-122"/>
                <a:cs typeface="Consolas" pitchFamily="34" charset="-120"/>
              </a:rPr>
              <a:t>: </a:t>
            </a:r>
            <a:r>
              <a:rPr lang="en-US" sz="780" dirty="0">
                <a:solidFill>
                  <a:srgbClr val="B5E48C"/>
                </a:solidFill>
                <a:latin typeface="Consolas" pitchFamily="34" charset="0"/>
                <a:ea typeface="Consolas" pitchFamily="34" charset="-122"/>
                <a:cs typeface="Consolas" pitchFamily="34" charset="-120"/>
              </a:rPr>
              <a:t>"ABC-123"</a:t>
            </a:r>
            <a:r>
              <a:rPr lang="en-US" sz="780" dirty="0">
                <a:solidFill>
                  <a:srgbClr val="DCE6F2"/>
                </a:solidFill>
                <a:latin typeface="Consolas" pitchFamily="34" charset="0"/>
                <a:ea typeface="Consolas" pitchFamily="34" charset="-122"/>
                <a:cs typeface="Consolas" pitchFamily="34" charset="-120"/>
              </a:rPr>
              <a:t>,</a:t>
            </a:r>
            <a:endParaRPr lang="en-US" sz="780" dirty="0"/>
          </a:p>
          <a:p>
            <a:pPr marL="0" indent="0">
              <a:lnSpc>
                <a:spcPct val="100000"/>
              </a:lnSpc>
              <a:buNone/>
            </a:pPr>
            <a:r>
              <a:rPr lang="en-US" sz="780" dirty="0">
                <a:solidFill>
                  <a:srgbClr val="DCE6F2"/>
                </a:solidFill>
                <a:latin typeface="Consolas" pitchFamily="34" charset="0"/>
                <a:ea typeface="Consolas" pitchFamily="34" charset="-122"/>
                <a:cs typeface="Consolas" pitchFamily="34" charset="-120"/>
              </a:rPr>
              <a:t>  </a:t>
            </a:r>
            <a:r>
              <a:rPr lang="en-US" sz="780" dirty="0">
                <a:solidFill>
                  <a:srgbClr val="7FD1FF"/>
                </a:solidFill>
                <a:latin typeface="Consolas" pitchFamily="34" charset="0"/>
                <a:ea typeface="Consolas" pitchFamily="34" charset="-122"/>
                <a:cs typeface="Consolas" pitchFamily="34" charset="-120"/>
              </a:rPr>
              <a:t>"VS_VEH1Collection"</a:t>
            </a:r>
            <a:r>
              <a:rPr lang="en-US" sz="780" dirty="0">
                <a:solidFill>
                  <a:srgbClr val="DCE6F2"/>
                </a:solidFill>
                <a:latin typeface="Consolas" pitchFamily="34" charset="0"/>
                <a:ea typeface="Consolas" pitchFamily="34" charset="-122"/>
                <a:cs typeface="Consolas" pitchFamily="34" charset="-120"/>
              </a:rPr>
              <a:t>: [</a:t>
            </a:r>
            <a:endParaRPr lang="en-US" sz="780" dirty="0"/>
          </a:p>
          <a:p>
            <a:pPr marL="0" indent="0">
              <a:lnSpc>
                <a:spcPct val="100000"/>
              </a:lnSpc>
              <a:buNone/>
            </a:pPr>
            <a:r>
              <a:rPr lang="en-US" sz="780" dirty="0">
                <a:solidFill>
                  <a:srgbClr val="DCE6F2"/>
                </a:solidFill>
                <a:latin typeface="Consolas" pitchFamily="34" charset="0"/>
                <a:ea typeface="Consolas" pitchFamily="34" charset="-122"/>
                <a:cs typeface="Consolas" pitchFamily="34" charset="-120"/>
              </a:rPr>
              <a:t>    {</a:t>
            </a:r>
            <a:r>
              <a:rPr lang="en-US" sz="780" dirty="0">
                <a:solidFill>
                  <a:srgbClr val="7FD1FF"/>
                </a:solidFill>
                <a:latin typeface="Consolas" pitchFamily="34" charset="0"/>
                <a:ea typeface="Consolas" pitchFamily="34" charset="-122"/>
                <a:cs typeface="Consolas" pitchFamily="34" charset="-120"/>
              </a:rPr>
              <a:t>"U_TipoDoc"</a:t>
            </a:r>
            <a:r>
              <a:rPr lang="en-US" sz="780" dirty="0">
                <a:solidFill>
                  <a:srgbClr val="DCE6F2"/>
                </a:solidFill>
                <a:latin typeface="Consolas" pitchFamily="34" charset="0"/>
                <a:ea typeface="Consolas" pitchFamily="34" charset="-122"/>
                <a:cs typeface="Consolas" pitchFamily="34" charset="-120"/>
              </a:rPr>
              <a:t>: </a:t>
            </a:r>
            <a:r>
              <a:rPr lang="en-US" sz="780" dirty="0">
                <a:solidFill>
                  <a:srgbClr val="B5E48C"/>
                </a:solidFill>
                <a:latin typeface="Consolas" pitchFamily="34" charset="0"/>
                <a:ea typeface="Consolas" pitchFamily="34" charset="-122"/>
                <a:cs typeface="Consolas" pitchFamily="34" charset="-120"/>
              </a:rPr>
              <a:t>"SOAT"</a:t>
            </a:r>
            <a:r>
              <a:rPr lang="en-US" sz="780" dirty="0">
                <a:solidFill>
                  <a:srgbClr val="DCE6F2"/>
                </a:solidFill>
                <a:latin typeface="Consolas" pitchFamily="34" charset="0"/>
                <a:ea typeface="Consolas" pitchFamily="34" charset="-122"/>
                <a:cs typeface="Consolas" pitchFamily="34" charset="-120"/>
              </a:rPr>
              <a:t>,</a:t>
            </a:r>
            <a:endParaRPr lang="en-US" sz="780" dirty="0"/>
          </a:p>
          <a:p>
            <a:pPr marL="0" indent="0">
              <a:lnSpc>
                <a:spcPct val="100000"/>
              </a:lnSpc>
              <a:buNone/>
            </a:pPr>
            <a:r>
              <a:rPr lang="en-US" sz="780" dirty="0">
                <a:solidFill>
                  <a:srgbClr val="DCE6F2"/>
                </a:solidFill>
                <a:latin typeface="Consolas" pitchFamily="34" charset="0"/>
                <a:ea typeface="Consolas" pitchFamily="34" charset="-122"/>
                <a:cs typeface="Consolas" pitchFamily="34" charset="-120"/>
              </a:rPr>
              <a:t>     </a:t>
            </a:r>
            <a:r>
              <a:rPr lang="en-US" sz="780" dirty="0">
                <a:solidFill>
                  <a:srgbClr val="7FD1FF"/>
                </a:solidFill>
                <a:latin typeface="Consolas" pitchFamily="34" charset="0"/>
                <a:ea typeface="Consolas" pitchFamily="34" charset="-122"/>
                <a:cs typeface="Consolas" pitchFamily="34" charset="-120"/>
              </a:rPr>
              <a:t>"U_Vence"</a:t>
            </a:r>
            <a:r>
              <a:rPr lang="en-US" sz="780" dirty="0">
                <a:solidFill>
                  <a:srgbClr val="DCE6F2"/>
                </a:solidFill>
                <a:latin typeface="Consolas" pitchFamily="34" charset="0"/>
                <a:ea typeface="Consolas" pitchFamily="34" charset="-122"/>
                <a:cs typeface="Consolas" pitchFamily="34" charset="-120"/>
              </a:rPr>
              <a:t>: </a:t>
            </a:r>
            <a:r>
              <a:rPr lang="en-US" sz="780" dirty="0">
                <a:solidFill>
                  <a:srgbClr val="B5E48C"/>
                </a:solidFill>
                <a:latin typeface="Consolas" pitchFamily="34" charset="0"/>
                <a:ea typeface="Consolas" pitchFamily="34" charset="-122"/>
                <a:cs typeface="Consolas" pitchFamily="34" charset="-120"/>
              </a:rPr>
              <a:t>"2027-01-31"</a:t>
            </a:r>
            <a:r>
              <a:rPr lang="en-US" sz="780" dirty="0">
                <a:solidFill>
                  <a:srgbClr val="DCE6F2"/>
                </a:solidFill>
                <a:latin typeface="Consolas" pitchFamily="34" charset="0"/>
                <a:ea typeface="Consolas" pitchFamily="34" charset="-122"/>
                <a:cs typeface="Consolas" pitchFamily="34" charset="-120"/>
              </a:rPr>
              <a:t>}]</a:t>
            </a:r>
            <a:endParaRPr lang="en-US" sz="780" dirty="0"/>
          </a:p>
          <a:p>
            <a:pPr marL="0" indent="0">
              <a:lnSpc>
                <a:spcPct val="100000"/>
              </a:lnSpc>
              <a:buNone/>
            </a:pPr>
            <a:r>
              <a:rPr lang="en-US" sz="780" dirty="0">
                <a:solidFill>
                  <a:srgbClr val="DCE6F2"/>
                </a:solidFill>
                <a:latin typeface="Consolas" pitchFamily="34" charset="0"/>
                <a:ea typeface="Consolas" pitchFamily="34" charset="-122"/>
                <a:cs typeface="Consolas" pitchFamily="34" charset="-120"/>
              </a:rPr>
              <a:t>}</a:t>
            </a:r>
            <a:endParaRPr lang="en-US" sz="780" dirty="0"/>
          </a:p>
        </p:txBody>
      </p:sp>
      <p:sp>
        <p:nvSpPr>
          <p:cNvPr id="13" name="Shape 11"/>
          <p:cNvSpPr/>
          <p:nvPr/>
        </p:nvSpPr>
        <p:spPr>
          <a:xfrm>
            <a:off x="3246120" y="1371600"/>
            <a:ext cx="2651760" cy="1536192"/>
          </a:xfrm>
          <a:prstGeom prst="roundRect">
            <a:avLst>
              <a:gd name="adj" fmla="val 4167"/>
            </a:avLst>
          </a:prstGeom>
          <a:solidFill>
            <a:srgbClr val="0E1B2E"/>
          </a:solidFill>
          <a:ln w="12700">
            <a:solidFill>
              <a:srgbClr val="0E1B2E"/>
            </a:solidFill>
            <a:prstDash val="solid"/>
          </a:ln>
          <a:effectLst>
            <a:outerShdw blurRad="101600" dist="25400" dir="5400000" algn="bl" rotWithShape="0">
              <a:srgbClr val="0B2A55">
                <a:alpha val="12000"/>
              </a:srgbClr>
            </a:outerShdw>
          </a:effectLst>
        </p:spPr>
      </p:sp>
      <p:sp>
        <p:nvSpPr>
          <p:cNvPr id="14" name="Shape 12"/>
          <p:cNvSpPr/>
          <p:nvPr/>
        </p:nvSpPr>
        <p:spPr>
          <a:xfrm>
            <a:off x="3383280" y="1481328"/>
            <a:ext cx="73152" cy="73152"/>
          </a:xfrm>
          <a:prstGeom prst="ellipse">
            <a:avLst/>
          </a:prstGeom>
          <a:solidFill>
            <a:srgbClr val="FF5F56"/>
          </a:solidFill>
          <a:ln w="12700">
            <a:solidFill>
              <a:srgbClr val="FF5F56"/>
            </a:solidFill>
            <a:prstDash val="solid"/>
          </a:ln>
        </p:spPr>
      </p:sp>
      <p:sp>
        <p:nvSpPr>
          <p:cNvPr id="15" name="Shape 13"/>
          <p:cNvSpPr/>
          <p:nvPr/>
        </p:nvSpPr>
        <p:spPr>
          <a:xfrm>
            <a:off x="3511296" y="1481328"/>
            <a:ext cx="73152" cy="73152"/>
          </a:xfrm>
          <a:prstGeom prst="ellipse">
            <a:avLst/>
          </a:prstGeom>
          <a:solidFill>
            <a:srgbClr val="FFBD2E"/>
          </a:solidFill>
          <a:ln w="12700">
            <a:solidFill>
              <a:srgbClr val="FFBD2E"/>
            </a:solidFill>
            <a:prstDash val="solid"/>
          </a:ln>
        </p:spPr>
      </p:sp>
      <p:sp>
        <p:nvSpPr>
          <p:cNvPr id="16" name="Shape 14"/>
          <p:cNvSpPr/>
          <p:nvPr/>
        </p:nvSpPr>
        <p:spPr>
          <a:xfrm>
            <a:off x="3639312" y="1481328"/>
            <a:ext cx="73152" cy="73152"/>
          </a:xfrm>
          <a:prstGeom prst="ellipse">
            <a:avLst/>
          </a:prstGeom>
          <a:solidFill>
            <a:srgbClr val="27C93F"/>
          </a:solidFill>
          <a:ln w="12700">
            <a:solidFill>
              <a:srgbClr val="27C93F"/>
            </a:solidFill>
            <a:prstDash val="solid"/>
          </a:ln>
        </p:spPr>
      </p:sp>
      <p:sp>
        <p:nvSpPr>
          <p:cNvPr id="17" name="Text 15"/>
          <p:cNvSpPr txBox="1"/>
          <p:nvPr/>
        </p:nvSpPr>
        <p:spPr>
          <a:xfrm>
            <a:off x="3813048" y="1426464"/>
            <a:ext cx="1965960" cy="182880"/>
          </a:xfrm>
          <a:prstGeom prst="rect">
            <a:avLst/>
          </a:prstGeom>
          <a:noFill/>
          <a:ln/>
        </p:spPr>
        <p:txBody>
          <a:bodyPr wrap="square" lIns="0" tIns="0" rIns="0" bIns="0" rtlCol="0" anchor="ctr"/>
          <a:lstStyle/>
          <a:p>
            <a:pPr marL="0" indent="0">
              <a:buNone/>
            </a:pPr>
            <a:r>
              <a:rPr lang="en-US" sz="850" b="1" dirty="0">
                <a:solidFill>
                  <a:srgbClr val="F5A800"/>
                </a:solidFill>
                <a:latin typeface="Segoe UI" pitchFamily="34" charset="0"/>
                <a:ea typeface="Segoe UI" pitchFamily="34" charset="-122"/>
                <a:cs typeface="Segoe UI" pitchFamily="34" charset="-120"/>
              </a:rPr>
              <a:t>GET · leer</a:t>
            </a:r>
            <a:endParaRPr lang="en-US" sz="850" dirty="0"/>
          </a:p>
        </p:txBody>
      </p:sp>
      <p:sp>
        <p:nvSpPr>
          <p:cNvPr id="18" name="Text 16"/>
          <p:cNvSpPr txBox="1"/>
          <p:nvPr/>
        </p:nvSpPr>
        <p:spPr>
          <a:xfrm>
            <a:off x="3383280" y="1664208"/>
            <a:ext cx="2377440" cy="1170432"/>
          </a:xfrm>
          <a:prstGeom prst="rect">
            <a:avLst/>
          </a:prstGeom>
          <a:noFill/>
          <a:ln/>
        </p:spPr>
        <p:txBody>
          <a:bodyPr wrap="square" lIns="0" tIns="0" rIns="0" bIns="0" rtlCol="0" anchor="t"/>
          <a:lstStyle/>
          <a:p>
            <a:pPr marL="0" indent="0">
              <a:lnSpc>
                <a:spcPct val="100000"/>
              </a:lnSpc>
              <a:buNone/>
            </a:pPr>
            <a:r>
              <a:rPr lang="en-US" sz="780" b="1" dirty="0">
                <a:solidFill>
                  <a:srgbClr val="F5A800"/>
                </a:solidFill>
                <a:latin typeface="Consolas" pitchFamily="34" charset="0"/>
                <a:ea typeface="Consolas" pitchFamily="34" charset="-122"/>
                <a:cs typeface="Consolas" pitchFamily="34" charset="-120"/>
              </a:rPr>
              <a:t>GET</a:t>
            </a:r>
            <a:r>
              <a:rPr lang="en-US" sz="780" dirty="0">
                <a:solidFill>
                  <a:srgbClr val="DCE6F2"/>
                </a:solidFill>
                <a:latin typeface="Consolas" pitchFamily="34" charset="0"/>
                <a:ea typeface="Consolas" pitchFamily="34" charset="-122"/>
                <a:cs typeface="Consolas" pitchFamily="34" charset="-120"/>
              </a:rPr>
              <a:t> /b1s/v1/VSVEHICULO('V001')</a:t>
            </a:r>
            <a:endParaRPr lang="en-US" sz="780" dirty="0"/>
          </a:p>
          <a:p>
            <a:pPr marL="0" indent="0">
              <a:lnSpc>
                <a:spcPct val="100000"/>
              </a:lnSpc>
              <a:buNone/>
            </a:pPr>
            <a:r>
              <a:rPr lang="en-US" sz="780" dirty="0">
                <a:solidFill>
                  <a:srgbClr val="DCE6F2"/>
                </a:solidFill>
                <a:latin typeface="Consolas" pitchFamily="34" charset="0"/>
                <a:ea typeface="Consolas" pitchFamily="34" charset="-122"/>
                <a:cs typeface="Consolas" pitchFamily="34" charset="-120"/>
              </a:rPr>
              <a:t> </a:t>
            </a:r>
            <a:endParaRPr lang="en-US" sz="780" dirty="0"/>
          </a:p>
          <a:p>
            <a:pPr marL="0" indent="0">
              <a:lnSpc>
                <a:spcPct val="100000"/>
              </a:lnSpc>
              <a:buNone/>
            </a:pPr>
            <a:r>
              <a:rPr lang="en-US" sz="780" b="1" dirty="0">
                <a:solidFill>
                  <a:srgbClr val="F5A800"/>
                </a:solidFill>
                <a:latin typeface="Consolas" pitchFamily="34" charset="0"/>
                <a:ea typeface="Consolas" pitchFamily="34" charset="-122"/>
                <a:cs typeface="Consolas" pitchFamily="34" charset="-120"/>
              </a:rPr>
              <a:t>GET</a:t>
            </a:r>
            <a:r>
              <a:rPr lang="en-US" sz="780" dirty="0">
                <a:solidFill>
                  <a:srgbClr val="DCE6F2"/>
                </a:solidFill>
                <a:latin typeface="Consolas" pitchFamily="34" charset="0"/>
                <a:ea typeface="Consolas" pitchFamily="34" charset="-122"/>
                <a:cs typeface="Consolas" pitchFamily="34" charset="-120"/>
              </a:rPr>
              <a:t> /b1s/v1/VSVEHICULO</a:t>
            </a:r>
            <a:endParaRPr lang="en-US" sz="780" dirty="0"/>
          </a:p>
          <a:p>
            <a:pPr marL="0" indent="0">
              <a:lnSpc>
                <a:spcPct val="100000"/>
              </a:lnSpc>
              <a:buNone/>
            </a:pPr>
            <a:r>
              <a:rPr lang="en-US" sz="780" dirty="0">
                <a:solidFill>
                  <a:srgbClr val="DCE6F2"/>
                </a:solidFill>
                <a:latin typeface="Consolas" pitchFamily="34" charset="0"/>
                <a:ea typeface="Consolas" pitchFamily="34" charset="-122"/>
                <a:cs typeface="Consolas" pitchFamily="34" charset="-120"/>
              </a:rPr>
              <a:t>  ?$select=Code,U_Placa</a:t>
            </a:r>
            <a:endParaRPr lang="en-US" sz="780" dirty="0"/>
          </a:p>
          <a:p>
            <a:pPr marL="0" indent="0">
              <a:lnSpc>
                <a:spcPct val="100000"/>
              </a:lnSpc>
              <a:buNone/>
            </a:pPr>
            <a:r>
              <a:rPr lang="en-US" sz="780" dirty="0">
                <a:solidFill>
                  <a:srgbClr val="DCE6F2"/>
                </a:solidFill>
                <a:latin typeface="Consolas" pitchFamily="34" charset="0"/>
                <a:ea typeface="Consolas" pitchFamily="34" charset="-122"/>
                <a:cs typeface="Consolas" pitchFamily="34" charset="-120"/>
              </a:rPr>
              <a:t>  &amp;$filter=startswith(</a:t>
            </a:r>
            <a:endParaRPr lang="en-US" sz="780" dirty="0"/>
          </a:p>
          <a:p>
            <a:pPr marL="0" indent="0">
              <a:lnSpc>
                <a:spcPct val="100000"/>
              </a:lnSpc>
              <a:buNone/>
            </a:pPr>
            <a:r>
              <a:rPr lang="en-US" sz="780" dirty="0">
                <a:solidFill>
                  <a:srgbClr val="DCE6F2"/>
                </a:solidFill>
                <a:latin typeface="Consolas" pitchFamily="34" charset="0"/>
                <a:ea typeface="Consolas" pitchFamily="34" charset="-122"/>
                <a:cs typeface="Consolas" pitchFamily="34" charset="-120"/>
              </a:rPr>
              <a:t>     U_Placa,'ABC')</a:t>
            </a:r>
            <a:endParaRPr lang="en-US" sz="780" dirty="0"/>
          </a:p>
        </p:txBody>
      </p:sp>
      <p:sp>
        <p:nvSpPr>
          <p:cNvPr id="19" name="Shape 17"/>
          <p:cNvSpPr/>
          <p:nvPr/>
        </p:nvSpPr>
        <p:spPr>
          <a:xfrm>
            <a:off x="6035040" y="1371600"/>
            <a:ext cx="2651760" cy="1536192"/>
          </a:xfrm>
          <a:prstGeom prst="roundRect">
            <a:avLst>
              <a:gd name="adj" fmla="val 4167"/>
            </a:avLst>
          </a:prstGeom>
          <a:solidFill>
            <a:srgbClr val="0E1B2E"/>
          </a:solidFill>
          <a:ln w="12700">
            <a:solidFill>
              <a:srgbClr val="0E1B2E"/>
            </a:solidFill>
            <a:prstDash val="solid"/>
          </a:ln>
          <a:effectLst>
            <a:outerShdw blurRad="101600" dist="25400" dir="5400000" algn="bl" rotWithShape="0">
              <a:srgbClr val="0B2A55">
                <a:alpha val="12000"/>
              </a:srgbClr>
            </a:outerShdw>
          </a:effectLst>
        </p:spPr>
      </p:sp>
      <p:sp>
        <p:nvSpPr>
          <p:cNvPr id="20" name="Shape 18"/>
          <p:cNvSpPr/>
          <p:nvPr/>
        </p:nvSpPr>
        <p:spPr>
          <a:xfrm>
            <a:off x="6172200" y="1481328"/>
            <a:ext cx="73152" cy="73152"/>
          </a:xfrm>
          <a:prstGeom prst="ellipse">
            <a:avLst/>
          </a:prstGeom>
          <a:solidFill>
            <a:srgbClr val="FF5F56"/>
          </a:solidFill>
          <a:ln w="12700">
            <a:solidFill>
              <a:srgbClr val="FF5F56"/>
            </a:solidFill>
            <a:prstDash val="solid"/>
          </a:ln>
        </p:spPr>
      </p:sp>
      <p:sp>
        <p:nvSpPr>
          <p:cNvPr id="21" name="Shape 19"/>
          <p:cNvSpPr/>
          <p:nvPr/>
        </p:nvSpPr>
        <p:spPr>
          <a:xfrm>
            <a:off x="6300216" y="1481328"/>
            <a:ext cx="73152" cy="73152"/>
          </a:xfrm>
          <a:prstGeom prst="ellipse">
            <a:avLst/>
          </a:prstGeom>
          <a:solidFill>
            <a:srgbClr val="FFBD2E"/>
          </a:solidFill>
          <a:ln w="12700">
            <a:solidFill>
              <a:srgbClr val="FFBD2E"/>
            </a:solidFill>
            <a:prstDash val="solid"/>
          </a:ln>
        </p:spPr>
      </p:sp>
      <p:sp>
        <p:nvSpPr>
          <p:cNvPr id="22" name="Shape 20"/>
          <p:cNvSpPr/>
          <p:nvPr/>
        </p:nvSpPr>
        <p:spPr>
          <a:xfrm>
            <a:off x="6428232" y="1481328"/>
            <a:ext cx="73152" cy="73152"/>
          </a:xfrm>
          <a:prstGeom prst="ellipse">
            <a:avLst/>
          </a:prstGeom>
          <a:solidFill>
            <a:srgbClr val="27C93F"/>
          </a:solidFill>
          <a:ln w="12700">
            <a:solidFill>
              <a:srgbClr val="27C93F"/>
            </a:solidFill>
            <a:prstDash val="solid"/>
          </a:ln>
        </p:spPr>
      </p:sp>
      <p:sp>
        <p:nvSpPr>
          <p:cNvPr id="23" name="Text 21"/>
          <p:cNvSpPr txBox="1"/>
          <p:nvPr/>
        </p:nvSpPr>
        <p:spPr>
          <a:xfrm>
            <a:off x="6601968" y="1426464"/>
            <a:ext cx="1965960" cy="182880"/>
          </a:xfrm>
          <a:prstGeom prst="rect">
            <a:avLst/>
          </a:prstGeom>
          <a:noFill/>
          <a:ln/>
        </p:spPr>
        <p:txBody>
          <a:bodyPr wrap="square" lIns="0" tIns="0" rIns="0" bIns="0" rtlCol="0" anchor="ctr"/>
          <a:lstStyle/>
          <a:p>
            <a:pPr marL="0" indent="0">
              <a:buNone/>
            </a:pPr>
            <a:r>
              <a:rPr lang="en-US" sz="850" b="1" dirty="0">
                <a:solidFill>
                  <a:srgbClr val="F5A800"/>
                </a:solidFill>
                <a:latin typeface="Segoe UI" pitchFamily="34" charset="0"/>
                <a:ea typeface="Segoe UI" pitchFamily="34" charset="-122"/>
                <a:cs typeface="Segoe UI" pitchFamily="34" charset="-120"/>
              </a:rPr>
              <a:t>PATCH · cabecera + líneas</a:t>
            </a:r>
            <a:endParaRPr lang="en-US" sz="850" dirty="0"/>
          </a:p>
        </p:txBody>
      </p:sp>
      <p:sp>
        <p:nvSpPr>
          <p:cNvPr id="24" name="Text 22"/>
          <p:cNvSpPr txBox="1"/>
          <p:nvPr/>
        </p:nvSpPr>
        <p:spPr>
          <a:xfrm>
            <a:off x="6172200" y="1664208"/>
            <a:ext cx="2377440" cy="1170432"/>
          </a:xfrm>
          <a:prstGeom prst="rect">
            <a:avLst/>
          </a:prstGeom>
          <a:noFill/>
          <a:ln/>
        </p:spPr>
        <p:txBody>
          <a:bodyPr wrap="square" lIns="0" tIns="0" rIns="0" bIns="0" rtlCol="0" anchor="t"/>
          <a:lstStyle/>
          <a:p>
            <a:pPr marL="0" indent="0">
              <a:lnSpc>
                <a:spcPct val="100000"/>
              </a:lnSpc>
              <a:buNone/>
            </a:pPr>
            <a:r>
              <a:rPr lang="en-US" sz="780" b="1" dirty="0">
                <a:solidFill>
                  <a:srgbClr val="F5A800"/>
                </a:solidFill>
                <a:latin typeface="Consolas" pitchFamily="34" charset="0"/>
                <a:ea typeface="Consolas" pitchFamily="34" charset="-122"/>
                <a:cs typeface="Consolas" pitchFamily="34" charset="-120"/>
              </a:rPr>
              <a:t>PATCH</a:t>
            </a:r>
            <a:r>
              <a:rPr lang="en-US" sz="780" dirty="0">
                <a:solidFill>
                  <a:srgbClr val="DCE6F2"/>
                </a:solidFill>
                <a:latin typeface="Consolas" pitchFamily="34" charset="0"/>
                <a:ea typeface="Consolas" pitchFamily="34" charset="-122"/>
                <a:cs typeface="Consolas" pitchFamily="34" charset="-120"/>
              </a:rPr>
              <a:t> /b1s/v1/VSVEHICULO('V001')</a:t>
            </a:r>
            <a:endParaRPr lang="en-US" sz="780" dirty="0"/>
          </a:p>
          <a:p>
            <a:pPr marL="0" indent="0">
              <a:lnSpc>
                <a:spcPct val="100000"/>
              </a:lnSpc>
              <a:buNone/>
            </a:pPr>
            <a:r>
              <a:rPr lang="en-US" sz="780" dirty="0">
                <a:solidFill>
                  <a:srgbClr val="DCE6F2"/>
                </a:solidFill>
                <a:latin typeface="Consolas" pitchFamily="34" charset="0"/>
                <a:ea typeface="Consolas" pitchFamily="34" charset="-122"/>
                <a:cs typeface="Consolas" pitchFamily="34" charset="-120"/>
              </a:rPr>
              <a:t>{</a:t>
            </a:r>
            <a:endParaRPr lang="en-US" sz="780" dirty="0"/>
          </a:p>
          <a:p>
            <a:pPr marL="0" indent="0">
              <a:lnSpc>
                <a:spcPct val="100000"/>
              </a:lnSpc>
              <a:buNone/>
            </a:pPr>
            <a:r>
              <a:rPr lang="en-US" sz="780" dirty="0">
                <a:solidFill>
                  <a:srgbClr val="DCE6F2"/>
                </a:solidFill>
                <a:latin typeface="Consolas" pitchFamily="34" charset="0"/>
                <a:ea typeface="Consolas" pitchFamily="34" charset="-122"/>
                <a:cs typeface="Consolas" pitchFamily="34" charset="-120"/>
              </a:rPr>
              <a:t>  </a:t>
            </a:r>
            <a:r>
              <a:rPr lang="en-US" sz="780" dirty="0">
                <a:solidFill>
                  <a:srgbClr val="7FD1FF"/>
                </a:solidFill>
                <a:latin typeface="Consolas" pitchFamily="34" charset="0"/>
                <a:ea typeface="Consolas" pitchFamily="34" charset="-122"/>
                <a:cs typeface="Consolas" pitchFamily="34" charset="-120"/>
              </a:rPr>
              <a:t>"U_Placa"</a:t>
            </a:r>
            <a:r>
              <a:rPr lang="en-US" sz="780" dirty="0">
                <a:solidFill>
                  <a:srgbClr val="DCE6F2"/>
                </a:solidFill>
                <a:latin typeface="Consolas" pitchFamily="34" charset="0"/>
                <a:ea typeface="Consolas" pitchFamily="34" charset="-122"/>
                <a:cs typeface="Consolas" pitchFamily="34" charset="-120"/>
              </a:rPr>
              <a:t>: </a:t>
            </a:r>
            <a:r>
              <a:rPr lang="en-US" sz="780" dirty="0">
                <a:solidFill>
                  <a:srgbClr val="B5E48C"/>
                </a:solidFill>
                <a:latin typeface="Consolas" pitchFamily="34" charset="0"/>
                <a:ea typeface="Consolas" pitchFamily="34" charset="-122"/>
                <a:cs typeface="Consolas" pitchFamily="34" charset="-120"/>
              </a:rPr>
              <a:t>"ABC-999"</a:t>
            </a:r>
            <a:r>
              <a:rPr lang="en-US" sz="780" dirty="0">
                <a:solidFill>
                  <a:srgbClr val="DCE6F2"/>
                </a:solidFill>
                <a:latin typeface="Consolas" pitchFamily="34" charset="0"/>
                <a:ea typeface="Consolas" pitchFamily="34" charset="-122"/>
                <a:cs typeface="Consolas" pitchFamily="34" charset="-120"/>
              </a:rPr>
              <a:t>,</a:t>
            </a:r>
            <a:endParaRPr lang="en-US" sz="780" dirty="0"/>
          </a:p>
          <a:p>
            <a:pPr marL="0" indent="0">
              <a:lnSpc>
                <a:spcPct val="100000"/>
              </a:lnSpc>
              <a:buNone/>
            </a:pPr>
            <a:r>
              <a:rPr lang="en-US" sz="780" dirty="0">
                <a:solidFill>
                  <a:srgbClr val="DCE6F2"/>
                </a:solidFill>
                <a:latin typeface="Consolas" pitchFamily="34" charset="0"/>
                <a:ea typeface="Consolas" pitchFamily="34" charset="-122"/>
                <a:cs typeface="Consolas" pitchFamily="34" charset="-120"/>
              </a:rPr>
              <a:t>  </a:t>
            </a:r>
            <a:r>
              <a:rPr lang="en-US" sz="780" dirty="0">
                <a:solidFill>
                  <a:srgbClr val="7FD1FF"/>
                </a:solidFill>
                <a:latin typeface="Consolas" pitchFamily="34" charset="0"/>
                <a:ea typeface="Consolas" pitchFamily="34" charset="-122"/>
                <a:cs typeface="Consolas" pitchFamily="34" charset="-120"/>
              </a:rPr>
              <a:t>"VS_VEH1Collection"</a:t>
            </a:r>
            <a:r>
              <a:rPr lang="en-US" sz="780" dirty="0">
                <a:solidFill>
                  <a:srgbClr val="DCE6F2"/>
                </a:solidFill>
                <a:latin typeface="Consolas" pitchFamily="34" charset="0"/>
                <a:ea typeface="Consolas" pitchFamily="34" charset="-122"/>
                <a:cs typeface="Consolas" pitchFamily="34" charset="-120"/>
              </a:rPr>
              <a:t>: [</a:t>
            </a:r>
            <a:endParaRPr lang="en-US" sz="780" dirty="0"/>
          </a:p>
          <a:p>
            <a:pPr marL="0" indent="0">
              <a:lnSpc>
                <a:spcPct val="100000"/>
              </a:lnSpc>
              <a:buNone/>
            </a:pPr>
            <a:r>
              <a:rPr lang="en-US" sz="780" dirty="0">
                <a:solidFill>
                  <a:srgbClr val="DCE6F2"/>
                </a:solidFill>
                <a:latin typeface="Consolas" pitchFamily="34" charset="0"/>
                <a:ea typeface="Consolas" pitchFamily="34" charset="-122"/>
                <a:cs typeface="Consolas" pitchFamily="34" charset="-120"/>
              </a:rPr>
              <a:t>    {</a:t>
            </a:r>
            <a:r>
              <a:rPr lang="en-US" sz="780" dirty="0">
                <a:solidFill>
                  <a:srgbClr val="7FD1FF"/>
                </a:solidFill>
                <a:latin typeface="Consolas" pitchFamily="34" charset="0"/>
                <a:ea typeface="Consolas" pitchFamily="34" charset="-122"/>
                <a:cs typeface="Consolas" pitchFamily="34" charset="-120"/>
              </a:rPr>
              <a:t>"LineId"</a:t>
            </a:r>
            <a:r>
              <a:rPr lang="en-US" sz="780" dirty="0">
                <a:solidFill>
                  <a:srgbClr val="DCE6F2"/>
                </a:solidFill>
                <a:latin typeface="Consolas" pitchFamily="34" charset="0"/>
                <a:ea typeface="Consolas" pitchFamily="34" charset="-122"/>
                <a:cs typeface="Consolas" pitchFamily="34" charset="-120"/>
              </a:rPr>
              <a:t>: 1,</a:t>
            </a:r>
            <a:endParaRPr lang="en-US" sz="780" dirty="0"/>
          </a:p>
          <a:p>
            <a:pPr marL="0" indent="0">
              <a:lnSpc>
                <a:spcPct val="100000"/>
              </a:lnSpc>
              <a:buNone/>
            </a:pPr>
            <a:r>
              <a:rPr lang="en-US" sz="780" dirty="0">
                <a:solidFill>
                  <a:srgbClr val="DCE6F2"/>
                </a:solidFill>
                <a:latin typeface="Consolas" pitchFamily="34" charset="0"/>
                <a:ea typeface="Consolas" pitchFamily="34" charset="-122"/>
                <a:cs typeface="Consolas" pitchFamily="34" charset="-120"/>
              </a:rPr>
              <a:t>     </a:t>
            </a:r>
            <a:r>
              <a:rPr lang="en-US" sz="780" dirty="0">
                <a:solidFill>
                  <a:srgbClr val="7FD1FF"/>
                </a:solidFill>
                <a:latin typeface="Consolas" pitchFamily="34" charset="0"/>
                <a:ea typeface="Consolas" pitchFamily="34" charset="-122"/>
                <a:cs typeface="Consolas" pitchFamily="34" charset="-120"/>
              </a:rPr>
              <a:t>"U_Vence"</a:t>
            </a:r>
            <a:r>
              <a:rPr lang="en-US" sz="780" dirty="0">
                <a:solidFill>
                  <a:srgbClr val="DCE6F2"/>
                </a:solidFill>
                <a:latin typeface="Consolas" pitchFamily="34" charset="0"/>
                <a:ea typeface="Consolas" pitchFamily="34" charset="-122"/>
                <a:cs typeface="Consolas" pitchFamily="34" charset="-120"/>
              </a:rPr>
              <a:t>: </a:t>
            </a:r>
            <a:r>
              <a:rPr lang="en-US" sz="780" dirty="0">
                <a:solidFill>
                  <a:srgbClr val="B5E48C"/>
                </a:solidFill>
                <a:latin typeface="Consolas" pitchFamily="34" charset="0"/>
                <a:ea typeface="Consolas" pitchFamily="34" charset="-122"/>
                <a:cs typeface="Consolas" pitchFamily="34" charset="-120"/>
              </a:rPr>
              <a:t>"2027-06-30"</a:t>
            </a:r>
            <a:r>
              <a:rPr lang="en-US" sz="780" dirty="0">
                <a:solidFill>
                  <a:srgbClr val="DCE6F2"/>
                </a:solidFill>
                <a:latin typeface="Consolas" pitchFamily="34" charset="0"/>
                <a:ea typeface="Consolas" pitchFamily="34" charset="-122"/>
                <a:cs typeface="Consolas" pitchFamily="34" charset="-120"/>
              </a:rPr>
              <a:t>},</a:t>
            </a:r>
            <a:endParaRPr lang="en-US" sz="780" dirty="0"/>
          </a:p>
          <a:p>
            <a:pPr marL="0" indent="0">
              <a:lnSpc>
                <a:spcPct val="100000"/>
              </a:lnSpc>
              <a:buNone/>
            </a:pPr>
            <a:r>
              <a:rPr lang="en-US" sz="780" dirty="0">
                <a:solidFill>
                  <a:srgbClr val="DCE6F2"/>
                </a:solidFill>
                <a:latin typeface="Consolas" pitchFamily="34" charset="0"/>
                <a:ea typeface="Consolas" pitchFamily="34" charset="-122"/>
                <a:cs typeface="Consolas" pitchFamily="34" charset="-120"/>
              </a:rPr>
              <a:t>    {</a:t>
            </a:r>
            <a:r>
              <a:rPr lang="en-US" sz="780" dirty="0">
                <a:solidFill>
                  <a:srgbClr val="7FD1FF"/>
                </a:solidFill>
                <a:latin typeface="Consolas" pitchFamily="34" charset="0"/>
                <a:ea typeface="Consolas" pitchFamily="34" charset="-122"/>
                <a:cs typeface="Consolas" pitchFamily="34" charset="-120"/>
              </a:rPr>
              <a:t>"U_TipoDoc"</a:t>
            </a:r>
            <a:r>
              <a:rPr lang="en-US" sz="780" dirty="0">
                <a:solidFill>
                  <a:srgbClr val="DCE6F2"/>
                </a:solidFill>
                <a:latin typeface="Consolas" pitchFamily="34" charset="0"/>
                <a:ea typeface="Consolas" pitchFamily="34" charset="-122"/>
                <a:cs typeface="Consolas" pitchFamily="34" charset="-120"/>
              </a:rPr>
              <a:t>: </a:t>
            </a:r>
            <a:r>
              <a:rPr lang="en-US" sz="780" dirty="0">
                <a:solidFill>
                  <a:srgbClr val="B5E48C"/>
                </a:solidFill>
                <a:latin typeface="Consolas" pitchFamily="34" charset="0"/>
                <a:ea typeface="Consolas" pitchFamily="34" charset="-122"/>
                <a:cs typeface="Consolas" pitchFamily="34" charset="-120"/>
              </a:rPr>
              <a:t>"REV_TEC"</a:t>
            </a:r>
            <a:r>
              <a:rPr lang="en-US" sz="780" dirty="0">
                <a:solidFill>
                  <a:srgbClr val="DCE6F2"/>
                </a:solidFill>
                <a:latin typeface="Consolas" pitchFamily="34" charset="0"/>
                <a:ea typeface="Consolas" pitchFamily="34" charset="-122"/>
                <a:cs typeface="Consolas" pitchFamily="34" charset="-120"/>
              </a:rPr>
              <a:t>}]</a:t>
            </a:r>
            <a:endParaRPr lang="en-US" sz="780" dirty="0"/>
          </a:p>
          <a:p>
            <a:pPr marL="0" indent="0">
              <a:lnSpc>
                <a:spcPct val="100000"/>
              </a:lnSpc>
              <a:buNone/>
            </a:pPr>
            <a:r>
              <a:rPr lang="en-US" sz="780" dirty="0">
                <a:solidFill>
                  <a:srgbClr val="DCE6F2"/>
                </a:solidFill>
                <a:latin typeface="Consolas" pitchFamily="34" charset="0"/>
                <a:ea typeface="Consolas" pitchFamily="34" charset="-122"/>
                <a:cs typeface="Consolas" pitchFamily="34" charset="-120"/>
              </a:rPr>
              <a:t>}</a:t>
            </a:r>
            <a:endParaRPr lang="en-US" sz="780" dirty="0"/>
          </a:p>
        </p:txBody>
      </p:sp>
      <p:sp>
        <p:nvSpPr>
          <p:cNvPr id="25" name="Shape 23"/>
          <p:cNvSpPr/>
          <p:nvPr/>
        </p:nvSpPr>
        <p:spPr>
          <a:xfrm>
            <a:off x="457200" y="3044952"/>
            <a:ext cx="2651760" cy="1536192"/>
          </a:xfrm>
          <a:prstGeom prst="roundRect">
            <a:avLst>
              <a:gd name="adj" fmla="val 4167"/>
            </a:avLst>
          </a:prstGeom>
          <a:solidFill>
            <a:srgbClr val="0E1B2E"/>
          </a:solidFill>
          <a:ln w="12700">
            <a:solidFill>
              <a:srgbClr val="0E1B2E"/>
            </a:solidFill>
            <a:prstDash val="solid"/>
          </a:ln>
          <a:effectLst>
            <a:outerShdw blurRad="101600" dist="25400" dir="5400000" algn="bl" rotWithShape="0">
              <a:srgbClr val="0B2A55">
                <a:alpha val="12000"/>
              </a:srgbClr>
            </a:outerShdw>
          </a:effectLst>
        </p:spPr>
      </p:sp>
      <p:sp>
        <p:nvSpPr>
          <p:cNvPr id="26" name="Shape 24"/>
          <p:cNvSpPr/>
          <p:nvPr/>
        </p:nvSpPr>
        <p:spPr>
          <a:xfrm>
            <a:off x="594360" y="3154680"/>
            <a:ext cx="73152" cy="73152"/>
          </a:xfrm>
          <a:prstGeom prst="ellipse">
            <a:avLst/>
          </a:prstGeom>
          <a:solidFill>
            <a:srgbClr val="FF5F56"/>
          </a:solidFill>
          <a:ln w="12700">
            <a:solidFill>
              <a:srgbClr val="FF5F56"/>
            </a:solidFill>
            <a:prstDash val="solid"/>
          </a:ln>
        </p:spPr>
      </p:sp>
      <p:sp>
        <p:nvSpPr>
          <p:cNvPr id="27" name="Shape 25"/>
          <p:cNvSpPr/>
          <p:nvPr/>
        </p:nvSpPr>
        <p:spPr>
          <a:xfrm>
            <a:off x="722376" y="3154680"/>
            <a:ext cx="73152" cy="73152"/>
          </a:xfrm>
          <a:prstGeom prst="ellipse">
            <a:avLst/>
          </a:prstGeom>
          <a:solidFill>
            <a:srgbClr val="FFBD2E"/>
          </a:solidFill>
          <a:ln w="12700">
            <a:solidFill>
              <a:srgbClr val="FFBD2E"/>
            </a:solidFill>
            <a:prstDash val="solid"/>
          </a:ln>
        </p:spPr>
      </p:sp>
      <p:sp>
        <p:nvSpPr>
          <p:cNvPr id="28" name="Shape 26"/>
          <p:cNvSpPr/>
          <p:nvPr/>
        </p:nvSpPr>
        <p:spPr>
          <a:xfrm>
            <a:off x="850392" y="3154680"/>
            <a:ext cx="73152" cy="73152"/>
          </a:xfrm>
          <a:prstGeom prst="ellipse">
            <a:avLst/>
          </a:prstGeom>
          <a:solidFill>
            <a:srgbClr val="27C93F"/>
          </a:solidFill>
          <a:ln w="12700">
            <a:solidFill>
              <a:srgbClr val="27C93F"/>
            </a:solidFill>
            <a:prstDash val="solid"/>
          </a:ln>
        </p:spPr>
      </p:sp>
      <p:sp>
        <p:nvSpPr>
          <p:cNvPr id="29" name="Text 27"/>
          <p:cNvSpPr txBox="1"/>
          <p:nvPr/>
        </p:nvSpPr>
        <p:spPr>
          <a:xfrm>
            <a:off x="1024128" y="3099816"/>
            <a:ext cx="1965960" cy="182880"/>
          </a:xfrm>
          <a:prstGeom prst="rect">
            <a:avLst/>
          </a:prstGeom>
          <a:noFill/>
          <a:ln/>
        </p:spPr>
        <p:txBody>
          <a:bodyPr wrap="square" lIns="0" tIns="0" rIns="0" bIns="0" rtlCol="0" anchor="ctr"/>
          <a:lstStyle/>
          <a:p>
            <a:pPr marL="0" indent="0">
              <a:buNone/>
            </a:pPr>
            <a:r>
              <a:rPr lang="en-US" sz="850" b="1" dirty="0">
                <a:solidFill>
                  <a:srgbClr val="F5A800"/>
                </a:solidFill>
                <a:latin typeface="Segoe UI" pitchFamily="34" charset="0"/>
                <a:ea typeface="Segoe UI" pitchFamily="34" charset="-122"/>
                <a:cs typeface="Segoe UI" pitchFamily="34" charset="-120"/>
              </a:rPr>
              <a:t>PUT · reemplazar</a:t>
            </a:r>
            <a:endParaRPr lang="en-US" sz="850" dirty="0"/>
          </a:p>
        </p:txBody>
      </p:sp>
      <p:sp>
        <p:nvSpPr>
          <p:cNvPr id="30" name="Text 28"/>
          <p:cNvSpPr txBox="1"/>
          <p:nvPr/>
        </p:nvSpPr>
        <p:spPr>
          <a:xfrm>
            <a:off x="594360" y="3337560"/>
            <a:ext cx="2377440" cy="1170432"/>
          </a:xfrm>
          <a:prstGeom prst="rect">
            <a:avLst/>
          </a:prstGeom>
          <a:noFill/>
          <a:ln/>
        </p:spPr>
        <p:txBody>
          <a:bodyPr wrap="square" lIns="0" tIns="0" rIns="0" bIns="0" rtlCol="0" anchor="t"/>
          <a:lstStyle/>
          <a:p>
            <a:pPr marL="0" indent="0">
              <a:lnSpc>
                <a:spcPct val="100000"/>
              </a:lnSpc>
              <a:buNone/>
            </a:pPr>
            <a:r>
              <a:rPr lang="en-US" sz="780" b="1" dirty="0">
                <a:solidFill>
                  <a:srgbClr val="F5A800"/>
                </a:solidFill>
                <a:latin typeface="Consolas" pitchFamily="34" charset="0"/>
                <a:ea typeface="Consolas" pitchFamily="34" charset="-122"/>
                <a:cs typeface="Consolas" pitchFamily="34" charset="-120"/>
              </a:rPr>
              <a:t>PUT</a:t>
            </a:r>
            <a:r>
              <a:rPr lang="en-US" sz="780" dirty="0">
                <a:solidFill>
                  <a:srgbClr val="DCE6F2"/>
                </a:solidFill>
                <a:latin typeface="Consolas" pitchFamily="34" charset="0"/>
                <a:ea typeface="Consolas" pitchFamily="34" charset="-122"/>
                <a:cs typeface="Consolas" pitchFamily="34" charset="-120"/>
              </a:rPr>
              <a:t> /b1s/v1/VSVEHICULO('V001')</a:t>
            </a:r>
            <a:endParaRPr lang="en-US" sz="780" dirty="0"/>
          </a:p>
          <a:p>
            <a:pPr marL="0" indent="0">
              <a:lnSpc>
                <a:spcPct val="100000"/>
              </a:lnSpc>
              <a:buNone/>
            </a:pPr>
            <a:r>
              <a:rPr lang="en-US" sz="780" dirty="0">
                <a:solidFill>
                  <a:srgbClr val="DCE6F2"/>
                </a:solidFill>
                <a:latin typeface="Consolas" pitchFamily="34" charset="0"/>
                <a:ea typeface="Consolas" pitchFamily="34" charset="-122"/>
                <a:cs typeface="Consolas" pitchFamily="34" charset="-120"/>
              </a:rPr>
              <a:t>{</a:t>
            </a:r>
            <a:endParaRPr lang="en-US" sz="780" dirty="0"/>
          </a:p>
          <a:p>
            <a:pPr marL="0" indent="0">
              <a:lnSpc>
                <a:spcPct val="100000"/>
              </a:lnSpc>
              <a:buNone/>
            </a:pPr>
            <a:r>
              <a:rPr lang="en-US" sz="780" dirty="0">
                <a:solidFill>
                  <a:srgbClr val="DCE6F2"/>
                </a:solidFill>
                <a:latin typeface="Consolas" pitchFamily="34" charset="0"/>
                <a:ea typeface="Consolas" pitchFamily="34" charset="-122"/>
                <a:cs typeface="Consolas" pitchFamily="34" charset="-120"/>
              </a:rPr>
              <a:t>  </a:t>
            </a:r>
            <a:r>
              <a:rPr lang="en-US" sz="780" dirty="0">
                <a:solidFill>
                  <a:srgbClr val="7FD1FF"/>
                </a:solidFill>
                <a:latin typeface="Consolas" pitchFamily="34" charset="0"/>
                <a:ea typeface="Consolas" pitchFamily="34" charset="-122"/>
                <a:cs typeface="Consolas" pitchFamily="34" charset="-120"/>
              </a:rPr>
              <a:t>"Code"</a:t>
            </a:r>
            <a:r>
              <a:rPr lang="en-US" sz="780" dirty="0">
                <a:solidFill>
                  <a:srgbClr val="DCE6F2"/>
                </a:solidFill>
                <a:latin typeface="Consolas" pitchFamily="34" charset="0"/>
                <a:ea typeface="Consolas" pitchFamily="34" charset="-122"/>
                <a:cs typeface="Consolas" pitchFamily="34" charset="-120"/>
              </a:rPr>
              <a:t>: </a:t>
            </a:r>
            <a:r>
              <a:rPr lang="en-US" sz="780" dirty="0">
                <a:solidFill>
                  <a:srgbClr val="B5E48C"/>
                </a:solidFill>
                <a:latin typeface="Consolas" pitchFamily="34" charset="0"/>
                <a:ea typeface="Consolas" pitchFamily="34" charset="-122"/>
                <a:cs typeface="Consolas" pitchFamily="34" charset="-120"/>
              </a:rPr>
              <a:t>"V001"</a:t>
            </a:r>
            <a:r>
              <a:rPr lang="en-US" sz="780" dirty="0">
                <a:solidFill>
                  <a:srgbClr val="DCE6F2"/>
                </a:solidFill>
                <a:latin typeface="Consolas" pitchFamily="34" charset="0"/>
                <a:ea typeface="Consolas" pitchFamily="34" charset="-122"/>
                <a:cs typeface="Consolas" pitchFamily="34" charset="-120"/>
              </a:rPr>
              <a:t>,</a:t>
            </a:r>
            <a:endParaRPr lang="en-US" sz="780" dirty="0"/>
          </a:p>
          <a:p>
            <a:pPr marL="0" indent="0">
              <a:lnSpc>
                <a:spcPct val="100000"/>
              </a:lnSpc>
              <a:buNone/>
            </a:pPr>
            <a:r>
              <a:rPr lang="en-US" sz="780" dirty="0">
                <a:solidFill>
                  <a:srgbClr val="DCE6F2"/>
                </a:solidFill>
                <a:latin typeface="Consolas" pitchFamily="34" charset="0"/>
                <a:ea typeface="Consolas" pitchFamily="34" charset="-122"/>
                <a:cs typeface="Consolas" pitchFamily="34" charset="-120"/>
              </a:rPr>
              <a:t>  </a:t>
            </a:r>
            <a:r>
              <a:rPr lang="en-US" sz="780" dirty="0">
                <a:solidFill>
                  <a:srgbClr val="7FD1FF"/>
                </a:solidFill>
                <a:latin typeface="Consolas" pitchFamily="34" charset="0"/>
                <a:ea typeface="Consolas" pitchFamily="34" charset="-122"/>
                <a:cs typeface="Consolas" pitchFamily="34" charset="-120"/>
              </a:rPr>
              <a:t>"Name"</a:t>
            </a:r>
            <a:r>
              <a:rPr lang="en-US" sz="780" dirty="0">
                <a:solidFill>
                  <a:srgbClr val="DCE6F2"/>
                </a:solidFill>
                <a:latin typeface="Consolas" pitchFamily="34" charset="0"/>
                <a:ea typeface="Consolas" pitchFamily="34" charset="-122"/>
                <a:cs typeface="Consolas" pitchFamily="34" charset="-120"/>
              </a:rPr>
              <a:t>: </a:t>
            </a:r>
            <a:r>
              <a:rPr lang="en-US" sz="780" dirty="0">
                <a:solidFill>
                  <a:srgbClr val="B5E48C"/>
                </a:solidFill>
                <a:latin typeface="Consolas" pitchFamily="34" charset="0"/>
                <a:ea typeface="Consolas" pitchFamily="34" charset="-122"/>
                <a:cs typeface="Consolas" pitchFamily="34" charset="-120"/>
              </a:rPr>
              <a:t>"Camión Volvo FH"</a:t>
            </a:r>
            <a:r>
              <a:rPr lang="en-US" sz="780" dirty="0">
                <a:solidFill>
                  <a:srgbClr val="DCE6F2"/>
                </a:solidFill>
                <a:latin typeface="Consolas" pitchFamily="34" charset="0"/>
                <a:ea typeface="Consolas" pitchFamily="34" charset="-122"/>
                <a:cs typeface="Consolas" pitchFamily="34" charset="-120"/>
              </a:rPr>
              <a:t>,</a:t>
            </a:r>
            <a:endParaRPr lang="en-US" sz="780" dirty="0"/>
          </a:p>
          <a:p>
            <a:pPr marL="0" indent="0">
              <a:lnSpc>
                <a:spcPct val="100000"/>
              </a:lnSpc>
              <a:buNone/>
            </a:pPr>
            <a:r>
              <a:rPr lang="en-US" sz="780" dirty="0">
                <a:solidFill>
                  <a:srgbClr val="DCE6F2"/>
                </a:solidFill>
                <a:latin typeface="Consolas" pitchFamily="34" charset="0"/>
                <a:ea typeface="Consolas" pitchFamily="34" charset="-122"/>
                <a:cs typeface="Consolas" pitchFamily="34" charset="-120"/>
              </a:rPr>
              <a:t>  </a:t>
            </a:r>
            <a:r>
              <a:rPr lang="en-US" sz="780" dirty="0">
                <a:solidFill>
                  <a:srgbClr val="7FD1FF"/>
                </a:solidFill>
                <a:latin typeface="Consolas" pitchFamily="34" charset="0"/>
                <a:ea typeface="Consolas" pitchFamily="34" charset="-122"/>
                <a:cs typeface="Consolas" pitchFamily="34" charset="-120"/>
              </a:rPr>
              <a:t>"U_Placa"</a:t>
            </a:r>
            <a:r>
              <a:rPr lang="en-US" sz="780" dirty="0">
                <a:solidFill>
                  <a:srgbClr val="DCE6F2"/>
                </a:solidFill>
                <a:latin typeface="Consolas" pitchFamily="34" charset="0"/>
                <a:ea typeface="Consolas" pitchFamily="34" charset="-122"/>
                <a:cs typeface="Consolas" pitchFamily="34" charset="-120"/>
              </a:rPr>
              <a:t>: </a:t>
            </a:r>
            <a:r>
              <a:rPr lang="en-US" sz="780" dirty="0">
                <a:solidFill>
                  <a:srgbClr val="B5E48C"/>
                </a:solidFill>
                <a:latin typeface="Consolas" pitchFamily="34" charset="0"/>
                <a:ea typeface="Consolas" pitchFamily="34" charset="-122"/>
                <a:cs typeface="Consolas" pitchFamily="34" charset="-120"/>
              </a:rPr>
              <a:t>"ABC-999"</a:t>
            </a:r>
            <a:r>
              <a:rPr lang="en-US" sz="780" dirty="0">
                <a:solidFill>
                  <a:srgbClr val="DCE6F2"/>
                </a:solidFill>
                <a:latin typeface="Consolas" pitchFamily="34" charset="0"/>
                <a:ea typeface="Consolas" pitchFamily="34" charset="-122"/>
                <a:cs typeface="Consolas" pitchFamily="34" charset="-120"/>
              </a:rPr>
              <a:t>,</a:t>
            </a:r>
            <a:endParaRPr lang="en-US" sz="780" dirty="0"/>
          </a:p>
          <a:p>
            <a:pPr marL="0" indent="0">
              <a:lnSpc>
                <a:spcPct val="100000"/>
              </a:lnSpc>
              <a:buNone/>
            </a:pPr>
            <a:r>
              <a:rPr lang="en-US" sz="780" dirty="0">
                <a:solidFill>
                  <a:srgbClr val="DCE6F2"/>
                </a:solidFill>
                <a:latin typeface="Consolas" pitchFamily="34" charset="0"/>
                <a:ea typeface="Consolas" pitchFamily="34" charset="-122"/>
                <a:cs typeface="Consolas" pitchFamily="34" charset="-120"/>
              </a:rPr>
              <a:t>  </a:t>
            </a:r>
            <a:r>
              <a:rPr lang="en-US" sz="780" dirty="0">
                <a:solidFill>
                  <a:srgbClr val="7FD1FF"/>
                </a:solidFill>
                <a:latin typeface="Consolas" pitchFamily="34" charset="0"/>
                <a:ea typeface="Consolas" pitchFamily="34" charset="-122"/>
                <a:cs typeface="Consolas" pitchFamily="34" charset="-120"/>
              </a:rPr>
              <a:t>"VS_VEH1Collection"</a:t>
            </a:r>
            <a:r>
              <a:rPr lang="en-US" sz="780" dirty="0">
                <a:solidFill>
                  <a:srgbClr val="DCE6F2"/>
                </a:solidFill>
                <a:latin typeface="Consolas" pitchFamily="34" charset="0"/>
                <a:ea typeface="Consolas" pitchFamily="34" charset="-122"/>
                <a:cs typeface="Consolas" pitchFamily="34" charset="-120"/>
              </a:rPr>
              <a:t>: []</a:t>
            </a:r>
            <a:endParaRPr lang="en-US" sz="780" dirty="0"/>
          </a:p>
          <a:p>
            <a:pPr marL="0" indent="0">
              <a:lnSpc>
                <a:spcPct val="100000"/>
              </a:lnSpc>
              <a:buNone/>
            </a:pPr>
            <a:r>
              <a:rPr lang="en-US" sz="780" dirty="0">
                <a:solidFill>
                  <a:srgbClr val="DCE6F2"/>
                </a:solidFill>
                <a:latin typeface="Consolas" pitchFamily="34" charset="0"/>
                <a:ea typeface="Consolas" pitchFamily="34" charset="-122"/>
                <a:cs typeface="Consolas" pitchFamily="34" charset="-120"/>
              </a:rPr>
              <a:t>}</a:t>
            </a:r>
            <a:endParaRPr lang="en-US" sz="780" dirty="0"/>
          </a:p>
        </p:txBody>
      </p:sp>
      <p:sp>
        <p:nvSpPr>
          <p:cNvPr id="31" name="Shape 29"/>
          <p:cNvSpPr/>
          <p:nvPr/>
        </p:nvSpPr>
        <p:spPr>
          <a:xfrm>
            <a:off x="3246120" y="3044952"/>
            <a:ext cx="2651760" cy="1536192"/>
          </a:xfrm>
          <a:prstGeom prst="roundRect">
            <a:avLst>
              <a:gd name="adj" fmla="val 4167"/>
            </a:avLst>
          </a:prstGeom>
          <a:solidFill>
            <a:srgbClr val="0E1B2E"/>
          </a:solidFill>
          <a:ln w="12700">
            <a:solidFill>
              <a:srgbClr val="0E1B2E"/>
            </a:solidFill>
            <a:prstDash val="solid"/>
          </a:ln>
          <a:effectLst>
            <a:outerShdw blurRad="101600" dist="25400" dir="5400000" algn="bl" rotWithShape="0">
              <a:srgbClr val="0B2A55">
                <a:alpha val="12000"/>
              </a:srgbClr>
            </a:outerShdw>
          </a:effectLst>
        </p:spPr>
      </p:sp>
      <p:sp>
        <p:nvSpPr>
          <p:cNvPr id="32" name="Shape 30"/>
          <p:cNvSpPr/>
          <p:nvPr/>
        </p:nvSpPr>
        <p:spPr>
          <a:xfrm>
            <a:off x="3383280" y="3154680"/>
            <a:ext cx="73152" cy="73152"/>
          </a:xfrm>
          <a:prstGeom prst="ellipse">
            <a:avLst/>
          </a:prstGeom>
          <a:solidFill>
            <a:srgbClr val="FF5F56"/>
          </a:solidFill>
          <a:ln w="12700">
            <a:solidFill>
              <a:srgbClr val="FF5F56"/>
            </a:solidFill>
            <a:prstDash val="solid"/>
          </a:ln>
        </p:spPr>
      </p:sp>
      <p:sp>
        <p:nvSpPr>
          <p:cNvPr id="33" name="Shape 31"/>
          <p:cNvSpPr/>
          <p:nvPr/>
        </p:nvSpPr>
        <p:spPr>
          <a:xfrm>
            <a:off x="3511296" y="3154680"/>
            <a:ext cx="73152" cy="73152"/>
          </a:xfrm>
          <a:prstGeom prst="ellipse">
            <a:avLst/>
          </a:prstGeom>
          <a:solidFill>
            <a:srgbClr val="FFBD2E"/>
          </a:solidFill>
          <a:ln w="12700">
            <a:solidFill>
              <a:srgbClr val="FFBD2E"/>
            </a:solidFill>
            <a:prstDash val="solid"/>
          </a:ln>
        </p:spPr>
      </p:sp>
      <p:sp>
        <p:nvSpPr>
          <p:cNvPr id="34" name="Shape 32"/>
          <p:cNvSpPr/>
          <p:nvPr/>
        </p:nvSpPr>
        <p:spPr>
          <a:xfrm>
            <a:off x="3639312" y="3154680"/>
            <a:ext cx="73152" cy="73152"/>
          </a:xfrm>
          <a:prstGeom prst="ellipse">
            <a:avLst/>
          </a:prstGeom>
          <a:solidFill>
            <a:srgbClr val="27C93F"/>
          </a:solidFill>
          <a:ln w="12700">
            <a:solidFill>
              <a:srgbClr val="27C93F"/>
            </a:solidFill>
            <a:prstDash val="solid"/>
          </a:ln>
        </p:spPr>
      </p:sp>
      <p:sp>
        <p:nvSpPr>
          <p:cNvPr id="35" name="Text 33"/>
          <p:cNvSpPr txBox="1"/>
          <p:nvPr/>
        </p:nvSpPr>
        <p:spPr>
          <a:xfrm>
            <a:off x="3813048" y="3099816"/>
            <a:ext cx="1965960" cy="182880"/>
          </a:xfrm>
          <a:prstGeom prst="rect">
            <a:avLst/>
          </a:prstGeom>
          <a:noFill/>
          <a:ln/>
        </p:spPr>
        <p:txBody>
          <a:bodyPr wrap="square" lIns="0" tIns="0" rIns="0" bIns="0" rtlCol="0" anchor="ctr"/>
          <a:lstStyle/>
          <a:p>
            <a:pPr marL="0" indent="0">
              <a:buNone/>
            </a:pPr>
            <a:r>
              <a:rPr lang="en-US" sz="850" b="1" dirty="0">
                <a:solidFill>
                  <a:srgbClr val="F5A800"/>
                </a:solidFill>
                <a:latin typeface="Segoe UI" pitchFamily="34" charset="0"/>
                <a:ea typeface="Segoe UI" pitchFamily="34" charset="-122"/>
                <a:cs typeface="Segoe UI" pitchFamily="34" charset="-120"/>
              </a:rPr>
              <a:t>DELETE / acciones</a:t>
            </a:r>
            <a:endParaRPr lang="en-US" sz="850" dirty="0"/>
          </a:p>
        </p:txBody>
      </p:sp>
      <p:sp>
        <p:nvSpPr>
          <p:cNvPr id="36" name="Text 34"/>
          <p:cNvSpPr txBox="1"/>
          <p:nvPr/>
        </p:nvSpPr>
        <p:spPr>
          <a:xfrm>
            <a:off x="3383280" y="3337560"/>
            <a:ext cx="2377440" cy="1170432"/>
          </a:xfrm>
          <a:prstGeom prst="rect">
            <a:avLst/>
          </a:prstGeom>
          <a:noFill/>
          <a:ln/>
        </p:spPr>
        <p:txBody>
          <a:bodyPr wrap="square" lIns="0" tIns="0" rIns="0" bIns="0" rtlCol="0" anchor="t"/>
          <a:lstStyle/>
          <a:p>
            <a:pPr marL="0" indent="0">
              <a:lnSpc>
                <a:spcPct val="100000"/>
              </a:lnSpc>
              <a:buNone/>
            </a:pPr>
            <a:r>
              <a:rPr lang="en-US" sz="780" i="1" dirty="0">
                <a:solidFill>
                  <a:srgbClr val="7D8FA8"/>
                </a:solidFill>
                <a:latin typeface="Consolas" pitchFamily="34" charset="0"/>
                <a:ea typeface="Consolas" pitchFamily="34" charset="-122"/>
                <a:cs typeface="Consolas" pitchFamily="34" charset="-120"/>
              </a:rPr>
              <a:t>// UDO Maestro con "Can Delete"</a:t>
            </a:r>
            <a:endParaRPr lang="en-US" sz="780" dirty="0"/>
          </a:p>
          <a:p>
            <a:pPr marL="0" indent="0">
              <a:lnSpc>
                <a:spcPct val="100000"/>
              </a:lnSpc>
              <a:buNone/>
            </a:pPr>
            <a:r>
              <a:rPr lang="en-US" sz="780" b="1" dirty="0">
                <a:solidFill>
                  <a:srgbClr val="F5A800"/>
                </a:solidFill>
                <a:latin typeface="Consolas" pitchFamily="34" charset="0"/>
                <a:ea typeface="Consolas" pitchFamily="34" charset="-122"/>
                <a:cs typeface="Consolas" pitchFamily="34" charset="-120"/>
              </a:rPr>
              <a:t>DELETE</a:t>
            </a:r>
            <a:r>
              <a:rPr lang="en-US" sz="780" dirty="0">
                <a:solidFill>
                  <a:srgbClr val="DCE6F2"/>
                </a:solidFill>
                <a:latin typeface="Consolas" pitchFamily="34" charset="0"/>
                <a:ea typeface="Consolas" pitchFamily="34" charset="-122"/>
                <a:cs typeface="Consolas" pitchFamily="34" charset="-120"/>
              </a:rPr>
              <a:t> /b1s/v1/VSVEHICULO('V001')</a:t>
            </a:r>
            <a:endParaRPr lang="en-US" sz="780" dirty="0"/>
          </a:p>
          <a:p>
            <a:pPr marL="0" indent="0">
              <a:lnSpc>
                <a:spcPct val="100000"/>
              </a:lnSpc>
              <a:buNone/>
            </a:pPr>
            <a:r>
              <a:rPr lang="en-US" sz="780" dirty="0">
                <a:solidFill>
                  <a:srgbClr val="DCE6F2"/>
                </a:solidFill>
                <a:latin typeface="Consolas" pitchFamily="34" charset="0"/>
                <a:ea typeface="Consolas" pitchFamily="34" charset="-122"/>
                <a:cs typeface="Consolas" pitchFamily="34" charset="-120"/>
              </a:rPr>
              <a:t> </a:t>
            </a:r>
            <a:endParaRPr lang="en-US" sz="780" dirty="0"/>
          </a:p>
          <a:p>
            <a:pPr marL="0" indent="0">
              <a:lnSpc>
                <a:spcPct val="100000"/>
              </a:lnSpc>
              <a:buNone/>
            </a:pPr>
            <a:r>
              <a:rPr lang="en-US" sz="780" i="1" dirty="0">
                <a:solidFill>
                  <a:srgbClr val="7D8FA8"/>
                </a:solidFill>
                <a:latin typeface="Consolas" pitchFamily="34" charset="0"/>
                <a:ea typeface="Consolas" pitchFamily="34" charset="-122"/>
                <a:cs typeface="Consolas" pitchFamily="34" charset="-120"/>
              </a:rPr>
              <a:t>// UDO Documento (clave DocEntry)</a:t>
            </a:r>
            <a:endParaRPr lang="en-US" sz="780" dirty="0"/>
          </a:p>
          <a:p>
            <a:pPr marL="0" indent="0">
              <a:lnSpc>
                <a:spcPct val="100000"/>
              </a:lnSpc>
              <a:buNone/>
            </a:pPr>
            <a:r>
              <a:rPr lang="en-US" sz="780" b="1" dirty="0">
                <a:solidFill>
                  <a:srgbClr val="F5A800"/>
                </a:solidFill>
                <a:latin typeface="Consolas" pitchFamily="34" charset="0"/>
                <a:ea typeface="Consolas" pitchFamily="34" charset="-122"/>
                <a:cs typeface="Consolas" pitchFamily="34" charset="-120"/>
              </a:rPr>
              <a:t>POST</a:t>
            </a:r>
            <a:r>
              <a:rPr lang="en-US" sz="780" dirty="0">
                <a:solidFill>
                  <a:srgbClr val="DCE6F2"/>
                </a:solidFill>
                <a:latin typeface="Consolas" pitchFamily="34" charset="0"/>
                <a:ea typeface="Consolas" pitchFamily="34" charset="-122"/>
                <a:cs typeface="Consolas" pitchFamily="34" charset="-120"/>
              </a:rPr>
              <a:t> /b1s/v1/VSORDTRANS(15)/Cancel</a:t>
            </a:r>
            <a:endParaRPr lang="en-US" sz="780" dirty="0"/>
          </a:p>
          <a:p>
            <a:pPr marL="0" indent="0">
              <a:lnSpc>
                <a:spcPct val="100000"/>
              </a:lnSpc>
              <a:buNone/>
            </a:pPr>
            <a:r>
              <a:rPr lang="en-US" sz="780" b="1" dirty="0">
                <a:solidFill>
                  <a:srgbClr val="F5A800"/>
                </a:solidFill>
                <a:latin typeface="Consolas" pitchFamily="34" charset="0"/>
                <a:ea typeface="Consolas" pitchFamily="34" charset="-122"/>
                <a:cs typeface="Consolas" pitchFamily="34" charset="-120"/>
              </a:rPr>
              <a:t>POST</a:t>
            </a:r>
            <a:r>
              <a:rPr lang="en-US" sz="780" dirty="0">
                <a:solidFill>
                  <a:srgbClr val="DCE6F2"/>
                </a:solidFill>
                <a:latin typeface="Consolas" pitchFamily="34" charset="0"/>
                <a:ea typeface="Consolas" pitchFamily="34" charset="-122"/>
                <a:cs typeface="Consolas" pitchFamily="34" charset="-120"/>
              </a:rPr>
              <a:t> /b1s/v1/VSORDTRANS(15)/Close</a:t>
            </a:r>
            <a:endParaRPr lang="en-US" sz="780" dirty="0"/>
          </a:p>
        </p:txBody>
      </p:sp>
      <p:sp>
        <p:nvSpPr>
          <p:cNvPr id="37" name="Shape 35"/>
          <p:cNvSpPr/>
          <p:nvPr/>
        </p:nvSpPr>
        <p:spPr>
          <a:xfrm>
            <a:off x="6035040" y="3044952"/>
            <a:ext cx="2651760" cy="1536192"/>
          </a:xfrm>
          <a:prstGeom prst="roundRect">
            <a:avLst>
              <a:gd name="adj" fmla="val 4762"/>
            </a:avLst>
          </a:prstGeom>
          <a:solidFill>
            <a:srgbClr val="FFF8E6"/>
          </a:solidFill>
          <a:ln w="9525">
            <a:solidFill>
              <a:srgbClr val="D5DFEC"/>
            </a:solidFill>
            <a:prstDash val="solid"/>
          </a:ln>
          <a:effectLst>
            <a:outerShdw blurRad="101600" dist="25400" dir="5400000" algn="bl" rotWithShape="0">
              <a:srgbClr val="0B2A55">
                <a:alpha val="12000"/>
              </a:srgbClr>
            </a:outerShdw>
          </a:effectLst>
        </p:spPr>
      </p:sp>
      <p:sp>
        <p:nvSpPr>
          <p:cNvPr id="38" name="Text 36"/>
          <p:cNvSpPr txBox="1"/>
          <p:nvPr/>
        </p:nvSpPr>
        <p:spPr>
          <a:xfrm>
            <a:off x="6172200" y="3154680"/>
            <a:ext cx="2377440" cy="1316736"/>
          </a:xfrm>
          <a:prstGeom prst="rect">
            <a:avLst/>
          </a:prstGeom>
          <a:noFill/>
          <a:ln/>
        </p:spPr>
        <p:txBody>
          <a:bodyPr wrap="square" lIns="0" tIns="0" rIns="0" bIns="0" rtlCol="0" anchor="t"/>
          <a:lstStyle/>
          <a:p>
            <a:pPr marL="0" indent="0">
              <a:buNone/>
            </a:pPr>
            <a:r>
              <a:rPr lang="en-US" sz="1100" b="1" dirty="0">
                <a:solidFill>
                  <a:srgbClr val="071B3F"/>
                </a:solidFill>
                <a:latin typeface="Segoe UI" pitchFamily="34" charset="0"/>
                <a:ea typeface="Segoe UI" pitchFamily="34" charset="-122"/>
                <a:cs typeface="Segoe UI" pitchFamily="34" charset="-120"/>
              </a:rPr>
              <a:t>Claves a recordar</a:t>
            </a:r>
            <a:endParaRPr lang="en-US" sz="980" dirty="0"/>
          </a:p>
          <a:p>
            <a:pPr marL="342900" indent="-342900">
              <a:buSzPct val="100000"/>
              <a:buChar char="•"/>
            </a:pPr>
            <a:r>
              <a:rPr lang="en-US" sz="980" dirty="0">
                <a:solidFill>
                  <a:srgbClr val="1B2433"/>
                </a:solidFill>
                <a:latin typeface="Calibri" pitchFamily="34" charset="0"/>
                <a:ea typeface="Calibri" pitchFamily="34" charset="-122"/>
                <a:cs typeface="Calibri" pitchFamily="34" charset="-120"/>
              </a:rPr>
              <a:t>El endpoint es el código del UDO, no la tabla.</a:t>
            </a:r>
            <a:endParaRPr lang="en-US" sz="980" dirty="0"/>
          </a:p>
          <a:p>
            <a:pPr marL="342900" indent="-342900">
              <a:buSzPct val="100000"/>
              <a:buChar char="•"/>
            </a:pPr>
            <a:r>
              <a:rPr lang="en-US" sz="980" dirty="0">
                <a:solidFill>
                  <a:srgbClr val="1B2433"/>
                </a:solidFill>
                <a:latin typeface="Calibri" pitchFamily="34" charset="0"/>
                <a:ea typeface="Calibri" pitchFamily="34" charset="-122"/>
                <a:cs typeface="Calibri" pitchFamily="34" charset="-120"/>
              </a:rPr>
              <a:t>Hijas: &lt;TablaHija&gt;Collection (sin @).</a:t>
            </a:r>
            <a:endParaRPr lang="en-US" sz="980" dirty="0"/>
          </a:p>
          <a:p>
            <a:pPr marL="342900" indent="-342900">
              <a:buSzPct val="100000"/>
              <a:buChar char="•"/>
            </a:pPr>
            <a:r>
              <a:rPr lang="en-US" sz="980" dirty="0">
                <a:solidFill>
                  <a:srgbClr val="1B2433"/>
                </a:solidFill>
                <a:latin typeface="Calibri" pitchFamily="34" charset="0"/>
                <a:ea typeface="Calibri" pitchFamily="34" charset="-122"/>
                <a:cs typeface="Calibri" pitchFamily="34" charset="-120"/>
              </a:rPr>
              <a:t>PATCH: con LineId actualiza, sin LineId agrega.</a:t>
            </a:r>
            <a:endParaRPr lang="en-US" sz="980" dirty="0"/>
          </a:p>
          <a:p>
            <a:pPr marL="342900" indent="-342900">
              <a:buSzPct val="100000"/>
              <a:buChar char="•"/>
            </a:pPr>
            <a:r>
              <a:rPr lang="en-US" sz="980" dirty="0">
                <a:solidFill>
                  <a:srgbClr val="1B2433"/>
                </a:solidFill>
                <a:latin typeface="Calibri" pitchFamily="34" charset="0"/>
                <a:ea typeface="Calibri" pitchFamily="34" charset="-122"/>
                <a:cs typeface="Calibri" pitchFamily="34" charset="-120"/>
              </a:rPr>
              <a:t>PUT reemplaza también la colección.</a:t>
            </a:r>
            <a:endParaRPr lang="en-US" sz="980" dirty="0"/>
          </a:p>
        </p:txBody>
      </p:sp>
      <p:sp>
        <p:nvSpPr>
          <p:cNvPr id="39"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xmlns="" val="0"/>
            </a:ext>
          </a:extLst>
        </p:spPr>
        <p:txBody>
          <a:bodyPr/>
          <a:lstStyle>
            <a:lvl1pPr>
              <a:defRPr sz="800">
                <a:solidFill>
                  <a:srgbClr val="8A9AB0"/>
                </a:solidFill>
                <a:latin typeface="Calibri"/>
                <a:ea typeface="Calibri"/>
                <a:cs typeface="Calibri"/>
              </a:defRPr>
            </a:lvl1pPr>
          </a:lstStyle>
          <a:p>
            <a:pPr algn="r"/>
            <a:fld id="{F7021451-1387-4CA6-816F-3879F97B5CBC}" type="slidenum">
              <a:rPr lang="en-US" b="0"/>
              <a:t>35</a:t>
            </a:fld>
            <a:endParaRPr lang="en-US"/>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457200" y="256032"/>
            <a:ext cx="2505456" cy="237744"/>
          </a:xfrm>
          <a:prstGeom prst="roundRect">
            <a:avLst>
              <a:gd name="adj" fmla="val 50000"/>
            </a:avLst>
          </a:prstGeom>
          <a:solidFill>
            <a:srgbClr val="071B3F"/>
          </a:solidFill>
          <a:ln w="12700">
            <a:solidFill>
              <a:srgbClr val="071B3F"/>
            </a:solidFill>
            <a:prstDash val="solid"/>
          </a:ln>
        </p:spPr>
      </p:sp>
      <p:sp>
        <p:nvSpPr>
          <p:cNvPr id="3" name="Text 1"/>
          <p:cNvSpPr txBox="1"/>
          <p:nvPr/>
        </p:nvSpPr>
        <p:spPr>
          <a:xfrm>
            <a:off x="457200" y="256032"/>
            <a:ext cx="2505456" cy="237744"/>
          </a:xfrm>
          <a:prstGeom prst="rect">
            <a:avLst/>
          </a:prstGeom>
          <a:noFill/>
          <a:ln/>
        </p:spPr>
        <p:txBody>
          <a:bodyPr wrap="square" lIns="0" tIns="0" rIns="0" bIns="0" rtlCol="0" anchor="ctr"/>
          <a:lstStyle/>
          <a:p>
            <a:pPr marL="0" indent="0" algn="ctr">
              <a:buNone/>
            </a:pPr>
            <a:r>
              <a:rPr lang="en-US" sz="850" b="1" kern="0" spc="100" dirty="0">
                <a:solidFill>
                  <a:srgbClr val="F5A800"/>
                </a:solidFill>
                <a:latin typeface="Segoe UI" pitchFamily="34" charset="0"/>
                <a:ea typeface="Segoe UI" pitchFamily="34" charset="-122"/>
                <a:cs typeface="Segoe UI" pitchFamily="34" charset="-120"/>
              </a:rPr>
              <a:t>05  ·  FLUJOS DE OPERACIÓN III</a:t>
            </a:r>
            <a:endParaRPr lang="en-US" sz="850" dirty="0"/>
          </a:p>
        </p:txBody>
      </p:sp>
      <p:sp>
        <p:nvSpPr>
          <p:cNvPr id="4" name="Text 2"/>
          <p:cNvSpPr txBox="1"/>
          <p:nvPr/>
        </p:nvSpPr>
        <p:spPr>
          <a:xfrm>
            <a:off x="457200" y="566928"/>
            <a:ext cx="8229600" cy="502920"/>
          </a:xfrm>
          <a:prstGeom prst="rect">
            <a:avLst/>
          </a:prstGeom>
          <a:noFill/>
          <a:ln/>
        </p:spPr>
        <p:txBody>
          <a:bodyPr wrap="square" lIns="0" tIns="0" rIns="0" bIns="0" rtlCol="0" anchor="ctr"/>
          <a:lstStyle/>
          <a:p>
            <a:pPr marL="0" indent="0">
              <a:buNone/>
            </a:pPr>
            <a:r>
              <a:rPr lang="en-US" sz="2400" b="1" dirty="0">
                <a:solidFill>
                  <a:srgbClr val="071B3F"/>
                </a:solidFill>
                <a:latin typeface="Segoe UI" pitchFamily="34" charset="0"/>
                <a:ea typeface="Segoe UI" pitchFamily="34" charset="-122"/>
                <a:cs typeface="Segoe UI" pitchFamily="34" charset="-120"/>
              </a:rPr>
              <a:t>Operación batch: casos de uso y rollback</a:t>
            </a:r>
            <a:endParaRPr lang="en-US" sz="2400" dirty="0"/>
          </a:p>
        </p:txBody>
      </p:sp>
      <p:sp>
        <p:nvSpPr>
          <p:cNvPr id="5" name="Text 3"/>
          <p:cNvSpPr txBox="1"/>
          <p:nvPr/>
        </p:nvSpPr>
        <p:spPr>
          <a:xfrm>
            <a:off x="457200" y="1051560"/>
            <a:ext cx="8229600" cy="274320"/>
          </a:xfrm>
          <a:prstGeom prst="rect">
            <a:avLst/>
          </a:prstGeom>
          <a:noFill/>
          <a:ln/>
        </p:spPr>
        <p:txBody>
          <a:bodyPr wrap="square" lIns="0" tIns="0" rIns="0" bIns="0" rtlCol="0" anchor="ctr"/>
          <a:lstStyle/>
          <a:p>
            <a:pPr marL="0" indent="0">
              <a:buNone/>
            </a:pPr>
            <a:r>
              <a:rPr lang="en-US" sz="1250" dirty="0">
                <a:solidFill>
                  <a:srgbClr val="5B6B82"/>
                </a:solidFill>
                <a:latin typeface="Calibri" pitchFamily="34" charset="0"/>
                <a:ea typeface="Calibri" pitchFamily="34" charset="-122"/>
                <a:cs typeface="Calibri" pitchFamily="34" charset="-120"/>
              </a:rPr>
              <a:t>Varias operaciones en una sola petición HTTP: POST /b1s/v1/$batch</a:t>
            </a:r>
            <a:endParaRPr lang="en-US" sz="1250" dirty="0"/>
          </a:p>
        </p:txBody>
      </p:sp>
      <p:sp>
        <p:nvSpPr>
          <p:cNvPr id="6" name="Text 4"/>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00" dirty="0">
                <a:solidFill>
                  <a:srgbClr val="8A9AB0"/>
                </a:solidFill>
                <a:latin typeface="Calibri" pitchFamily="34" charset="0"/>
                <a:ea typeface="Calibri" pitchFamily="34" charset="-122"/>
                <a:cs typeface="Calibri" pitchFamily="34" charset="-120"/>
              </a:rPr>
              <a:t>Ventura Soluciones  |  SAP Business One · Service Layer</a:t>
            </a:r>
            <a:endParaRPr lang="en-US" sz="800" dirty="0"/>
          </a:p>
        </p:txBody>
      </p:sp>
      <p:sp>
        <p:nvSpPr>
          <p:cNvPr id="7" name="Shape 5"/>
          <p:cNvSpPr/>
          <p:nvPr/>
        </p:nvSpPr>
        <p:spPr>
          <a:xfrm>
            <a:off x="457200" y="1417320"/>
            <a:ext cx="3931920" cy="3291840"/>
          </a:xfrm>
          <a:prstGeom prst="roundRect">
            <a:avLst>
              <a:gd name="adj" fmla="val 2222"/>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8" name="Text 6"/>
          <p:cNvSpPr txBox="1"/>
          <p:nvPr/>
        </p:nvSpPr>
        <p:spPr>
          <a:xfrm>
            <a:off x="640080" y="1508760"/>
            <a:ext cx="2743200" cy="274320"/>
          </a:xfrm>
          <a:prstGeom prst="rect">
            <a:avLst/>
          </a:prstGeom>
          <a:noFill/>
          <a:ln/>
        </p:spPr>
        <p:txBody>
          <a:bodyPr wrap="square" lIns="0" tIns="0" rIns="0" bIns="0" rtlCol="0" anchor="t"/>
          <a:lstStyle/>
          <a:p>
            <a:pPr marL="0" indent="0">
              <a:buNone/>
            </a:pPr>
            <a:r>
              <a:rPr lang="en-US" sz="1100" b="1" dirty="0">
                <a:solidFill>
                  <a:srgbClr val="071B3F"/>
                </a:solidFill>
                <a:latin typeface="Consolas" pitchFamily="34" charset="0"/>
                <a:ea typeface="Consolas" pitchFamily="34" charset="-122"/>
                <a:cs typeface="Consolas" pitchFamily="34" charset="-120"/>
              </a:rPr>
              <a:t>POST /$batch</a:t>
            </a:r>
            <a:endParaRPr lang="en-US" sz="1100" dirty="0"/>
          </a:p>
        </p:txBody>
      </p:sp>
      <p:sp>
        <p:nvSpPr>
          <p:cNvPr id="9" name="Shape 7"/>
          <p:cNvSpPr/>
          <p:nvPr/>
        </p:nvSpPr>
        <p:spPr>
          <a:xfrm>
            <a:off x="640080" y="1828800"/>
            <a:ext cx="3566160" cy="960120"/>
          </a:xfrm>
          <a:prstGeom prst="roundRect">
            <a:avLst>
              <a:gd name="adj" fmla="val 5714"/>
            </a:avLst>
          </a:prstGeom>
          <a:solidFill>
            <a:srgbClr val="EAF2FD"/>
          </a:solidFill>
          <a:ln w="15875">
            <a:solidFill>
              <a:srgbClr val="0B4DA2"/>
            </a:solidFill>
            <a:prstDash val="solid"/>
          </a:ln>
        </p:spPr>
      </p:sp>
      <p:sp>
        <p:nvSpPr>
          <p:cNvPr id="10" name="Text 8"/>
          <p:cNvSpPr txBox="1"/>
          <p:nvPr/>
        </p:nvSpPr>
        <p:spPr>
          <a:xfrm>
            <a:off x="749808" y="1883664"/>
            <a:ext cx="3383280" cy="228600"/>
          </a:xfrm>
          <a:prstGeom prst="rect">
            <a:avLst/>
          </a:prstGeom>
          <a:noFill/>
          <a:ln/>
        </p:spPr>
        <p:txBody>
          <a:bodyPr wrap="square" lIns="0" tIns="0" rIns="0" bIns="0" rtlCol="0" anchor="t"/>
          <a:lstStyle/>
          <a:p>
            <a:pPr marL="0" indent="0">
              <a:buNone/>
            </a:pPr>
            <a:r>
              <a:rPr lang="en-US" sz="950" b="1" dirty="0">
                <a:solidFill>
                  <a:srgbClr val="0B4DA2"/>
                </a:solidFill>
                <a:latin typeface="Segoe UI" pitchFamily="34" charset="0"/>
                <a:ea typeface="Segoe UI" pitchFamily="34" charset="-122"/>
                <a:cs typeface="Segoe UI" pitchFamily="34" charset="-120"/>
              </a:rPr>
              <a:t>Changeset 1  ·  atómico (todo o nada)</a:t>
            </a:r>
            <a:endParaRPr lang="en-US" sz="950" dirty="0"/>
          </a:p>
        </p:txBody>
      </p:sp>
      <p:sp>
        <p:nvSpPr>
          <p:cNvPr id="11" name="Text 9"/>
          <p:cNvSpPr txBox="1"/>
          <p:nvPr/>
        </p:nvSpPr>
        <p:spPr>
          <a:xfrm>
            <a:off x="822960" y="2130552"/>
            <a:ext cx="3291840" cy="219456"/>
          </a:xfrm>
          <a:prstGeom prst="rect">
            <a:avLst/>
          </a:prstGeom>
          <a:noFill/>
          <a:ln/>
        </p:spPr>
        <p:txBody>
          <a:bodyPr wrap="square" lIns="0" tIns="0" rIns="0" bIns="0" rtlCol="0" anchor="t"/>
          <a:lstStyle/>
          <a:p>
            <a:pPr marL="0" indent="0">
              <a:buNone/>
            </a:pPr>
            <a:r>
              <a:rPr lang="en-US" sz="850" dirty="0">
                <a:solidFill>
                  <a:srgbClr val="1B2433"/>
                </a:solidFill>
                <a:latin typeface="Consolas" pitchFamily="34" charset="0"/>
                <a:ea typeface="Consolas" pitchFamily="34" charset="-122"/>
                <a:cs typeface="Consolas" pitchFamily="34" charset="-120"/>
              </a:rPr>
              <a:t>POST BusinessPartners</a:t>
            </a:r>
            <a:endParaRPr lang="en-US" sz="850" dirty="0"/>
          </a:p>
        </p:txBody>
      </p:sp>
      <p:sp>
        <p:nvSpPr>
          <p:cNvPr id="12" name="Text 10"/>
          <p:cNvSpPr txBox="1"/>
          <p:nvPr/>
        </p:nvSpPr>
        <p:spPr>
          <a:xfrm>
            <a:off x="822960" y="2359152"/>
            <a:ext cx="3291840" cy="219456"/>
          </a:xfrm>
          <a:prstGeom prst="rect">
            <a:avLst/>
          </a:prstGeom>
          <a:noFill/>
          <a:ln/>
        </p:spPr>
        <p:txBody>
          <a:bodyPr wrap="square" lIns="0" tIns="0" rIns="0" bIns="0" rtlCol="0" anchor="t"/>
          <a:lstStyle/>
          <a:p>
            <a:pPr marL="0" indent="0">
              <a:buNone/>
            </a:pPr>
            <a:r>
              <a:rPr lang="en-US" sz="850" dirty="0">
                <a:solidFill>
                  <a:srgbClr val="1B2433"/>
                </a:solidFill>
                <a:latin typeface="Consolas" pitchFamily="34" charset="0"/>
                <a:ea typeface="Consolas" pitchFamily="34" charset="-122"/>
                <a:cs typeface="Consolas" pitchFamily="34" charset="-120"/>
              </a:rPr>
              <a:t>POST Orders  ✖ error → rollback de ambos</a:t>
            </a:r>
            <a:endParaRPr lang="en-US" sz="850" dirty="0"/>
          </a:p>
        </p:txBody>
      </p:sp>
      <p:sp>
        <p:nvSpPr>
          <p:cNvPr id="13" name="Shape 11"/>
          <p:cNvSpPr/>
          <p:nvPr/>
        </p:nvSpPr>
        <p:spPr>
          <a:xfrm>
            <a:off x="640080" y="2880360"/>
            <a:ext cx="3566160" cy="566928"/>
          </a:xfrm>
          <a:prstGeom prst="roundRect">
            <a:avLst>
              <a:gd name="adj" fmla="val 9677"/>
            </a:avLst>
          </a:prstGeom>
          <a:solidFill>
            <a:srgbClr val="FFFFFF"/>
          </a:solidFill>
          <a:ln w="15875">
            <a:solidFill>
              <a:srgbClr val="9FB3CC"/>
            </a:solidFill>
            <a:prstDash val="solid"/>
          </a:ln>
        </p:spPr>
      </p:sp>
      <p:sp>
        <p:nvSpPr>
          <p:cNvPr id="14" name="Text 12"/>
          <p:cNvSpPr txBox="1"/>
          <p:nvPr/>
        </p:nvSpPr>
        <p:spPr>
          <a:xfrm>
            <a:off x="749808" y="2935224"/>
            <a:ext cx="3383280" cy="228600"/>
          </a:xfrm>
          <a:prstGeom prst="rect">
            <a:avLst/>
          </a:prstGeom>
          <a:noFill/>
          <a:ln/>
        </p:spPr>
        <p:txBody>
          <a:bodyPr wrap="square" lIns="0" tIns="0" rIns="0" bIns="0" rtlCol="0" anchor="t"/>
          <a:lstStyle/>
          <a:p>
            <a:pPr marL="0" indent="0">
              <a:buNone/>
            </a:pPr>
            <a:r>
              <a:rPr lang="en-US" sz="950" b="1" dirty="0">
                <a:solidFill>
                  <a:srgbClr val="5B6B82"/>
                </a:solidFill>
                <a:latin typeface="Segoe UI" pitchFamily="34" charset="0"/>
                <a:ea typeface="Segoe UI" pitchFamily="34" charset="-122"/>
                <a:cs typeface="Segoe UI" pitchFamily="34" charset="-120"/>
              </a:rPr>
              <a:t>Petición independiente</a:t>
            </a:r>
            <a:endParaRPr lang="en-US" sz="950" dirty="0"/>
          </a:p>
        </p:txBody>
      </p:sp>
      <p:sp>
        <p:nvSpPr>
          <p:cNvPr id="15" name="Text 13"/>
          <p:cNvSpPr txBox="1"/>
          <p:nvPr/>
        </p:nvSpPr>
        <p:spPr>
          <a:xfrm>
            <a:off x="822960" y="3182112"/>
            <a:ext cx="3291840" cy="219456"/>
          </a:xfrm>
          <a:prstGeom prst="rect">
            <a:avLst/>
          </a:prstGeom>
          <a:noFill/>
          <a:ln/>
        </p:spPr>
        <p:txBody>
          <a:bodyPr wrap="square" lIns="0" tIns="0" rIns="0" bIns="0" rtlCol="0" anchor="t"/>
          <a:lstStyle/>
          <a:p>
            <a:pPr marL="0" indent="0">
              <a:buNone/>
            </a:pPr>
            <a:r>
              <a:rPr lang="en-US" sz="850" dirty="0">
                <a:solidFill>
                  <a:srgbClr val="1B2433"/>
                </a:solidFill>
                <a:latin typeface="Consolas" pitchFamily="34" charset="0"/>
                <a:ea typeface="Consolas" pitchFamily="34" charset="-122"/>
                <a:cs typeface="Consolas" pitchFamily="34" charset="-120"/>
              </a:rPr>
              <a:t>GET Items('PT-0001')</a:t>
            </a:r>
            <a:endParaRPr lang="en-US" sz="850" dirty="0"/>
          </a:p>
        </p:txBody>
      </p:sp>
      <p:sp>
        <p:nvSpPr>
          <p:cNvPr id="16" name="Shape 14"/>
          <p:cNvSpPr/>
          <p:nvPr/>
        </p:nvSpPr>
        <p:spPr>
          <a:xfrm>
            <a:off x="640080" y="3538728"/>
            <a:ext cx="3566160" cy="960120"/>
          </a:xfrm>
          <a:prstGeom prst="roundRect">
            <a:avLst>
              <a:gd name="adj" fmla="val 5714"/>
            </a:avLst>
          </a:prstGeom>
          <a:solidFill>
            <a:srgbClr val="EAF7F0"/>
          </a:solidFill>
          <a:ln w="15875">
            <a:solidFill>
              <a:srgbClr val="2E9E6A"/>
            </a:solidFill>
            <a:prstDash val="solid"/>
          </a:ln>
        </p:spPr>
      </p:sp>
      <p:sp>
        <p:nvSpPr>
          <p:cNvPr id="17" name="Text 15"/>
          <p:cNvSpPr txBox="1"/>
          <p:nvPr/>
        </p:nvSpPr>
        <p:spPr>
          <a:xfrm>
            <a:off x="749808" y="3593592"/>
            <a:ext cx="3383280" cy="228600"/>
          </a:xfrm>
          <a:prstGeom prst="rect">
            <a:avLst/>
          </a:prstGeom>
          <a:noFill/>
          <a:ln/>
        </p:spPr>
        <p:txBody>
          <a:bodyPr wrap="square" lIns="0" tIns="0" rIns="0" bIns="0" rtlCol="0" anchor="t"/>
          <a:lstStyle/>
          <a:p>
            <a:pPr marL="0" indent="0">
              <a:buNone/>
            </a:pPr>
            <a:r>
              <a:rPr lang="en-US" sz="950" b="1" dirty="0">
                <a:solidFill>
                  <a:srgbClr val="2E9E6A"/>
                </a:solidFill>
                <a:latin typeface="Segoe UI" pitchFamily="34" charset="0"/>
                <a:ea typeface="Segoe UI" pitchFamily="34" charset="-122"/>
                <a:cs typeface="Segoe UI" pitchFamily="34" charset="-120"/>
              </a:rPr>
              <a:t>Changeset 2  ·  atómico</a:t>
            </a:r>
            <a:endParaRPr lang="en-US" sz="950" dirty="0"/>
          </a:p>
        </p:txBody>
      </p:sp>
      <p:sp>
        <p:nvSpPr>
          <p:cNvPr id="18" name="Text 16"/>
          <p:cNvSpPr txBox="1"/>
          <p:nvPr/>
        </p:nvSpPr>
        <p:spPr>
          <a:xfrm>
            <a:off x="822960" y="3840480"/>
            <a:ext cx="3291840" cy="219456"/>
          </a:xfrm>
          <a:prstGeom prst="rect">
            <a:avLst/>
          </a:prstGeom>
          <a:noFill/>
          <a:ln/>
        </p:spPr>
        <p:txBody>
          <a:bodyPr wrap="square" lIns="0" tIns="0" rIns="0" bIns="0" rtlCol="0" anchor="t"/>
          <a:lstStyle/>
          <a:p>
            <a:pPr marL="0" indent="0">
              <a:buNone/>
            </a:pPr>
            <a:r>
              <a:rPr lang="en-US" sz="850" dirty="0">
                <a:solidFill>
                  <a:srgbClr val="1B2433"/>
                </a:solidFill>
                <a:latin typeface="Consolas" pitchFamily="34" charset="0"/>
                <a:ea typeface="Consolas" pitchFamily="34" charset="-122"/>
                <a:cs typeface="Consolas" pitchFamily="34" charset="-120"/>
              </a:rPr>
              <a:t>PATCH Items('PT-0001')</a:t>
            </a:r>
            <a:endParaRPr lang="en-US" sz="850" dirty="0"/>
          </a:p>
        </p:txBody>
      </p:sp>
      <p:sp>
        <p:nvSpPr>
          <p:cNvPr id="19" name="Text 17"/>
          <p:cNvSpPr txBox="1"/>
          <p:nvPr/>
        </p:nvSpPr>
        <p:spPr>
          <a:xfrm>
            <a:off x="822960" y="4069080"/>
            <a:ext cx="3291840" cy="219456"/>
          </a:xfrm>
          <a:prstGeom prst="rect">
            <a:avLst/>
          </a:prstGeom>
          <a:noFill/>
          <a:ln/>
        </p:spPr>
        <p:txBody>
          <a:bodyPr wrap="square" lIns="0" tIns="0" rIns="0" bIns="0" rtlCol="0" anchor="t"/>
          <a:lstStyle/>
          <a:p>
            <a:pPr marL="0" indent="0">
              <a:buNone/>
            </a:pPr>
            <a:r>
              <a:rPr lang="en-US" sz="850" dirty="0">
                <a:solidFill>
                  <a:srgbClr val="1B2433"/>
                </a:solidFill>
                <a:latin typeface="Consolas" pitchFamily="34" charset="0"/>
                <a:ea typeface="Consolas" pitchFamily="34" charset="-122"/>
                <a:cs typeface="Consolas" pitchFamily="34" charset="-120"/>
              </a:rPr>
              <a:t>POST JournalEntries  ✔ se confirma</a:t>
            </a:r>
            <a:endParaRPr lang="en-US" sz="850" dirty="0"/>
          </a:p>
        </p:txBody>
      </p:sp>
      <p:sp>
        <p:nvSpPr>
          <p:cNvPr id="20" name="Shape 18"/>
          <p:cNvSpPr/>
          <p:nvPr/>
        </p:nvSpPr>
        <p:spPr>
          <a:xfrm>
            <a:off x="4617720" y="1463040"/>
            <a:ext cx="402336" cy="402336"/>
          </a:xfrm>
          <a:prstGeom prst="ellipse">
            <a:avLst/>
          </a:prstGeom>
          <a:solidFill>
            <a:srgbClr val="E8F1FC"/>
          </a:solidFill>
          <a:ln w="12700">
            <a:solidFill>
              <a:srgbClr val="E8F1FC"/>
            </a:solidFill>
            <a:prstDash val="solid"/>
          </a:ln>
        </p:spPr>
      </p:sp>
      <p:pic>
        <p:nvPicPr>
          <p:cNvPr id="21" name="Image 0" descr="preencoded.png"/>
          <p:cNvPicPr>
            <a:picLocks noChangeAspect="1"/>
          </p:cNvPicPr>
          <p:nvPr/>
        </p:nvPicPr>
        <p:blipFill>
          <a:blip r:embed="rId3"/>
          <a:stretch>
            <a:fillRect/>
          </a:stretch>
        </p:blipFill>
        <p:spPr>
          <a:xfrm>
            <a:off x="4722327" y="1567647"/>
            <a:ext cx="193121" cy="193121"/>
          </a:xfrm>
          <a:prstGeom prst="rect">
            <a:avLst/>
          </a:prstGeom>
        </p:spPr>
      </p:pic>
      <p:sp>
        <p:nvSpPr>
          <p:cNvPr id="22" name="Text 19"/>
          <p:cNvSpPr txBox="1"/>
          <p:nvPr/>
        </p:nvSpPr>
        <p:spPr>
          <a:xfrm>
            <a:off x="5138928" y="1417320"/>
            <a:ext cx="3566160" cy="237744"/>
          </a:xfrm>
          <a:prstGeom prst="rect">
            <a:avLst/>
          </a:prstGeom>
          <a:noFill/>
          <a:ln/>
        </p:spPr>
        <p:txBody>
          <a:bodyPr wrap="square" lIns="0" tIns="0" rIns="0" bIns="0" rtlCol="0" anchor="t"/>
          <a:lstStyle/>
          <a:p>
            <a:pPr marL="0" indent="0">
              <a:buNone/>
            </a:pPr>
            <a:r>
              <a:rPr lang="en-US" sz="1150" b="1" dirty="0">
                <a:solidFill>
                  <a:srgbClr val="071B3F"/>
                </a:solidFill>
                <a:latin typeface="Segoe UI" pitchFamily="34" charset="0"/>
                <a:ea typeface="Segoe UI" pitchFamily="34" charset="-122"/>
                <a:cs typeface="Segoe UI" pitchFamily="34" charset="-120"/>
              </a:rPr>
              <a:t>Changeset = transacción</a:t>
            </a:r>
            <a:endParaRPr lang="en-US" sz="1150" dirty="0"/>
          </a:p>
        </p:txBody>
      </p:sp>
      <p:sp>
        <p:nvSpPr>
          <p:cNvPr id="23" name="Text 20"/>
          <p:cNvSpPr txBox="1"/>
          <p:nvPr/>
        </p:nvSpPr>
        <p:spPr>
          <a:xfrm>
            <a:off x="5138928" y="1655064"/>
            <a:ext cx="3566160" cy="402336"/>
          </a:xfrm>
          <a:prstGeom prst="rect">
            <a:avLst/>
          </a:prstGeom>
          <a:noFill/>
          <a:ln/>
        </p:spPr>
        <p:txBody>
          <a:bodyPr wrap="square" lIns="0" tIns="0" rIns="0" bIns="0" rtlCol="0" anchor="t"/>
          <a:lstStyle/>
          <a:p>
            <a:pPr marL="0" indent="0">
              <a:buNone/>
            </a:pPr>
            <a:r>
              <a:rPr lang="en-US" sz="1000" dirty="0">
                <a:solidFill>
                  <a:srgbClr val="5B6B82"/>
                </a:solidFill>
                <a:latin typeface="Calibri" pitchFamily="34" charset="0"/>
                <a:ea typeface="Calibri" pitchFamily="34" charset="-122"/>
                <a:cs typeface="Calibri" pitchFamily="34" charset="-120"/>
              </a:rPr>
              <a:t>Si una operación falla, SL revierte todas las del mismo changeset.</a:t>
            </a:r>
            <a:endParaRPr lang="en-US" sz="1000" dirty="0"/>
          </a:p>
        </p:txBody>
      </p:sp>
      <p:sp>
        <p:nvSpPr>
          <p:cNvPr id="24" name="Shape 21"/>
          <p:cNvSpPr/>
          <p:nvPr/>
        </p:nvSpPr>
        <p:spPr>
          <a:xfrm>
            <a:off x="4617720" y="2130552"/>
            <a:ext cx="402336" cy="402336"/>
          </a:xfrm>
          <a:prstGeom prst="ellipse">
            <a:avLst/>
          </a:prstGeom>
          <a:solidFill>
            <a:srgbClr val="E8F1FC"/>
          </a:solidFill>
          <a:ln w="12700">
            <a:solidFill>
              <a:srgbClr val="E8F1FC"/>
            </a:solidFill>
            <a:prstDash val="solid"/>
          </a:ln>
        </p:spPr>
      </p:sp>
      <p:pic>
        <p:nvPicPr>
          <p:cNvPr id="25" name="Image 1" descr="preencoded.png"/>
          <p:cNvPicPr>
            <a:picLocks noChangeAspect="1"/>
          </p:cNvPicPr>
          <p:nvPr/>
        </p:nvPicPr>
        <p:blipFill>
          <a:blip r:embed="rId4"/>
          <a:stretch>
            <a:fillRect/>
          </a:stretch>
        </p:blipFill>
        <p:spPr>
          <a:xfrm>
            <a:off x="4722327" y="2235159"/>
            <a:ext cx="193121" cy="193121"/>
          </a:xfrm>
          <a:prstGeom prst="rect">
            <a:avLst/>
          </a:prstGeom>
        </p:spPr>
      </p:pic>
      <p:sp>
        <p:nvSpPr>
          <p:cNvPr id="26" name="Text 22"/>
          <p:cNvSpPr txBox="1"/>
          <p:nvPr/>
        </p:nvSpPr>
        <p:spPr>
          <a:xfrm>
            <a:off x="5138928" y="2084832"/>
            <a:ext cx="3566160" cy="237744"/>
          </a:xfrm>
          <a:prstGeom prst="rect">
            <a:avLst/>
          </a:prstGeom>
          <a:noFill/>
          <a:ln/>
        </p:spPr>
        <p:txBody>
          <a:bodyPr wrap="square" lIns="0" tIns="0" rIns="0" bIns="0" rtlCol="0" anchor="t"/>
          <a:lstStyle/>
          <a:p>
            <a:pPr marL="0" indent="0">
              <a:buNone/>
            </a:pPr>
            <a:r>
              <a:rPr lang="en-US" sz="1150" b="1" dirty="0">
                <a:solidFill>
                  <a:srgbClr val="071B3F"/>
                </a:solidFill>
                <a:latin typeface="Segoe UI" pitchFamily="34" charset="0"/>
                <a:ea typeface="Segoe UI" pitchFamily="34" charset="-122"/>
                <a:cs typeface="Segoe UI" pitchFamily="34" charset="-120"/>
              </a:rPr>
              <a:t>Fuera de changeset</a:t>
            </a:r>
            <a:endParaRPr lang="en-US" sz="1150" dirty="0"/>
          </a:p>
        </p:txBody>
      </p:sp>
      <p:sp>
        <p:nvSpPr>
          <p:cNvPr id="27" name="Text 23"/>
          <p:cNvSpPr txBox="1"/>
          <p:nvPr/>
        </p:nvSpPr>
        <p:spPr>
          <a:xfrm>
            <a:off x="5138928" y="2322576"/>
            <a:ext cx="3566160" cy="402336"/>
          </a:xfrm>
          <a:prstGeom prst="rect">
            <a:avLst/>
          </a:prstGeom>
          <a:noFill/>
          <a:ln/>
        </p:spPr>
        <p:txBody>
          <a:bodyPr wrap="square" lIns="0" tIns="0" rIns="0" bIns="0" rtlCol="0" anchor="t"/>
          <a:lstStyle/>
          <a:p>
            <a:pPr marL="0" indent="0">
              <a:buNone/>
            </a:pPr>
            <a:r>
              <a:rPr lang="en-US" sz="1000" dirty="0">
                <a:solidFill>
                  <a:srgbClr val="5B6B82"/>
                </a:solidFill>
                <a:latin typeface="Calibri" pitchFamily="34" charset="0"/>
                <a:ea typeface="Calibri" pitchFamily="34" charset="-122"/>
                <a:cs typeface="Calibri" pitchFamily="34" charset="-120"/>
              </a:rPr>
              <a:t>Cada petición es independiente: un error no afecta a las demás.</a:t>
            </a:r>
            <a:endParaRPr lang="en-US" sz="1000" dirty="0"/>
          </a:p>
        </p:txBody>
      </p:sp>
      <p:sp>
        <p:nvSpPr>
          <p:cNvPr id="28" name="Shape 24"/>
          <p:cNvSpPr/>
          <p:nvPr/>
        </p:nvSpPr>
        <p:spPr>
          <a:xfrm>
            <a:off x="4617720" y="2798064"/>
            <a:ext cx="402336" cy="402336"/>
          </a:xfrm>
          <a:prstGeom prst="ellipse">
            <a:avLst/>
          </a:prstGeom>
          <a:solidFill>
            <a:srgbClr val="E8F1FC"/>
          </a:solidFill>
          <a:ln w="12700">
            <a:solidFill>
              <a:srgbClr val="E8F1FC"/>
            </a:solidFill>
            <a:prstDash val="solid"/>
          </a:ln>
        </p:spPr>
      </p:sp>
      <p:pic>
        <p:nvPicPr>
          <p:cNvPr id="29" name="Image 2" descr="preencoded.png"/>
          <p:cNvPicPr>
            <a:picLocks noChangeAspect="1"/>
          </p:cNvPicPr>
          <p:nvPr/>
        </p:nvPicPr>
        <p:blipFill>
          <a:blip r:embed="rId5"/>
          <a:stretch>
            <a:fillRect/>
          </a:stretch>
        </p:blipFill>
        <p:spPr>
          <a:xfrm>
            <a:off x="4722327" y="2902671"/>
            <a:ext cx="193121" cy="193121"/>
          </a:xfrm>
          <a:prstGeom prst="rect">
            <a:avLst/>
          </a:prstGeom>
        </p:spPr>
      </p:pic>
      <p:sp>
        <p:nvSpPr>
          <p:cNvPr id="30" name="Text 25"/>
          <p:cNvSpPr txBox="1"/>
          <p:nvPr/>
        </p:nvSpPr>
        <p:spPr>
          <a:xfrm>
            <a:off x="5138928" y="2752344"/>
            <a:ext cx="3566160" cy="237744"/>
          </a:xfrm>
          <a:prstGeom prst="rect">
            <a:avLst/>
          </a:prstGeom>
          <a:noFill/>
          <a:ln/>
        </p:spPr>
        <p:txBody>
          <a:bodyPr wrap="square" lIns="0" tIns="0" rIns="0" bIns="0" rtlCol="0" anchor="t"/>
          <a:lstStyle/>
          <a:p>
            <a:pPr marL="0" indent="0">
              <a:buNone/>
            </a:pPr>
            <a:r>
              <a:rPr lang="en-US" sz="1150" b="1" dirty="0">
                <a:solidFill>
                  <a:srgbClr val="071B3F"/>
                </a:solidFill>
                <a:latin typeface="Segoe UI" pitchFamily="34" charset="0"/>
                <a:ea typeface="Segoe UI" pitchFamily="34" charset="-122"/>
                <a:cs typeface="Segoe UI" pitchFamily="34" charset="-120"/>
              </a:rPr>
              <a:t>Sin GET en changesets</a:t>
            </a:r>
            <a:endParaRPr lang="en-US" sz="1150" dirty="0"/>
          </a:p>
        </p:txBody>
      </p:sp>
      <p:sp>
        <p:nvSpPr>
          <p:cNvPr id="31" name="Text 26"/>
          <p:cNvSpPr txBox="1"/>
          <p:nvPr/>
        </p:nvSpPr>
        <p:spPr>
          <a:xfrm>
            <a:off x="5138928" y="2990088"/>
            <a:ext cx="3566160" cy="402336"/>
          </a:xfrm>
          <a:prstGeom prst="rect">
            <a:avLst/>
          </a:prstGeom>
          <a:noFill/>
          <a:ln/>
        </p:spPr>
        <p:txBody>
          <a:bodyPr wrap="square" lIns="0" tIns="0" rIns="0" bIns="0" rtlCol="0" anchor="t"/>
          <a:lstStyle/>
          <a:p>
            <a:pPr marL="0" indent="0">
              <a:buNone/>
            </a:pPr>
            <a:r>
              <a:rPr lang="en-US" sz="1000" dirty="0">
                <a:solidFill>
                  <a:srgbClr val="5B6B82"/>
                </a:solidFill>
                <a:latin typeface="Calibri" pitchFamily="34" charset="0"/>
                <a:ea typeface="Calibri" pitchFamily="34" charset="-122"/>
                <a:cs typeface="Calibri" pitchFamily="34" charset="-120"/>
              </a:rPr>
              <a:t>Solo POST, PATCH, PUT y DELETE; las lecturas van sueltas.</a:t>
            </a:r>
            <a:endParaRPr lang="en-US" sz="1000" dirty="0"/>
          </a:p>
        </p:txBody>
      </p:sp>
      <p:sp>
        <p:nvSpPr>
          <p:cNvPr id="32" name="Shape 27"/>
          <p:cNvSpPr/>
          <p:nvPr/>
        </p:nvSpPr>
        <p:spPr>
          <a:xfrm>
            <a:off x="4617720" y="3465576"/>
            <a:ext cx="402336" cy="402336"/>
          </a:xfrm>
          <a:prstGeom prst="ellipse">
            <a:avLst/>
          </a:prstGeom>
          <a:solidFill>
            <a:srgbClr val="E8F1FC"/>
          </a:solidFill>
          <a:ln w="12700">
            <a:solidFill>
              <a:srgbClr val="E8F1FC"/>
            </a:solidFill>
            <a:prstDash val="solid"/>
          </a:ln>
        </p:spPr>
      </p:sp>
      <p:pic>
        <p:nvPicPr>
          <p:cNvPr id="33" name="Image 3" descr="preencoded.png"/>
          <p:cNvPicPr>
            <a:picLocks noChangeAspect="1"/>
          </p:cNvPicPr>
          <p:nvPr/>
        </p:nvPicPr>
        <p:blipFill>
          <a:blip r:embed="rId6"/>
          <a:stretch>
            <a:fillRect/>
          </a:stretch>
        </p:blipFill>
        <p:spPr>
          <a:xfrm>
            <a:off x="4722327" y="3570183"/>
            <a:ext cx="193121" cy="193121"/>
          </a:xfrm>
          <a:prstGeom prst="rect">
            <a:avLst/>
          </a:prstGeom>
        </p:spPr>
      </p:pic>
      <p:sp>
        <p:nvSpPr>
          <p:cNvPr id="34" name="Text 28"/>
          <p:cNvSpPr txBox="1"/>
          <p:nvPr/>
        </p:nvSpPr>
        <p:spPr>
          <a:xfrm>
            <a:off x="5138928" y="3419856"/>
            <a:ext cx="3566160" cy="237744"/>
          </a:xfrm>
          <a:prstGeom prst="rect">
            <a:avLst/>
          </a:prstGeom>
          <a:noFill/>
          <a:ln/>
        </p:spPr>
        <p:txBody>
          <a:bodyPr wrap="square" lIns="0" tIns="0" rIns="0" bIns="0" rtlCol="0" anchor="t"/>
          <a:lstStyle/>
          <a:p>
            <a:pPr marL="0" indent="0">
              <a:buNone/>
            </a:pPr>
            <a:r>
              <a:rPr lang="en-US" sz="1150" b="1" dirty="0">
                <a:solidFill>
                  <a:srgbClr val="071B3F"/>
                </a:solidFill>
                <a:latin typeface="Segoe UI" pitchFamily="34" charset="0"/>
                <a:ea typeface="Segoe UI" pitchFamily="34" charset="-122"/>
                <a:cs typeface="Segoe UI" pitchFamily="34" charset="-120"/>
              </a:rPr>
              <a:t>Revisa cada respuesta</a:t>
            </a:r>
            <a:endParaRPr lang="en-US" sz="1150" dirty="0"/>
          </a:p>
        </p:txBody>
      </p:sp>
      <p:sp>
        <p:nvSpPr>
          <p:cNvPr id="35" name="Text 29"/>
          <p:cNvSpPr txBox="1"/>
          <p:nvPr/>
        </p:nvSpPr>
        <p:spPr>
          <a:xfrm>
            <a:off x="5138928" y="3657600"/>
            <a:ext cx="3566160" cy="402336"/>
          </a:xfrm>
          <a:prstGeom prst="rect">
            <a:avLst/>
          </a:prstGeom>
          <a:noFill/>
          <a:ln/>
        </p:spPr>
        <p:txBody>
          <a:bodyPr wrap="square" lIns="0" tIns="0" rIns="0" bIns="0" rtlCol="0" anchor="t"/>
          <a:lstStyle/>
          <a:p>
            <a:pPr marL="0" indent="0">
              <a:buNone/>
            </a:pPr>
            <a:r>
              <a:rPr lang="en-US" sz="1000" dirty="0">
                <a:solidFill>
                  <a:srgbClr val="5B6B82"/>
                </a:solidFill>
                <a:latin typeface="Calibri" pitchFamily="34" charset="0"/>
                <a:ea typeface="Calibri" pitchFamily="34" charset="-122"/>
                <a:cs typeface="Calibri" pitchFamily="34" charset="-120"/>
              </a:rPr>
              <a:t>La respuesta global puede ser exitosa aunque falle una parte interna.</a:t>
            </a:r>
            <a:endParaRPr lang="en-US" sz="1000" dirty="0"/>
          </a:p>
        </p:txBody>
      </p:sp>
      <p:sp>
        <p:nvSpPr>
          <p:cNvPr id="36" name="Shape 30"/>
          <p:cNvSpPr/>
          <p:nvPr/>
        </p:nvSpPr>
        <p:spPr>
          <a:xfrm>
            <a:off x="4617720" y="4133088"/>
            <a:ext cx="402336" cy="402336"/>
          </a:xfrm>
          <a:prstGeom prst="ellipse">
            <a:avLst/>
          </a:prstGeom>
          <a:solidFill>
            <a:srgbClr val="E8F1FC"/>
          </a:solidFill>
          <a:ln w="12700">
            <a:solidFill>
              <a:srgbClr val="E8F1FC"/>
            </a:solidFill>
            <a:prstDash val="solid"/>
          </a:ln>
        </p:spPr>
      </p:sp>
      <p:pic>
        <p:nvPicPr>
          <p:cNvPr id="37" name="Image 4" descr="preencoded.png"/>
          <p:cNvPicPr>
            <a:picLocks noChangeAspect="1"/>
          </p:cNvPicPr>
          <p:nvPr/>
        </p:nvPicPr>
        <p:blipFill>
          <a:blip r:embed="rId7"/>
          <a:stretch>
            <a:fillRect/>
          </a:stretch>
        </p:blipFill>
        <p:spPr>
          <a:xfrm>
            <a:off x="4722327" y="4237695"/>
            <a:ext cx="193121" cy="193121"/>
          </a:xfrm>
          <a:prstGeom prst="rect">
            <a:avLst/>
          </a:prstGeom>
        </p:spPr>
      </p:pic>
      <p:sp>
        <p:nvSpPr>
          <p:cNvPr id="38" name="Text 31"/>
          <p:cNvSpPr txBox="1"/>
          <p:nvPr/>
        </p:nvSpPr>
        <p:spPr>
          <a:xfrm>
            <a:off x="5138928" y="4087368"/>
            <a:ext cx="3566160" cy="237744"/>
          </a:xfrm>
          <a:prstGeom prst="rect">
            <a:avLst/>
          </a:prstGeom>
          <a:noFill/>
          <a:ln/>
        </p:spPr>
        <p:txBody>
          <a:bodyPr wrap="square" lIns="0" tIns="0" rIns="0" bIns="0" rtlCol="0" anchor="t"/>
          <a:lstStyle/>
          <a:p>
            <a:pPr marL="0" indent="0">
              <a:buNone/>
            </a:pPr>
            <a:r>
              <a:rPr lang="en-US" sz="1150" b="1" dirty="0">
                <a:solidFill>
                  <a:srgbClr val="071B3F"/>
                </a:solidFill>
                <a:latin typeface="Segoe UI" pitchFamily="34" charset="0"/>
                <a:ea typeface="Segoe UI" pitchFamily="34" charset="-122"/>
                <a:cs typeface="Segoe UI" pitchFamily="34" charset="-120"/>
              </a:rPr>
              <a:t>Casos de uso</a:t>
            </a:r>
            <a:endParaRPr lang="en-US" sz="1150" dirty="0"/>
          </a:p>
        </p:txBody>
      </p:sp>
      <p:sp>
        <p:nvSpPr>
          <p:cNvPr id="39" name="Text 32"/>
          <p:cNvSpPr txBox="1"/>
          <p:nvPr/>
        </p:nvSpPr>
        <p:spPr>
          <a:xfrm>
            <a:off x="5138928" y="4325112"/>
            <a:ext cx="3566160" cy="402336"/>
          </a:xfrm>
          <a:prstGeom prst="rect">
            <a:avLst/>
          </a:prstGeom>
          <a:noFill/>
          <a:ln/>
        </p:spPr>
        <p:txBody>
          <a:bodyPr wrap="square" lIns="0" tIns="0" rIns="0" bIns="0" rtlCol="0" anchor="t"/>
          <a:lstStyle/>
          <a:p>
            <a:pPr marL="0" indent="0">
              <a:buNone/>
            </a:pPr>
            <a:r>
              <a:rPr lang="en-US" sz="1000" dirty="0">
                <a:solidFill>
                  <a:srgbClr val="5B6B82"/>
                </a:solidFill>
                <a:latin typeface="Calibri" pitchFamily="34" charset="0"/>
                <a:ea typeface="Calibri" pitchFamily="34" charset="-122"/>
                <a:cs typeface="Calibri" pitchFamily="34" charset="-120"/>
              </a:rPr>
              <a:t>Socio + pedido, carga de lotes, actualizaciones masivas coherentes.</a:t>
            </a:r>
            <a:endParaRPr lang="en-US" sz="1000" dirty="0"/>
          </a:p>
        </p:txBody>
      </p:sp>
      <p:sp>
        <p:nvSpPr>
          <p:cNvPr id="40"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xmlns="" val="0"/>
            </a:ext>
          </a:extLst>
        </p:spPr>
        <p:txBody>
          <a:bodyPr/>
          <a:lstStyle>
            <a:lvl1pPr>
              <a:defRPr sz="800">
                <a:solidFill>
                  <a:srgbClr val="8A9AB0"/>
                </a:solidFill>
                <a:latin typeface="Calibri"/>
                <a:ea typeface="Calibri"/>
                <a:cs typeface="Calibri"/>
              </a:defRPr>
            </a:lvl1pPr>
          </a:lstStyle>
          <a:p>
            <a:pPr algn="r"/>
            <a:fld id="{F7021451-1387-4CA6-816F-3879F97B5CBC}" type="slidenum">
              <a:rPr lang="en-US" b="0"/>
              <a:t>36</a:t>
            </a:fld>
            <a:endParaRPr lang="en-US"/>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457200" y="256032"/>
            <a:ext cx="2505456" cy="237744"/>
          </a:xfrm>
          <a:prstGeom prst="roundRect">
            <a:avLst>
              <a:gd name="adj" fmla="val 50000"/>
            </a:avLst>
          </a:prstGeom>
          <a:solidFill>
            <a:srgbClr val="071B3F"/>
          </a:solidFill>
          <a:ln w="12700">
            <a:solidFill>
              <a:srgbClr val="071B3F"/>
            </a:solidFill>
            <a:prstDash val="solid"/>
          </a:ln>
        </p:spPr>
      </p:sp>
      <p:sp>
        <p:nvSpPr>
          <p:cNvPr id="3" name="Text 1"/>
          <p:cNvSpPr txBox="1"/>
          <p:nvPr/>
        </p:nvSpPr>
        <p:spPr>
          <a:xfrm>
            <a:off x="457200" y="256032"/>
            <a:ext cx="2505456" cy="237744"/>
          </a:xfrm>
          <a:prstGeom prst="rect">
            <a:avLst/>
          </a:prstGeom>
          <a:noFill/>
          <a:ln/>
        </p:spPr>
        <p:txBody>
          <a:bodyPr wrap="square" lIns="0" tIns="0" rIns="0" bIns="0" rtlCol="0" anchor="ctr"/>
          <a:lstStyle/>
          <a:p>
            <a:pPr marL="0" indent="0" algn="ctr">
              <a:buNone/>
            </a:pPr>
            <a:r>
              <a:rPr lang="en-US" sz="850" b="1" kern="0" spc="100" dirty="0">
                <a:solidFill>
                  <a:srgbClr val="F5A800"/>
                </a:solidFill>
                <a:latin typeface="Segoe UI" pitchFamily="34" charset="0"/>
                <a:ea typeface="Segoe UI" pitchFamily="34" charset="-122"/>
                <a:cs typeface="Segoe UI" pitchFamily="34" charset="-120"/>
              </a:rPr>
              <a:t>05  ·  FLUJOS DE OPERACIÓN III</a:t>
            </a:r>
            <a:endParaRPr lang="en-US" sz="850" dirty="0"/>
          </a:p>
        </p:txBody>
      </p:sp>
      <p:sp>
        <p:nvSpPr>
          <p:cNvPr id="4" name="Text 2"/>
          <p:cNvSpPr txBox="1"/>
          <p:nvPr/>
        </p:nvSpPr>
        <p:spPr>
          <a:xfrm>
            <a:off x="457200" y="566928"/>
            <a:ext cx="8229600" cy="502920"/>
          </a:xfrm>
          <a:prstGeom prst="rect">
            <a:avLst/>
          </a:prstGeom>
          <a:noFill/>
          <a:ln/>
        </p:spPr>
        <p:txBody>
          <a:bodyPr wrap="square" lIns="0" tIns="0" rIns="0" bIns="0" rtlCol="0" anchor="ctr"/>
          <a:lstStyle/>
          <a:p>
            <a:pPr marL="0" indent="0">
              <a:buNone/>
            </a:pPr>
            <a:r>
              <a:rPr lang="en-US" sz="2400" b="1" dirty="0">
                <a:solidFill>
                  <a:srgbClr val="071B3F"/>
                </a:solidFill>
                <a:latin typeface="Segoe UI" pitchFamily="34" charset="0"/>
                <a:ea typeface="Segoe UI" pitchFamily="34" charset="-122"/>
                <a:cs typeface="Segoe UI" pitchFamily="34" charset="-120"/>
              </a:rPr>
              <a:t>Armado del request batch (multipart/mixed)</a:t>
            </a:r>
            <a:endParaRPr lang="en-US" sz="2400" dirty="0"/>
          </a:p>
        </p:txBody>
      </p:sp>
      <p:sp>
        <p:nvSpPr>
          <p:cNvPr id="5" name="Text 3"/>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00" dirty="0">
                <a:solidFill>
                  <a:srgbClr val="8A9AB0"/>
                </a:solidFill>
                <a:latin typeface="Calibri" pitchFamily="34" charset="0"/>
                <a:ea typeface="Calibri" pitchFamily="34" charset="-122"/>
                <a:cs typeface="Calibri" pitchFamily="34" charset="-120"/>
              </a:rPr>
              <a:t>Ventura Soluciones  |  SAP Business One · Service Layer</a:t>
            </a:r>
            <a:endParaRPr lang="en-US" sz="800" dirty="0"/>
          </a:p>
        </p:txBody>
      </p:sp>
      <p:sp>
        <p:nvSpPr>
          <p:cNvPr id="6" name="Shape 4"/>
          <p:cNvSpPr/>
          <p:nvPr/>
        </p:nvSpPr>
        <p:spPr>
          <a:xfrm>
            <a:off x="457200" y="1188720"/>
            <a:ext cx="5120640" cy="3566160"/>
          </a:xfrm>
          <a:prstGeom prst="roundRect">
            <a:avLst>
              <a:gd name="adj" fmla="val 1795"/>
            </a:avLst>
          </a:prstGeom>
          <a:solidFill>
            <a:srgbClr val="0E1B2E"/>
          </a:solidFill>
          <a:ln w="12700">
            <a:solidFill>
              <a:srgbClr val="0E1B2E"/>
            </a:solidFill>
            <a:prstDash val="solid"/>
          </a:ln>
          <a:effectLst>
            <a:outerShdw blurRad="101600" dist="25400" dir="5400000" algn="bl" rotWithShape="0">
              <a:srgbClr val="0B2A55">
                <a:alpha val="12000"/>
              </a:srgbClr>
            </a:outerShdw>
          </a:effectLst>
        </p:spPr>
      </p:sp>
      <p:sp>
        <p:nvSpPr>
          <p:cNvPr id="7" name="Shape 5"/>
          <p:cNvSpPr/>
          <p:nvPr/>
        </p:nvSpPr>
        <p:spPr>
          <a:xfrm>
            <a:off x="594360" y="1298448"/>
            <a:ext cx="73152" cy="73152"/>
          </a:xfrm>
          <a:prstGeom prst="ellipse">
            <a:avLst/>
          </a:prstGeom>
          <a:solidFill>
            <a:srgbClr val="FF5F56"/>
          </a:solidFill>
          <a:ln w="12700">
            <a:solidFill>
              <a:srgbClr val="FF5F56"/>
            </a:solidFill>
            <a:prstDash val="solid"/>
          </a:ln>
        </p:spPr>
      </p:sp>
      <p:sp>
        <p:nvSpPr>
          <p:cNvPr id="8" name="Shape 6"/>
          <p:cNvSpPr/>
          <p:nvPr/>
        </p:nvSpPr>
        <p:spPr>
          <a:xfrm>
            <a:off x="722376" y="1298448"/>
            <a:ext cx="73152" cy="73152"/>
          </a:xfrm>
          <a:prstGeom prst="ellipse">
            <a:avLst/>
          </a:prstGeom>
          <a:solidFill>
            <a:srgbClr val="FFBD2E"/>
          </a:solidFill>
          <a:ln w="12700">
            <a:solidFill>
              <a:srgbClr val="FFBD2E"/>
            </a:solidFill>
            <a:prstDash val="solid"/>
          </a:ln>
        </p:spPr>
      </p:sp>
      <p:sp>
        <p:nvSpPr>
          <p:cNvPr id="9" name="Shape 7"/>
          <p:cNvSpPr/>
          <p:nvPr/>
        </p:nvSpPr>
        <p:spPr>
          <a:xfrm>
            <a:off x="850392" y="1298448"/>
            <a:ext cx="73152" cy="73152"/>
          </a:xfrm>
          <a:prstGeom prst="ellipse">
            <a:avLst/>
          </a:prstGeom>
          <a:solidFill>
            <a:srgbClr val="27C93F"/>
          </a:solidFill>
          <a:ln w="12700">
            <a:solidFill>
              <a:srgbClr val="27C93F"/>
            </a:solidFill>
            <a:prstDash val="solid"/>
          </a:ln>
        </p:spPr>
      </p:sp>
      <p:sp>
        <p:nvSpPr>
          <p:cNvPr id="10" name="Text 8"/>
          <p:cNvSpPr txBox="1"/>
          <p:nvPr/>
        </p:nvSpPr>
        <p:spPr>
          <a:xfrm>
            <a:off x="1024128" y="1243584"/>
            <a:ext cx="4434840" cy="182880"/>
          </a:xfrm>
          <a:prstGeom prst="rect">
            <a:avLst/>
          </a:prstGeom>
          <a:noFill/>
          <a:ln/>
        </p:spPr>
        <p:txBody>
          <a:bodyPr wrap="square" lIns="0" tIns="0" rIns="0" bIns="0" rtlCol="0" anchor="ctr"/>
          <a:lstStyle/>
          <a:p>
            <a:pPr marL="0" indent="0">
              <a:buNone/>
            </a:pPr>
            <a:r>
              <a:rPr lang="en-US" sz="850" b="1" dirty="0">
                <a:solidFill>
                  <a:srgbClr val="F5A800"/>
                </a:solidFill>
                <a:latin typeface="Segoe UI" pitchFamily="34" charset="0"/>
                <a:ea typeface="Segoe UI" pitchFamily="34" charset="-122"/>
                <a:cs typeface="Segoe UI" pitchFamily="34" charset="-120"/>
              </a:rPr>
              <a:t>RAW BODY · Postman → Body → raw</a:t>
            </a:r>
            <a:endParaRPr lang="en-US" sz="850" dirty="0"/>
          </a:p>
        </p:txBody>
      </p:sp>
      <p:sp>
        <p:nvSpPr>
          <p:cNvPr id="11" name="Text 9"/>
          <p:cNvSpPr txBox="1"/>
          <p:nvPr/>
        </p:nvSpPr>
        <p:spPr>
          <a:xfrm>
            <a:off x="594360" y="1481328"/>
            <a:ext cx="4846320" cy="3200400"/>
          </a:xfrm>
          <a:prstGeom prst="rect">
            <a:avLst/>
          </a:prstGeom>
          <a:noFill/>
          <a:ln/>
        </p:spPr>
        <p:txBody>
          <a:bodyPr wrap="square" lIns="0" tIns="0" rIns="0" bIns="0" rtlCol="0" anchor="t"/>
          <a:lstStyle/>
          <a:p>
            <a:pPr marL="0" indent="0">
              <a:lnSpc>
                <a:spcPct val="100000"/>
              </a:lnSpc>
              <a:buNone/>
            </a:pPr>
            <a:r>
              <a:rPr lang="en-US" sz="760" b="1" dirty="0">
                <a:solidFill>
                  <a:srgbClr val="F5A800"/>
                </a:solidFill>
                <a:latin typeface="Consolas" pitchFamily="34" charset="0"/>
                <a:ea typeface="Consolas" pitchFamily="34" charset="-122"/>
                <a:cs typeface="Consolas" pitchFamily="34" charset="-120"/>
              </a:rPr>
              <a:t>POST</a:t>
            </a:r>
            <a:r>
              <a:rPr lang="en-US" sz="760" dirty="0">
                <a:solidFill>
                  <a:srgbClr val="DCE6F2"/>
                </a:solidFill>
                <a:latin typeface="Consolas" pitchFamily="34" charset="0"/>
                <a:ea typeface="Consolas" pitchFamily="34" charset="-122"/>
                <a:cs typeface="Consolas" pitchFamily="34" charset="-120"/>
              </a:rPr>
              <a:t> /b1s/v1/$batch</a:t>
            </a:r>
            <a:endParaRPr lang="en-US" sz="760" dirty="0"/>
          </a:p>
          <a:p>
            <a:pPr marL="0" indent="0">
              <a:lnSpc>
                <a:spcPct val="100000"/>
              </a:lnSpc>
              <a:buNone/>
            </a:pPr>
            <a:r>
              <a:rPr lang="en-US" sz="760" dirty="0">
                <a:solidFill>
                  <a:srgbClr val="DCE6F2"/>
                </a:solidFill>
                <a:latin typeface="Consolas" pitchFamily="34" charset="0"/>
                <a:ea typeface="Consolas" pitchFamily="34" charset="-122"/>
                <a:cs typeface="Consolas" pitchFamily="34" charset="-120"/>
              </a:rPr>
              <a:t>Content-Type: multipart/mixed;boundary=batch_A1</a:t>
            </a:r>
            <a:endParaRPr lang="en-US" sz="760" dirty="0"/>
          </a:p>
          <a:p>
            <a:pPr marL="0" indent="0">
              <a:lnSpc>
                <a:spcPct val="100000"/>
              </a:lnSpc>
              <a:buNone/>
            </a:pPr>
            <a:r>
              <a:rPr lang="en-US" sz="760" dirty="0">
                <a:solidFill>
                  <a:srgbClr val="DCE6F2"/>
                </a:solidFill>
                <a:latin typeface="Consolas" pitchFamily="34" charset="0"/>
                <a:ea typeface="Consolas" pitchFamily="34" charset="-122"/>
                <a:cs typeface="Consolas" pitchFamily="34" charset="-120"/>
              </a:rPr>
              <a:t> </a:t>
            </a:r>
            <a:endParaRPr lang="en-US" sz="760" dirty="0"/>
          </a:p>
          <a:p>
            <a:pPr marL="0" indent="0">
              <a:lnSpc>
                <a:spcPct val="100000"/>
              </a:lnSpc>
              <a:buNone/>
            </a:pPr>
            <a:r>
              <a:rPr lang="en-US" sz="760" b="1" dirty="0">
                <a:solidFill>
                  <a:srgbClr val="FF9E80"/>
                </a:solidFill>
                <a:latin typeface="Consolas" pitchFamily="34" charset="0"/>
                <a:ea typeface="Consolas" pitchFamily="34" charset="-122"/>
                <a:cs typeface="Consolas" pitchFamily="34" charset="-120"/>
              </a:rPr>
              <a:t>--batch_A1</a:t>
            </a:r>
            <a:endParaRPr lang="en-US" sz="760" dirty="0"/>
          </a:p>
          <a:p>
            <a:pPr marL="0" indent="0">
              <a:lnSpc>
                <a:spcPct val="100000"/>
              </a:lnSpc>
              <a:buNone/>
            </a:pPr>
            <a:r>
              <a:rPr lang="en-US" sz="760" dirty="0">
                <a:solidFill>
                  <a:srgbClr val="DCE6F2"/>
                </a:solidFill>
                <a:latin typeface="Consolas" pitchFamily="34" charset="0"/>
                <a:ea typeface="Consolas" pitchFamily="34" charset="-122"/>
                <a:cs typeface="Consolas" pitchFamily="34" charset="-120"/>
              </a:rPr>
              <a:t>Content-Type: multipart/mixed;boundary=changeset_B1</a:t>
            </a:r>
            <a:endParaRPr lang="en-US" sz="760" dirty="0"/>
          </a:p>
          <a:p>
            <a:pPr marL="0" indent="0">
              <a:lnSpc>
                <a:spcPct val="100000"/>
              </a:lnSpc>
              <a:buNone/>
            </a:pPr>
            <a:r>
              <a:rPr lang="en-US" sz="760" dirty="0">
                <a:solidFill>
                  <a:srgbClr val="DCE6F2"/>
                </a:solidFill>
                <a:latin typeface="Consolas" pitchFamily="34" charset="0"/>
                <a:ea typeface="Consolas" pitchFamily="34" charset="-122"/>
                <a:cs typeface="Consolas" pitchFamily="34" charset="-120"/>
              </a:rPr>
              <a:t> </a:t>
            </a:r>
            <a:endParaRPr lang="en-US" sz="760" dirty="0"/>
          </a:p>
          <a:p>
            <a:pPr marL="0" indent="0">
              <a:lnSpc>
                <a:spcPct val="100000"/>
              </a:lnSpc>
              <a:buNone/>
            </a:pPr>
            <a:r>
              <a:rPr lang="en-US" sz="760" b="1" dirty="0">
                <a:solidFill>
                  <a:srgbClr val="FF9E80"/>
                </a:solidFill>
                <a:latin typeface="Consolas" pitchFamily="34" charset="0"/>
                <a:ea typeface="Consolas" pitchFamily="34" charset="-122"/>
                <a:cs typeface="Consolas" pitchFamily="34" charset="-120"/>
              </a:rPr>
              <a:t>--changeset_B1</a:t>
            </a:r>
            <a:endParaRPr lang="en-US" sz="760" dirty="0"/>
          </a:p>
          <a:p>
            <a:pPr marL="0" indent="0">
              <a:lnSpc>
                <a:spcPct val="100000"/>
              </a:lnSpc>
              <a:buNone/>
            </a:pPr>
            <a:r>
              <a:rPr lang="en-US" sz="760" dirty="0">
                <a:solidFill>
                  <a:srgbClr val="DCE6F2"/>
                </a:solidFill>
                <a:latin typeface="Consolas" pitchFamily="34" charset="0"/>
                <a:ea typeface="Consolas" pitchFamily="34" charset="-122"/>
                <a:cs typeface="Consolas" pitchFamily="34" charset="-120"/>
              </a:rPr>
              <a:t>Content-Type: application/http</a:t>
            </a:r>
            <a:endParaRPr lang="en-US" sz="760" dirty="0"/>
          </a:p>
          <a:p>
            <a:pPr marL="0" indent="0">
              <a:lnSpc>
                <a:spcPct val="100000"/>
              </a:lnSpc>
              <a:buNone/>
            </a:pPr>
            <a:r>
              <a:rPr lang="en-US" sz="760" dirty="0">
                <a:solidFill>
                  <a:srgbClr val="DCE6F2"/>
                </a:solidFill>
                <a:latin typeface="Consolas" pitchFamily="34" charset="0"/>
                <a:ea typeface="Consolas" pitchFamily="34" charset="-122"/>
                <a:cs typeface="Consolas" pitchFamily="34" charset="-120"/>
              </a:rPr>
              <a:t>Content-Transfer-Encoding: binary</a:t>
            </a:r>
            <a:endParaRPr lang="en-US" sz="760" dirty="0"/>
          </a:p>
          <a:p>
            <a:pPr marL="0" indent="0">
              <a:lnSpc>
                <a:spcPct val="100000"/>
              </a:lnSpc>
              <a:buNone/>
            </a:pPr>
            <a:r>
              <a:rPr lang="en-US" sz="760" dirty="0">
                <a:solidFill>
                  <a:srgbClr val="DCE6F2"/>
                </a:solidFill>
                <a:latin typeface="Consolas" pitchFamily="34" charset="0"/>
                <a:ea typeface="Consolas" pitchFamily="34" charset="-122"/>
                <a:cs typeface="Consolas" pitchFamily="34" charset="-120"/>
              </a:rPr>
              <a:t> </a:t>
            </a:r>
            <a:endParaRPr lang="en-US" sz="760" dirty="0"/>
          </a:p>
          <a:p>
            <a:pPr marL="0" indent="0">
              <a:lnSpc>
                <a:spcPct val="100000"/>
              </a:lnSpc>
              <a:buNone/>
            </a:pPr>
            <a:r>
              <a:rPr lang="en-US" sz="760" b="1" dirty="0">
                <a:solidFill>
                  <a:srgbClr val="F5A800"/>
                </a:solidFill>
                <a:latin typeface="Consolas" pitchFamily="34" charset="0"/>
                <a:ea typeface="Consolas" pitchFamily="34" charset="-122"/>
                <a:cs typeface="Consolas" pitchFamily="34" charset="-120"/>
              </a:rPr>
              <a:t>POST</a:t>
            </a:r>
            <a:r>
              <a:rPr lang="en-US" sz="760" dirty="0">
                <a:solidFill>
                  <a:srgbClr val="DCE6F2"/>
                </a:solidFill>
                <a:latin typeface="Consolas" pitchFamily="34" charset="0"/>
                <a:ea typeface="Consolas" pitchFamily="34" charset="-122"/>
                <a:cs typeface="Consolas" pitchFamily="34" charset="-120"/>
              </a:rPr>
              <a:t> /b1s/v1/BusinessPartners</a:t>
            </a:r>
            <a:endParaRPr lang="en-US" sz="760" dirty="0"/>
          </a:p>
          <a:p>
            <a:pPr marL="0" indent="0">
              <a:lnSpc>
                <a:spcPct val="100000"/>
              </a:lnSpc>
              <a:buNone/>
            </a:pPr>
            <a:r>
              <a:rPr lang="en-US" sz="760" dirty="0">
                <a:solidFill>
                  <a:srgbClr val="DCE6F2"/>
                </a:solidFill>
                <a:latin typeface="Consolas" pitchFamily="34" charset="0"/>
                <a:ea typeface="Consolas" pitchFamily="34" charset="-122"/>
                <a:cs typeface="Consolas" pitchFamily="34" charset="-120"/>
              </a:rPr>
              <a:t>Content-Type: application/json</a:t>
            </a:r>
            <a:endParaRPr lang="en-US" sz="760" dirty="0"/>
          </a:p>
          <a:p>
            <a:pPr marL="0" indent="0">
              <a:lnSpc>
                <a:spcPct val="100000"/>
              </a:lnSpc>
              <a:buNone/>
            </a:pPr>
            <a:r>
              <a:rPr lang="en-US" sz="760" dirty="0">
                <a:solidFill>
                  <a:srgbClr val="DCE6F2"/>
                </a:solidFill>
                <a:latin typeface="Consolas" pitchFamily="34" charset="0"/>
                <a:ea typeface="Consolas" pitchFamily="34" charset="-122"/>
                <a:cs typeface="Consolas" pitchFamily="34" charset="-120"/>
              </a:rPr>
              <a:t> </a:t>
            </a:r>
            <a:endParaRPr lang="en-US" sz="760" dirty="0"/>
          </a:p>
          <a:p>
            <a:pPr marL="0" indent="0">
              <a:lnSpc>
                <a:spcPct val="100000"/>
              </a:lnSpc>
              <a:buNone/>
            </a:pPr>
            <a:r>
              <a:rPr lang="en-US" sz="760" dirty="0">
                <a:solidFill>
                  <a:srgbClr val="DCE6F2"/>
                </a:solidFill>
                <a:latin typeface="Consolas" pitchFamily="34" charset="0"/>
                <a:ea typeface="Consolas" pitchFamily="34" charset="-122"/>
                <a:cs typeface="Consolas" pitchFamily="34" charset="-120"/>
              </a:rPr>
              <a:t>{</a:t>
            </a:r>
            <a:r>
              <a:rPr lang="en-US" sz="760" dirty="0">
                <a:solidFill>
                  <a:srgbClr val="7FD1FF"/>
                </a:solidFill>
                <a:latin typeface="Consolas" pitchFamily="34" charset="0"/>
                <a:ea typeface="Consolas" pitchFamily="34" charset="-122"/>
                <a:cs typeface="Consolas" pitchFamily="34" charset="-120"/>
              </a:rPr>
              <a:t>"CardCode"</a:t>
            </a:r>
            <a:r>
              <a:rPr lang="en-US" sz="760" dirty="0">
                <a:solidFill>
                  <a:srgbClr val="DCE6F2"/>
                </a:solidFill>
                <a:latin typeface="Consolas" pitchFamily="34" charset="0"/>
                <a:ea typeface="Consolas" pitchFamily="34" charset="-122"/>
                <a:cs typeface="Consolas" pitchFamily="34" charset="-120"/>
              </a:rPr>
              <a:t>:</a:t>
            </a:r>
            <a:r>
              <a:rPr lang="en-US" sz="760" dirty="0">
                <a:solidFill>
                  <a:srgbClr val="B5E48C"/>
                </a:solidFill>
                <a:latin typeface="Consolas" pitchFamily="34" charset="0"/>
                <a:ea typeface="Consolas" pitchFamily="34" charset="-122"/>
                <a:cs typeface="Consolas" pitchFamily="34" charset="-120"/>
              </a:rPr>
              <a:t>"C0099"</a:t>
            </a:r>
            <a:r>
              <a:rPr lang="en-US" sz="760" dirty="0">
                <a:solidFill>
                  <a:srgbClr val="DCE6F2"/>
                </a:solidFill>
                <a:latin typeface="Consolas" pitchFamily="34" charset="0"/>
                <a:ea typeface="Consolas" pitchFamily="34" charset="-122"/>
                <a:cs typeface="Consolas" pitchFamily="34" charset="-120"/>
              </a:rPr>
              <a:t>,</a:t>
            </a:r>
            <a:r>
              <a:rPr lang="en-US" sz="760" dirty="0">
                <a:solidFill>
                  <a:srgbClr val="7FD1FF"/>
                </a:solidFill>
                <a:latin typeface="Consolas" pitchFamily="34" charset="0"/>
                <a:ea typeface="Consolas" pitchFamily="34" charset="-122"/>
                <a:cs typeface="Consolas" pitchFamily="34" charset="-120"/>
              </a:rPr>
              <a:t>"CardName"</a:t>
            </a:r>
            <a:r>
              <a:rPr lang="en-US" sz="760" dirty="0">
                <a:solidFill>
                  <a:srgbClr val="DCE6F2"/>
                </a:solidFill>
                <a:latin typeface="Consolas" pitchFamily="34" charset="0"/>
                <a:ea typeface="Consolas" pitchFamily="34" charset="-122"/>
                <a:cs typeface="Consolas" pitchFamily="34" charset="-120"/>
              </a:rPr>
              <a:t>:</a:t>
            </a:r>
            <a:r>
              <a:rPr lang="en-US" sz="760" dirty="0">
                <a:solidFill>
                  <a:srgbClr val="B5E48C"/>
                </a:solidFill>
                <a:latin typeface="Consolas" pitchFamily="34" charset="0"/>
                <a:ea typeface="Consolas" pitchFamily="34" charset="-122"/>
                <a:cs typeface="Consolas" pitchFamily="34" charset="-120"/>
              </a:rPr>
              <a:t>"Nuevo SAC"</a:t>
            </a:r>
            <a:r>
              <a:rPr lang="en-US" sz="760" dirty="0">
                <a:solidFill>
                  <a:srgbClr val="DCE6F2"/>
                </a:solidFill>
                <a:latin typeface="Consolas" pitchFamily="34" charset="0"/>
                <a:ea typeface="Consolas" pitchFamily="34" charset="-122"/>
                <a:cs typeface="Consolas" pitchFamily="34" charset="-120"/>
              </a:rPr>
              <a:t>,</a:t>
            </a:r>
            <a:r>
              <a:rPr lang="en-US" sz="760" dirty="0">
                <a:solidFill>
                  <a:srgbClr val="7FD1FF"/>
                </a:solidFill>
                <a:latin typeface="Consolas" pitchFamily="34" charset="0"/>
                <a:ea typeface="Consolas" pitchFamily="34" charset="-122"/>
                <a:cs typeface="Consolas" pitchFamily="34" charset="-120"/>
              </a:rPr>
              <a:t>"CardType"</a:t>
            </a:r>
            <a:r>
              <a:rPr lang="en-US" sz="760" dirty="0">
                <a:solidFill>
                  <a:srgbClr val="DCE6F2"/>
                </a:solidFill>
                <a:latin typeface="Consolas" pitchFamily="34" charset="0"/>
                <a:ea typeface="Consolas" pitchFamily="34" charset="-122"/>
                <a:cs typeface="Consolas" pitchFamily="34" charset="-120"/>
              </a:rPr>
              <a:t>:</a:t>
            </a:r>
            <a:r>
              <a:rPr lang="en-US" sz="760" dirty="0">
                <a:solidFill>
                  <a:srgbClr val="B5E48C"/>
                </a:solidFill>
                <a:latin typeface="Consolas" pitchFamily="34" charset="0"/>
                <a:ea typeface="Consolas" pitchFamily="34" charset="-122"/>
                <a:cs typeface="Consolas" pitchFamily="34" charset="-120"/>
              </a:rPr>
              <a:t>"cCustomer"</a:t>
            </a:r>
            <a:r>
              <a:rPr lang="en-US" sz="760" dirty="0">
                <a:solidFill>
                  <a:srgbClr val="DCE6F2"/>
                </a:solidFill>
                <a:latin typeface="Consolas" pitchFamily="34" charset="0"/>
                <a:ea typeface="Consolas" pitchFamily="34" charset="-122"/>
                <a:cs typeface="Consolas" pitchFamily="34" charset="-120"/>
              </a:rPr>
              <a:t>}</a:t>
            </a:r>
            <a:endParaRPr lang="en-US" sz="760" dirty="0"/>
          </a:p>
          <a:p>
            <a:pPr marL="0" indent="0">
              <a:lnSpc>
                <a:spcPct val="100000"/>
              </a:lnSpc>
              <a:buNone/>
            </a:pPr>
            <a:r>
              <a:rPr lang="en-US" sz="760" dirty="0">
                <a:solidFill>
                  <a:srgbClr val="DCE6F2"/>
                </a:solidFill>
                <a:latin typeface="Consolas" pitchFamily="34" charset="0"/>
                <a:ea typeface="Consolas" pitchFamily="34" charset="-122"/>
                <a:cs typeface="Consolas" pitchFamily="34" charset="-120"/>
              </a:rPr>
              <a:t> </a:t>
            </a:r>
            <a:endParaRPr lang="en-US" sz="760" dirty="0"/>
          </a:p>
          <a:p>
            <a:pPr marL="0" indent="0">
              <a:lnSpc>
                <a:spcPct val="100000"/>
              </a:lnSpc>
              <a:buNone/>
            </a:pPr>
            <a:r>
              <a:rPr lang="en-US" sz="760" b="1" dirty="0">
                <a:solidFill>
                  <a:srgbClr val="FF9E80"/>
                </a:solidFill>
                <a:latin typeface="Consolas" pitchFamily="34" charset="0"/>
                <a:ea typeface="Consolas" pitchFamily="34" charset="-122"/>
                <a:cs typeface="Consolas" pitchFamily="34" charset="-120"/>
              </a:rPr>
              <a:t>--changeset_B1</a:t>
            </a:r>
            <a:endParaRPr lang="en-US" sz="760" dirty="0"/>
          </a:p>
          <a:p>
            <a:pPr marL="0" indent="0">
              <a:lnSpc>
                <a:spcPct val="100000"/>
              </a:lnSpc>
              <a:buNone/>
            </a:pPr>
            <a:r>
              <a:rPr lang="en-US" sz="760" dirty="0">
                <a:solidFill>
                  <a:srgbClr val="DCE6F2"/>
                </a:solidFill>
                <a:latin typeface="Consolas" pitchFamily="34" charset="0"/>
                <a:ea typeface="Consolas" pitchFamily="34" charset="-122"/>
                <a:cs typeface="Consolas" pitchFamily="34" charset="-120"/>
              </a:rPr>
              <a:t>Content-Type: application/http</a:t>
            </a:r>
            <a:endParaRPr lang="en-US" sz="760" dirty="0"/>
          </a:p>
          <a:p>
            <a:pPr marL="0" indent="0">
              <a:lnSpc>
                <a:spcPct val="100000"/>
              </a:lnSpc>
              <a:buNone/>
            </a:pPr>
            <a:r>
              <a:rPr lang="en-US" sz="760" dirty="0">
                <a:solidFill>
                  <a:srgbClr val="DCE6F2"/>
                </a:solidFill>
                <a:latin typeface="Consolas" pitchFamily="34" charset="0"/>
                <a:ea typeface="Consolas" pitchFamily="34" charset="-122"/>
                <a:cs typeface="Consolas" pitchFamily="34" charset="-120"/>
              </a:rPr>
              <a:t>Content-Transfer-Encoding: binary</a:t>
            </a:r>
            <a:endParaRPr lang="en-US" sz="760" dirty="0"/>
          </a:p>
          <a:p>
            <a:pPr marL="0" indent="0">
              <a:lnSpc>
                <a:spcPct val="100000"/>
              </a:lnSpc>
              <a:buNone/>
            </a:pPr>
            <a:r>
              <a:rPr lang="en-US" sz="760" dirty="0">
                <a:solidFill>
                  <a:srgbClr val="DCE6F2"/>
                </a:solidFill>
                <a:latin typeface="Consolas" pitchFamily="34" charset="0"/>
                <a:ea typeface="Consolas" pitchFamily="34" charset="-122"/>
                <a:cs typeface="Consolas" pitchFamily="34" charset="-120"/>
              </a:rPr>
              <a:t> </a:t>
            </a:r>
            <a:endParaRPr lang="en-US" sz="760" dirty="0"/>
          </a:p>
          <a:p>
            <a:pPr marL="0" indent="0">
              <a:lnSpc>
                <a:spcPct val="100000"/>
              </a:lnSpc>
              <a:buNone/>
            </a:pPr>
            <a:r>
              <a:rPr lang="en-US" sz="760" b="1" dirty="0">
                <a:solidFill>
                  <a:srgbClr val="F5A800"/>
                </a:solidFill>
                <a:latin typeface="Consolas" pitchFamily="34" charset="0"/>
                <a:ea typeface="Consolas" pitchFamily="34" charset="-122"/>
                <a:cs typeface="Consolas" pitchFamily="34" charset="-120"/>
              </a:rPr>
              <a:t>POST</a:t>
            </a:r>
            <a:r>
              <a:rPr lang="en-US" sz="760" dirty="0">
                <a:solidFill>
                  <a:srgbClr val="DCE6F2"/>
                </a:solidFill>
                <a:latin typeface="Consolas" pitchFamily="34" charset="0"/>
                <a:ea typeface="Consolas" pitchFamily="34" charset="-122"/>
                <a:cs typeface="Consolas" pitchFamily="34" charset="-120"/>
              </a:rPr>
              <a:t> /b1s/v1/Orders</a:t>
            </a:r>
            <a:endParaRPr lang="en-US" sz="760" dirty="0"/>
          </a:p>
          <a:p>
            <a:pPr marL="0" indent="0">
              <a:lnSpc>
                <a:spcPct val="100000"/>
              </a:lnSpc>
              <a:buNone/>
            </a:pPr>
            <a:r>
              <a:rPr lang="en-US" sz="760" dirty="0">
                <a:solidFill>
                  <a:srgbClr val="DCE6F2"/>
                </a:solidFill>
                <a:latin typeface="Consolas" pitchFamily="34" charset="0"/>
                <a:ea typeface="Consolas" pitchFamily="34" charset="-122"/>
                <a:cs typeface="Consolas" pitchFamily="34" charset="-120"/>
              </a:rPr>
              <a:t>Content-Type: application/json</a:t>
            </a:r>
            <a:endParaRPr lang="en-US" sz="760" dirty="0"/>
          </a:p>
          <a:p>
            <a:pPr marL="0" indent="0">
              <a:lnSpc>
                <a:spcPct val="100000"/>
              </a:lnSpc>
              <a:buNone/>
            </a:pPr>
            <a:r>
              <a:rPr lang="en-US" sz="760" dirty="0">
                <a:solidFill>
                  <a:srgbClr val="DCE6F2"/>
                </a:solidFill>
                <a:latin typeface="Consolas" pitchFamily="34" charset="0"/>
                <a:ea typeface="Consolas" pitchFamily="34" charset="-122"/>
                <a:cs typeface="Consolas" pitchFamily="34" charset="-120"/>
              </a:rPr>
              <a:t> </a:t>
            </a:r>
            <a:endParaRPr lang="en-US" sz="760" dirty="0"/>
          </a:p>
          <a:p>
            <a:pPr marL="0" indent="0">
              <a:lnSpc>
                <a:spcPct val="100000"/>
              </a:lnSpc>
              <a:buNone/>
            </a:pPr>
            <a:r>
              <a:rPr lang="en-US" sz="760" dirty="0">
                <a:solidFill>
                  <a:srgbClr val="DCE6F2"/>
                </a:solidFill>
                <a:latin typeface="Consolas" pitchFamily="34" charset="0"/>
                <a:ea typeface="Consolas" pitchFamily="34" charset="-122"/>
                <a:cs typeface="Consolas" pitchFamily="34" charset="-120"/>
              </a:rPr>
              <a:t>{</a:t>
            </a:r>
            <a:r>
              <a:rPr lang="en-US" sz="760" dirty="0">
                <a:solidFill>
                  <a:srgbClr val="7FD1FF"/>
                </a:solidFill>
                <a:latin typeface="Consolas" pitchFamily="34" charset="0"/>
                <a:ea typeface="Consolas" pitchFamily="34" charset="-122"/>
                <a:cs typeface="Consolas" pitchFamily="34" charset="-120"/>
              </a:rPr>
              <a:t>"CardCode"</a:t>
            </a:r>
            <a:r>
              <a:rPr lang="en-US" sz="760" dirty="0">
                <a:solidFill>
                  <a:srgbClr val="DCE6F2"/>
                </a:solidFill>
                <a:latin typeface="Consolas" pitchFamily="34" charset="0"/>
                <a:ea typeface="Consolas" pitchFamily="34" charset="-122"/>
                <a:cs typeface="Consolas" pitchFamily="34" charset="-120"/>
              </a:rPr>
              <a:t>:</a:t>
            </a:r>
            <a:r>
              <a:rPr lang="en-US" sz="760" dirty="0">
                <a:solidFill>
                  <a:srgbClr val="B5E48C"/>
                </a:solidFill>
                <a:latin typeface="Consolas" pitchFamily="34" charset="0"/>
                <a:ea typeface="Consolas" pitchFamily="34" charset="-122"/>
                <a:cs typeface="Consolas" pitchFamily="34" charset="-120"/>
              </a:rPr>
              <a:t>"C0099"</a:t>
            </a:r>
            <a:r>
              <a:rPr lang="en-US" sz="760" dirty="0">
                <a:solidFill>
                  <a:srgbClr val="DCE6F2"/>
                </a:solidFill>
                <a:latin typeface="Consolas" pitchFamily="34" charset="0"/>
                <a:ea typeface="Consolas" pitchFamily="34" charset="-122"/>
                <a:cs typeface="Consolas" pitchFamily="34" charset="-120"/>
              </a:rPr>
              <a:t>,</a:t>
            </a:r>
            <a:r>
              <a:rPr lang="en-US" sz="760" dirty="0">
                <a:solidFill>
                  <a:srgbClr val="7FD1FF"/>
                </a:solidFill>
                <a:latin typeface="Consolas" pitchFamily="34" charset="0"/>
                <a:ea typeface="Consolas" pitchFamily="34" charset="-122"/>
                <a:cs typeface="Consolas" pitchFamily="34" charset="-120"/>
              </a:rPr>
              <a:t>"DocDueDate"</a:t>
            </a:r>
            <a:r>
              <a:rPr lang="en-US" sz="760" dirty="0">
                <a:solidFill>
                  <a:srgbClr val="DCE6F2"/>
                </a:solidFill>
                <a:latin typeface="Consolas" pitchFamily="34" charset="0"/>
                <a:ea typeface="Consolas" pitchFamily="34" charset="-122"/>
                <a:cs typeface="Consolas" pitchFamily="34" charset="-120"/>
              </a:rPr>
              <a:t>:</a:t>
            </a:r>
            <a:r>
              <a:rPr lang="en-US" sz="760" dirty="0">
                <a:solidFill>
                  <a:srgbClr val="B5E48C"/>
                </a:solidFill>
                <a:latin typeface="Consolas" pitchFamily="34" charset="0"/>
                <a:ea typeface="Consolas" pitchFamily="34" charset="-122"/>
                <a:cs typeface="Consolas" pitchFamily="34" charset="-120"/>
              </a:rPr>
              <a:t>"2026-09-30"</a:t>
            </a:r>
            <a:r>
              <a:rPr lang="en-US" sz="760" dirty="0">
                <a:solidFill>
                  <a:srgbClr val="DCE6F2"/>
                </a:solidFill>
                <a:latin typeface="Consolas" pitchFamily="34" charset="0"/>
                <a:ea typeface="Consolas" pitchFamily="34" charset="-122"/>
                <a:cs typeface="Consolas" pitchFamily="34" charset="-120"/>
              </a:rPr>
              <a:t>,</a:t>
            </a:r>
            <a:endParaRPr lang="en-US" sz="760" dirty="0"/>
          </a:p>
          <a:p>
            <a:pPr marL="0" indent="0">
              <a:lnSpc>
                <a:spcPct val="100000"/>
              </a:lnSpc>
              <a:buNone/>
            </a:pPr>
            <a:r>
              <a:rPr lang="en-US" sz="760" dirty="0">
                <a:solidFill>
                  <a:srgbClr val="DCE6F2"/>
                </a:solidFill>
                <a:latin typeface="Consolas" pitchFamily="34" charset="0"/>
                <a:ea typeface="Consolas" pitchFamily="34" charset="-122"/>
                <a:cs typeface="Consolas" pitchFamily="34" charset="-120"/>
              </a:rPr>
              <a:t> </a:t>
            </a:r>
            <a:r>
              <a:rPr lang="en-US" sz="760" dirty="0">
                <a:solidFill>
                  <a:srgbClr val="7FD1FF"/>
                </a:solidFill>
                <a:latin typeface="Consolas" pitchFamily="34" charset="0"/>
                <a:ea typeface="Consolas" pitchFamily="34" charset="-122"/>
                <a:cs typeface="Consolas" pitchFamily="34" charset="-120"/>
              </a:rPr>
              <a:t>"DocumentLines"</a:t>
            </a:r>
            <a:r>
              <a:rPr lang="en-US" sz="760" dirty="0">
                <a:solidFill>
                  <a:srgbClr val="DCE6F2"/>
                </a:solidFill>
                <a:latin typeface="Consolas" pitchFamily="34" charset="0"/>
                <a:ea typeface="Consolas" pitchFamily="34" charset="-122"/>
                <a:cs typeface="Consolas" pitchFamily="34" charset="-120"/>
              </a:rPr>
              <a:t>:[{</a:t>
            </a:r>
            <a:r>
              <a:rPr lang="en-US" sz="760" dirty="0">
                <a:solidFill>
                  <a:srgbClr val="7FD1FF"/>
                </a:solidFill>
                <a:latin typeface="Consolas" pitchFamily="34" charset="0"/>
                <a:ea typeface="Consolas" pitchFamily="34" charset="-122"/>
                <a:cs typeface="Consolas" pitchFamily="34" charset="-120"/>
              </a:rPr>
              <a:t>"ItemCode"</a:t>
            </a:r>
            <a:r>
              <a:rPr lang="en-US" sz="760" dirty="0">
                <a:solidFill>
                  <a:srgbClr val="DCE6F2"/>
                </a:solidFill>
                <a:latin typeface="Consolas" pitchFamily="34" charset="0"/>
                <a:ea typeface="Consolas" pitchFamily="34" charset="-122"/>
                <a:cs typeface="Consolas" pitchFamily="34" charset="-120"/>
              </a:rPr>
              <a:t>:</a:t>
            </a:r>
            <a:r>
              <a:rPr lang="en-US" sz="760" dirty="0">
                <a:solidFill>
                  <a:srgbClr val="B5E48C"/>
                </a:solidFill>
                <a:latin typeface="Consolas" pitchFamily="34" charset="0"/>
                <a:ea typeface="Consolas" pitchFamily="34" charset="-122"/>
                <a:cs typeface="Consolas" pitchFamily="34" charset="-120"/>
              </a:rPr>
              <a:t>"PT-0001"</a:t>
            </a:r>
            <a:r>
              <a:rPr lang="en-US" sz="760" dirty="0">
                <a:solidFill>
                  <a:srgbClr val="DCE6F2"/>
                </a:solidFill>
                <a:latin typeface="Consolas" pitchFamily="34" charset="0"/>
                <a:ea typeface="Consolas" pitchFamily="34" charset="-122"/>
                <a:cs typeface="Consolas" pitchFamily="34" charset="-120"/>
              </a:rPr>
              <a:t>,</a:t>
            </a:r>
            <a:r>
              <a:rPr lang="en-US" sz="760" dirty="0">
                <a:solidFill>
                  <a:srgbClr val="7FD1FF"/>
                </a:solidFill>
                <a:latin typeface="Consolas" pitchFamily="34" charset="0"/>
                <a:ea typeface="Consolas" pitchFamily="34" charset="-122"/>
                <a:cs typeface="Consolas" pitchFamily="34" charset="-120"/>
              </a:rPr>
              <a:t>"Quantity"</a:t>
            </a:r>
            <a:r>
              <a:rPr lang="en-US" sz="760" dirty="0">
                <a:solidFill>
                  <a:srgbClr val="DCE6F2"/>
                </a:solidFill>
                <a:latin typeface="Consolas" pitchFamily="34" charset="0"/>
                <a:ea typeface="Consolas" pitchFamily="34" charset="-122"/>
                <a:cs typeface="Consolas" pitchFamily="34" charset="-120"/>
              </a:rPr>
              <a:t>:1}]}</a:t>
            </a:r>
            <a:endParaRPr lang="en-US" sz="760" dirty="0"/>
          </a:p>
          <a:p>
            <a:pPr marL="0" indent="0">
              <a:lnSpc>
                <a:spcPct val="100000"/>
              </a:lnSpc>
              <a:buNone/>
            </a:pPr>
            <a:r>
              <a:rPr lang="en-US" sz="760" dirty="0">
                <a:solidFill>
                  <a:srgbClr val="DCE6F2"/>
                </a:solidFill>
                <a:latin typeface="Consolas" pitchFamily="34" charset="0"/>
                <a:ea typeface="Consolas" pitchFamily="34" charset="-122"/>
                <a:cs typeface="Consolas" pitchFamily="34" charset="-120"/>
              </a:rPr>
              <a:t> </a:t>
            </a:r>
            <a:endParaRPr lang="en-US" sz="760" dirty="0"/>
          </a:p>
          <a:p>
            <a:pPr marL="0" indent="0">
              <a:lnSpc>
                <a:spcPct val="100000"/>
              </a:lnSpc>
              <a:buNone/>
            </a:pPr>
            <a:r>
              <a:rPr lang="en-US" sz="760" b="1" dirty="0">
                <a:solidFill>
                  <a:srgbClr val="FF9E80"/>
                </a:solidFill>
                <a:latin typeface="Consolas" pitchFamily="34" charset="0"/>
                <a:ea typeface="Consolas" pitchFamily="34" charset="-122"/>
                <a:cs typeface="Consolas" pitchFamily="34" charset="-120"/>
              </a:rPr>
              <a:t>--changeset_B1--</a:t>
            </a:r>
            <a:endParaRPr lang="en-US" sz="760" dirty="0"/>
          </a:p>
          <a:p>
            <a:pPr marL="0" indent="0">
              <a:lnSpc>
                <a:spcPct val="100000"/>
              </a:lnSpc>
              <a:buNone/>
            </a:pPr>
            <a:r>
              <a:rPr lang="en-US" sz="760" b="1" dirty="0">
                <a:solidFill>
                  <a:srgbClr val="FF9E80"/>
                </a:solidFill>
                <a:latin typeface="Consolas" pitchFamily="34" charset="0"/>
                <a:ea typeface="Consolas" pitchFamily="34" charset="-122"/>
                <a:cs typeface="Consolas" pitchFamily="34" charset="-120"/>
              </a:rPr>
              <a:t>--batch_A1--</a:t>
            </a:r>
            <a:endParaRPr lang="en-US" sz="760" dirty="0"/>
          </a:p>
        </p:txBody>
      </p:sp>
      <p:sp>
        <p:nvSpPr>
          <p:cNvPr id="12" name="Shape 10"/>
          <p:cNvSpPr/>
          <p:nvPr/>
        </p:nvSpPr>
        <p:spPr>
          <a:xfrm>
            <a:off x="5806440" y="1225296"/>
            <a:ext cx="365760" cy="365760"/>
          </a:xfrm>
          <a:prstGeom prst="ellipse">
            <a:avLst/>
          </a:prstGeom>
          <a:solidFill>
            <a:srgbClr val="0B4DA2"/>
          </a:solidFill>
          <a:ln w="12700">
            <a:solidFill>
              <a:srgbClr val="0B4DA2"/>
            </a:solidFill>
            <a:prstDash val="solid"/>
          </a:ln>
        </p:spPr>
      </p:sp>
      <p:sp>
        <p:nvSpPr>
          <p:cNvPr id="13" name="Text 11"/>
          <p:cNvSpPr txBox="1"/>
          <p:nvPr/>
        </p:nvSpPr>
        <p:spPr>
          <a:xfrm>
            <a:off x="5806440" y="1225296"/>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1</a:t>
            </a:r>
            <a:endParaRPr lang="en-US" sz="1200" dirty="0"/>
          </a:p>
        </p:txBody>
      </p:sp>
      <p:sp>
        <p:nvSpPr>
          <p:cNvPr id="14" name="Text 12"/>
          <p:cNvSpPr txBox="1"/>
          <p:nvPr/>
        </p:nvSpPr>
        <p:spPr>
          <a:xfrm>
            <a:off x="6291072" y="1188720"/>
            <a:ext cx="2423160" cy="237744"/>
          </a:xfrm>
          <a:prstGeom prst="rect">
            <a:avLst/>
          </a:prstGeom>
          <a:noFill/>
          <a:ln/>
        </p:spPr>
        <p:txBody>
          <a:bodyPr wrap="square" lIns="0" tIns="0" rIns="0" bIns="0" rtlCol="0" anchor="t"/>
          <a:lstStyle/>
          <a:p>
            <a:pPr marL="0" indent="0">
              <a:buNone/>
            </a:pPr>
            <a:r>
              <a:rPr lang="en-US" sz="1100" b="1" dirty="0">
                <a:solidFill>
                  <a:srgbClr val="071B3F"/>
                </a:solidFill>
                <a:latin typeface="Segoe UI" pitchFamily="34" charset="0"/>
                <a:ea typeface="Segoe UI" pitchFamily="34" charset="-122"/>
                <a:cs typeface="Segoe UI" pitchFamily="34" charset="-120"/>
              </a:rPr>
              <a:t>Header del batch</a:t>
            </a:r>
            <a:endParaRPr lang="en-US" sz="1100" dirty="0"/>
          </a:p>
        </p:txBody>
      </p:sp>
      <p:sp>
        <p:nvSpPr>
          <p:cNvPr id="15" name="Text 13"/>
          <p:cNvSpPr txBox="1"/>
          <p:nvPr/>
        </p:nvSpPr>
        <p:spPr>
          <a:xfrm>
            <a:off x="6291072" y="1426464"/>
            <a:ext cx="2423160" cy="411480"/>
          </a:xfrm>
          <a:prstGeom prst="rect">
            <a:avLst/>
          </a:prstGeom>
          <a:noFill/>
          <a:ln/>
        </p:spPr>
        <p:txBody>
          <a:bodyPr wrap="square" lIns="0" tIns="0" rIns="0" bIns="0" rtlCol="0" anchor="t"/>
          <a:lstStyle/>
          <a:p>
            <a:pPr marL="0" indent="0">
              <a:buNone/>
            </a:pPr>
            <a:r>
              <a:rPr lang="en-US" sz="950" dirty="0">
                <a:solidFill>
                  <a:srgbClr val="5B6B82"/>
                </a:solidFill>
                <a:latin typeface="Calibri" pitchFamily="34" charset="0"/>
                <a:ea typeface="Calibri" pitchFamily="34" charset="-122"/>
                <a:cs typeface="Calibri" pitchFamily="34" charset="-120"/>
              </a:rPr>
              <a:t>Content-Type: multipart/mixed con el boundary del batch.</a:t>
            </a:r>
            <a:endParaRPr lang="en-US" sz="950" dirty="0"/>
          </a:p>
        </p:txBody>
      </p:sp>
      <p:sp>
        <p:nvSpPr>
          <p:cNvPr id="16" name="Shape 14"/>
          <p:cNvSpPr/>
          <p:nvPr/>
        </p:nvSpPr>
        <p:spPr>
          <a:xfrm>
            <a:off x="5806440" y="1892808"/>
            <a:ext cx="365760" cy="365760"/>
          </a:xfrm>
          <a:prstGeom prst="ellipse">
            <a:avLst/>
          </a:prstGeom>
          <a:solidFill>
            <a:srgbClr val="0B4DA2"/>
          </a:solidFill>
          <a:ln w="12700">
            <a:solidFill>
              <a:srgbClr val="0B4DA2"/>
            </a:solidFill>
            <a:prstDash val="solid"/>
          </a:ln>
        </p:spPr>
      </p:sp>
      <p:sp>
        <p:nvSpPr>
          <p:cNvPr id="17" name="Text 15"/>
          <p:cNvSpPr txBox="1"/>
          <p:nvPr/>
        </p:nvSpPr>
        <p:spPr>
          <a:xfrm>
            <a:off x="5806440" y="1892808"/>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2</a:t>
            </a:r>
            <a:endParaRPr lang="en-US" sz="1200" dirty="0"/>
          </a:p>
        </p:txBody>
      </p:sp>
      <p:sp>
        <p:nvSpPr>
          <p:cNvPr id="18" name="Text 16"/>
          <p:cNvSpPr txBox="1"/>
          <p:nvPr/>
        </p:nvSpPr>
        <p:spPr>
          <a:xfrm>
            <a:off x="6291072" y="1856232"/>
            <a:ext cx="2423160" cy="237744"/>
          </a:xfrm>
          <a:prstGeom prst="rect">
            <a:avLst/>
          </a:prstGeom>
          <a:noFill/>
          <a:ln/>
        </p:spPr>
        <p:txBody>
          <a:bodyPr wrap="square" lIns="0" tIns="0" rIns="0" bIns="0" rtlCol="0" anchor="t"/>
          <a:lstStyle/>
          <a:p>
            <a:pPr marL="0" indent="0">
              <a:buNone/>
            </a:pPr>
            <a:r>
              <a:rPr lang="en-US" sz="1100" b="1" dirty="0">
                <a:solidFill>
                  <a:srgbClr val="071B3F"/>
                </a:solidFill>
                <a:latin typeface="Segoe UI" pitchFamily="34" charset="0"/>
                <a:ea typeface="Segoe UI" pitchFamily="34" charset="-122"/>
                <a:cs typeface="Segoe UI" pitchFamily="34" charset="-120"/>
              </a:rPr>
              <a:t>Abrir changeset</a:t>
            </a:r>
            <a:endParaRPr lang="en-US" sz="1100" dirty="0"/>
          </a:p>
        </p:txBody>
      </p:sp>
      <p:sp>
        <p:nvSpPr>
          <p:cNvPr id="19" name="Text 17"/>
          <p:cNvSpPr txBox="1"/>
          <p:nvPr/>
        </p:nvSpPr>
        <p:spPr>
          <a:xfrm>
            <a:off x="6291072" y="2093976"/>
            <a:ext cx="2423160" cy="411480"/>
          </a:xfrm>
          <a:prstGeom prst="rect">
            <a:avLst/>
          </a:prstGeom>
          <a:noFill/>
          <a:ln/>
        </p:spPr>
        <p:txBody>
          <a:bodyPr wrap="square" lIns="0" tIns="0" rIns="0" bIns="0" rtlCol="0" anchor="t"/>
          <a:lstStyle/>
          <a:p>
            <a:pPr marL="0" indent="0">
              <a:buNone/>
            </a:pPr>
            <a:r>
              <a:rPr lang="en-US" sz="950" dirty="0">
                <a:solidFill>
                  <a:srgbClr val="5B6B82"/>
                </a:solidFill>
                <a:latin typeface="Calibri" pitchFamily="34" charset="0"/>
                <a:ea typeface="Calibri" pitchFamily="34" charset="-122"/>
                <a:cs typeface="Calibri" pitchFamily="34" charset="-120"/>
              </a:rPr>
              <a:t>Una parte del batch con su propio boundary de changeset.</a:t>
            </a:r>
            <a:endParaRPr lang="en-US" sz="950" dirty="0"/>
          </a:p>
        </p:txBody>
      </p:sp>
      <p:sp>
        <p:nvSpPr>
          <p:cNvPr id="20" name="Shape 18"/>
          <p:cNvSpPr/>
          <p:nvPr/>
        </p:nvSpPr>
        <p:spPr>
          <a:xfrm>
            <a:off x="5806440" y="2560320"/>
            <a:ext cx="365760" cy="365760"/>
          </a:xfrm>
          <a:prstGeom prst="ellipse">
            <a:avLst/>
          </a:prstGeom>
          <a:solidFill>
            <a:srgbClr val="0B4DA2"/>
          </a:solidFill>
          <a:ln w="12700">
            <a:solidFill>
              <a:srgbClr val="0B4DA2"/>
            </a:solidFill>
            <a:prstDash val="solid"/>
          </a:ln>
        </p:spPr>
      </p:sp>
      <p:sp>
        <p:nvSpPr>
          <p:cNvPr id="21" name="Text 19"/>
          <p:cNvSpPr txBox="1"/>
          <p:nvPr/>
        </p:nvSpPr>
        <p:spPr>
          <a:xfrm>
            <a:off x="5806440" y="256032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3</a:t>
            </a:r>
            <a:endParaRPr lang="en-US" sz="1200" dirty="0"/>
          </a:p>
        </p:txBody>
      </p:sp>
      <p:sp>
        <p:nvSpPr>
          <p:cNvPr id="22" name="Text 20"/>
          <p:cNvSpPr txBox="1"/>
          <p:nvPr/>
        </p:nvSpPr>
        <p:spPr>
          <a:xfrm>
            <a:off x="6291072" y="2523744"/>
            <a:ext cx="2423160" cy="237744"/>
          </a:xfrm>
          <a:prstGeom prst="rect">
            <a:avLst/>
          </a:prstGeom>
          <a:noFill/>
          <a:ln/>
        </p:spPr>
        <p:txBody>
          <a:bodyPr wrap="square" lIns="0" tIns="0" rIns="0" bIns="0" rtlCol="0" anchor="t"/>
          <a:lstStyle/>
          <a:p>
            <a:pPr marL="0" indent="0">
              <a:buNone/>
            </a:pPr>
            <a:r>
              <a:rPr lang="en-US" sz="1100" b="1" dirty="0">
                <a:solidFill>
                  <a:srgbClr val="071B3F"/>
                </a:solidFill>
                <a:latin typeface="Segoe UI" pitchFamily="34" charset="0"/>
                <a:ea typeface="Segoe UI" pitchFamily="34" charset="-122"/>
                <a:cs typeface="Segoe UI" pitchFamily="34" charset="-120"/>
              </a:rPr>
              <a:t>Cada operación</a:t>
            </a:r>
            <a:endParaRPr lang="en-US" sz="1100" dirty="0"/>
          </a:p>
        </p:txBody>
      </p:sp>
      <p:sp>
        <p:nvSpPr>
          <p:cNvPr id="23" name="Text 21"/>
          <p:cNvSpPr txBox="1"/>
          <p:nvPr/>
        </p:nvSpPr>
        <p:spPr>
          <a:xfrm>
            <a:off x="6291072" y="2761488"/>
            <a:ext cx="2423160" cy="411480"/>
          </a:xfrm>
          <a:prstGeom prst="rect">
            <a:avLst/>
          </a:prstGeom>
          <a:noFill/>
          <a:ln/>
        </p:spPr>
        <p:txBody>
          <a:bodyPr wrap="square" lIns="0" tIns="0" rIns="0" bIns="0" rtlCol="0" anchor="t"/>
          <a:lstStyle/>
          <a:p>
            <a:pPr marL="0" indent="0">
              <a:buNone/>
            </a:pPr>
            <a:r>
              <a:rPr lang="en-US" sz="950" dirty="0">
                <a:solidFill>
                  <a:srgbClr val="5B6B82"/>
                </a:solidFill>
                <a:latin typeface="Calibri" pitchFamily="34" charset="0"/>
                <a:ea typeface="Calibri" pitchFamily="34" charset="-122"/>
                <a:cs typeface="Calibri" pitchFamily="34" charset="-120"/>
              </a:rPr>
              <a:t>Content-Type: application/http y Content-Transfer-Encoding: binary.</a:t>
            </a:r>
            <a:endParaRPr lang="en-US" sz="950" dirty="0"/>
          </a:p>
        </p:txBody>
      </p:sp>
      <p:sp>
        <p:nvSpPr>
          <p:cNvPr id="24" name="Shape 22"/>
          <p:cNvSpPr/>
          <p:nvPr/>
        </p:nvSpPr>
        <p:spPr>
          <a:xfrm>
            <a:off x="5806440" y="3227832"/>
            <a:ext cx="365760" cy="365760"/>
          </a:xfrm>
          <a:prstGeom prst="ellipse">
            <a:avLst/>
          </a:prstGeom>
          <a:solidFill>
            <a:srgbClr val="0B4DA2"/>
          </a:solidFill>
          <a:ln w="12700">
            <a:solidFill>
              <a:srgbClr val="0B4DA2"/>
            </a:solidFill>
            <a:prstDash val="solid"/>
          </a:ln>
        </p:spPr>
      </p:sp>
      <p:sp>
        <p:nvSpPr>
          <p:cNvPr id="25" name="Text 23"/>
          <p:cNvSpPr txBox="1"/>
          <p:nvPr/>
        </p:nvSpPr>
        <p:spPr>
          <a:xfrm>
            <a:off x="5806440" y="322783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4</a:t>
            </a:r>
            <a:endParaRPr lang="en-US" sz="1200" dirty="0"/>
          </a:p>
        </p:txBody>
      </p:sp>
      <p:sp>
        <p:nvSpPr>
          <p:cNvPr id="26" name="Text 24"/>
          <p:cNvSpPr txBox="1"/>
          <p:nvPr/>
        </p:nvSpPr>
        <p:spPr>
          <a:xfrm>
            <a:off x="6291072" y="3191256"/>
            <a:ext cx="2423160" cy="237744"/>
          </a:xfrm>
          <a:prstGeom prst="rect">
            <a:avLst/>
          </a:prstGeom>
          <a:noFill/>
          <a:ln/>
        </p:spPr>
        <p:txBody>
          <a:bodyPr wrap="square" lIns="0" tIns="0" rIns="0" bIns="0" rtlCol="0" anchor="t"/>
          <a:lstStyle/>
          <a:p>
            <a:pPr marL="0" indent="0">
              <a:buNone/>
            </a:pPr>
            <a:r>
              <a:rPr lang="en-US" sz="1100" b="1" dirty="0">
                <a:solidFill>
                  <a:srgbClr val="071B3F"/>
                </a:solidFill>
                <a:latin typeface="Segoe UI" pitchFamily="34" charset="0"/>
                <a:ea typeface="Segoe UI" pitchFamily="34" charset="-122"/>
                <a:cs typeface="Segoe UI" pitchFamily="34" charset="-120"/>
              </a:rPr>
              <a:t>Petición interna</a:t>
            </a:r>
            <a:endParaRPr lang="en-US" sz="1100" dirty="0"/>
          </a:p>
        </p:txBody>
      </p:sp>
      <p:sp>
        <p:nvSpPr>
          <p:cNvPr id="27" name="Text 25"/>
          <p:cNvSpPr txBox="1"/>
          <p:nvPr/>
        </p:nvSpPr>
        <p:spPr>
          <a:xfrm>
            <a:off x="6291072" y="3429000"/>
            <a:ext cx="2423160" cy="411480"/>
          </a:xfrm>
          <a:prstGeom prst="rect">
            <a:avLst/>
          </a:prstGeom>
          <a:noFill/>
          <a:ln/>
        </p:spPr>
        <p:txBody>
          <a:bodyPr wrap="square" lIns="0" tIns="0" rIns="0" bIns="0" rtlCol="0" anchor="t"/>
          <a:lstStyle/>
          <a:p>
            <a:pPr marL="0" indent="0">
              <a:buNone/>
            </a:pPr>
            <a:r>
              <a:rPr lang="en-US" sz="950" dirty="0">
                <a:solidFill>
                  <a:srgbClr val="5B6B82"/>
                </a:solidFill>
                <a:latin typeface="Calibri" pitchFamily="34" charset="0"/>
                <a:ea typeface="Calibri" pitchFamily="34" charset="-122"/>
                <a:cs typeface="Calibri" pitchFamily="34" charset="-120"/>
              </a:rPr>
              <a:t>Línea método + URL, headers, línea en blanco y el JSON.</a:t>
            </a:r>
            <a:endParaRPr lang="en-US" sz="950" dirty="0"/>
          </a:p>
        </p:txBody>
      </p:sp>
      <p:sp>
        <p:nvSpPr>
          <p:cNvPr id="28" name="Shape 26"/>
          <p:cNvSpPr/>
          <p:nvPr/>
        </p:nvSpPr>
        <p:spPr>
          <a:xfrm>
            <a:off x="5806440" y="3895344"/>
            <a:ext cx="365760" cy="365760"/>
          </a:xfrm>
          <a:prstGeom prst="ellipse">
            <a:avLst/>
          </a:prstGeom>
          <a:solidFill>
            <a:srgbClr val="F5A800"/>
          </a:solidFill>
          <a:ln w="12700">
            <a:solidFill>
              <a:srgbClr val="F5A800"/>
            </a:solidFill>
            <a:prstDash val="solid"/>
          </a:ln>
        </p:spPr>
      </p:sp>
      <p:sp>
        <p:nvSpPr>
          <p:cNvPr id="29" name="Text 27"/>
          <p:cNvSpPr txBox="1"/>
          <p:nvPr/>
        </p:nvSpPr>
        <p:spPr>
          <a:xfrm>
            <a:off x="5806440" y="3895344"/>
            <a:ext cx="365760" cy="365760"/>
          </a:xfrm>
          <a:prstGeom prst="rect">
            <a:avLst/>
          </a:prstGeom>
          <a:noFill/>
          <a:ln/>
        </p:spPr>
        <p:txBody>
          <a:bodyPr wrap="square" lIns="0" tIns="0" rIns="0" bIns="0" rtlCol="0" anchor="ctr"/>
          <a:lstStyle/>
          <a:p>
            <a:pPr marL="0" indent="0" algn="ctr">
              <a:buNone/>
            </a:pPr>
            <a:r>
              <a:rPr lang="en-US" sz="1200" b="1" dirty="0">
                <a:solidFill>
                  <a:srgbClr val="071B3F"/>
                </a:solidFill>
                <a:latin typeface="Segoe UI" pitchFamily="34" charset="0"/>
                <a:ea typeface="Segoe UI" pitchFamily="34" charset="-122"/>
                <a:cs typeface="Segoe UI" pitchFamily="34" charset="-120"/>
              </a:rPr>
              <a:t>5</a:t>
            </a:r>
            <a:endParaRPr lang="en-US" sz="1200" dirty="0"/>
          </a:p>
        </p:txBody>
      </p:sp>
      <p:sp>
        <p:nvSpPr>
          <p:cNvPr id="30" name="Text 28"/>
          <p:cNvSpPr txBox="1"/>
          <p:nvPr/>
        </p:nvSpPr>
        <p:spPr>
          <a:xfrm>
            <a:off x="6291072" y="3858768"/>
            <a:ext cx="2423160" cy="237744"/>
          </a:xfrm>
          <a:prstGeom prst="rect">
            <a:avLst/>
          </a:prstGeom>
          <a:noFill/>
          <a:ln/>
        </p:spPr>
        <p:txBody>
          <a:bodyPr wrap="square" lIns="0" tIns="0" rIns="0" bIns="0" rtlCol="0" anchor="t"/>
          <a:lstStyle/>
          <a:p>
            <a:pPr marL="0" indent="0">
              <a:buNone/>
            </a:pPr>
            <a:r>
              <a:rPr lang="en-US" sz="1100" b="1" dirty="0">
                <a:solidFill>
                  <a:srgbClr val="071B3F"/>
                </a:solidFill>
                <a:latin typeface="Segoe UI" pitchFamily="34" charset="0"/>
                <a:ea typeface="Segoe UI" pitchFamily="34" charset="-122"/>
                <a:cs typeface="Segoe UI" pitchFamily="34" charset="-120"/>
              </a:rPr>
              <a:t>Cerrar</a:t>
            </a:r>
            <a:endParaRPr lang="en-US" sz="1100" dirty="0"/>
          </a:p>
        </p:txBody>
      </p:sp>
      <p:sp>
        <p:nvSpPr>
          <p:cNvPr id="31" name="Text 29"/>
          <p:cNvSpPr txBox="1"/>
          <p:nvPr/>
        </p:nvSpPr>
        <p:spPr>
          <a:xfrm>
            <a:off x="6291072" y="4096512"/>
            <a:ext cx="2423160" cy="411480"/>
          </a:xfrm>
          <a:prstGeom prst="rect">
            <a:avLst/>
          </a:prstGeom>
          <a:noFill/>
          <a:ln/>
        </p:spPr>
        <p:txBody>
          <a:bodyPr wrap="square" lIns="0" tIns="0" rIns="0" bIns="0" rtlCol="0" anchor="t"/>
          <a:lstStyle/>
          <a:p>
            <a:pPr marL="0" indent="0">
              <a:buNone/>
            </a:pPr>
            <a:r>
              <a:rPr lang="en-US" sz="950" dirty="0">
                <a:solidFill>
                  <a:srgbClr val="5B6B82"/>
                </a:solidFill>
                <a:latin typeface="Calibri" pitchFamily="34" charset="0"/>
                <a:ea typeface="Calibri" pitchFamily="34" charset="-122"/>
                <a:cs typeface="Calibri" pitchFamily="34" charset="-120"/>
              </a:rPr>
              <a:t>--changeset_B1-- y luego --batch_A1-- (con dos guiones al final).</a:t>
            </a:r>
            <a:endParaRPr lang="en-US" sz="950" dirty="0"/>
          </a:p>
        </p:txBody>
      </p:sp>
      <p:sp>
        <p:nvSpPr>
          <p:cNvPr id="32"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xmlns="" val="0"/>
            </a:ext>
          </a:extLst>
        </p:spPr>
        <p:txBody>
          <a:bodyPr/>
          <a:lstStyle>
            <a:lvl1pPr>
              <a:defRPr sz="800">
                <a:solidFill>
                  <a:srgbClr val="8A9AB0"/>
                </a:solidFill>
                <a:latin typeface="Calibri"/>
                <a:ea typeface="Calibri"/>
                <a:cs typeface="Calibri"/>
              </a:defRPr>
            </a:lvl1pPr>
          </a:lstStyle>
          <a:p>
            <a:pPr algn="r"/>
            <a:fld id="{F7021451-1387-4CA6-816F-3879F97B5CBC}" type="slidenum">
              <a:rPr lang="en-US" b="0"/>
              <a:t>37</a:t>
            </a:fld>
            <a:endParaRPr lang="en-US"/>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1097280"/>
            <a:ext cx="2743200" cy="1280160"/>
          </a:xfrm>
          <a:prstGeom prst="rect">
            <a:avLst/>
          </a:prstGeom>
          <a:noFill/>
          <a:ln/>
        </p:spPr>
        <p:txBody>
          <a:bodyPr wrap="square" lIns="0" tIns="0" rIns="0" bIns="0" rtlCol="0" anchor="t"/>
          <a:lstStyle/>
          <a:p>
            <a:pPr marL="0" indent="0">
              <a:buNone/>
            </a:pPr>
            <a:r>
              <a:rPr lang="en-US" sz="8800" b="1" dirty="0">
                <a:solidFill>
                  <a:srgbClr val="F5A800"/>
                </a:solidFill>
                <a:latin typeface="Segoe UI" pitchFamily="34" charset="0"/>
                <a:ea typeface="Segoe UI" pitchFamily="34" charset="-122"/>
                <a:cs typeface="Segoe UI" pitchFamily="34" charset="-120"/>
              </a:rPr>
              <a:t>06</a:t>
            </a:r>
            <a:endParaRPr lang="en-US" sz="8800" dirty="0"/>
          </a:p>
        </p:txBody>
      </p:sp>
      <p:sp>
        <p:nvSpPr>
          <p:cNvPr id="3" name="Text 1"/>
          <p:cNvSpPr txBox="1"/>
          <p:nvPr/>
        </p:nvSpPr>
        <p:spPr>
          <a:xfrm>
            <a:off x="685800" y="914400"/>
            <a:ext cx="2743200" cy="274320"/>
          </a:xfrm>
          <a:prstGeom prst="rect">
            <a:avLst/>
          </a:prstGeom>
          <a:noFill/>
          <a:ln/>
        </p:spPr>
        <p:txBody>
          <a:bodyPr wrap="square" lIns="0" tIns="0" rIns="0" bIns="0" rtlCol="0" anchor="t"/>
          <a:lstStyle/>
          <a:p>
            <a:pPr marL="0" indent="0">
              <a:buNone/>
            </a:pPr>
            <a:r>
              <a:rPr lang="en-US" sz="1100" b="1" kern="0" spc="400" dirty="0">
                <a:solidFill>
                  <a:srgbClr val="29B6F6"/>
                </a:solidFill>
                <a:latin typeface="Segoe UI" pitchFamily="34" charset="0"/>
                <a:ea typeface="Segoe UI" pitchFamily="34" charset="-122"/>
                <a:cs typeface="Segoe UI" pitchFamily="34" charset="-120"/>
              </a:rPr>
              <a:t>CAPÍTULO</a:t>
            </a:r>
            <a:endParaRPr lang="en-US" sz="1100" dirty="0"/>
          </a:p>
        </p:txBody>
      </p:sp>
      <p:sp>
        <p:nvSpPr>
          <p:cNvPr id="4" name="Text 2"/>
          <p:cNvSpPr txBox="1"/>
          <p:nvPr/>
        </p:nvSpPr>
        <p:spPr>
          <a:xfrm>
            <a:off x="640080" y="2423160"/>
            <a:ext cx="7772400" cy="731520"/>
          </a:xfrm>
          <a:prstGeom prst="rect">
            <a:avLst/>
          </a:prstGeom>
          <a:noFill/>
          <a:ln/>
        </p:spPr>
        <p:txBody>
          <a:bodyPr wrap="square" lIns="0" tIns="0" rIns="0" bIns="0" rtlCol="0" anchor="t"/>
          <a:lstStyle/>
          <a:p>
            <a:pPr marL="0" indent="0">
              <a:buNone/>
            </a:pPr>
            <a:r>
              <a:rPr lang="en-US" sz="3400" b="1" dirty="0">
                <a:solidFill>
                  <a:srgbClr val="FFFFFF"/>
                </a:solidFill>
                <a:latin typeface="Segoe UI" pitchFamily="34" charset="0"/>
                <a:ea typeface="Segoe UI" pitchFamily="34" charset="-122"/>
                <a:cs typeface="Segoe UI" pitchFamily="34" charset="-120"/>
              </a:rPr>
              <a:t>Cliente HTTP con Service Layer</a:t>
            </a:r>
            <a:endParaRPr lang="en-US" sz="3400" dirty="0"/>
          </a:p>
        </p:txBody>
      </p:sp>
      <p:sp>
        <p:nvSpPr>
          <p:cNvPr id="5" name="Text 3"/>
          <p:cNvSpPr txBox="1"/>
          <p:nvPr/>
        </p:nvSpPr>
        <p:spPr>
          <a:xfrm>
            <a:off x="658368" y="3200400"/>
            <a:ext cx="7772400" cy="548640"/>
          </a:xfrm>
          <a:prstGeom prst="rect">
            <a:avLst/>
          </a:prstGeom>
          <a:noFill/>
          <a:ln/>
        </p:spPr>
        <p:txBody>
          <a:bodyPr wrap="square" lIns="0" tIns="0" rIns="0" bIns="0" rtlCol="0" anchor="t"/>
          <a:lstStyle/>
          <a:p>
            <a:pPr marL="0" indent="0">
              <a:buNone/>
            </a:pPr>
            <a:r>
              <a:rPr lang="en-US" sz="1400" dirty="0">
                <a:solidFill>
                  <a:srgbClr val="B9D3F0"/>
                </a:solidFill>
                <a:latin typeface="Calibri" pitchFamily="34" charset="0"/>
                <a:ea typeface="Calibri" pitchFamily="34" charset="-122"/>
                <a:cs typeface="Calibri" pitchFamily="34" charset="-120"/>
              </a:rPr>
              <a:t>Librería B1SLayer   •   Conexión y sesión   •   CRUD fluido   •   Batch   •   Práctica guiada</a:t>
            </a:r>
            <a:endParaRPr lang="en-US" sz="1400" dirty="0"/>
          </a:p>
        </p:txBody>
      </p:sp>
      <p:sp>
        <p:nvSpPr>
          <p:cNvPr id="6" name="Text 4"/>
          <p:cNvSpPr txBox="1"/>
          <p:nvPr/>
        </p:nvSpPr>
        <p:spPr>
          <a:xfrm>
            <a:off x="658368" y="4709160"/>
            <a:ext cx="4572000" cy="228600"/>
          </a:xfrm>
          <a:prstGeom prst="rect">
            <a:avLst/>
          </a:prstGeom>
          <a:noFill/>
          <a:ln/>
        </p:spPr>
        <p:txBody>
          <a:bodyPr wrap="square" lIns="0" tIns="0" rIns="0" bIns="0" rtlCol="0" anchor="t"/>
          <a:lstStyle/>
          <a:p>
            <a:pPr marL="0" indent="0">
              <a:buNone/>
            </a:pPr>
            <a:r>
              <a:rPr lang="en-US" sz="900" dirty="0">
                <a:solidFill>
                  <a:srgbClr val="8FB0D6"/>
                </a:solidFill>
                <a:latin typeface="Calibri" pitchFamily="34" charset="0"/>
                <a:ea typeface="Calibri" pitchFamily="34" charset="-122"/>
                <a:cs typeface="Calibri" pitchFamily="34" charset="-120"/>
              </a:rPr>
              <a:t>Ventura Soluciones  |  Capacitación técnica</a:t>
            </a:r>
            <a:endParaRPr lang="en-US" sz="900"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457200" y="256032"/>
            <a:ext cx="2648102" cy="237744"/>
          </a:xfrm>
          <a:prstGeom prst="roundRect">
            <a:avLst>
              <a:gd name="adj" fmla="val 50000"/>
            </a:avLst>
          </a:prstGeom>
          <a:solidFill>
            <a:srgbClr val="071B3F"/>
          </a:solidFill>
          <a:ln w="12700">
            <a:solidFill>
              <a:srgbClr val="071B3F"/>
            </a:solidFill>
            <a:prstDash val="solid"/>
          </a:ln>
        </p:spPr>
      </p:sp>
      <p:sp>
        <p:nvSpPr>
          <p:cNvPr id="3" name="Text 1"/>
          <p:cNvSpPr txBox="1"/>
          <p:nvPr/>
        </p:nvSpPr>
        <p:spPr>
          <a:xfrm>
            <a:off x="457200" y="256032"/>
            <a:ext cx="2648102" cy="237744"/>
          </a:xfrm>
          <a:prstGeom prst="rect">
            <a:avLst/>
          </a:prstGeom>
          <a:noFill/>
          <a:ln/>
        </p:spPr>
        <p:txBody>
          <a:bodyPr wrap="square" lIns="0" tIns="0" rIns="0" bIns="0" rtlCol="0" anchor="ctr"/>
          <a:lstStyle/>
          <a:p>
            <a:pPr marL="0" indent="0" algn="ctr">
              <a:buNone/>
            </a:pPr>
            <a:r>
              <a:rPr lang="en-US" sz="850" b="1" kern="0" spc="100" dirty="0">
                <a:solidFill>
                  <a:srgbClr val="F5A800"/>
                </a:solidFill>
                <a:latin typeface="Segoe UI" pitchFamily="34" charset="0"/>
                <a:ea typeface="Segoe UI" pitchFamily="34" charset="-122"/>
                <a:cs typeface="Segoe UI" pitchFamily="34" charset="-120"/>
              </a:rPr>
              <a:t>06  ·  CLIENTE HTTP CON B1SLAYER</a:t>
            </a:r>
            <a:endParaRPr lang="en-US" sz="850" dirty="0"/>
          </a:p>
        </p:txBody>
      </p:sp>
      <p:sp>
        <p:nvSpPr>
          <p:cNvPr id="4" name="Text 2"/>
          <p:cNvSpPr txBox="1"/>
          <p:nvPr/>
        </p:nvSpPr>
        <p:spPr>
          <a:xfrm>
            <a:off x="457200" y="566928"/>
            <a:ext cx="8229600" cy="502920"/>
          </a:xfrm>
          <a:prstGeom prst="rect">
            <a:avLst/>
          </a:prstGeom>
          <a:noFill/>
          <a:ln/>
        </p:spPr>
        <p:txBody>
          <a:bodyPr wrap="square" lIns="0" tIns="0" rIns="0" bIns="0" rtlCol="0" anchor="ctr"/>
          <a:lstStyle/>
          <a:p>
            <a:pPr marL="0" indent="0">
              <a:buNone/>
            </a:pPr>
            <a:r>
              <a:rPr lang="en-US" sz="2400" b="1" dirty="0">
                <a:solidFill>
                  <a:srgbClr val="071B3F"/>
                </a:solidFill>
                <a:latin typeface="Segoe UI" pitchFamily="34" charset="0"/>
                <a:ea typeface="Segoe UI" pitchFamily="34" charset="-122"/>
                <a:cs typeface="Segoe UI" pitchFamily="34" charset="-120"/>
              </a:rPr>
              <a:t>B1SLayer en pocas palabras</a:t>
            </a:r>
            <a:endParaRPr lang="en-US" sz="2400" dirty="0"/>
          </a:p>
        </p:txBody>
      </p:sp>
      <p:sp>
        <p:nvSpPr>
          <p:cNvPr id="5" name="Text 3"/>
          <p:cNvSpPr txBox="1"/>
          <p:nvPr/>
        </p:nvSpPr>
        <p:spPr>
          <a:xfrm>
            <a:off x="457200" y="1051560"/>
            <a:ext cx="8229600" cy="274320"/>
          </a:xfrm>
          <a:prstGeom prst="rect">
            <a:avLst/>
          </a:prstGeom>
          <a:noFill/>
          <a:ln/>
        </p:spPr>
        <p:txBody>
          <a:bodyPr wrap="square" lIns="0" tIns="0" rIns="0" bIns="0" rtlCol="0" anchor="ctr"/>
          <a:lstStyle/>
          <a:p>
            <a:pPr marL="0" indent="0">
              <a:buNone/>
            </a:pPr>
            <a:r>
              <a:rPr lang="en-US" sz="1250" dirty="0">
                <a:solidFill>
                  <a:srgbClr val="5B6B82"/>
                </a:solidFill>
                <a:latin typeface="Calibri" pitchFamily="34" charset="0"/>
                <a:ea typeface="Calibri" pitchFamily="34" charset="-122"/>
                <a:cs typeface="Calibri" pitchFamily="34" charset="-120"/>
              </a:rPr>
              <a:t>Librería .NET open source que envuelve Service Layer con una API fluida</a:t>
            </a:r>
            <a:endParaRPr lang="en-US" sz="1250" dirty="0"/>
          </a:p>
        </p:txBody>
      </p:sp>
      <p:sp>
        <p:nvSpPr>
          <p:cNvPr id="6" name="Text 4"/>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00" dirty="0">
                <a:solidFill>
                  <a:srgbClr val="8A9AB0"/>
                </a:solidFill>
                <a:latin typeface="Calibri" pitchFamily="34" charset="0"/>
                <a:ea typeface="Calibri" pitchFamily="34" charset="-122"/>
                <a:cs typeface="Calibri" pitchFamily="34" charset="-120"/>
              </a:rPr>
              <a:t>Ventura Soluciones  |  SAP Business One · Service Layer</a:t>
            </a:r>
            <a:endParaRPr lang="en-US" sz="800" dirty="0"/>
          </a:p>
        </p:txBody>
      </p:sp>
      <p:sp>
        <p:nvSpPr>
          <p:cNvPr id="7" name="Shape 5"/>
          <p:cNvSpPr/>
          <p:nvPr/>
        </p:nvSpPr>
        <p:spPr>
          <a:xfrm>
            <a:off x="457200" y="1417320"/>
            <a:ext cx="3383280" cy="3291840"/>
          </a:xfrm>
          <a:prstGeom prst="roundRect">
            <a:avLst>
              <a:gd name="adj" fmla="val 2222"/>
            </a:avLst>
          </a:prstGeom>
          <a:solidFill>
            <a:srgbClr val="071B3F"/>
          </a:solidFill>
          <a:ln w="9525">
            <a:solidFill>
              <a:srgbClr val="D5DFEC"/>
            </a:solidFill>
            <a:prstDash val="solid"/>
          </a:ln>
          <a:effectLst>
            <a:outerShdw blurRad="101600" dist="25400" dir="5400000" algn="bl" rotWithShape="0">
              <a:srgbClr val="0B2A55">
                <a:alpha val="12000"/>
              </a:srgbClr>
            </a:outerShdw>
          </a:effectLst>
        </p:spPr>
      </p:sp>
      <p:sp>
        <p:nvSpPr>
          <p:cNvPr id="8" name="Text 6"/>
          <p:cNvSpPr txBox="1"/>
          <p:nvPr/>
        </p:nvSpPr>
        <p:spPr>
          <a:xfrm>
            <a:off x="685800" y="1600200"/>
            <a:ext cx="2743200" cy="228600"/>
          </a:xfrm>
          <a:prstGeom prst="rect">
            <a:avLst/>
          </a:prstGeom>
          <a:noFill/>
          <a:ln/>
        </p:spPr>
        <p:txBody>
          <a:bodyPr wrap="square" lIns="0" tIns="0" rIns="0" bIns="0" rtlCol="0" anchor="t"/>
          <a:lstStyle/>
          <a:p>
            <a:pPr marL="0" indent="0">
              <a:buNone/>
            </a:pPr>
            <a:r>
              <a:rPr lang="en-US" sz="1000" b="1" kern="0" spc="200" dirty="0">
                <a:solidFill>
                  <a:srgbClr val="F5A800"/>
                </a:solidFill>
                <a:latin typeface="Segoe UI" pitchFamily="34" charset="0"/>
                <a:ea typeface="Segoe UI" pitchFamily="34" charset="-122"/>
                <a:cs typeface="Segoe UI" pitchFamily="34" charset="-120"/>
              </a:rPr>
              <a:t>INSTALACIÓN</a:t>
            </a:r>
            <a:endParaRPr lang="en-US" sz="1000" dirty="0"/>
          </a:p>
        </p:txBody>
      </p:sp>
      <p:sp>
        <p:nvSpPr>
          <p:cNvPr id="9" name="Text 7"/>
          <p:cNvSpPr txBox="1"/>
          <p:nvPr/>
        </p:nvSpPr>
        <p:spPr>
          <a:xfrm>
            <a:off x="685800" y="1874520"/>
            <a:ext cx="3017520" cy="320040"/>
          </a:xfrm>
          <a:prstGeom prst="rect">
            <a:avLst/>
          </a:prstGeom>
          <a:noFill/>
          <a:ln/>
        </p:spPr>
        <p:txBody>
          <a:bodyPr wrap="square" lIns="0" tIns="0" rIns="0" bIns="0" rtlCol="0" anchor="t"/>
          <a:lstStyle/>
          <a:p>
            <a:pPr marL="0" indent="0">
              <a:buNone/>
            </a:pPr>
            <a:r>
              <a:rPr lang="en-US" sz="1150" dirty="0">
                <a:solidFill>
                  <a:srgbClr val="FFFFFF"/>
                </a:solidFill>
                <a:latin typeface="Consolas" pitchFamily="34" charset="0"/>
                <a:ea typeface="Consolas" pitchFamily="34" charset="-122"/>
                <a:cs typeface="Consolas" pitchFamily="34" charset="-120"/>
              </a:rPr>
              <a:t>dotnet add package B1SLayer</a:t>
            </a:r>
            <a:endParaRPr lang="en-US" sz="1150" dirty="0"/>
          </a:p>
        </p:txBody>
      </p:sp>
      <p:sp>
        <p:nvSpPr>
          <p:cNvPr id="10" name="Text 8"/>
          <p:cNvSpPr txBox="1"/>
          <p:nvPr/>
        </p:nvSpPr>
        <p:spPr>
          <a:xfrm>
            <a:off x="685800" y="2377440"/>
            <a:ext cx="2743200" cy="228600"/>
          </a:xfrm>
          <a:prstGeom prst="rect">
            <a:avLst/>
          </a:prstGeom>
          <a:noFill/>
          <a:ln/>
        </p:spPr>
        <p:txBody>
          <a:bodyPr wrap="square" lIns="0" tIns="0" rIns="0" bIns="0" rtlCol="0" anchor="t"/>
          <a:lstStyle/>
          <a:p>
            <a:pPr marL="0" indent="0">
              <a:buNone/>
            </a:pPr>
            <a:r>
              <a:rPr lang="en-US" sz="1000" b="1" kern="0" spc="200" dirty="0">
                <a:solidFill>
                  <a:srgbClr val="F5A800"/>
                </a:solidFill>
                <a:latin typeface="Segoe UI" pitchFamily="34" charset="0"/>
                <a:ea typeface="Segoe UI" pitchFamily="34" charset="-122"/>
                <a:cs typeface="Segoe UI" pitchFamily="34" charset="-120"/>
              </a:rPr>
              <a:t>POR QUÉ USARLA</a:t>
            </a:r>
            <a:endParaRPr lang="en-US" sz="1000" dirty="0"/>
          </a:p>
        </p:txBody>
      </p:sp>
      <p:sp>
        <p:nvSpPr>
          <p:cNvPr id="11" name="Text 9"/>
          <p:cNvSpPr txBox="1"/>
          <p:nvPr/>
        </p:nvSpPr>
        <p:spPr>
          <a:xfrm>
            <a:off x="685800" y="2651760"/>
            <a:ext cx="3017520" cy="146304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DCE6F2"/>
                </a:solidFill>
                <a:latin typeface="Calibri" pitchFamily="34" charset="0"/>
                <a:ea typeface="Calibri" pitchFamily="34" charset="-122"/>
                <a:cs typeface="Calibri" pitchFamily="34" charset="-120"/>
              </a:rPr>
              <a:t>Menos código repetitivo que HttpClient puro</a:t>
            </a:r>
            <a:endParaRPr lang="en-US" sz="1150" dirty="0"/>
          </a:p>
          <a:p>
            <a:pPr marL="342900" indent="-342900">
              <a:spcAft>
                <a:spcPts val="400"/>
              </a:spcAft>
              <a:buSzPct val="100000"/>
              <a:buChar char="•"/>
            </a:pPr>
            <a:r>
              <a:rPr lang="en-US" sz="1150" dirty="0">
                <a:solidFill>
                  <a:srgbClr val="DCE6F2"/>
                </a:solidFill>
                <a:latin typeface="Calibri" pitchFamily="34" charset="0"/>
                <a:ea typeface="Calibri" pitchFamily="34" charset="-122"/>
                <a:cs typeface="Calibri" pitchFamily="34" charset="-120"/>
              </a:rPr>
              <a:t>Sesión gestionada por la librería</a:t>
            </a:r>
            <a:endParaRPr lang="en-US" sz="1150" dirty="0"/>
          </a:p>
          <a:p>
            <a:pPr marL="342900" indent="-342900">
              <a:spcAft>
                <a:spcPts val="400"/>
              </a:spcAft>
              <a:buSzPct val="100000"/>
              <a:buChar char="•"/>
            </a:pPr>
            <a:r>
              <a:rPr lang="en-US" sz="1150" dirty="0">
                <a:solidFill>
                  <a:srgbClr val="DCE6F2"/>
                </a:solidFill>
                <a:latin typeface="Calibri" pitchFamily="34" charset="0"/>
                <a:ea typeface="Calibri" pitchFamily="34" charset="-122"/>
                <a:cs typeface="Calibri" pitchFamily="34" charset="-120"/>
              </a:rPr>
              <a:t>Consultas OData con métodos encadenados</a:t>
            </a:r>
            <a:endParaRPr lang="en-US" sz="1150" dirty="0"/>
          </a:p>
          <a:p>
            <a:pPr marL="342900" indent="-342900">
              <a:spcAft>
                <a:spcPts val="400"/>
              </a:spcAft>
              <a:buSzPct val="100000"/>
              <a:buChar char="•"/>
            </a:pPr>
            <a:r>
              <a:rPr lang="en-US" sz="1150" dirty="0">
                <a:solidFill>
                  <a:srgbClr val="DCE6F2"/>
                </a:solidFill>
                <a:latin typeface="Calibri" pitchFamily="34" charset="0"/>
                <a:ea typeface="Calibri" pitchFamily="34" charset="-122"/>
                <a:cs typeface="Calibri" pitchFamily="34" charset="-120"/>
              </a:rPr>
              <a:t>Proyecto activo en GitHub y NuGet</a:t>
            </a:r>
            <a:endParaRPr lang="en-US" sz="1150" dirty="0"/>
          </a:p>
        </p:txBody>
      </p:sp>
      <p:sp>
        <p:nvSpPr>
          <p:cNvPr id="12" name="Text 10"/>
          <p:cNvSpPr txBox="1"/>
          <p:nvPr/>
        </p:nvSpPr>
        <p:spPr>
          <a:xfrm>
            <a:off x="685800" y="4297680"/>
            <a:ext cx="3017520" cy="228600"/>
          </a:xfrm>
          <a:prstGeom prst="rect">
            <a:avLst/>
          </a:prstGeom>
          <a:noFill/>
          <a:ln/>
        </p:spPr>
        <p:txBody>
          <a:bodyPr wrap="square" lIns="0" tIns="0" rIns="0" bIns="0" rtlCol="0" anchor="t"/>
          <a:lstStyle/>
          <a:p>
            <a:pPr marL="0" indent="0">
              <a:buNone/>
            </a:pPr>
            <a:r>
              <a:rPr lang="en-US" sz="950" dirty="0">
                <a:solidFill>
                  <a:srgbClr val="29B6F6"/>
                </a:solidFill>
                <a:latin typeface="Consolas" pitchFamily="34" charset="0"/>
                <a:ea typeface="Consolas" pitchFamily="34" charset="-122"/>
                <a:cs typeface="Consolas" pitchFamily="34" charset="-120"/>
              </a:rPr>
              <a:t>github.com/bgmulinari/B1SLayer</a:t>
            </a:r>
            <a:endParaRPr lang="en-US" sz="950" dirty="0"/>
          </a:p>
        </p:txBody>
      </p:sp>
      <p:sp>
        <p:nvSpPr>
          <p:cNvPr id="13" name="Shape 11"/>
          <p:cNvSpPr/>
          <p:nvPr/>
        </p:nvSpPr>
        <p:spPr>
          <a:xfrm>
            <a:off x="4114800" y="1472184"/>
            <a:ext cx="420624" cy="420624"/>
          </a:xfrm>
          <a:prstGeom prst="ellipse">
            <a:avLst/>
          </a:prstGeom>
          <a:solidFill>
            <a:srgbClr val="E8F1FC"/>
          </a:solidFill>
          <a:ln w="12700">
            <a:solidFill>
              <a:srgbClr val="E8F1FC"/>
            </a:solidFill>
            <a:prstDash val="solid"/>
          </a:ln>
        </p:spPr>
      </p:sp>
      <p:pic>
        <p:nvPicPr>
          <p:cNvPr id="14" name="Image 0" descr="preencoded.png"/>
          <p:cNvPicPr>
            <a:picLocks noChangeAspect="1"/>
          </p:cNvPicPr>
          <p:nvPr/>
        </p:nvPicPr>
        <p:blipFill>
          <a:blip r:embed="rId3"/>
          <a:stretch>
            <a:fillRect/>
          </a:stretch>
        </p:blipFill>
        <p:spPr>
          <a:xfrm>
            <a:off x="4224162" y="1581546"/>
            <a:ext cx="201900" cy="201900"/>
          </a:xfrm>
          <a:prstGeom prst="rect">
            <a:avLst/>
          </a:prstGeom>
        </p:spPr>
      </p:pic>
      <p:sp>
        <p:nvSpPr>
          <p:cNvPr id="15" name="Text 12"/>
          <p:cNvSpPr txBox="1"/>
          <p:nvPr/>
        </p:nvSpPr>
        <p:spPr>
          <a:xfrm>
            <a:off x="4663440" y="1435608"/>
            <a:ext cx="4023360" cy="237744"/>
          </a:xfrm>
          <a:prstGeom prst="rect">
            <a:avLst/>
          </a:prstGeom>
          <a:noFill/>
          <a:ln/>
        </p:spPr>
        <p:txBody>
          <a:bodyPr wrap="square" lIns="0" tIns="0" rIns="0" bIns="0" rtlCol="0" anchor="t"/>
          <a:lstStyle/>
          <a:p>
            <a:pPr marL="0" indent="0">
              <a:buNone/>
            </a:pPr>
            <a:r>
              <a:rPr lang="en-US" sz="1150" b="1" dirty="0">
                <a:solidFill>
                  <a:srgbClr val="071B3F"/>
                </a:solidFill>
                <a:latin typeface="Segoe UI" pitchFamily="34" charset="0"/>
                <a:ea typeface="Segoe UI" pitchFamily="34" charset="-122"/>
                <a:cs typeface="Segoe UI" pitchFamily="34" charset="-120"/>
              </a:rPr>
              <a:t>Login automático</a:t>
            </a:r>
            <a:endParaRPr lang="en-US" sz="1150" dirty="0"/>
          </a:p>
        </p:txBody>
      </p:sp>
      <p:sp>
        <p:nvSpPr>
          <p:cNvPr id="16" name="Text 13"/>
          <p:cNvSpPr txBox="1"/>
          <p:nvPr/>
        </p:nvSpPr>
        <p:spPr>
          <a:xfrm>
            <a:off x="4663440" y="1682496"/>
            <a:ext cx="4023360" cy="365760"/>
          </a:xfrm>
          <a:prstGeom prst="rect">
            <a:avLst/>
          </a:prstGeom>
          <a:noFill/>
          <a:ln/>
        </p:spPr>
        <p:txBody>
          <a:bodyPr wrap="square" lIns="0" tIns="0" rIns="0" bIns="0" rtlCol="0" anchor="t"/>
          <a:lstStyle/>
          <a:p>
            <a:pPr marL="0" indent="0">
              <a:buNone/>
            </a:pPr>
            <a:r>
              <a:rPr lang="en-US" sz="1000" dirty="0">
                <a:solidFill>
                  <a:srgbClr val="5B6B82"/>
                </a:solidFill>
                <a:latin typeface="Calibri" pitchFamily="34" charset="0"/>
                <a:ea typeface="Calibri" pitchFamily="34" charset="-122"/>
                <a:cs typeface="Calibri" pitchFamily="34" charset="-120"/>
              </a:rPr>
              <a:t>Inicia sesión en la primera petición y renueva cuando expira.</a:t>
            </a:r>
            <a:endParaRPr lang="en-US" sz="1000" dirty="0"/>
          </a:p>
        </p:txBody>
      </p:sp>
      <p:sp>
        <p:nvSpPr>
          <p:cNvPr id="17" name="Shape 14"/>
          <p:cNvSpPr/>
          <p:nvPr/>
        </p:nvSpPr>
        <p:spPr>
          <a:xfrm>
            <a:off x="4114800" y="2139696"/>
            <a:ext cx="420624" cy="420624"/>
          </a:xfrm>
          <a:prstGeom prst="ellipse">
            <a:avLst/>
          </a:prstGeom>
          <a:solidFill>
            <a:srgbClr val="E8F1FC"/>
          </a:solidFill>
          <a:ln w="12700">
            <a:solidFill>
              <a:srgbClr val="E8F1FC"/>
            </a:solidFill>
            <a:prstDash val="solid"/>
          </a:ln>
        </p:spPr>
      </p:sp>
      <p:pic>
        <p:nvPicPr>
          <p:cNvPr id="18" name="Image 1" descr="preencoded.png"/>
          <p:cNvPicPr>
            <a:picLocks noChangeAspect="1"/>
          </p:cNvPicPr>
          <p:nvPr/>
        </p:nvPicPr>
        <p:blipFill>
          <a:blip r:embed="rId4"/>
          <a:stretch>
            <a:fillRect/>
          </a:stretch>
        </p:blipFill>
        <p:spPr>
          <a:xfrm>
            <a:off x="4224162" y="2249058"/>
            <a:ext cx="201900" cy="201900"/>
          </a:xfrm>
          <a:prstGeom prst="rect">
            <a:avLst/>
          </a:prstGeom>
        </p:spPr>
      </p:pic>
      <p:sp>
        <p:nvSpPr>
          <p:cNvPr id="19" name="Text 15"/>
          <p:cNvSpPr txBox="1"/>
          <p:nvPr/>
        </p:nvSpPr>
        <p:spPr>
          <a:xfrm>
            <a:off x="4663440" y="2103120"/>
            <a:ext cx="4023360" cy="237744"/>
          </a:xfrm>
          <a:prstGeom prst="rect">
            <a:avLst/>
          </a:prstGeom>
          <a:noFill/>
          <a:ln/>
        </p:spPr>
        <p:txBody>
          <a:bodyPr wrap="square" lIns="0" tIns="0" rIns="0" bIns="0" rtlCol="0" anchor="t"/>
          <a:lstStyle/>
          <a:p>
            <a:pPr marL="0" indent="0">
              <a:buNone/>
            </a:pPr>
            <a:r>
              <a:rPr lang="en-US" sz="1150" b="1" dirty="0">
                <a:solidFill>
                  <a:srgbClr val="071B3F"/>
                </a:solidFill>
                <a:latin typeface="Segoe UI" pitchFamily="34" charset="0"/>
                <a:ea typeface="Segoe UI" pitchFamily="34" charset="-122"/>
                <a:cs typeface="Segoe UI" pitchFamily="34" charset="-120"/>
              </a:rPr>
              <a:t>API fluida</a:t>
            </a:r>
            <a:endParaRPr lang="en-US" sz="1150" dirty="0"/>
          </a:p>
        </p:txBody>
      </p:sp>
      <p:sp>
        <p:nvSpPr>
          <p:cNvPr id="20" name="Text 16"/>
          <p:cNvSpPr txBox="1"/>
          <p:nvPr/>
        </p:nvSpPr>
        <p:spPr>
          <a:xfrm>
            <a:off x="4663440" y="2350008"/>
            <a:ext cx="4023360" cy="365760"/>
          </a:xfrm>
          <a:prstGeom prst="rect">
            <a:avLst/>
          </a:prstGeom>
          <a:noFill/>
          <a:ln/>
        </p:spPr>
        <p:txBody>
          <a:bodyPr wrap="square" lIns="0" tIns="0" rIns="0" bIns="0" rtlCol="0" anchor="t"/>
          <a:lstStyle/>
          <a:p>
            <a:pPr marL="0" indent="0">
              <a:buNone/>
            </a:pPr>
            <a:r>
              <a:rPr lang="en-US" sz="1000" dirty="0">
                <a:solidFill>
                  <a:srgbClr val="5B6B82"/>
                </a:solidFill>
                <a:latin typeface="Calibri" pitchFamily="34" charset="0"/>
                <a:ea typeface="Calibri" pitchFamily="34" charset="-122"/>
                <a:cs typeface="Calibri" pitchFamily="34" charset="-120"/>
              </a:rPr>
              <a:t>Filter, Select, OrderBy, WithPageSize, WithCaseInsensitive.</a:t>
            </a:r>
            <a:endParaRPr lang="en-US" sz="1000" dirty="0"/>
          </a:p>
        </p:txBody>
      </p:sp>
      <p:sp>
        <p:nvSpPr>
          <p:cNvPr id="21" name="Shape 17"/>
          <p:cNvSpPr/>
          <p:nvPr/>
        </p:nvSpPr>
        <p:spPr>
          <a:xfrm>
            <a:off x="4114800" y="2807208"/>
            <a:ext cx="420624" cy="420624"/>
          </a:xfrm>
          <a:prstGeom prst="ellipse">
            <a:avLst/>
          </a:prstGeom>
          <a:solidFill>
            <a:srgbClr val="E8F1FC"/>
          </a:solidFill>
          <a:ln w="12700">
            <a:solidFill>
              <a:srgbClr val="E8F1FC"/>
            </a:solidFill>
            <a:prstDash val="solid"/>
          </a:ln>
        </p:spPr>
      </p:sp>
      <p:pic>
        <p:nvPicPr>
          <p:cNvPr id="22" name="Image 2" descr="preencoded.png"/>
          <p:cNvPicPr>
            <a:picLocks noChangeAspect="1"/>
          </p:cNvPicPr>
          <p:nvPr/>
        </p:nvPicPr>
        <p:blipFill>
          <a:blip r:embed="rId5"/>
          <a:stretch>
            <a:fillRect/>
          </a:stretch>
        </p:blipFill>
        <p:spPr>
          <a:xfrm>
            <a:off x="4224162" y="2916570"/>
            <a:ext cx="201900" cy="201900"/>
          </a:xfrm>
          <a:prstGeom prst="rect">
            <a:avLst/>
          </a:prstGeom>
        </p:spPr>
      </p:pic>
      <p:sp>
        <p:nvSpPr>
          <p:cNvPr id="23" name="Text 18"/>
          <p:cNvSpPr txBox="1"/>
          <p:nvPr/>
        </p:nvSpPr>
        <p:spPr>
          <a:xfrm>
            <a:off x="4663440" y="2770632"/>
            <a:ext cx="4023360" cy="237744"/>
          </a:xfrm>
          <a:prstGeom prst="rect">
            <a:avLst/>
          </a:prstGeom>
          <a:noFill/>
          <a:ln/>
        </p:spPr>
        <p:txBody>
          <a:bodyPr wrap="square" lIns="0" tIns="0" rIns="0" bIns="0" rtlCol="0" anchor="t"/>
          <a:lstStyle/>
          <a:p>
            <a:pPr marL="0" indent="0">
              <a:buNone/>
            </a:pPr>
            <a:r>
              <a:rPr lang="en-US" sz="1150" b="1" dirty="0">
                <a:solidFill>
                  <a:srgbClr val="071B3F"/>
                </a:solidFill>
                <a:latin typeface="Segoe UI" pitchFamily="34" charset="0"/>
                <a:ea typeface="Segoe UI" pitchFamily="34" charset="-122"/>
                <a:cs typeface="Segoe UI" pitchFamily="34" charset="-120"/>
              </a:rPr>
              <a:t>GetAllAsync</a:t>
            </a:r>
            <a:endParaRPr lang="en-US" sz="1150" dirty="0"/>
          </a:p>
        </p:txBody>
      </p:sp>
      <p:sp>
        <p:nvSpPr>
          <p:cNvPr id="24" name="Text 19"/>
          <p:cNvSpPr txBox="1"/>
          <p:nvPr/>
        </p:nvSpPr>
        <p:spPr>
          <a:xfrm>
            <a:off x="4663440" y="3017520"/>
            <a:ext cx="4023360" cy="365760"/>
          </a:xfrm>
          <a:prstGeom prst="rect">
            <a:avLst/>
          </a:prstGeom>
          <a:noFill/>
          <a:ln/>
        </p:spPr>
        <p:txBody>
          <a:bodyPr wrap="square" lIns="0" tIns="0" rIns="0" bIns="0" rtlCol="0" anchor="t"/>
          <a:lstStyle/>
          <a:p>
            <a:pPr marL="0" indent="0">
              <a:buNone/>
            </a:pPr>
            <a:r>
              <a:rPr lang="en-US" sz="1000" dirty="0">
                <a:solidFill>
                  <a:srgbClr val="5B6B82"/>
                </a:solidFill>
                <a:latin typeface="Calibri" pitchFamily="34" charset="0"/>
                <a:ea typeface="Calibri" pitchFamily="34" charset="-122"/>
                <a:cs typeface="Calibri" pitchFamily="34" charset="-120"/>
              </a:rPr>
              <a:t>Recorre todas las páginas y devuelve la colección completa.</a:t>
            </a:r>
            <a:endParaRPr lang="en-US" sz="1000" dirty="0"/>
          </a:p>
        </p:txBody>
      </p:sp>
      <p:sp>
        <p:nvSpPr>
          <p:cNvPr id="25" name="Shape 20"/>
          <p:cNvSpPr/>
          <p:nvPr/>
        </p:nvSpPr>
        <p:spPr>
          <a:xfrm>
            <a:off x="4114800" y="3474720"/>
            <a:ext cx="420624" cy="420624"/>
          </a:xfrm>
          <a:prstGeom prst="ellipse">
            <a:avLst/>
          </a:prstGeom>
          <a:solidFill>
            <a:srgbClr val="E8F1FC"/>
          </a:solidFill>
          <a:ln w="12700">
            <a:solidFill>
              <a:srgbClr val="E8F1FC"/>
            </a:solidFill>
            <a:prstDash val="solid"/>
          </a:ln>
        </p:spPr>
      </p:sp>
      <p:pic>
        <p:nvPicPr>
          <p:cNvPr id="26" name="Image 3" descr="preencoded.png"/>
          <p:cNvPicPr>
            <a:picLocks noChangeAspect="1"/>
          </p:cNvPicPr>
          <p:nvPr/>
        </p:nvPicPr>
        <p:blipFill>
          <a:blip r:embed="rId6"/>
          <a:stretch>
            <a:fillRect/>
          </a:stretch>
        </p:blipFill>
        <p:spPr>
          <a:xfrm>
            <a:off x="4224162" y="3584082"/>
            <a:ext cx="201900" cy="201900"/>
          </a:xfrm>
          <a:prstGeom prst="rect">
            <a:avLst/>
          </a:prstGeom>
        </p:spPr>
      </p:pic>
      <p:sp>
        <p:nvSpPr>
          <p:cNvPr id="27" name="Text 21"/>
          <p:cNvSpPr txBox="1"/>
          <p:nvPr/>
        </p:nvSpPr>
        <p:spPr>
          <a:xfrm>
            <a:off x="4663440" y="3438144"/>
            <a:ext cx="4023360" cy="237744"/>
          </a:xfrm>
          <a:prstGeom prst="rect">
            <a:avLst/>
          </a:prstGeom>
          <a:noFill/>
          <a:ln/>
        </p:spPr>
        <p:txBody>
          <a:bodyPr wrap="square" lIns="0" tIns="0" rIns="0" bIns="0" rtlCol="0" anchor="t"/>
          <a:lstStyle/>
          <a:p>
            <a:pPr marL="0" indent="0">
              <a:buNone/>
            </a:pPr>
            <a:r>
              <a:rPr lang="en-US" sz="1150" b="1" dirty="0">
                <a:solidFill>
                  <a:srgbClr val="071B3F"/>
                </a:solidFill>
                <a:latin typeface="Segoe UI" pitchFamily="34" charset="0"/>
                <a:ea typeface="Segoe UI" pitchFamily="34" charset="-122"/>
                <a:cs typeface="Segoe UI" pitchFamily="34" charset="-120"/>
              </a:rPr>
              <a:t>Batch</a:t>
            </a:r>
            <a:endParaRPr lang="en-US" sz="1150" dirty="0"/>
          </a:p>
        </p:txBody>
      </p:sp>
      <p:sp>
        <p:nvSpPr>
          <p:cNvPr id="28" name="Text 22"/>
          <p:cNvSpPr txBox="1"/>
          <p:nvPr/>
        </p:nvSpPr>
        <p:spPr>
          <a:xfrm>
            <a:off x="4663440" y="3685032"/>
            <a:ext cx="4023360" cy="365760"/>
          </a:xfrm>
          <a:prstGeom prst="rect">
            <a:avLst/>
          </a:prstGeom>
          <a:noFill/>
          <a:ln/>
        </p:spPr>
        <p:txBody>
          <a:bodyPr wrap="square" lIns="0" tIns="0" rIns="0" bIns="0" rtlCol="0" anchor="t"/>
          <a:lstStyle/>
          <a:p>
            <a:pPr marL="0" indent="0">
              <a:buNone/>
            </a:pPr>
            <a:r>
              <a:rPr lang="en-US" sz="1000" dirty="0">
                <a:solidFill>
                  <a:srgbClr val="5B6B82"/>
                </a:solidFill>
                <a:latin typeface="Calibri" pitchFamily="34" charset="0"/>
                <a:ea typeface="Calibri" pitchFamily="34" charset="-122"/>
                <a:cs typeface="Calibri" pitchFamily="34" charset="-120"/>
              </a:rPr>
              <a:t>SLBatchRequest + PostBatchAsync para operaciones agrupadas.</a:t>
            </a:r>
            <a:endParaRPr lang="en-US" sz="1000" dirty="0"/>
          </a:p>
        </p:txBody>
      </p:sp>
      <p:sp>
        <p:nvSpPr>
          <p:cNvPr id="29" name="Shape 23"/>
          <p:cNvSpPr/>
          <p:nvPr/>
        </p:nvSpPr>
        <p:spPr>
          <a:xfrm>
            <a:off x="4114800" y="4142232"/>
            <a:ext cx="420624" cy="420624"/>
          </a:xfrm>
          <a:prstGeom prst="ellipse">
            <a:avLst/>
          </a:prstGeom>
          <a:solidFill>
            <a:srgbClr val="E8F1FC"/>
          </a:solidFill>
          <a:ln w="12700">
            <a:solidFill>
              <a:srgbClr val="E8F1FC"/>
            </a:solidFill>
            <a:prstDash val="solid"/>
          </a:ln>
        </p:spPr>
      </p:sp>
      <p:pic>
        <p:nvPicPr>
          <p:cNvPr id="30" name="Image 4" descr="preencoded.png"/>
          <p:cNvPicPr>
            <a:picLocks noChangeAspect="1"/>
          </p:cNvPicPr>
          <p:nvPr/>
        </p:nvPicPr>
        <p:blipFill>
          <a:blip r:embed="rId7"/>
          <a:stretch>
            <a:fillRect/>
          </a:stretch>
        </p:blipFill>
        <p:spPr>
          <a:xfrm>
            <a:off x="4224162" y="4251594"/>
            <a:ext cx="201900" cy="201900"/>
          </a:xfrm>
          <a:prstGeom prst="rect">
            <a:avLst/>
          </a:prstGeom>
        </p:spPr>
      </p:pic>
      <p:sp>
        <p:nvSpPr>
          <p:cNvPr id="31" name="Text 24"/>
          <p:cNvSpPr txBox="1"/>
          <p:nvPr/>
        </p:nvSpPr>
        <p:spPr>
          <a:xfrm>
            <a:off x="4663440" y="4105656"/>
            <a:ext cx="4023360" cy="237744"/>
          </a:xfrm>
          <a:prstGeom prst="rect">
            <a:avLst/>
          </a:prstGeom>
          <a:noFill/>
          <a:ln/>
        </p:spPr>
        <p:txBody>
          <a:bodyPr wrap="square" lIns="0" tIns="0" rIns="0" bIns="0" rtlCol="0" anchor="t"/>
          <a:lstStyle/>
          <a:p>
            <a:pPr marL="0" indent="0">
              <a:buNone/>
            </a:pPr>
            <a:r>
              <a:rPr lang="en-US" sz="1150" b="1" dirty="0">
                <a:solidFill>
                  <a:srgbClr val="071B3F"/>
                </a:solidFill>
                <a:latin typeface="Segoe UI" pitchFamily="34" charset="0"/>
                <a:ea typeface="Segoe UI" pitchFamily="34" charset="-122"/>
                <a:cs typeface="Segoe UI" pitchFamily="34" charset="-120"/>
              </a:rPr>
              <a:t>Una conexión reutilizable</a:t>
            </a:r>
            <a:endParaRPr lang="en-US" sz="1150" dirty="0"/>
          </a:p>
        </p:txBody>
      </p:sp>
      <p:sp>
        <p:nvSpPr>
          <p:cNvPr id="32" name="Text 25"/>
          <p:cNvSpPr txBox="1"/>
          <p:nvPr/>
        </p:nvSpPr>
        <p:spPr>
          <a:xfrm>
            <a:off x="4663440" y="4352544"/>
            <a:ext cx="4023360" cy="365760"/>
          </a:xfrm>
          <a:prstGeom prst="rect">
            <a:avLst/>
          </a:prstGeom>
          <a:noFill/>
          <a:ln/>
        </p:spPr>
        <p:txBody>
          <a:bodyPr wrap="square" lIns="0" tIns="0" rIns="0" bIns="0" rtlCol="0" anchor="t"/>
          <a:lstStyle/>
          <a:p>
            <a:pPr marL="0" indent="0">
              <a:buNone/>
            </a:pPr>
            <a:r>
              <a:rPr lang="en-US" sz="1000" dirty="0">
                <a:solidFill>
                  <a:srgbClr val="5B6B82"/>
                </a:solidFill>
                <a:latin typeface="Calibri" pitchFamily="34" charset="0"/>
                <a:ea typeface="Calibri" pitchFamily="34" charset="-122"/>
                <a:cs typeface="Calibri" pitchFamily="34" charset="-120"/>
              </a:rPr>
              <a:t>Instancia SLConnection única por compañía (singleton).</a:t>
            </a:r>
            <a:endParaRPr lang="en-US" sz="1000" dirty="0"/>
          </a:p>
        </p:txBody>
      </p:sp>
      <p:sp>
        <p:nvSpPr>
          <p:cNvPr id="33"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xmlns="" val="0"/>
            </a:ext>
          </a:extLst>
        </p:spPr>
        <p:txBody>
          <a:bodyPr/>
          <a:lstStyle>
            <a:lvl1pPr>
              <a:defRPr sz="800">
                <a:solidFill>
                  <a:srgbClr val="8A9AB0"/>
                </a:solidFill>
                <a:latin typeface="Calibri"/>
                <a:ea typeface="Calibri"/>
                <a:cs typeface="Calibri"/>
              </a:defRPr>
            </a:lvl1pPr>
          </a:lstStyle>
          <a:p>
            <a:pPr algn="r"/>
            <a:fld id="{F7021451-1387-4CA6-816F-3879F97B5CBC}" type="slidenum">
              <a:rPr lang="en-US" b="0"/>
              <a:t>39</a:t>
            </a:fld>
            <a:endParaRPr lang="en-US"/>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457200" y="256032"/>
            <a:ext cx="2648102" cy="237744"/>
          </a:xfrm>
          <a:prstGeom prst="roundRect">
            <a:avLst>
              <a:gd name="adj" fmla="val 50000"/>
            </a:avLst>
          </a:prstGeom>
          <a:solidFill>
            <a:srgbClr val="071B3F"/>
          </a:solidFill>
          <a:ln w="12700">
            <a:solidFill>
              <a:srgbClr val="071B3F"/>
            </a:solidFill>
            <a:prstDash val="solid"/>
          </a:ln>
        </p:spPr>
      </p:sp>
      <p:sp>
        <p:nvSpPr>
          <p:cNvPr id="3" name="Text 1"/>
          <p:cNvSpPr txBox="1"/>
          <p:nvPr/>
        </p:nvSpPr>
        <p:spPr>
          <a:xfrm>
            <a:off x="457200" y="256032"/>
            <a:ext cx="2648102" cy="237744"/>
          </a:xfrm>
          <a:prstGeom prst="rect">
            <a:avLst/>
          </a:prstGeom>
          <a:noFill/>
          <a:ln/>
        </p:spPr>
        <p:txBody>
          <a:bodyPr wrap="square" lIns="0" tIns="0" rIns="0" bIns="0" rtlCol="0" anchor="ctr"/>
          <a:lstStyle/>
          <a:p>
            <a:pPr marL="0" indent="0" algn="ctr">
              <a:buNone/>
            </a:pPr>
            <a:r>
              <a:rPr lang="en-US" sz="850" b="1" kern="0" spc="100" dirty="0">
                <a:solidFill>
                  <a:srgbClr val="F5A800"/>
                </a:solidFill>
                <a:latin typeface="Segoe UI" pitchFamily="34" charset="0"/>
                <a:ea typeface="Segoe UI" pitchFamily="34" charset="-122"/>
                <a:cs typeface="Segoe UI" pitchFamily="34" charset="-120"/>
              </a:rPr>
              <a:t>06  ·  CLIENTE HTTP CON B1SLAYER</a:t>
            </a:r>
            <a:endParaRPr lang="en-US" sz="850" dirty="0"/>
          </a:p>
        </p:txBody>
      </p:sp>
      <p:sp>
        <p:nvSpPr>
          <p:cNvPr id="4" name="Text 2"/>
          <p:cNvSpPr txBox="1"/>
          <p:nvPr/>
        </p:nvSpPr>
        <p:spPr>
          <a:xfrm>
            <a:off x="457200" y="566928"/>
            <a:ext cx="8229600" cy="502920"/>
          </a:xfrm>
          <a:prstGeom prst="rect">
            <a:avLst/>
          </a:prstGeom>
          <a:noFill/>
          <a:ln/>
        </p:spPr>
        <p:txBody>
          <a:bodyPr wrap="square" lIns="0" tIns="0" rIns="0" bIns="0" rtlCol="0" anchor="ctr"/>
          <a:lstStyle/>
          <a:p>
            <a:pPr marL="0" indent="0">
              <a:buNone/>
            </a:pPr>
            <a:r>
              <a:rPr lang="en-US" sz="2400" b="1" dirty="0">
                <a:solidFill>
                  <a:srgbClr val="071B3F"/>
                </a:solidFill>
                <a:latin typeface="Segoe UI" pitchFamily="34" charset="0"/>
                <a:ea typeface="Segoe UI" pitchFamily="34" charset="-122"/>
                <a:cs typeface="Segoe UI" pitchFamily="34" charset="-120"/>
              </a:rPr>
              <a:t>Del código a la práctica</a:t>
            </a:r>
            <a:endParaRPr lang="en-US" sz="2400" dirty="0"/>
          </a:p>
        </p:txBody>
      </p:sp>
      <p:sp>
        <p:nvSpPr>
          <p:cNvPr id="5" name="Text 3"/>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00" dirty="0">
                <a:solidFill>
                  <a:srgbClr val="8A9AB0"/>
                </a:solidFill>
                <a:latin typeface="Calibri" pitchFamily="34" charset="0"/>
                <a:ea typeface="Calibri" pitchFamily="34" charset="-122"/>
                <a:cs typeface="Calibri" pitchFamily="34" charset="-120"/>
              </a:rPr>
              <a:t>Ventura Soluciones  |  SAP Business One · Service Layer</a:t>
            </a:r>
            <a:endParaRPr lang="en-US" sz="800" dirty="0"/>
          </a:p>
        </p:txBody>
      </p:sp>
      <p:sp>
        <p:nvSpPr>
          <p:cNvPr id="6" name="Shape 4"/>
          <p:cNvSpPr/>
          <p:nvPr/>
        </p:nvSpPr>
        <p:spPr>
          <a:xfrm>
            <a:off x="457200" y="1188720"/>
            <a:ext cx="5120640" cy="3566160"/>
          </a:xfrm>
          <a:prstGeom prst="roundRect">
            <a:avLst>
              <a:gd name="adj" fmla="val 1795"/>
            </a:avLst>
          </a:prstGeom>
          <a:solidFill>
            <a:srgbClr val="0E1B2E"/>
          </a:solidFill>
          <a:ln w="12700">
            <a:solidFill>
              <a:srgbClr val="0E1B2E"/>
            </a:solidFill>
            <a:prstDash val="solid"/>
          </a:ln>
          <a:effectLst>
            <a:outerShdw blurRad="101600" dist="25400" dir="5400000" algn="bl" rotWithShape="0">
              <a:srgbClr val="0B2A55">
                <a:alpha val="12000"/>
              </a:srgbClr>
            </a:outerShdw>
          </a:effectLst>
        </p:spPr>
      </p:sp>
      <p:sp>
        <p:nvSpPr>
          <p:cNvPr id="7" name="Shape 5"/>
          <p:cNvSpPr/>
          <p:nvPr/>
        </p:nvSpPr>
        <p:spPr>
          <a:xfrm>
            <a:off x="594360" y="1298448"/>
            <a:ext cx="73152" cy="73152"/>
          </a:xfrm>
          <a:prstGeom prst="ellipse">
            <a:avLst/>
          </a:prstGeom>
          <a:solidFill>
            <a:srgbClr val="FF5F56"/>
          </a:solidFill>
          <a:ln w="12700">
            <a:solidFill>
              <a:srgbClr val="FF5F56"/>
            </a:solidFill>
            <a:prstDash val="solid"/>
          </a:ln>
        </p:spPr>
      </p:sp>
      <p:sp>
        <p:nvSpPr>
          <p:cNvPr id="8" name="Shape 6"/>
          <p:cNvSpPr/>
          <p:nvPr/>
        </p:nvSpPr>
        <p:spPr>
          <a:xfrm>
            <a:off x="722376" y="1298448"/>
            <a:ext cx="73152" cy="73152"/>
          </a:xfrm>
          <a:prstGeom prst="ellipse">
            <a:avLst/>
          </a:prstGeom>
          <a:solidFill>
            <a:srgbClr val="FFBD2E"/>
          </a:solidFill>
          <a:ln w="12700">
            <a:solidFill>
              <a:srgbClr val="FFBD2E"/>
            </a:solidFill>
            <a:prstDash val="solid"/>
          </a:ln>
        </p:spPr>
      </p:sp>
      <p:sp>
        <p:nvSpPr>
          <p:cNvPr id="9" name="Shape 7"/>
          <p:cNvSpPr/>
          <p:nvPr/>
        </p:nvSpPr>
        <p:spPr>
          <a:xfrm>
            <a:off x="850392" y="1298448"/>
            <a:ext cx="73152" cy="73152"/>
          </a:xfrm>
          <a:prstGeom prst="ellipse">
            <a:avLst/>
          </a:prstGeom>
          <a:solidFill>
            <a:srgbClr val="27C93F"/>
          </a:solidFill>
          <a:ln w="12700">
            <a:solidFill>
              <a:srgbClr val="27C93F"/>
            </a:solidFill>
            <a:prstDash val="solid"/>
          </a:ln>
        </p:spPr>
      </p:sp>
      <p:sp>
        <p:nvSpPr>
          <p:cNvPr id="10" name="Text 8"/>
          <p:cNvSpPr txBox="1"/>
          <p:nvPr/>
        </p:nvSpPr>
        <p:spPr>
          <a:xfrm>
            <a:off x="1024128" y="1243584"/>
            <a:ext cx="4434840" cy="182880"/>
          </a:xfrm>
          <a:prstGeom prst="rect">
            <a:avLst/>
          </a:prstGeom>
          <a:noFill/>
          <a:ln/>
        </p:spPr>
        <p:txBody>
          <a:bodyPr wrap="square" lIns="0" tIns="0" rIns="0" bIns="0" rtlCol="0" anchor="ctr"/>
          <a:lstStyle/>
          <a:p>
            <a:pPr marL="0" indent="0">
              <a:buNone/>
            </a:pPr>
            <a:r>
              <a:rPr lang="en-US" sz="850" b="1" dirty="0">
                <a:solidFill>
                  <a:srgbClr val="F5A800"/>
                </a:solidFill>
                <a:latin typeface="Segoe UI" pitchFamily="34" charset="0"/>
                <a:ea typeface="Segoe UI" pitchFamily="34" charset="-122"/>
                <a:cs typeface="Segoe UI" pitchFamily="34" charset="-120"/>
              </a:rPr>
              <a:t>Program.cs</a:t>
            </a:r>
            <a:endParaRPr lang="en-US" sz="850" dirty="0"/>
          </a:p>
        </p:txBody>
      </p:sp>
      <p:sp>
        <p:nvSpPr>
          <p:cNvPr id="11" name="Text 9"/>
          <p:cNvSpPr txBox="1"/>
          <p:nvPr/>
        </p:nvSpPr>
        <p:spPr>
          <a:xfrm>
            <a:off x="594360" y="1481328"/>
            <a:ext cx="4846320" cy="3200400"/>
          </a:xfrm>
          <a:prstGeom prst="rect">
            <a:avLst/>
          </a:prstGeom>
          <a:noFill/>
          <a:ln/>
        </p:spPr>
        <p:txBody>
          <a:bodyPr wrap="square" lIns="0" tIns="0" rIns="0" bIns="0" rtlCol="0" anchor="t"/>
          <a:lstStyle/>
          <a:p>
            <a:pPr marL="0" indent="0">
              <a:lnSpc>
                <a:spcPct val="100000"/>
              </a:lnSpc>
              <a:buNone/>
            </a:pPr>
            <a:r>
              <a:rPr lang="en-US" sz="820" i="1" dirty="0">
                <a:solidFill>
                  <a:srgbClr val="7D8FA8"/>
                </a:solidFill>
                <a:latin typeface="Consolas" pitchFamily="34" charset="0"/>
                <a:ea typeface="Consolas" pitchFamily="34" charset="-122"/>
                <a:cs typeface="Consolas" pitchFamily="34" charset="-120"/>
              </a:rPr>
              <a:t>// 1. Conexión (singleton por compañía)</a:t>
            </a:r>
            <a:endParaRPr lang="en-US" sz="820" dirty="0"/>
          </a:p>
          <a:p>
            <a:pPr marL="0" indent="0">
              <a:lnSpc>
                <a:spcPct val="100000"/>
              </a:lnSpc>
              <a:buNone/>
            </a:pPr>
            <a:r>
              <a:rPr lang="en-US" sz="820" b="1" dirty="0">
                <a:solidFill>
                  <a:srgbClr val="F5A800"/>
                </a:solidFill>
                <a:latin typeface="Consolas" pitchFamily="34" charset="0"/>
                <a:ea typeface="Consolas" pitchFamily="34" charset="-122"/>
                <a:cs typeface="Consolas" pitchFamily="34" charset="-120"/>
              </a:rPr>
              <a:t>var</a:t>
            </a:r>
            <a:r>
              <a:rPr lang="en-US" sz="820" dirty="0">
                <a:solidFill>
                  <a:srgbClr val="DCE6F2"/>
                </a:solidFill>
                <a:latin typeface="Consolas" pitchFamily="34" charset="0"/>
                <a:ea typeface="Consolas" pitchFamily="34" charset="-122"/>
                <a:cs typeface="Consolas" pitchFamily="34" charset="-120"/>
              </a:rPr>
              <a:t> sl = </a:t>
            </a:r>
            <a:r>
              <a:rPr lang="en-US" sz="820" b="1" dirty="0">
                <a:solidFill>
                  <a:srgbClr val="F5A800"/>
                </a:solidFill>
                <a:latin typeface="Consolas" pitchFamily="34" charset="0"/>
                <a:ea typeface="Consolas" pitchFamily="34" charset="-122"/>
                <a:cs typeface="Consolas" pitchFamily="34" charset="-120"/>
              </a:rPr>
              <a:t>new</a:t>
            </a:r>
            <a:r>
              <a:rPr lang="en-US" sz="820" dirty="0">
                <a:solidFill>
                  <a:srgbClr val="DCE6F2"/>
                </a:solidFill>
                <a:latin typeface="Consolas" pitchFamily="34" charset="0"/>
                <a:ea typeface="Consolas" pitchFamily="34" charset="-122"/>
                <a:cs typeface="Consolas" pitchFamily="34" charset="-120"/>
              </a:rPr>
              <a:t> SLConnection(</a:t>
            </a:r>
            <a:r>
              <a:rPr lang="en-US" sz="820" dirty="0">
                <a:solidFill>
                  <a:srgbClr val="B5E48C"/>
                </a:solidFill>
                <a:latin typeface="Consolas" pitchFamily="34" charset="0"/>
                <a:ea typeface="Consolas" pitchFamily="34" charset="-122"/>
                <a:cs typeface="Consolas" pitchFamily="34" charset="-120"/>
              </a:rPr>
              <a:t>"https://sapserver:50000/b1s/v1"</a:t>
            </a:r>
            <a:r>
              <a:rPr lang="en-US" sz="820" dirty="0">
                <a:solidFill>
                  <a:srgbClr val="DCE6F2"/>
                </a:solidFill>
                <a:latin typeface="Consolas" pitchFamily="34" charset="0"/>
                <a:ea typeface="Consolas" pitchFamily="34" charset="-122"/>
                <a:cs typeface="Consolas" pitchFamily="34" charset="-120"/>
              </a:rPr>
              <a:t>,</a:t>
            </a:r>
            <a:endParaRPr lang="en-US" sz="820" dirty="0"/>
          </a:p>
          <a:p>
            <a:pPr marL="0" indent="0">
              <a:lnSpc>
                <a:spcPct val="100000"/>
              </a:lnSpc>
              <a:buNone/>
            </a:pPr>
            <a:r>
              <a:rPr lang="en-US" sz="820" dirty="0">
                <a:solidFill>
                  <a:srgbClr val="DCE6F2"/>
                </a:solidFill>
                <a:latin typeface="Consolas" pitchFamily="34" charset="0"/>
                <a:ea typeface="Consolas" pitchFamily="34" charset="-122"/>
                <a:cs typeface="Consolas" pitchFamily="34" charset="-120"/>
              </a:rPr>
              <a:t>                          </a:t>
            </a:r>
            <a:r>
              <a:rPr lang="en-US" sz="820" dirty="0">
                <a:solidFill>
                  <a:srgbClr val="B5E48C"/>
                </a:solidFill>
                <a:latin typeface="Consolas" pitchFamily="34" charset="0"/>
                <a:ea typeface="Consolas" pitchFamily="34" charset="-122"/>
                <a:cs typeface="Consolas" pitchFamily="34" charset="-120"/>
              </a:rPr>
              <a:t>"SBO_VENTURA_PRD"</a:t>
            </a:r>
            <a:r>
              <a:rPr lang="en-US" sz="820" dirty="0">
                <a:solidFill>
                  <a:srgbClr val="DCE6F2"/>
                </a:solidFill>
                <a:latin typeface="Consolas" pitchFamily="34" charset="0"/>
                <a:ea typeface="Consolas" pitchFamily="34" charset="-122"/>
                <a:cs typeface="Consolas" pitchFamily="34" charset="-120"/>
              </a:rPr>
              <a:t>, </a:t>
            </a:r>
            <a:r>
              <a:rPr lang="en-US" sz="820" dirty="0">
                <a:solidFill>
                  <a:srgbClr val="B5E48C"/>
                </a:solidFill>
                <a:latin typeface="Consolas" pitchFamily="34" charset="0"/>
                <a:ea typeface="Consolas" pitchFamily="34" charset="-122"/>
                <a:cs typeface="Consolas" pitchFamily="34" charset="-120"/>
              </a:rPr>
              <a:t>"manager"</a:t>
            </a:r>
            <a:r>
              <a:rPr lang="en-US" sz="820" dirty="0">
                <a:solidFill>
                  <a:srgbClr val="DCE6F2"/>
                </a:solidFill>
                <a:latin typeface="Consolas" pitchFamily="34" charset="0"/>
                <a:ea typeface="Consolas" pitchFamily="34" charset="-122"/>
                <a:cs typeface="Consolas" pitchFamily="34" charset="-120"/>
              </a:rPr>
              <a:t>, </a:t>
            </a:r>
            <a:r>
              <a:rPr lang="en-US" sz="820" dirty="0">
                <a:solidFill>
                  <a:srgbClr val="B5E48C"/>
                </a:solidFill>
                <a:latin typeface="Consolas" pitchFamily="34" charset="0"/>
                <a:ea typeface="Consolas" pitchFamily="34" charset="-122"/>
                <a:cs typeface="Consolas" pitchFamily="34" charset="-120"/>
              </a:rPr>
              <a:t>"****"</a:t>
            </a:r>
            <a:r>
              <a:rPr lang="en-US" sz="820" dirty="0">
                <a:solidFill>
                  <a:srgbClr val="DCE6F2"/>
                </a:solidFill>
                <a:latin typeface="Consolas" pitchFamily="34" charset="0"/>
                <a:ea typeface="Consolas" pitchFamily="34" charset="-122"/>
                <a:cs typeface="Consolas" pitchFamily="34" charset="-120"/>
              </a:rPr>
              <a:t>);</a:t>
            </a:r>
            <a:endParaRPr lang="en-US" sz="820" dirty="0"/>
          </a:p>
          <a:p>
            <a:pPr marL="0" indent="0">
              <a:lnSpc>
                <a:spcPct val="100000"/>
              </a:lnSpc>
              <a:buNone/>
            </a:pPr>
            <a:r>
              <a:rPr lang="en-US" sz="820" dirty="0">
                <a:solidFill>
                  <a:srgbClr val="DCE6F2"/>
                </a:solidFill>
                <a:latin typeface="Consolas" pitchFamily="34" charset="0"/>
                <a:ea typeface="Consolas" pitchFamily="34" charset="-122"/>
                <a:cs typeface="Consolas" pitchFamily="34" charset="-120"/>
              </a:rPr>
              <a:t> </a:t>
            </a:r>
            <a:endParaRPr lang="en-US" sz="820" dirty="0"/>
          </a:p>
          <a:p>
            <a:pPr marL="0" indent="0">
              <a:lnSpc>
                <a:spcPct val="100000"/>
              </a:lnSpc>
              <a:buNone/>
            </a:pPr>
            <a:r>
              <a:rPr lang="en-US" sz="820" i="1" dirty="0">
                <a:solidFill>
                  <a:srgbClr val="7D8FA8"/>
                </a:solidFill>
                <a:latin typeface="Consolas" pitchFamily="34" charset="0"/>
                <a:ea typeface="Consolas" pitchFamily="34" charset="-122"/>
                <a:cs typeface="Consolas" pitchFamily="34" charset="-120"/>
              </a:rPr>
              <a:t>// 2. Consulta con OData fluido</a:t>
            </a:r>
            <a:endParaRPr lang="en-US" sz="820" dirty="0"/>
          </a:p>
          <a:p>
            <a:pPr marL="0" indent="0">
              <a:lnSpc>
                <a:spcPct val="100000"/>
              </a:lnSpc>
              <a:buNone/>
            </a:pPr>
            <a:r>
              <a:rPr lang="en-US" sz="820" b="1" dirty="0">
                <a:solidFill>
                  <a:srgbClr val="F5A800"/>
                </a:solidFill>
                <a:latin typeface="Consolas" pitchFamily="34" charset="0"/>
                <a:ea typeface="Consolas" pitchFamily="34" charset="-122"/>
                <a:cs typeface="Consolas" pitchFamily="34" charset="-120"/>
              </a:rPr>
              <a:t>var</a:t>
            </a:r>
            <a:r>
              <a:rPr lang="en-US" sz="820" dirty="0">
                <a:solidFill>
                  <a:srgbClr val="DCE6F2"/>
                </a:solidFill>
                <a:latin typeface="Consolas" pitchFamily="34" charset="0"/>
                <a:ea typeface="Consolas" pitchFamily="34" charset="-122"/>
                <a:cs typeface="Consolas" pitchFamily="34" charset="-120"/>
              </a:rPr>
              <a:t> bps = </a:t>
            </a:r>
            <a:r>
              <a:rPr lang="en-US" sz="820" b="1" dirty="0">
                <a:solidFill>
                  <a:srgbClr val="F5A800"/>
                </a:solidFill>
                <a:latin typeface="Consolas" pitchFamily="34" charset="0"/>
                <a:ea typeface="Consolas" pitchFamily="34" charset="-122"/>
                <a:cs typeface="Consolas" pitchFamily="34" charset="-120"/>
              </a:rPr>
              <a:t>await</a:t>
            </a:r>
            <a:r>
              <a:rPr lang="en-US" sz="820" dirty="0">
                <a:solidFill>
                  <a:srgbClr val="DCE6F2"/>
                </a:solidFill>
                <a:latin typeface="Consolas" pitchFamily="34" charset="0"/>
                <a:ea typeface="Consolas" pitchFamily="34" charset="-122"/>
                <a:cs typeface="Consolas" pitchFamily="34" charset="-120"/>
              </a:rPr>
              <a:t> sl.Request(</a:t>
            </a:r>
            <a:r>
              <a:rPr lang="en-US" sz="820" dirty="0">
                <a:solidFill>
                  <a:srgbClr val="B5E48C"/>
                </a:solidFill>
                <a:latin typeface="Consolas" pitchFamily="34" charset="0"/>
                <a:ea typeface="Consolas" pitchFamily="34" charset="-122"/>
                <a:cs typeface="Consolas" pitchFamily="34" charset="-120"/>
              </a:rPr>
              <a:t>"BusinessPartners"</a:t>
            </a:r>
            <a:r>
              <a:rPr lang="en-US" sz="820" dirty="0">
                <a:solidFill>
                  <a:srgbClr val="DCE6F2"/>
                </a:solidFill>
                <a:latin typeface="Consolas" pitchFamily="34" charset="0"/>
                <a:ea typeface="Consolas" pitchFamily="34" charset="-122"/>
                <a:cs typeface="Consolas" pitchFamily="34" charset="-120"/>
              </a:rPr>
              <a:t>)</a:t>
            </a:r>
            <a:endParaRPr lang="en-US" sz="820" dirty="0"/>
          </a:p>
          <a:p>
            <a:pPr marL="0" indent="0">
              <a:lnSpc>
                <a:spcPct val="100000"/>
              </a:lnSpc>
              <a:buNone/>
            </a:pPr>
            <a:r>
              <a:rPr lang="en-US" sz="820" dirty="0">
                <a:solidFill>
                  <a:srgbClr val="DCE6F2"/>
                </a:solidFill>
                <a:latin typeface="Consolas" pitchFamily="34" charset="0"/>
                <a:ea typeface="Consolas" pitchFamily="34" charset="-122"/>
                <a:cs typeface="Consolas" pitchFamily="34" charset="-120"/>
              </a:rPr>
              <a:t>    .Filter(</a:t>
            </a:r>
            <a:r>
              <a:rPr lang="en-US" sz="820" dirty="0">
                <a:solidFill>
                  <a:srgbClr val="B5E48C"/>
                </a:solidFill>
                <a:latin typeface="Consolas" pitchFamily="34" charset="0"/>
                <a:ea typeface="Consolas" pitchFamily="34" charset="-122"/>
                <a:cs typeface="Consolas" pitchFamily="34" charset="-120"/>
              </a:rPr>
              <a:t>"startswith(CardCode, 'C')"</a:t>
            </a:r>
            <a:r>
              <a:rPr lang="en-US" sz="820" dirty="0">
                <a:solidFill>
                  <a:srgbClr val="DCE6F2"/>
                </a:solidFill>
                <a:latin typeface="Consolas" pitchFamily="34" charset="0"/>
                <a:ea typeface="Consolas" pitchFamily="34" charset="-122"/>
                <a:cs typeface="Consolas" pitchFamily="34" charset="-120"/>
              </a:rPr>
              <a:t>)</a:t>
            </a:r>
            <a:endParaRPr lang="en-US" sz="820" dirty="0"/>
          </a:p>
          <a:p>
            <a:pPr marL="0" indent="0">
              <a:lnSpc>
                <a:spcPct val="100000"/>
              </a:lnSpc>
              <a:buNone/>
            </a:pPr>
            <a:r>
              <a:rPr lang="en-US" sz="820" dirty="0">
                <a:solidFill>
                  <a:srgbClr val="DCE6F2"/>
                </a:solidFill>
                <a:latin typeface="Consolas" pitchFamily="34" charset="0"/>
                <a:ea typeface="Consolas" pitchFamily="34" charset="-122"/>
                <a:cs typeface="Consolas" pitchFamily="34" charset="-120"/>
              </a:rPr>
              <a:t>    .Select(</a:t>
            </a:r>
            <a:r>
              <a:rPr lang="en-US" sz="820" dirty="0">
                <a:solidFill>
                  <a:srgbClr val="B5E48C"/>
                </a:solidFill>
                <a:latin typeface="Consolas" pitchFamily="34" charset="0"/>
                <a:ea typeface="Consolas" pitchFamily="34" charset="-122"/>
                <a:cs typeface="Consolas" pitchFamily="34" charset="-120"/>
              </a:rPr>
              <a:t>"CardCode, CardName"</a:t>
            </a:r>
            <a:r>
              <a:rPr lang="en-US" sz="820" dirty="0">
                <a:solidFill>
                  <a:srgbClr val="DCE6F2"/>
                </a:solidFill>
                <a:latin typeface="Consolas" pitchFamily="34" charset="0"/>
                <a:ea typeface="Consolas" pitchFamily="34" charset="-122"/>
                <a:cs typeface="Consolas" pitchFamily="34" charset="-120"/>
              </a:rPr>
              <a:t>)</a:t>
            </a:r>
            <a:endParaRPr lang="en-US" sz="820" dirty="0"/>
          </a:p>
          <a:p>
            <a:pPr marL="0" indent="0">
              <a:lnSpc>
                <a:spcPct val="100000"/>
              </a:lnSpc>
              <a:buNone/>
            </a:pPr>
            <a:r>
              <a:rPr lang="en-US" sz="820" dirty="0">
                <a:solidFill>
                  <a:srgbClr val="DCE6F2"/>
                </a:solidFill>
                <a:latin typeface="Consolas" pitchFamily="34" charset="0"/>
                <a:ea typeface="Consolas" pitchFamily="34" charset="-122"/>
                <a:cs typeface="Consolas" pitchFamily="34" charset="-120"/>
              </a:rPr>
              <a:t>    .OrderBy(</a:t>
            </a:r>
            <a:r>
              <a:rPr lang="en-US" sz="820" dirty="0">
                <a:solidFill>
                  <a:srgbClr val="B5E48C"/>
                </a:solidFill>
                <a:latin typeface="Consolas" pitchFamily="34" charset="0"/>
                <a:ea typeface="Consolas" pitchFamily="34" charset="-122"/>
                <a:cs typeface="Consolas" pitchFamily="34" charset="-120"/>
              </a:rPr>
              <a:t>"CardName"</a:t>
            </a:r>
            <a:r>
              <a:rPr lang="en-US" sz="820" dirty="0">
                <a:solidFill>
                  <a:srgbClr val="DCE6F2"/>
                </a:solidFill>
                <a:latin typeface="Consolas" pitchFamily="34" charset="0"/>
                <a:ea typeface="Consolas" pitchFamily="34" charset="-122"/>
                <a:cs typeface="Consolas" pitchFamily="34" charset="-120"/>
              </a:rPr>
              <a:t>)</a:t>
            </a:r>
            <a:endParaRPr lang="en-US" sz="820" dirty="0"/>
          </a:p>
          <a:p>
            <a:pPr marL="0" indent="0">
              <a:lnSpc>
                <a:spcPct val="100000"/>
              </a:lnSpc>
              <a:buNone/>
            </a:pPr>
            <a:r>
              <a:rPr lang="en-US" sz="820" dirty="0">
                <a:solidFill>
                  <a:srgbClr val="DCE6F2"/>
                </a:solidFill>
                <a:latin typeface="Consolas" pitchFamily="34" charset="0"/>
                <a:ea typeface="Consolas" pitchFamily="34" charset="-122"/>
                <a:cs typeface="Consolas" pitchFamily="34" charset="-120"/>
              </a:rPr>
              <a:t>    .WithPageSize(50)</a:t>
            </a:r>
            <a:endParaRPr lang="en-US" sz="820" dirty="0"/>
          </a:p>
          <a:p>
            <a:pPr marL="0" indent="0">
              <a:lnSpc>
                <a:spcPct val="100000"/>
              </a:lnSpc>
              <a:buNone/>
            </a:pPr>
            <a:r>
              <a:rPr lang="en-US" sz="820" dirty="0">
                <a:solidFill>
                  <a:srgbClr val="DCE6F2"/>
                </a:solidFill>
                <a:latin typeface="Consolas" pitchFamily="34" charset="0"/>
                <a:ea typeface="Consolas" pitchFamily="34" charset="-122"/>
                <a:cs typeface="Consolas" pitchFamily="34" charset="-120"/>
              </a:rPr>
              <a:t>    .GetAsync&lt;List&lt;BusinessPartner&gt;&gt;();</a:t>
            </a:r>
            <a:endParaRPr lang="en-US" sz="820" dirty="0"/>
          </a:p>
          <a:p>
            <a:pPr marL="0" indent="0">
              <a:lnSpc>
                <a:spcPct val="100000"/>
              </a:lnSpc>
              <a:buNone/>
            </a:pPr>
            <a:r>
              <a:rPr lang="en-US" sz="820" dirty="0">
                <a:solidFill>
                  <a:srgbClr val="DCE6F2"/>
                </a:solidFill>
                <a:latin typeface="Consolas" pitchFamily="34" charset="0"/>
                <a:ea typeface="Consolas" pitchFamily="34" charset="-122"/>
                <a:cs typeface="Consolas" pitchFamily="34" charset="-120"/>
              </a:rPr>
              <a:t> </a:t>
            </a:r>
            <a:endParaRPr lang="en-US" sz="820" dirty="0"/>
          </a:p>
          <a:p>
            <a:pPr marL="0" indent="0">
              <a:lnSpc>
                <a:spcPct val="100000"/>
              </a:lnSpc>
              <a:buNone/>
            </a:pPr>
            <a:r>
              <a:rPr lang="en-US" sz="820" i="1" dirty="0">
                <a:solidFill>
                  <a:srgbClr val="7D8FA8"/>
                </a:solidFill>
                <a:latin typeface="Consolas" pitchFamily="34" charset="0"/>
                <a:ea typeface="Consolas" pitchFamily="34" charset="-122"/>
                <a:cs typeface="Consolas" pitchFamily="34" charset="-120"/>
              </a:rPr>
              <a:t>// 3. Crear y actualizar</a:t>
            </a:r>
            <a:endParaRPr lang="en-US" sz="820" dirty="0"/>
          </a:p>
          <a:p>
            <a:pPr marL="0" indent="0">
              <a:lnSpc>
                <a:spcPct val="100000"/>
              </a:lnSpc>
              <a:buNone/>
            </a:pPr>
            <a:r>
              <a:rPr lang="en-US" sz="820" b="1" dirty="0">
                <a:solidFill>
                  <a:srgbClr val="F5A800"/>
                </a:solidFill>
                <a:latin typeface="Consolas" pitchFamily="34" charset="0"/>
                <a:ea typeface="Consolas" pitchFamily="34" charset="-122"/>
                <a:cs typeface="Consolas" pitchFamily="34" charset="-120"/>
              </a:rPr>
              <a:t>var</a:t>
            </a:r>
            <a:r>
              <a:rPr lang="en-US" sz="820" dirty="0">
                <a:solidFill>
                  <a:srgbClr val="DCE6F2"/>
                </a:solidFill>
                <a:latin typeface="Consolas" pitchFamily="34" charset="0"/>
                <a:ea typeface="Consolas" pitchFamily="34" charset="-122"/>
                <a:cs typeface="Consolas" pitchFamily="34" charset="-120"/>
              </a:rPr>
              <a:t> order = </a:t>
            </a:r>
            <a:r>
              <a:rPr lang="en-US" sz="820" b="1" dirty="0">
                <a:solidFill>
                  <a:srgbClr val="F5A800"/>
                </a:solidFill>
                <a:latin typeface="Consolas" pitchFamily="34" charset="0"/>
                <a:ea typeface="Consolas" pitchFamily="34" charset="-122"/>
                <a:cs typeface="Consolas" pitchFamily="34" charset="-120"/>
              </a:rPr>
              <a:t>await</a:t>
            </a:r>
            <a:r>
              <a:rPr lang="en-US" sz="820" dirty="0">
                <a:solidFill>
                  <a:srgbClr val="DCE6F2"/>
                </a:solidFill>
                <a:latin typeface="Consolas" pitchFamily="34" charset="0"/>
                <a:ea typeface="Consolas" pitchFamily="34" charset="-122"/>
                <a:cs typeface="Consolas" pitchFamily="34" charset="-120"/>
              </a:rPr>
              <a:t> sl.Request(</a:t>
            </a:r>
            <a:r>
              <a:rPr lang="en-US" sz="820" dirty="0">
                <a:solidFill>
                  <a:srgbClr val="B5E48C"/>
                </a:solidFill>
                <a:latin typeface="Consolas" pitchFamily="34" charset="0"/>
                <a:ea typeface="Consolas" pitchFamily="34" charset="-122"/>
                <a:cs typeface="Consolas" pitchFamily="34" charset="-120"/>
              </a:rPr>
              <a:t>"Orders"</a:t>
            </a:r>
            <a:r>
              <a:rPr lang="en-US" sz="820" dirty="0">
                <a:solidFill>
                  <a:srgbClr val="DCE6F2"/>
                </a:solidFill>
                <a:latin typeface="Consolas" pitchFamily="34" charset="0"/>
                <a:ea typeface="Consolas" pitchFamily="34" charset="-122"/>
                <a:cs typeface="Consolas" pitchFamily="34" charset="-120"/>
              </a:rPr>
              <a:t>).PostAsync&lt;Order&gt;(nuevoPedido);</a:t>
            </a:r>
            <a:endParaRPr lang="en-US" sz="820" dirty="0"/>
          </a:p>
          <a:p>
            <a:pPr marL="0" indent="0">
              <a:lnSpc>
                <a:spcPct val="100000"/>
              </a:lnSpc>
              <a:buNone/>
            </a:pPr>
            <a:r>
              <a:rPr lang="en-US" sz="820" b="1" dirty="0">
                <a:solidFill>
                  <a:srgbClr val="F5A800"/>
                </a:solidFill>
                <a:latin typeface="Consolas" pitchFamily="34" charset="0"/>
                <a:ea typeface="Consolas" pitchFamily="34" charset="-122"/>
                <a:cs typeface="Consolas" pitchFamily="34" charset="-120"/>
              </a:rPr>
              <a:t>await</a:t>
            </a:r>
            <a:r>
              <a:rPr lang="en-US" sz="820" dirty="0">
                <a:solidFill>
                  <a:srgbClr val="DCE6F2"/>
                </a:solidFill>
                <a:latin typeface="Consolas" pitchFamily="34" charset="0"/>
                <a:ea typeface="Consolas" pitchFamily="34" charset="-122"/>
                <a:cs typeface="Consolas" pitchFamily="34" charset="-120"/>
              </a:rPr>
              <a:t> sl.Request(</a:t>
            </a:r>
            <a:r>
              <a:rPr lang="en-US" sz="820" dirty="0">
                <a:solidFill>
                  <a:srgbClr val="B5E48C"/>
                </a:solidFill>
                <a:latin typeface="Consolas" pitchFamily="34" charset="0"/>
                <a:ea typeface="Consolas" pitchFamily="34" charset="-122"/>
                <a:cs typeface="Consolas" pitchFamily="34" charset="-120"/>
              </a:rPr>
              <a:t>"BusinessPartners"</a:t>
            </a:r>
            <a:r>
              <a:rPr lang="en-US" sz="820" dirty="0">
                <a:solidFill>
                  <a:srgbClr val="DCE6F2"/>
                </a:solidFill>
                <a:latin typeface="Consolas" pitchFamily="34" charset="0"/>
                <a:ea typeface="Consolas" pitchFamily="34" charset="-122"/>
                <a:cs typeface="Consolas" pitchFamily="34" charset="-120"/>
              </a:rPr>
              <a:t>, </a:t>
            </a:r>
            <a:r>
              <a:rPr lang="en-US" sz="820" dirty="0">
                <a:solidFill>
                  <a:srgbClr val="B5E48C"/>
                </a:solidFill>
                <a:latin typeface="Consolas" pitchFamily="34" charset="0"/>
                <a:ea typeface="Consolas" pitchFamily="34" charset="-122"/>
                <a:cs typeface="Consolas" pitchFamily="34" charset="-120"/>
              </a:rPr>
              <a:t>"C001"</a:t>
            </a:r>
            <a:r>
              <a:rPr lang="en-US" sz="820" dirty="0">
                <a:solidFill>
                  <a:srgbClr val="DCE6F2"/>
                </a:solidFill>
                <a:latin typeface="Consolas" pitchFamily="34" charset="0"/>
                <a:ea typeface="Consolas" pitchFamily="34" charset="-122"/>
                <a:cs typeface="Consolas" pitchFamily="34" charset="-120"/>
              </a:rPr>
              <a:t>)</a:t>
            </a:r>
            <a:endParaRPr lang="en-US" sz="820" dirty="0"/>
          </a:p>
          <a:p>
            <a:pPr marL="0" indent="0">
              <a:lnSpc>
                <a:spcPct val="100000"/>
              </a:lnSpc>
              <a:buNone/>
            </a:pPr>
            <a:r>
              <a:rPr lang="en-US" sz="820" dirty="0">
                <a:solidFill>
                  <a:srgbClr val="DCE6F2"/>
                </a:solidFill>
                <a:latin typeface="Consolas" pitchFamily="34" charset="0"/>
                <a:ea typeface="Consolas" pitchFamily="34" charset="-122"/>
                <a:cs typeface="Consolas" pitchFamily="34" charset="-120"/>
              </a:rPr>
              <a:t>    .PatchAsync(</a:t>
            </a:r>
            <a:r>
              <a:rPr lang="en-US" sz="820" b="1" dirty="0">
                <a:solidFill>
                  <a:srgbClr val="F5A800"/>
                </a:solidFill>
                <a:latin typeface="Consolas" pitchFamily="34" charset="0"/>
                <a:ea typeface="Consolas" pitchFamily="34" charset="-122"/>
                <a:cs typeface="Consolas" pitchFamily="34" charset="-120"/>
              </a:rPr>
              <a:t>new</a:t>
            </a:r>
            <a:r>
              <a:rPr lang="en-US" sz="820" dirty="0">
                <a:solidFill>
                  <a:srgbClr val="DCE6F2"/>
                </a:solidFill>
                <a:latin typeface="Consolas" pitchFamily="34" charset="0"/>
                <a:ea typeface="Consolas" pitchFamily="34" charset="-122"/>
                <a:cs typeface="Consolas" pitchFamily="34" charset="-120"/>
              </a:rPr>
              <a:t> { CardName = </a:t>
            </a:r>
            <a:r>
              <a:rPr lang="en-US" sz="820" dirty="0">
                <a:solidFill>
                  <a:srgbClr val="B5E48C"/>
                </a:solidFill>
                <a:latin typeface="Consolas" pitchFamily="34" charset="0"/>
                <a:ea typeface="Consolas" pitchFamily="34" charset="-122"/>
                <a:cs typeface="Consolas" pitchFamily="34" charset="-120"/>
              </a:rPr>
              <a:t>"Andina SAC"</a:t>
            </a:r>
            <a:r>
              <a:rPr lang="en-US" sz="820" dirty="0">
                <a:solidFill>
                  <a:srgbClr val="DCE6F2"/>
                </a:solidFill>
                <a:latin typeface="Consolas" pitchFamily="34" charset="0"/>
                <a:ea typeface="Consolas" pitchFamily="34" charset="-122"/>
                <a:cs typeface="Consolas" pitchFamily="34" charset="-120"/>
              </a:rPr>
              <a:t> });</a:t>
            </a:r>
            <a:endParaRPr lang="en-US" sz="820" dirty="0"/>
          </a:p>
          <a:p>
            <a:pPr marL="0" indent="0">
              <a:lnSpc>
                <a:spcPct val="100000"/>
              </a:lnSpc>
              <a:buNone/>
            </a:pPr>
            <a:r>
              <a:rPr lang="en-US" sz="820" dirty="0">
                <a:solidFill>
                  <a:srgbClr val="DCE6F2"/>
                </a:solidFill>
                <a:latin typeface="Consolas" pitchFamily="34" charset="0"/>
                <a:ea typeface="Consolas" pitchFamily="34" charset="-122"/>
                <a:cs typeface="Consolas" pitchFamily="34" charset="-120"/>
              </a:rPr>
              <a:t> </a:t>
            </a:r>
            <a:endParaRPr lang="en-US" sz="820" dirty="0"/>
          </a:p>
          <a:p>
            <a:pPr marL="0" indent="0">
              <a:lnSpc>
                <a:spcPct val="100000"/>
              </a:lnSpc>
              <a:buNone/>
            </a:pPr>
            <a:r>
              <a:rPr lang="en-US" sz="820" i="1" dirty="0">
                <a:solidFill>
                  <a:srgbClr val="7D8FA8"/>
                </a:solidFill>
                <a:latin typeface="Consolas" pitchFamily="34" charset="0"/>
                <a:ea typeface="Consolas" pitchFamily="34" charset="-122"/>
                <a:cs typeface="Consolas" pitchFamily="34" charset="-120"/>
              </a:rPr>
              <a:t>// 4. Batch</a:t>
            </a:r>
            <a:endParaRPr lang="en-US" sz="820" dirty="0"/>
          </a:p>
          <a:p>
            <a:pPr marL="0" indent="0">
              <a:lnSpc>
                <a:spcPct val="100000"/>
              </a:lnSpc>
              <a:buNone/>
            </a:pPr>
            <a:r>
              <a:rPr lang="en-US" sz="820" b="1" dirty="0">
                <a:solidFill>
                  <a:srgbClr val="F5A800"/>
                </a:solidFill>
                <a:latin typeface="Consolas" pitchFamily="34" charset="0"/>
                <a:ea typeface="Consolas" pitchFamily="34" charset="-122"/>
                <a:cs typeface="Consolas" pitchFamily="34" charset="-120"/>
              </a:rPr>
              <a:t>var</a:t>
            </a:r>
            <a:r>
              <a:rPr lang="en-US" sz="820" dirty="0">
                <a:solidFill>
                  <a:srgbClr val="DCE6F2"/>
                </a:solidFill>
                <a:latin typeface="Consolas" pitchFamily="34" charset="0"/>
                <a:ea typeface="Consolas" pitchFamily="34" charset="-122"/>
                <a:cs typeface="Consolas" pitchFamily="34" charset="-120"/>
              </a:rPr>
              <a:t> r1 = </a:t>
            </a:r>
            <a:r>
              <a:rPr lang="en-US" sz="820" b="1" dirty="0">
                <a:solidFill>
                  <a:srgbClr val="F5A800"/>
                </a:solidFill>
                <a:latin typeface="Consolas" pitchFamily="34" charset="0"/>
                <a:ea typeface="Consolas" pitchFamily="34" charset="-122"/>
                <a:cs typeface="Consolas" pitchFamily="34" charset="-120"/>
              </a:rPr>
              <a:t>new</a:t>
            </a:r>
            <a:r>
              <a:rPr lang="en-US" sz="820" dirty="0">
                <a:solidFill>
                  <a:srgbClr val="DCE6F2"/>
                </a:solidFill>
                <a:latin typeface="Consolas" pitchFamily="34" charset="0"/>
                <a:ea typeface="Consolas" pitchFamily="34" charset="-122"/>
                <a:cs typeface="Consolas" pitchFamily="34" charset="-120"/>
              </a:rPr>
              <a:t> SLBatchRequest(HttpMethod.Post, </a:t>
            </a:r>
            <a:r>
              <a:rPr lang="en-US" sz="820" dirty="0">
                <a:solidFill>
                  <a:srgbClr val="B5E48C"/>
                </a:solidFill>
                <a:latin typeface="Consolas" pitchFamily="34" charset="0"/>
                <a:ea typeface="Consolas" pitchFamily="34" charset="-122"/>
                <a:cs typeface="Consolas" pitchFamily="34" charset="-120"/>
              </a:rPr>
              <a:t>"BusinessPartners"</a:t>
            </a:r>
            <a:r>
              <a:rPr lang="en-US" sz="820" dirty="0">
                <a:solidFill>
                  <a:srgbClr val="DCE6F2"/>
                </a:solidFill>
                <a:latin typeface="Consolas" pitchFamily="34" charset="0"/>
                <a:ea typeface="Consolas" pitchFamily="34" charset="-122"/>
                <a:cs typeface="Consolas" pitchFamily="34" charset="-120"/>
              </a:rPr>
              <a:t>,</a:t>
            </a:r>
            <a:endParaRPr lang="en-US" sz="820" dirty="0"/>
          </a:p>
          <a:p>
            <a:pPr marL="0" indent="0">
              <a:lnSpc>
                <a:spcPct val="100000"/>
              </a:lnSpc>
              <a:buNone/>
            </a:pPr>
            <a:r>
              <a:rPr lang="en-US" sz="820" dirty="0">
                <a:solidFill>
                  <a:srgbClr val="DCE6F2"/>
                </a:solidFill>
                <a:latin typeface="Consolas" pitchFamily="34" charset="0"/>
                <a:ea typeface="Consolas" pitchFamily="34" charset="-122"/>
                <a:cs typeface="Consolas" pitchFamily="34" charset="-120"/>
              </a:rPr>
              <a:t>    </a:t>
            </a:r>
            <a:r>
              <a:rPr lang="en-US" sz="820" b="1" dirty="0">
                <a:solidFill>
                  <a:srgbClr val="F5A800"/>
                </a:solidFill>
                <a:latin typeface="Consolas" pitchFamily="34" charset="0"/>
                <a:ea typeface="Consolas" pitchFamily="34" charset="-122"/>
                <a:cs typeface="Consolas" pitchFamily="34" charset="-120"/>
              </a:rPr>
              <a:t>new</a:t>
            </a:r>
            <a:r>
              <a:rPr lang="en-US" sz="820" dirty="0">
                <a:solidFill>
                  <a:srgbClr val="DCE6F2"/>
                </a:solidFill>
                <a:latin typeface="Consolas" pitchFamily="34" charset="0"/>
                <a:ea typeface="Consolas" pitchFamily="34" charset="-122"/>
                <a:cs typeface="Consolas" pitchFamily="34" charset="-120"/>
              </a:rPr>
              <a:t> { CardCode = </a:t>
            </a:r>
            <a:r>
              <a:rPr lang="en-US" sz="820" dirty="0">
                <a:solidFill>
                  <a:srgbClr val="B5E48C"/>
                </a:solidFill>
                <a:latin typeface="Consolas" pitchFamily="34" charset="0"/>
                <a:ea typeface="Consolas" pitchFamily="34" charset="-122"/>
                <a:cs typeface="Consolas" pitchFamily="34" charset="-120"/>
              </a:rPr>
              <a:t>"C0099"</a:t>
            </a:r>
            <a:r>
              <a:rPr lang="en-US" sz="820" dirty="0">
                <a:solidFill>
                  <a:srgbClr val="DCE6F2"/>
                </a:solidFill>
                <a:latin typeface="Consolas" pitchFamily="34" charset="0"/>
                <a:ea typeface="Consolas" pitchFamily="34" charset="-122"/>
                <a:cs typeface="Consolas" pitchFamily="34" charset="-120"/>
              </a:rPr>
              <a:t>, CardName = </a:t>
            </a:r>
            <a:r>
              <a:rPr lang="en-US" sz="820" dirty="0">
                <a:solidFill>
                  <a:srgbClr val="B5E48C"/>
                </a:solidFill>
                <a:latin typeface="Consolas" pitchFamily="34" charset="0"/>
                <a:ea typeface="Consolas" pitchFamily="34" charset="-122"/>
                <a:cs typeface="Consolas" pitchFamily="34" charset="-120"/>
              </a:rPr>
              <a:t>"Nuevo SAC"</a:t>
            </a:r>
            <a:r>
              <a:rPr lang="en-US" sz="820" dirty="0">
                <a:solidFill>
                  <a:srgbClr val="DCE6F2"/>
                </a:solidFill>
                <a:latin typeface="Consolas" pitchFamily="34" charset="0"/>
                <a:ea typeface="Consolas" pitchFamily="34" charset="-122"/>
                <a:cs typeface="Consolas" pitchFamily="34" charset="-120"/>
              </a:rPr>
              <a:t> });</a:t>
            </a:r>
            <a:endParaRPr lang="en-US" sz="820" dirty="0"/>
          </a:p>
          <a:p>
            <a:pPr marL="0" indent="0">
              <a:lnSpc>
                <a:spcPct val="100000"/>
              </a:lnSpc>
              <a:buNone/>
            </a:pPr>
            <a:r>
              <a:rPr lang="en-US" sz="820" dirty="0">
                <a:solidFill>
                  <a:srgbClr val="DCE6F2"/>
                </a:solidFill>
                <a:latin typeface="Consolas" pitchFamily="34" charset="0"/>
                <a:ea typeface="Consolas" pitchFamily="34" charset="-122"/>
                <a:cs typeface="Consolas" pitchFamily="34" charset="-120"/>
              </a:rPr>
              <a:t>HttpResponseMessage[] res = </a:t>
            </a:r>
            <a:r>
              <a:rPr lang="en-US" sz="820" b="1" dirty="0">
                <a:solidFill>
                  <a:srgbClr val="F5A800"/>
                </a:solidFill>
                <a:latin typeface="Consolas" pitchFamily="34" charset="0"/>
                <a:ea typeface="Consolas" pitchFamily="34" charset="-122"/>
                <a:cs typeface="Consolas" pitchFamily="34" charset="-120"/>
              </a:rPr>
              <a:t>await</a:t>
            </a:r>
            <a:r>
              <a:rPr lang="en-US" sz="820" dirty="0">
                <a:solidFill>
                  <a:srgbClr val="DCE6F2"/>
                </a:solidFill>
                <a:latin typeface="Consolas" pitchFamily="34" charset="0"/>
                <a:ea typeface="Consolas" pitchFamily="34" charset="-122"/>
                <a:cs typeface="Consolas" pitchFamily="34" charset="-120"/>
              </a:rPr>
              <a:t> sl.PostBatchAsync(r1);</a:t>
            </a:r>
            <a:endParaRPr lang="en-US" sz="820" dirty="0"/>
          </a:p>
          <a:p>
            <a:pPr marL="0" indent="0">
              <a:lnSpc>
                <a:spcPct val="100000"/>
              </a:lnSpc>
              <a:buNone/>
            </a:pPr>
            <a:r>
              <a:rPr lang="en-US" sz="820" dirty="0">
                <a:solidFill>
                  <a:srgbClr val="DCE6F2"/>
                </a:solidFill>
                <a:latin typeface="Consolas" pitchFamily="34" charset="0"/>
                <a:ea typeface="Consolas" pitchFamily="34" charset="-122"/>
                <a:cs typeface="Consolas" pitchFamily="34" charset="-120"/>
              </a:rPr>
              <a:t> </a:t>
            </a:r>
            <a:endParaRPr lang="en-US" sz="820" dirty="0"/>
          </a:p>
          <a:p>
            <a:pPr marL="0" indent="0">
              <a:lnSpc>
                <a:spcPct val="100000"/>
              </a:lnSpc>
              <a:buNone/>
            </a:pPr>
            <a:r>
              <a:rPr lang="en-US" sz="820" b="1" dirty="0">
                <a:solidFill>
                  <a:srgbClr val="F5A800"/>
                </a:solidFill>
                <a:latin typeface="Consolas" pitchFamily="34" charset="0"/>
                <a:ea typeface="Consolas" pitchFamily="34" charset="-122"/>
                <a:cs typeface="Consolas" pitchFamily="34" charset="-120"/>
              </a:rPr>
              <a:t>await</a:t>
            </a:r>
            <a:r>
              <a:rPr lang="en-US" sz="820" dirty="0">
                <a:solidFill>
                  <a:srgbClr val="DCE6F2"/>
                </a:solidFill>
                <a:latin typeface="Consolas" pitchFamily="34" charset="0"/>
                <a:ea typeface="Consolas" pitchFamily="34" charset="-122"/>
                <a:cs typeface="Consolas" pitchFamily="34" charset="-120"/>
              </a:rPr>
              <a:t> sl.LogoutAsync();</a:t>
            </a:r>
            <a:endParaRPr lang="en-US" sz="820" dirty="0"/>
          </a:p>
        </p:txBody>
      </p:sp>
      <p:sp>
        <p:nvSpPr>
          <p:cNvPr id="12" name="Text 10"/>
          <p:cNvSpPr txBox="1"/>
          <p:nvPr/>
        </p:nvSpPr>
        <p:spPr>
          <a:xfrm>
            <a:off x="5806440" y="1188720"/>
            <a:ext cx="2926080" cy="274320"/>
          </a:xfrm>
          <a:prstGeom prst="rect">
            <a:avLst/>
          </a:prstGeom>
          <a:noFill/>
          <a:ln/>
        </p:spPr>
        <p:txBody>
          <a:bodyPr wrap="square" lIns="0" tIns="0" rIns="0" bIns="0" rtlCol="0" anchor="t"/>
          <a:lstStyle/>
          <a:p>
            <a:pPr marL="0" indent="0">
              <a:buNone/>
            </a:pPr>
            <a:r>
              <a:rPr lang="en-US" sz="1400" b="1" dirty="0">
                <a:solidFill>
                  <a:srgbClr val="071B3F"/>
                </a:solidFill>
                <a:latin typeface="Segoe UI" pitchFamily="34" charset="0"/>
                <a:ea typeface="Segoe UI" pitchFamily="34" charset="-122"/>
                <a:cs typeface="Segoe UI" pitchFamily="34" charset="-120"/>
              </a:rPr>
              <a:t>Práctica guiada</a:t>
            </a:r>
            <a:endParaRPr lang="en-US" sz="1400" dirty="0"/>
          </a:p>
        </p:txBody>
      </p:sp>
      <p:sp>
        <p:nvSpPr>
          <p:cNvPr id="13" name="Shape 11"/>
          <p:cNvSpPr/>
          <p:nvPr/>
        </p:nvSpPr>
        <p:spPr>
          <a:xfrm>
            <a:off x="5806440" y="1591056"/>
            <a:ext cx="292608" cy="292608"/>
          </a:xfrm>
          <a:prstGeom prst="ellipse">
            <a:avLst/>
          </a:prstGeom>
          <a:solidFill>
            <a:srgbClr val="0B4DA2"/>
          </a:solidFill>
          <a:ln w="12700">
            <a:solidFill>
              <a:srgbClr val="0B4DA2"/>
            </a:solidFill>
            <a:prstDash val="solid"/>
          </a:ln>
        </p:spPr>
      </p:sp>
      <p:sp>
        <p:nvSpPr>
          <p:cNvPr id="14" name="Text 12"/>
          <p:cNvSpPr txBox="1"/>
          <p:nvPr/>
        </p:nvSpPr>
        <p:spPr>
          <a:xfrm>
            <a:off x="5806440" y="1591056"/>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Segoe UI" pitchFamily="34" charset="0"/>
                <a:ea typeface="Segoe UI" pitchFamily="34" charset="-122"/>
                <a:cs typeface="Segoe UI" pitchFamily="34" charset="-120"/>
              </a:rPr>
              <a:t>1</a:t>
            </a:r>
            <a:endParaRPr lang="en-US" sz="1000" dirty="0"/>
          </a:p>
        </p:txBody>
      </p:sp>
      <p:sp>
        <p:nvSpPr>
          <p:cNvPr id="15" name="Text 13"/>
          <p:cNvSpPr txBox="1"/>
          <p:nvPr/>
        </p:nvSpPr>
        <p:spPr>
          <a:xfrm>
            <a:off x="6217920" y="1572768"/>
            <a:ext cx="2514600" cy="329184"/>
          </a:xfrm>
          <a:prstGeom prst="rect">
            <a:avLst/>
          </a:prstGeom>
          <a:noFill/>
          <a:ln/>
        </p:spPr>
        <p:txBody>
          <a:bodyPr wrap="square" lIns="0" tIns="0" rIns="0" bIns="0" rtlCol="0" anchor="ctr"/>
          <a:lstStyle/>
          <a:p>
            <a:pPr marL="0" indent="0">
              <a:buNone/>
            </a:pPr>
            <a:r>
              <a:rPr lang="en-US" sz="1100" dirty="0">
                <a:solidFill>
                  <a:srgbClr val="1B2433"/>
                </a:solidFill>
                <a:latin typeface="Calibri" pitchFamily="34" charset="0"/>
                <a:ea typeface="Calibri" pitchFamily="34" charset="-122"/>
                <a:cs typeface="Calibri" pitchFamily="34" charset="-120"/>
              </a:rPr>
              <a:t>Crear proyecto consola .NET</a:t>
            </a:r>
            <a:endParaRPr lang="en-US" sz="1100" dirty="0"/>
          </a:p>
        </p:txBody>
      </p:sp>
      <p:sp>
        <p:nvSpPr>
          <p:cNvPr id="16" name="Shape 14"/>
          <p:cNvSpPr/>
          <p:nvPr/>
        </p:nvSpPr>
        <p:spPr>
          <a:xfrm>
            <a:off x="5806440" y="1984248"/>
            <a:ext cx="292608" cy="292608"/>
          </a:xfrm>
          <a:prstGeom prst="ellipse">
            <a:avLst/>
          </a:prstGeom>
          <a:solidFill>
            <a:srgbClr val="0B4DA2"/>
          </a:solidFill>
          <a:ln w="12700">
            <a:solidFill>
              <a:srgbClr val="0B4DA2"/>
            </a:solidFill>
            <a:prstDash val="solid"/>
          </a:ln>
        </p:spPr>
      </p:sp>
      <p:sp>
        <p:nvSpPr>
          <p:cNvPr id="17" name="Text 15"/>
          <p:cNvSpPr txBox="1"/>
          <p:nvPr/>
        </p:nvSpPr>
        <p:spPr>
          <a:xfrm>
            <a:off x="5806440" y="1984248"/>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Segoe UI" pitchFamily="34" charset="0"/>
                <a:ea typeface="Segoe UI" pitchFamily="34" charset="-122"/>
                <a:cs typeface="Segoe UI" pitchFamily="34" charset="-120"/>
              </a:rPr>
              <a:t>2</a:t>
            </a:r>
            <a:endParaRPr lang="en-US" sz="1000" dirty="0"/>
          </a:p>
        </p:txBody>
      </p:sp>
      <p:sp>
        <p:nvSpPr>
          <p:cNvPr id="18" name="Text 16"/>
          <p:cNvSpPr txBox="1"/>
          <p:nvPr/>
        </p:nvSpPr>
        <p:spPr>
          <a:xfrm>
            <a:off x="6217920" y="1965960"/>
            <a:ext cx="2514600" cy="329184"/>
          </a:xfrm>
          <a:prstGeom prst="rect">
            <a:avLst/>
          </a:prstGeom>
          <a:noFill/>
          <a:ln/>
        </p:spPr>
        <p:txBody>
          <a:bodyPr wrap="square" lIns="0" tIns="0" rIns="0" bIns="0" rtlCol="0" anchor="ctr"/>
          <a:lstStyle/>
          <a:p>
            <a:pPr marL="0" indent="0">
              <a:buNone/>
            </a:pPr>
            <a:r>
              <a:rPr lang="en-US" sz="1100" dirty="0">
                <a:solidFill>
                  <a:srgbClr val="1B2433"/>
                </a:solidFill>
                <a:latin typeface="Calibri" pitchFamily="34" charset="0"/>
                <a:ea typeface="Calibri" pitchFamily="34" charset="-122"/>
                <a:cs typeface="Calibri" pitchFamily="34" charset="-120"/>
              </a:rPr>
              <a:t>Instalar B1SLayer (NuGet)</a:t>
            </a:r>
            <a:endParaRPr lang="en-US" sz="1100" dirty="0"/>
          </a:p>
        </p:txBody>
      </p:sp>
      <p:sp>
        <p:nvSpPr>
          <p:cNvPr id="19" name="Shape 17"/>
          <p:cNvSpPr/>
          <p:nvPr/>
        </p:nvSpPr>
        <p:spPr>
          <a:xfrm>
            <a:off x="5806440" y="2377440"/>
            <a:ext cx="292608" cy="292608"/>
          </a:xfrm>
          <a:prstGeom prst="ellipse">
            <a:avLst/>
          </a:prstGeom>
          <a:solidFill>
            <a:srgbClr val="0B4DA2"/>
          </a:solidFill>
          <a:ln w="12700">
            <a:solidFill>
              <a:srgbClr val="0B4DA2"/>
            </a:solidFill>
            <a:prstDash val="solid"/>
          </a:ln>
        </p:spPr>
      </p:sp>
      <p:sp>
        <p:nvSpPr>
          <p:cNvPr id="20" name="Text 18"/>
          <p:cNvSpPr txBox="1"/>
          <p:nvPr/>
        </p:nvSpPr>
        <p:spPr>
          <a:xfrm>
            <a:off x="5806440" y="2377440"/>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Segoe UI" pitchFamily="34" charset="0"/>
                <a:ea typeface="Segoe UI" pitchFamily="34" charset="-122"/>
                <a:cs typeface="Segoe UI" pitchFamily="34" charset="-120"/>
              </a:rPr>
              <a:t>3</a:t>
            </a:r>
            <a:endParaRPr lang="en-US" sz="1000" dirty="0"/>
          </a:p>
        </p:txBody>
      </p:sp>
      <p:sp>
        <p:nvSpPr>
          <p:cNvPr id="21" name="Text 19"/>
          <p:cNvSpPr txBox="1"/>
          <p:nvPr/>
        </p:nvSpPr>
        <p:spPr>
          <a:xfrm>
            <a:off x="6217920" y="2359152"/>
            <a:ext cx="2514600" cy="329184"/>
          </a:xfrm>
          <a:prstGeom prst="rect">
            <a:avLst/>
          </a:prstGeom>
          <a:noFill/>
          <a:ln/>
        </p:spPr>
        <p:txBody>
          <a:bodyPr wrap="square" lIns="0" tIns="0" rIns="0" bIns="0" rtlCol="0" anchor="ctr"/>
          <a:lstStyle/>
          <a:p>
            <a:pPr marL="0" indent="0">
              <a:buNone/>
            </a:pPr>
            <a:r>
              <a:rPr lang="en-US" sz="1100" dirty="0">
                <a:solidFill>
                  <a:srgbClr val="1B2433"/>
                </a:solidFill>
                <a:latin typeface="Calibri" pitchFamily="34" charset="0"/>
                <a:ea typeface="Calibri" pitchFamily="34" charset="-122"/>
                <a:cs typeface="Calibri" pitchFamily="34" charset="-120"/>
              </a:rPr>
              <a:t>Configurar SLConnection desde appsettings</a:t>
            </a:r>
            <a:endParaRPr lang="en-US" sz="1100" dirty="0"/>
          </a:p>
        </p:txBody>
      </p:sp>
      <p:sp>
        <p:nvSpPr>
          <p:cNvPr id="22" name="Shape 20"/>
          <p:cNvSpPr/>
          <p:nvPr/>
        </p:nvSpPr>
        <p:spPr>
          <a:xfrm>
            <a:off x="5806440" y="2770632"/>
            <a:ext cx="292608" cy="292608"/>
          </a:xfrm>
          <a:prstGeom prst="ellipse">
            <a:avLst/>
          </a:prstGeom>
          <a:solidFill>
            <a:srgbClr val="0B4DA2"/>
          </a:solidFill>
          <a:ln w="12700">
            <a:solidFill>
              <a:srgbClr val="0B4DA2"/>
            </a:solidFill>
            <a:prstDash val="solid"/>
          </a:ln>
        </p:spPr>
      </p:sp>
      <p:sp>
        <p:nvSpPr>
          <p:cNvPr id="23" name="Text 21"/>
          <p:cNvSpPr txBox="1"/>
          <p:nvPr/>
        </p:nvSpPr>
        <p:spPr>
          <a:xfrm>
            <a:off x="5806440" y="2770632"/>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Segoe UI" pitchFamily="34" charset="0"/>
                <a:ea typeface="Segoe UI" pitchFamily="34" charset="-122"/>
                <a:cs typeface="Segoe UI" pitchFamily="34" charset="-120"/>
              </a:rPr>
              <a:t>4</a:t>
            </a:r>
            <a:endParaRPr lang="en-US" sz="1000" dirty="0"/>
          </a:p>
        </p:txBody>
      </p:sp>
      <p:sp>
        <p:nvSpPr>
          <p:cNvPr id="24" name="Text 22"/>
          <p:cNvSpPr txBox="1"/>
          <p:nvPr/>
        </p:nvSpPr>
        <p:spPr>
          <a:xfrm>
            <a:off x="6217920" y="2752344"/>
            <a:ext cx="2514600" cy="329184"/>
          </a:xfrm>
          <a:prstGeom prst="rect">
            <a:avLst/>
          </a:prstGeom>
          <a:noFill/>
          <a:ln/>
        </p:spPr>
        <p:txBody>
          <a:bodyPr wrap="square" lIns="0" tIns="0" rIns="0" bIns="0" rtlCol="0" anchor="ctr"/>
          <a:lstStyle/>
          <a:p>
            <a:pPr marL="0" indent="0">
              <a:buNone/>
            </a:pPr>
            <a:r>
              <a:rPr lang="en-US" sz="1100" dirty="0">
                <a:solidFill>
                  <a:srgbClr val="1B2433"/>
                </a:solidFill>
                <a:latin typeface="Calibri" pitchFamily="34" charset="0"/>
                <a:ea typeface="Calibri" pitchFamily="34" charset="-122"/>
                <a:cs typeface="Calibri" pitchFamily="34" charset="-120"/>
              </a:rPr>
              <a:t>Listar socios con Filter / Select</a:t>
            </a:r>
            <a:endParaRPr lang="en-US" sz="1100" dirty="0"/>
          </a:p>
        </p:txBody>
      </p:sp>
      <p:sp>
        <p:nvSpPr>
          <p:cNvPr id="25" name="Shape 23"/>
          <p:cNvSpPr/>
          <p:nvPr/>
        </p:nvSpPr>
        <p:spPr>
          <a:xfrm>
            <a:off x="5806440" y="3163824"/>
            <a:ext cx="292608" cy="292608"/>
          </a:xfrm>
          <a:prstGeom prst="ellipse">
            <a:avLst/>
          </a:prstGeom>
          <a:solidFill>
            <a:srgbClr val="0B4DA2"/>
          </a:solidFill>
          <a:ln w="12700">
            <a:solidFill>
              <a:srgbClr val="0B4DA2"/>
            </a:solidFill>
            <a:prstDash val="solid"/>
          </a:ln>
        </p:spPr>
      </p:sp>
      <p:sp>
        <p:nvSpPr>
          <p:cNvPr id="26" name="Text 24"/>
          <p:cNvSpPr txBox="1"/>
          <p:nvPr/>
        </p:nvSpPr>
        <p:spPr>
          <a:xfrm>
            <a:off x="5806440" y="3163824"/>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Segoe UI" pitchFamily="34" charset="0"/>
                <a:ea typeface="Segoe UI" pitchFamily="34" charset="-122"/>
                <a:cs typeface="Segoe UI" pitchFamily="34" charset="-120"/>
              </a:rPr>
              <a:t>5</a:t>
            </a:r>
            <a:endParaRPr lang="en-US" sz="1000" dirty="0"/>
          </a:p>
        </p:txBody>
      </p:sp>
      <p:sp>
        <p:nvSpPr>
          <p:cNvPr id="27" name="Text 25"/>
          <p:cNvSpPr txBox="1"/>
          <p:nvPr/>
        </p:nvSpPr>
        <p:spPr>
          <a:xfrm>
            <a:off x="6217920" y="3145536"/>
            <a:ext cx="2514600" cy="329184"/>
          </a:xfrm>
          <a:prstGeom prst="rect">
            <a:avLst/>
          </a:prstGeom>
          <a:noFill/>
          <a:ln/>
        </p:spPr>
        <p:txBody>
          <a:bodyPr wrap="square" lIns="0" tIns="0" rIns="0" bIns="0" rtlCol="0" anchor="ctr"/>
          <a:lstStyle/>
          <a:p>
            <a:pPr marL="0" indent="0">
              <a:buNone/>
            </a:pPr>
            <a:r>
              <a:rPr lang="en-US" sz="1100" dirty="0">
                <a:solidFill>
                  <a:srgbClr val="1B2433"/>
                </a:solidFill>
                <a:latin typeface="Calibri" pitchFamily="34" charset="0"/>
                <a:ea typeface="Calibri" pitchFamily="34" charset="-122"/>
                <a:cs typeface="Calibri" pitchFamily="34" charset="-120"/>
              </a:rPr>
              <a:t>Crear un pedido con PostAsync</a:t>
            </a:r>
            <a:endParaRPr lang="en-US" sz="1100" dirty="0"/>
          </a:p>
        </p:txBody>
      </p:sp>
      <p:sp>
        <p:nvSpPr>
          <p:cNvPr id="28" name="Shape 26"/>
          <p:cNvSpPr/>
          <p:nvPr/>
        </p:nvSpPr>
        <p:spPr>
          <a:xfrm>
            <a:off x="5806440" y="3557016"/>
            <a:ext cx="292608" cy="292608"/>
          </a:xfrm>
          <a:prstGeom prst="ellipse">
            <a:avLst/>
          </a:prstGeom>
          <a:solidFill>
            <a:srgbClr val="0B4DA2"/>
          </a:solidFill>
          <a:ln w="12700">
            <a:solidFill>
              <a:srgbClr val="0B4DA2"/>
            </a:solidFill>
            <a:prstDash val="solid"/>
          </a:ln>
        </p:spPr>
      </p:sp>
      <p:sp>
        <p:nvSpPr>
          <p:cNvPr id="29" name="Text 27"/>
          <p:cNvSpPr txBox="1"/>
          <p:nvPr/>
        </p:nvSpPr>
        <p:spPr>
          <a:xfrm>
            <a:off x="5806440" y="3557016"/>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Segoe UI" pitchFamily="34" charset="0"/>
                <a:ea typeface="Segoe UI" pitchFamily="34" charset="-122"/>
                <a:cs typeface="Segoe UI" pitchFamily="34" charset="-120"/>
              </a:rPr>
              <a:t>6</a:t>
            </a:r>
            <a:endParaRPr lang="en-US" sz="1000" dirty="0"/>
          </a:p>
        </p:txBody>
      </p:sp>
      <p:sp>
        <p:nvSpPr>
          <p:cNvPr id="30" name="Text 28"/>
          <p:cNvSpPr txBox="1"/>
          <p:nvPr/>
        </p:nvSpPr>
        <p:spPr>
          <a:xfrm>
            <a:off x="6217920" y="3538728"/>
            <a:ext cx="2514600" cy="329184"/>
          </a:xfrm>
          <a:prstGeom prst="rect">
            <a:avLst/>
          </a:prstGeom>
          <a:noFill/>
          <a:ln/>
        </p:spPr>
        <p:txBody>
          <a:bodyPr wrap="square" lIns="0" tIns="0" rIns="0" bIns="0" rtlCol="0" anchor="ctr"/>
          <a:lstStyle/>
          <a:p>
            <a:pPr marL="0" indent="0">
              <a:buNone/>
            </a:pPr>
            <a:r>
              <a:rPr lang="en-US" sz="1100" dirty="0">
                <a:solidFill>
                  <a:srgbClr val="1B2433"/>
                </a:solidFill>
                <a:latin typeface="Calibri" pitchFamily="34" charset="0"/>
                <a:ea typeface="Calibri" pitchFamily="34" charset="-122"/>
                <a:cs typeface="Calibri" pitchFamily="34" charset="-120"/>
              </a:rPr>
              <a:t>Actualizar con PatchAsync</a:t>
            </a:r>
            <a:endParaRPr lang="en-US" sz="1100" dirty="0"/>
          </a:p>
        </p:txBody>
      </p:sp>
      <p:sp>
        <p:nvSpPr>
          <p:cNvPr id="31" name="Shape 29"/>
          <p:cNvSpPr/>
          <p:nvPr/>
        </p:nvSpPr>
        <p:spPr>
          <a:xfrm>
            <a:off x="5806440" y="3950208"/>
            <a:ext cx="292608" cy="292608"/>
          </a:xfrm>
          <a:prstGeom prst="ellipse">
            <a:avLst/>
          </a:prstGeom>
          <a:solidFill>
            <a:srgbClr val="0B4DA2"/>
          </a:solidFill>
          <a:ln w="12700">
            <a:solidFill>
              <a:srgbClr val="0B4DA2"/>
            </a:solidFill>
            <a:prstDash val="solid"/>
          </a:ln>
        </p:spPr>
      </p:sp>
      <p:sp>
        <p:nvSpPr>
          <p:cNvPr id="32" name="Text 30"/>
          <p:cNvSpPr txBox="1"/>
          <p:nvPr/>
        </p:nvSpPr>
        <p:spPr>
          <a:xfrm>
            <a:off x="5806440" y="3950208"/>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Segoe UI" pitchFamily="34" charset="0"/>
                <a:ea typeface="Segoe UI" pitchFamily="34" charset="-122"/>
                <a:cs typeface="Segoe UI" pitchFamily="34" charset="-120"/>
              </a:rPr>
              <a:t>7</a:t>
            </a:r>
            <a:endParaRPr lang="en-US" sz="1000" dirty="0"/>
          </a:p>
        </p:txBody>
      </p:sp>
      <p:sp>
        <p:nvSpPr>
          <p:cNvPr id="33" name="Text 31"/>
          <p:cNvSpPr txBox="1"/>
          <p:nvPr/>
        </p:nvSpPr>
        <p:spPr>
          <a:xfrm>
            <a:off x="6217920" y="3931920"/>
            <a:ext cx="2514600" cy="329184"/>
          </a:xfrm>
          <a:prstGeom prst="rect">
            <a:avLst/>
          </a:prstGeom>
          <a:noFill/>
          <a:ln/>
        </p:spPr>
        <p:txBody>
          <a:bodyPr wrap="square" lIns="0" tIns="0" rIns="0" bIns="0" rtlCol="0" anchor="ctr"/>
          <a:lstStyle/>
          <a:p>
            <a:pPr marL="0" indent="0">
              <a:buNone/>
            </a:pPr>
            <a:r>
              <a:rPr lang="en-US" sz="1100" dirty="0">
                <a:solidFill>
                  <a:srgbClr val="1B2433"/>
                </a:solidFill>
                <a:latin typeface="Calibri" pitchFamily="34" charset="0"/>
                <a:ea typeface="Calibri" pitchFamily="34" charset="-122"/>
                <a:cs typeface="Calibri" pitchFamily="34" charset="-120"/>
              </a:rPr>
              <a:t>Batch: socio + pedido</a:t>
            </a:r>
            <a:endParaRPr lang="en-US" sz="1100" dirty="0"/>
          </a:p>
        </p:txBody>
      </p:sp>
      <p:sp>
        <p:nvSpPr>
          <p:cNvPr id="34" name="Shape 32"/>
          <p:cNvSpPr/>
          <p:nvPr/>
        </p:nvSpPr>
        <p:spPr>
          <a:xfrm>
            <a:off x="5806440" y="4343400"/>
            <a:ext cx="292608" cy="292608"/>
          </a:xfrm>
          <a:prstGeom prst="ellipse">
            <a:avLst/>
          </a:prstGeom>
          <a:solidFill>
            <a:srgbClr val="0B4DA2"/>
          </a:solidFill>
          <a:ln w="12700">
            <a:solidFill>
              <a:srgbClr val="0B4DA2"/>
            </a:solidFill>
            <a:prstDash val="solid"/>
          </a:ln>
        </p:spPr>
      </p:sp>
      <p:sp>
        <p:nvSpPr>
          <p:cNvPr id="35" name="Text 33"/>
          <p:cNvSpPr txBox="1"/>
          <p:nvPr/>
        </p:nvSpPr>
        <p:spPr>
          <a:xfrm>
            <a:off x="5806440" y="4343400"/>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Segoe UI" pitchFamily="34" charset="0"/>
                <a:ea typeface="Segoe UI" pitchFamily="34" charset="-122"/>
                <a:cs typeface="Segoe UI" pitchFamily="34" charset="-120"/>
              </a:rPr>
              <a:t>8</a:t>
            </a:r>
            <a:endParaRPr lang="en-US" sz="1000" dirty="0"/>
          </a:p>
        </p:txBody>
      </p:sp>
      <p:sp>
        <p:nvSpPr>
          <p:cNvPr id="36" name="Text 34"/>
          <p:cNvSpPr txBox="1"/>
          <p:nvPr/>
        </p:nvSpPr>
        <p:spPr>
          <a:xfrm>
            <a:off x="6217920" y="4325112"/>
            <a:ext cx="2514600" cy="329184"/>
          </a:xfrm>
          <a:prstGeom prst="rect">
            <a:avLst/>
          </a:prstGeom>
          <a:noFill/>
          <a:ln/>
        </p:spPr>
        <p:txBody>
          <a:bodyPr wrap="square" lIns="0" tIns="0" rIns="0" bIns="0" rtlCol="0" anchor="ctr"/>
          <a:lstStyle/>
          <a:p>
            <a:pPr marL="0" indent="0">
              <a:buNone/>
            </a:pPr>
            <a:r>
              <a:rPr lang="en-US" sz="1100" dirty="0">
                <a:solidFill>
                  <a:srgbClr val="1B2433"/>
                </a:solidFill>
                <a:latin typeface="Calibri" pitchFamily="34" charset="0"/>
                <a:ea typeface="Calibri" pitchFamily="34" charset="-122"/>
                <a:cs typeface="Calibri" pitchFamily="34" charset="-120"/>
              </a:rPr>
              <a:t>Manejo de errores y Logout</a:t>
            </a:r>
            <a:endParaRPr lang="en-US" sz="1100" dirty="0"/>
          </a:p>
        </p:txBody>
      </p:sp>
      <p:sp>
        <p:nvSpPr>
          <p:cNvPr id="37"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xmlns="" val="0"/>
            </a:ext>
          </a:extLst>
        </p:spPr>
        <p:txBody>
          <a:bodyPr/>
          <a:lstStyle>
            <a:lvl1pPr>
              <a:defRPr sz="800">
                <a:solidFill>
                  <a:srgbClr val="8A9AB0"/>
                </a:solidFill>
                <a:latin typeface="Calibri"/>
                <a:ea typeface="Calibri"/>
                <a:cs typeface="Calibri"/>
              </a:defRPr>
            </a:lvl1pPr>
          </a:lstStyle>
          <a:p>
            <a:pPr algn="r"/>
            <a:fld id="{F7021451-1387-4CA6-816F-3879F97B5CBC}" type="slidenum">
              <a:rPr lang="en-US" b="0"/>
              <a:t>40</a:t>
            </a:fld>
            <a:endParaRPr lang="en-US"/>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name="Slide 4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1097280"/>
            <a:ext cx="2743200" cy="1280160"/>
          </a:xfrm>
          <a:prstGeom prst="rect">
            <a:avLst/>
          </a:prstGeom>
          <a:noFill/>
          <a:ln/>
        </p:spPr>
        <p:txBody>
          <a:bodyPr wrap="square" lIns="0" tIns="0" rIns="0" bIns="0" rtlCol="0" anchor="t"/>
          <a:lstStyle/>
          <a:p>
            <a:pPr marL="0" indent="0">
              <a:buNone/>
            </a:pPr>
            <a:r>
              <a:rPr lang="en-US" sz="8800" b="1" dirty="0">
                <a:solidFill>
                  <a:srgbClr val="F5A800"/>
                </a:solidFill>
                <a:latin typeface="Segoe UI" pitchFamily="34" charset="0"/>
                <a:ea typeface="Segoe UI" pitchFamily="34" charset="-122"/>
                <a:cs typeface="Segoe UI" pitchFamily="34" charset="-120"/>
              </a:rPr>
              <a:t>07</a:t>
            </a:r>
            <a:endParaRPr lang="en-US" sz="8800" dirty="0"/>
          </a:p>
        </p:txBody>
      </p:sp>
      <p:sp>
        <p:nvSpPr>
          <p:cNvPr id="3" name="Text 1"/>
          <p:cNvSpPr txBox="1"/>
          <p:nvPr/>
        </p:nvSpPr>
        <p:spPr>
          <a:xfrm>
            <a:off x="685800" y="914400"/>
            <a:ext cx="2743200" cy="274320"/>
          </a:xfrm>
          <a:prstGeom prst="rect">
            <a:avLst/>
          </a:prstGeom>
          <a:noFill/>
          <a:ln/>
        </p:spPr>
        <p:txBody>
          <a:bodyPr wrap="square" lIns="0" tIns="0" rIns="0" bIns="0" rtlCol="0" anchor="t"/>
          <a:lstStyle/>
          <a:p>
            <a:pPr marL="0" indent="0">
              <a:buNone/>
            </a:pPr>
            <a:r>
              <a:rPr lang="en-US" sz="1100" b="1" kern="0" spc="400" dirty="0">
                <a:solidFill>
                  <a:srgbClr val="29B6F6"/>
                </a:solidFill>
                <a:latin typeface="Segoe UI" pitchFamily="34" charset="0"/>
                <a:ea typeface="Segoe UI" pitchFamily="34" charset="-122"/>
                <a:cs typeface="Segoe UI" pitchFamily="34" charset="-120"/>
              </a:rPr>
              <a:t>CAPÍTULO</a:t>
            </a:r>
            <a:endParaRPr lang="en-US" sz="1100" dirty="0"/>
          </a:p>
        </p:txBody>
      </p:sp>
      <p:sp>
        <p:nvSpPr>
          <p:cNvPr id="4" name="Text 2"/>
          <p:cNvSpPr txBox="1"/>
          <p:nvPr/>
        </p:nvSpPr>
        <p:spPr>
          <a:xfrm>
            <a:off x="640080" y="2423160"/>
            <a:ext cx="7772400" cy="731520"/>
          </a:xfrm>
          <a:prstGeom prst="rect">
            <a:avLst/>
          </a:prstGeom>
          <a:noFill/>
          <a:ln/>
        </p:spPr>
        <p:txBody>
          <a:bodyPr wrap="square" lIns="0" tIns="0" rIns="0" bIns="0" rtlCol="0" anchor="t"/>
          <a:lstStyle/>
          <a:p>
            <a:pPr marL="0" indent="0">
              <a:buNone/>
            </a:pPr>
            <a:r>
              <a:rPr lang="en-US" sz="3400" b="1" dirty="0">
                <a:solidFill>
                  <a:srgbClr val="FFFFFF"/>
                </a:solidFill>
                <a:latin typeface="Segoe UI" pitchFamily="34" charset="0"/>
                <a:ea typeface="Segoe UI" pitchFamily="34" charset="-122"/>
                <a:cs typeface="Segoe UI" pitchFamily="34" charset="-120"/>
              </a:rPr>
              <a:t>Add-on con SSO</a:t>
            </a:r>
            <a:endParaRPr lang="en-US" sz="3400" dirty="0"/>
          </a:p>
        </p:txBody>
      </p:sp>
      <p:sp>
        <p:nvSpPr>
          <p:cNvPr id="5" name="Text 3"/>
          <p:cNvSpPr txBox="1"/>
          <p:nvPr/>
        </p:nvSpPr>
        <p:spPr>
          <a:xfrm>
            <a:off x="658368" y="3200400"/>
            <a:ext cx="7772400" cy="548640"/>
          </a:xfrm>
          <a:prstGeom prst="rect">
            <a:avLst/>
          </a:prstGeom>
          <a:noFill/>
          <a:ln/>
        </p:spPr>
        <p:txBody>
          <a:bodyPr wrap="square" lIns="0" tIns="0" rIns="0" bIns="0" rtlCol="0" anchor="t"/>
          <a:lstStyle/>
          <a:p>
            <a:pPr marL="0" indent="0">
              <a:buNone/>
            </a:pPr>
            <a:r>
              <a:rPr lang="en-US" sz="1400" dirty="0">
                <a:solidFill>
                  <a:srgbClr val="B9D3F0"/>
                </a:solidFill>
                <a:latin typeface="Calibri" pitchFamily="34" charset="0"/>
                <a:ea typeface="Calibri" pitchFamily="34" charset="-122"/>
                <a:cs typeface="Calibri" pitchFamily="34" charset="-120"/>
              </a:rPr>
              <a:t>UI API   •   Contexto de conexión   •   Cookies de sesión   •   Buenas prácticas</a:t>
            </a:r>
            <a:endParaRPr lang="en-US" sz="1400" dirty="0"/>
          </a:p>
        </p:txBody>
      </p:sp>
      <p:sp>
        <p:nvSpPr>
          <p:cNvPr id="6" name="Text 4"/>
          <p:cNvSpPr txBox="1"/>
          <p:nvPr/>
        </p:nvSpPr>
        <p:spPr>
          <a:xfrm>
            <a:off x="658368" y="4709160"/>
            <a:ext cx="4572000" cy="228600"/>
          </a:xfrm>
          <a:prstGeom prst="rect">
            <a:avLst/>
          </a:prstGeom>
          <a:noFill/>
          <a:ln/>
        </p:spPr>
        <p:txBody>
          <a:bodyPr wrap="square" lIns="0" tIns="0" rIns="0" bIns="0" rtlCol="0" anchor="t"/>
          <a:lstStyle/>
          <a:p>
            <a:pPr marL="0" indent="0">
              <a:buNone/>
            </a:pPr>
            <a:r>
              <a:rPr lang="en-US" sz="900" dirty="0">
                <a:solidFill>
                  <a:srgbClr val="8FB0D6"/>
                </a:solidFill>
                <a:latin typeface="Calibri" pitchFamily="34" charset="0"/>
                <a:ea typeface="Calibri" pitchFamily="34" charset="-122"/>
                <a:cs typeface="Calibri" pitchFamily="34" charset="-120"/>
              </a:rPr>
              <a:t>Ventura Soluciones  |  Capacitación técnica</a:t>
            </a:r>
            <a:endParaRPr lang="en-US" sz="900"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457200" y="256032"/>
            <a:ext cx="1720901" cy="237744"/>
          </a:xfrm>
          <a:prstGeom prst="roundRect">
            <a:avLst>
              <a:gd name="adj" fmla="val 50000"/>
            </a:avLst>
          </a:prstGeom>
          <a:solidFill>
            <a:srgbClr val="071B3F"/>
          </a:solidFill>
          <a:ln w="12700">
            <a:solidFill>
              <a:srgbClr val="071B3F"/>
            </a:solidFill>
            <a:prstDash val="solid"/>
          </a:ln>
        </p:spPr>
      </p:sp>
      <p:sp>
        <p:nvSpPr>
          <p:cNvPr id="3" name="Text 1"/>
          <p:cNvSpPr txBox="1"/>
          <p:nvPr/>
        </p:nvSpPr>
        <p:spPr>
          <a:xfrm>
            <a:off x="457200" y="256032"/>
            <a:ext cx="1720901" cy="237744"/>
          </a:xfrm>
          <a:prstGeom prst="rect">
            <a:avLst/>
          </a:prstGeom>
          <a:noFill/>
          <a:ln/>
        </p:spPr>
        <p:txBody>
          <a:bodyPr wrap="square" lIns="0" tIns="0" rIns="0" bIns="0" rtlCol="0" anchor="ctr"/>
          <a:lstStyle/>
          <a:p>
            <a:pPr marL="0" indent="0" algn="ctr">
              <a:buNone/>
            </a:pPr>
            <a:r>
              <a:rPr lang="en-US" sz="850" b="1" kern="0" spc="100" dirty="0">
                <a:solidFill>
                  <a:srgbClr val="F5A800"/>
                </a:solidFill>
                <a:latin typeface="Segoe UI" pitchFamily="34" charset="0"/>
                <a:ea typeface="Segoe UI" pitchFamily="34" charset="-122"/>
                <a:cs typeface="Segoe UI" pitchFamily="34" charset="-120"/>
              </a:rPr>
              <a:t>07  ·  ADD-ON + SSO</a:t>
            </a:r>
            <a:endParaRPr lang="en-US" sz="850" dirty="0"/>
          </a:p>
        </p:txBody>
      </p:sp>
      <p:sp>
        <p:nvSpPr>
          <p:cNvPr id="4" name="Text 2"/>
          <p:cNvSpPr txBox="1"/>
          <p:nvPr/>
        </p:nvSpPr>
        <p:spPr>
          <a:xfrm>
            <a:off x="457200" y="566928"/>
            <a:ext cx="8229600" cy="502920"/>
          </a:xfrm>
          <a:prstGeom prst="rect">
            <a:avLst/>
          </a:prstGeom>
          <a:noFill/>
          <a:ln/>
        </p:spPr>
        <p:txBody>
          <a:bodyPr wrap="square" lIns="0" tIns="0" rIns="0" bIns="0" rtlCol="0" anchor="ctr"/>
          <a:lstStyle/>
          <a:p>
            <a:pPr marL="0" indent="0">
              <a:buNone/>
            </a:pPr>
            <a:r>
              <a:rPr lang="en-US" sz="2400" b="1" dirty="0">
                <a:solidFill>
                  <a:srgbClr val="071B3F"/>
                </a:solidFill>
                <a:latin typeface="Segoe UI" pitchFamily="34" charset="0"/>
                <a:ea typeface="Segoe UI" pitchFamily="34" charset="-122"/>
                <a:cs typeface="Segoe UI" pitchFamily="34" charset="-120"/>
              </a:rPr>
              <a:t>Flujo de conexión SSO</a:t>
            </a:r>
            <a:endParaRPr lang="en-US" sz="2400" dirty="0"/>
          </a:p>
        </p:txBody>
      </p:sp>
      <p:sp>
        <p:nvSpPr>
          <p:cNvPr id="5" name="Text 3"/>
          <p:cNvSpPr txBox="1"/>
          <p:nvPr/>
        </p:nvSpPr>
        <p:spPr>
          <a:xfrm>
            <a:off x="457200" y="1051560"/>
            <a:ext cx="8229600" cy="274320"/>
          </a:xfrm>
          <a:prstGeom prst="rect">
            <a:avLst/>
          </a:prstGeom>
          <a:noFill/>
          <a:ln/>
        </p:spPr>
        <p:txBody>
          <a:bodyPr wrap="square" lIns="0" tIns="0" rIns="0" bIns="0" rtlCol="0" anchor="ctr"/>
          <a:lstStyle/>
          <a:p>
            <a:pPr marL="0" indent="0">
              <a:buNone/>
            </a:pPr>
            <a:r>
              <a:rPr lang="en-US" sz="1250" dirty="0">
                <a:solidFill>
                  <a:srgbClr val="5B6B82"/>
                </a:solidFill>
                <a:latin typeface="Calibri" pitchFamily="34" charset="0"/>
                <a:ea typeface="Calibri" pitchFamily="34" charset="-122"/>
                <a:cs typeface="Calibri" pitchFamily="34" charset="-120"/>
              </a:rPr>
              <a:t>El add-on reutiliza la sesión del usuario ya logueado en el cliente SAP B1</a:t>
            </a:r>
            <a:endParaRPr lang="en-US" sz="1250" dirty="0"/>
          </a:p>
        </p:txBody>
      </p:sp>
      <p:sp>
        <p:nvSpPr>
          <p:cNvPr id="6" name="Text 4"/>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00" dirty="0">
                <a:solidFill>
                  <a:srgbClr val="8A9AB0"/>
                </a:solidFill>
                <a:latin typeface="Calibri" pitchFamily="34" charset="0"/>
                <a:ea typeface="Calibri" pitchFamily="34" charset="-122"/>
                <a:cs typeface="Calibri" pitchFamily="34" charset="-120"/>
              </a:rPr>
              <a:t>Ventura Soluciones  |  SAP Business One · Service Layer</a:t>
            </a:r>
            <a:endParaRPr lang="en-US" sz="800" dirty="0"/>
          </a:p>
        </p:txBody>
      </p:sp>
      <p:sp>
        <p:nvSpPr>
          <p:cNvPr id="7" name="Shape 5"/>
          <p:cNvSpPr/>
          <p:nvPr/>
        </p:nvSpPr>
        <p:spPr>
          <a:xfrm>
            <a:off x="457200" y="1463040"/>
            <a:ext cx="1517904" cy="1828800"/>
          </a:xfrm>
          <a:prstGeom prst="roundRect">
            <a:avLst>
              <a:gd name="adj" fmla="val 4819"/>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8" name="Shape 6"/>
          <p:cNvSpPr/>
          <p:nvPr/>
        </p:nvSpPr>
        <p:spPr>
          <a:xfrm>
            <a:off x="941832" y="1627632"/>
            <a:ext cx="548640" cy="548640"/>
          </a:xfrm>
          <a:prstGeom prst="ellipse">
            <a:avLst/>
          </a:prstGeom>
          <a:solidFill>
            <a:srgbClr val="0B4DA2"/>
          </a:solidFill>
          <a:ln w="12700">
            <a:solidFill>
              <a:srgbClr val="0B4DA2"/>
            </a:solidFill>
            <a:prstDash val="solid"/>
          </a:ln>
        </p:spPr>
      </p:sp>
      <p:pic>
        <p:nvPicPr>
          <p:cNvPr id="9" name="Image 0" descr="preencoded.png"/>
          <p:cNvPicPr>
            <a:picLocks noChangeAspect="1"/>
          </p:cNvPicPr>
          <p:nvPr/>
        </p:nvPicPr>
        <p:blipFill>
          <a:blip r:embed="rId3"/>
          <a:stretch>
            <a:fillRect/>
          </a:stretch>
        </p:blipFill>
        <p:spPr>
          <a:xfrm>
            <a:off x="1084478" y="1770278"/>
            <a:ext cx="263347" cy="263347"/>
          </a:xfrm>
          <a:prstGeom prst="rect">
            <a:avLst/>
          </a:prstGeom>
        </p:spPr>
      </p:pic>
      <p:sp>
        <p:nvSpPr>
          <p:cNvPr id="10" name="Text 7"/>
          <p:cNvSpPr txBox="1"/>
          <p:nvPr/>
        </p:nvSpPr>
        <p:spPr>
          <a:xfrm>
            <a:off x="530352" y="2267712"/>
            <a:ext cx="1371600" cy="274320"/>
          </a:xfrm>
          <a:prstGeom prst="rect">
            <a:avLst/>
          </a:prstGeom>
          <a:noFill/>
          <a:ln/>
        </p:spPr>
        <p:txBody>
          <a:bodyPr wrap="square" lIns="0" tIns="0" rIns="0" bIns="0" rtlCol="0" anchor="t"/>
          <a:lstStyle/>
          <a:p>
            <a:pPr marL="0" indent="0" algn="ctr">
              <a:buNone/>
            </a:pPr>
            <a:r>
              <a:rPr lang="en-US" sz="1100" b="1" dirty="0">
                <a:solidFill>
                  <a:srgbClr val="071B3F"/>
                </a:solidFill>
                <a:latin typeface="Segoe UI" pitchFamily="34" charset="0"/>
                <a:ea typeface="Segoe UI" pitchFamily="34" charset="-122"/>
                <a:cs typeface="Segoe UI" pitchFamily="34" charset="-120"/>
              </a:rPr>
              <a:t>Usuario B1</a:t>
            </a:r>
            <a:endParaRPr lang="en-US" sz="1100" dirty="0"/>
          </a:p>
        </p:txBody>
      </p:sp>
      <p:sp>
        <p:nvSpPr>
          <p:cNvPr id="11" name="Text 8"/>
          <p:cNvSpPr txBox="1"/>
          <p:nvPr/>
        </p:nvSpPr>
        <p:spPr>
          <a:xfrm>
            <a:off x="548640" y="2560320"/>
            <a:ext cx="1335024" cy="640080"/>
          </a:xfrm>
          <a:prstGeom prst="rect">
            <a:avLst/>
          </a:prstGeom>
          <a:noFill/>
          <a:ln/>
        </p:spPr>
        <p:txBody>
          <a:bodyPr wrap="square" lIns="0" tIns="0" rIns="0" bIns="0" rtlCol="0" anchor="t"/>
          <a:lstStyle/>
          <a:p>
            <a:pPr marL="0" indent="0" algn="ctr">
              <a:buNone/>
            </a:pPr>
            <a:r>
              <a:rPr lang="en-US" sz="950" dirty="0">
                <a:solidFill>
                  <a:srgbClr val="5B6B82"/>
                </a:solidFill>
                <a:latin typeface="Calibri" pitchFamily="34" charset="0"/>
                <a:ea typeface="Calibri" pitchFamily="34" charset="-122"/>
                <a:cs typeface="Calibri" pitchFamily="34" charset="-120"/>
              </a:rPr>
              <a:t>Inicia sesión en el cliente de escritorio.</a:t>
            </a:r>
            <a:endParaRPr lang="en-US" sz="950" dirty="0"/>
          </a:p>
        </p:txBody>
      </p:sp>
      <p:sp>
        <p:nvSpPr>
          <p:cNvPr id="12" name="Shape 9"/>
          <p:cNvSpPr/>
          <p:nvPr/>
        </p:nvSpPr>
        <p:spPr>
          <a:xfrm>
            <a:off x="1993392" y="2377440"/>
            <a:ext cx="128016" cy="0"/>
          </a:xfrm>
          <a:prstGeom prst="line">
            <a:avLst/>
          </a:prstGeom>
          <a:noFill/>
          <a:ln w="22225">
            <a:solidFill>
              <a:srgbClr val="0B4DA2"/>
            </a:solidFill>
            <a:prstDash val="solid"/>
            <a:tailEnd type="triangle"/>
          </a:ln>
        </p:spPr>
      </p:sp>
      <p:sp>
        <p:nvSpPr>
          <p:cNvPr id="13" name="Shape 10"/>
          <p:cNvSpPr/>
          <p:nvPr/>
        </p:nvSpPr>
        <p:spPr>
          <a:xfrm>
            <a:off x="2139696" y="1463040"/>
            <a:ext cx="1517904" cy="1828800"/>
          </a:xfrm>
          <a:prstGeom prst="roundRect">
            <a:avLst>
              <a:gd name="adj" fmla="val 4819"/>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14" name="Shape 11"/>
          <p:cNvSpPr/>
          <p:nvPr/>
        </p:nvSpPr>
        <p:spPr>
          <a:xfrm>
            <a:off x="2624328" y="1627632"/>
            <a:ext cx="548640" cy="548640"/>
          </a:xfrm>
          <a:prstGeom prst="ellipse">
            <a:avLst/>
          </a:prstGeom>
          <a:solidFill>
            <a:srgbClr val="0B4DA2"/>
          </a:solidFill>
          <a:ln w="12700">
            <a:solidFill>
              <a:srgbClr val="0B4DA2"/>
            </a:solidFill>
            <a:prstDash val="solid"/>
          </a:ln>
        </p:spPr>
      </p:sp>
      <p:pic>
        <p:nvPicPr>
          <p:cNvPr id="15" name="Image 1" descr="preencoded.png"/>
          <p:cNvPicPr>
            <a:picLocks noChangeAspect="1"/>
          </p:cNvPicPr>
          <p:nvPr/>
        </p:nvPicPr>
        <p:blipFill>
          <a:blip r:embed="rId4"/>
          <a:stretch>
            <a:fillRect/>
          </a:stretch>
        </p:blipFill>
        <p:spPr>
          <a:xfrm>
            <a:off x="2766974" y="1770278"/>
            <a:ext cx="263347" cy="263347"/>
          </a:xfrm>
          <a:prstGeom prst="rect">
            <a:avLst/>
          </a:prstGeom>
        </p:spPr>
      </p:pic>
      <p:sp>
        <p:nvSpPr>
          <p:cNvPr id="16" name="Text 12"/>
          <p:cNvSpPr txBox="1"/>
          <p:nvPr/>
        </p:nvSpPr>
        <p:spPr>
          <a:xfrm>
            <a:off x="2212848" y="2267712"/>
            <a:ext cx="1371600" cy="274320"/>
          </a:xfrm>
          <a:prstGeom prst="rect">
            <a:avLst/>
          </a:prstGeom>
          <a:noFill/>
          <a:ln/>
        </p:spPr>
        <p:txBody>
          <a:bodyPr wrap="square" lIns="0" tIns="0" rIns="0" bIns="0" rtlCol="0" anchor="t"/>
          <a:lstStyle/>
          <a:p>
            <a:pPr marL="0" indent="0" algn="ctr">
              <a:buNone/>
            </a:pPr>
            <a:r>
              <a:rPr lang="en-US" sz="1100" b="1" dirty="0">
                <a:solidFill>
                  <a:srgbClr val="071B3F"/>
                </a:solidFill>
                <a:latin typeface="Segoe UI" pitchFamily="34" charset="0"/>
                <a:ea typeface="Segoe UI" pitchFamily="34" charset="-122"/>
                <a:cs typeface="Segoe UI" pitchFamily="34" charset="-120"/>
              </a:rPr>
              <a:t>Add-on (UI API)</a:t>
            </a:r>
            <a:endParaRPr lang="en-US" sz="1100" dirty="0"/>
          </a:p>
        </p:txBody>
      </p:sp>
      <p:sp>
        <p:nvSpPr>
          <p:cNvPr id="17" name="Text 13"/>
          <p:cNvSpPr txBox="1"/>
          <p:nvPr/>
        </p:nvSpPr>
        <p:spPr>
          <a:xfrm>
            <a:off x="2231136" y="2560320"/>
            <a:ext cx="1335024" cy="640080"/>
          </a:xfrm>
          <a:prstGeom prst="rect">
            <a:avLst/>
          </a:prstGeom>
          <a:noFill/>
          <a:ln/>
        </p:spPr>
        <p:txBody>
          <a:bodyPr wrap="square" lIns="0" tIns="0" rIns="0" bIns="0" rtlCol="0" anchor="t"/>
          <a:lstStyle/>
          <a:p>
            <a:pPr marL="0" indent="0" algn="ctr">
              <a:buNone/>
            </a:pPr>
            <a:r>
              <a:rPr lang="en-US" sz="950" dirty="0">
                <a:solidFill>
                  <a:srgbClr val="5B6B82"/>
                </a:solidFill>
                <a:latin typeface="Calibri" pitchFamily="34" charset="0"/>
                <a:ea typeface="Calibri" pitchFamily="34" charset="-122"/>
                <a:cs typeface="Calibri" pitchFamily="34" charset="-120"/>
              </a:rPr>
              <a:t>Se conecta a la aplicación SBO en ejecución.</a:t>
            </a:r>
            <a:endParaRPr lang="en-US" sz="950" dirty="0"/>
          </a:p>
        </p:txBody>
      </p:sp>
      <p:sp>
        <p:nvSpPr>
          <p:cNvPr id="18" name="Shape 14"/>
          <p:cNvSpPr/>
          <p:nvPr/>
        </p:nvSpPr>
        <p:spPr>
          <a:xfrm>
            <a:off x="3675888" y="2377440"/>
            <a:ext cx="128016" cy="0"/>
          </a:xfrm>
          <a:prstGeom prst="line">
            <a:avLst/>
          </a:prstGeom>
          <a:noFill/>
          <a:ln w="22225">
            <a:solidFill>
              <a:srgbClr val="0B4DA2"/>
            </a:solidFill>
            <a:prstDash val="solid"/>
            <a:tailEnd type="triangle"/>
          </a:ln>
        </p:spPr>
      </p:sp>
      <p:sp>
        <p:nvSpPr>
          <p:cNvPr id="19" name="Shape 15"/>
          <p:cNvSpPr/>
          <p:nvPr/>
        </p:nvSpPr>
        <p:spPr>
          <a:xfrm>
            <a:off x="3822192" y="1463040"/>
            <a:ext cx="1517904" cy="1828800"/>
          </a:xfrm>
          <a:prstGeom prst="roundRect">
            <a:avLst>
              <a:gd name="adj" fmla="val 4819"/>
            </a:avLst>
          </a:prstGeom>
          <a:solidFill>
            <a:srgbClr val="FFF8E6"/>
          </a:solidFill>
          <a:ln w="9525">
            <a:solidFill>
              <a:srgbClr val="D5DFEC"/>
            </a:solidFill>
            <a:prstDash val="solid"/>
          </a:ln>
          <a:effectLst>
            <a:outerShdw blurRad="101600" dist="25400" dir="5400000" algn="bl" rotWithShape="0">
              <a:srgbClr val="0B2A55">
                <a:alpha val="12000"/>
              </a:srgbClr>
            </a:outerShdw>
          </a:effectLst>
        </p:spPr>
      </p:sp>
      <p:sp>
        <p:nvSpPr>
          <p:cNvPr id="20" name="Shape 16"/>
          <p:cNvSpPr/>
          <p:nvPr/>
        </p:nvSpPr>
        <p:spPr>
          <a:xfrm>
            <a:off x="4306824" y="1627632"/>
            <a:ext cx="548640" cy="548640"/>
          </a:xfrm>
          <a:prstGeom prst="ellipse">
            <a:avLst/>
          </a:prstGeom>
          <a:solidFill>
            <a:srgbClr val="F5A800"/>
          </a:solidFill>
          <a:ln w="12700">
            <a:solidFill>
              <a:srgbClr val="F5A800"/>
            </a:solidFill>
            <a:prstDash val="solid"/>
          </a:ln>
        </p:spPr>
      </p:sp>
      <p:pic>
        <p:nvPicPr>
          <p:cNvPr id="21" name="Image 2" descr="preencoded.png"/>
          <p:cNvPicPr>
            <a:picLocks noChangeAspect="1"/>
          </p:cNvPicPr>
          <p:nvPr/>
        </p:nvPicPr>
        <p:blipFill>
          <a:blip r:embed="rId5"/>
          <a:stretch>
            <a:fillRect/>
          </a:stretch>
        </p:blipFill>
        <p:spPr>
          <a:xfrm>
            <a:off x="4449470" y="1770278"/>
            <a:ext cx="263347" cy="263347"/>
          </a:xfrm>
          <a:prstGeom prst="rect">
            <a:avLst/>
          </a:prstGeom>
        </p:spPr>
      </p:pic>
      <p:sp>
        <p:nvSpPr>
          <p:cNvPr id="22" name="Text 17"/>
          <p:cNvSpPr txBox="1"/>
          <p:nvPr/>
        </p:nvSpPr>
        <p:spPr>
          <a:xfrm>
            <a:off x="3895344" y="2267712"/>
            <a:ext cx="1371600" cy="274320"/>
          </a:xfrm>
          <a:prstGeom prst="rect">
            <a:avLst/>
          </a:prstGeom>
          <a:noFill/>
          <a:ln/>
        </p:spPr>
        <p:txBody>
          <a:bodyPr wrap="square" lIns="0" tIns="0" rIns="0" bIns="0" rtlCol="0" anchor="t"/>
          <a:lstStyle/>
          <a:p>
            <a:pPr marL="0" indent="0" algn="ctr">
              <a:buNone/>
            </a:pPr>
            <a:r>
              <a:rPr lang="en-US" sz="1100" b="1" dirty="0">
                <a:solidFill>
                  <a:srgbClr val="071B3F"/>
                </a:solidFill>
                <a:latin typeface="Segoe UI" pitchFamily="34" charset="0"/>
                <a:ea typeface="Segoe UI" pitchFamily="34" charset="-122"/>
                <a:cs typeface="Segoe UI" pitchFamily="34" charset="-120"/>
              </a:rPr>
              <a:t>Contexto SSO</a:t>
            </a:r>
            <a:endParaRPr lang="en-US" sz="1100" dirty="0"/>
          </a:p>
        </p:txBody>
      </p:sp>
      <p:sp>
        <p:nvSpPr>
          <p:cNvPr id="23" name="Text 18"/>
          <p:cNvSpPr txBox="1"/>
          <p:nvPr/>
        </p:nvSpPr>
        <p:spPr>
          <a:xfrm>
            <a:off x="3913632" y="2560320"/>
            <a:ext cx="1335024" cy="640080"/>
          </a:xfrm>
          <a:prstGeom prst="rect">
            <a:avLst/>
          </a:prstGeom>
          <a:noFill/>
          <a:ln/>
        </p:spPr>
        <p:txBody>
          <a:bodyPr wrap="square" lIns="0" tIns="0" rIns="0" bIns="0" rtlCol="0" anchor="t"/>
          <a:lstStyle/>
          <a:p>
            <a:pPr marL="0" indent="0" algn="ctr">
              <a:buNone/>
            </a:pPr>
            <a:r>
              <a:rPr lang="en-US" sz="950" dirty="0">
                <a:solidFill>
                  <a:srgbClr val="5B6B82"/>
                </a:solidFill>
                <a:latin typeface="Calibri" pitchFamily="34" charset="0"/>
                <a:ea typeface="Calibri" pitchFamily="34" charset="-122"/>
                <a:cs typeface="Calibri" pitchFamily="34" charset="-120"/>
              </a:rPr>
              <a:t>Company.GetServiceLayer ConnectionContext(url)</a:t>
            </a:r>
            <a:endParaRPr lang="en-US" sz="950" dirty="0"/>
          </a:p>
        </p:txBody>
      </p:sp>
      <p:sp>
        <p:nvSpPr>
          <p:cNvPr id="24" name="Shape 19"/>
          <p:cNvSpPr/>
          <p:nvPr/>
        </p:nvSpPr>
        <p:spPr>
          <a:xfrm>
            <a:off x="5358384" y="2377440"/>
            <a:ext cx="128016" cy="0"/>
          </a:xfrm>
          <a:prstGeom prst="line">
            <a:avLst/>
          </a:prstGeom>
          <a:noFill/>
          <a:ln w="22225">
            <a:solidFill>
              <a:srgbClr val="0B4DA2"/>
            </a:solidFill>
            <a:prstDash val="solid"/>
            <a:tailEnd type="triangle"/>
          </a:ln>
        </p:spPr>
      </p:sp>
      <p:sp>
        <p:nvSpPr>
          <p:cNvPr id="25" name="Shape 20"/>
          <p:cNvSpPr/>
          <p:nvPr/>
        </p:nvSpPr>
        <p:spPr>
          <a:xfrm>
            <a:off x="5504688" y="1463040"/>
            <a:ext cx="1517904" cy="1828800"/>
          </a:xfrm>
          <a:prstGeom prst="roundRect">
            <a:avLst>
              <a:gd name="adj" fmla="val 4819"/>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26" name="Shape 21"/>
          <p:cNvSpPr/>
          <p:nvPr/>
        </p:nvSpPr>
        <p:spPr>
          <a:xfrm>
            <a:off x="5989320" y="1627632"/>
            <a:ext cx="548640" cy="548640"/>
          </a:xfrm>
          <a:prstGeom prst="ellipse">
            <a:avLst/>
          </a:prstGeom>
          <a:solidFill>
            <a:srgbClr val="0B4DA2"/>
          </a:solidFill>
          <a:ln w="12700">
            <a:solidFill>
              <a:srgbClr val="0B4DA2"/>
            </a:solidFill>
            <a:prstDash val="solid"/>
          </a:ln>
        </p:spPr>
      </p:sp>
      <p:pic>
        <p:nvPicPr>
          <p:cNvPr id="27" name="Image 3" descr="preencoded.png"/>
          <p:cNvPicPr>
            <a:picLocks noChangeAspect="1"/>
          </p:cNvPicPr>
          <p:nvPr/>
        </p:nvPicPr>
        <p:blipFill>
          <a:blip r:embed="rId6"/>
          <a:stretch>
            <a:fillRect/>
          </a:stretch>
        </p:blipFill>
        <p:spPr>
          <a:xfrm>
            <a:off x="6131966" y="1770278"/>
            <a:ext cx="263347" cy="263347"/>
          </a:xfrm>
          <a:prstGeom prst="rect">
            <a:avLst/>
          </a:prstGeom>
        </p:spPr>
      </p:pic>
      <p:sp>
        <p:nvSpPr>
          <p:cNvPr id="28" name="Text 22"/>
          <p:cNvSpPr txBox="1"/>
          <p:nvPr/>
        </p:nvSpPr>
        <p:spPr>
          <a:xfrm>
            <a:off x="5577840" y="2267712"/>
            <a:ext cx="1371600" cy="274320"/>
          </a:xfrm>
          <a:prstGeom prst="rect">
            <a:avLst/>
          </a:prstGeom>
          <a:noFill/>
          <a:ln/>
        </p:spPr>
        <p:txBody>
          <a:bodyPr wrap="square" lIns="0" tIns="0" rIns="0" bIns="0" rtlCol="0" anchor="t"/>
          <a:lstStyle/>
          <a:p>
            <a:pPr marL="0" indent="0" algn="ctr">
              <a:buNone/>
            </a:pPr>
            <a:r>
              <a:rPr lang="en-US" sz="1100" b="1" dirty="0">
                <a:solidFill>
                  <a:srgbClr val="071B3F"/>
                </a:solidFill>
                <a:latin typeface="Segoe UI" pitchFamily="34" charset="0"/>
                <a:ea typeface="Segoe UI" pitchFamily="34" charset="-122"/>
                <a:cs typeface="Segoe UI" pitchFamily="34" charset="-120"/>
              </a:rPr>
              <a:t>Cookies</a:t>
            </a:r>
            <a:endParaRPr lang="en-US" sz="1100" dirty="0"/>
          </a:p>
        </p:txBody>
      </p:sp>
      <p:sp>
        <p:nvSpPr>
          <p:cNvPr id="29" name="Text 23"/>
          <p:cNvSpPr txBox="1"/>
          <p:nvPr/>
        </p:nvSpPr>
        <p:spPr>
          <a:xfrm>
            <a:off x="5596128" y="2560320"/>
            <a:ext cx="1335024" cy="640080"/>
          </a:xfrm>
          <a:prstGeom prst="rect">
            <a:avLst/>
          </a:prstGeom>
          <a:noFill/>
          <a:ln/>
        </p:spPr>
        <p:txBody>
          <a:bodyPr wrap="square" lIns="0" tIns="0" rIns="0" bIns="0" rtlCol="0" anchor="t"/>
          <a:lstStyle/>
          <a:p>
            <a:pPr marL="0" indent="0" algn="ctr">
              <a:buNone/>
            </a:pPr>
            <a:r>
              <a:rPr lang="en-US" sz="950" dirty="0">
                <a:solidFill>
                  <a:srgbClr val="5B6B82"/>
                </a:solidFill>
                <a:latin typeface="Calibri" pitchFamily="34" charset="0"/>
                <a:ea typeface="Calibri" pitchFamily="34" charset="-122"/>
                <a:cs typeface="Calibri" pitchFamily="34" charset="-120"/>
              </a:rPr>
              <a:t>Devuelve B1SESSION y ROUTEID listas para usar.</a:t>
            </a:r>
            <a:endParaRPr lang="en-US" sz="950" dirty="0"/>
          </a:p>
        </p:txBody>
      </p:sp>
      <p:sp>
        <p:nvSpPr>
          <p:cNvPr id="30" name="Shape 24"/>
          <p:cNvSpPr/>
          <p:nvPr/>
        </p:nvSpPr>
        <p:spPr>
          <a:xfrm>
            <a:off x="7040880" y="2377440"/>
            <a:ext cx="128016" cy="0"/>
          </a:xfrm>
          <a:prstGeom prst="line">
            <a:avLst/>
          </a:prstGeom>
          <a:noFill/>
          <a:ln w="22225">
            <a:solidFill>
              <a:srgbClr val="0B4DA2"/>
            </a:solidFill>
            <a:prstDash val="solid"/>
            <a:tailEnd type="triangle"/>
          </a:ln>
        </p:spPr>
      </p:sp>
      <p:sp>
        <p:nvSpPr>
          <p:cNvPr id="31" name="Shape 25"/>
          <p:cNvSpPr/>
          <p:nvPr/>
        </p:nvSpPr>
        <p:spPr>
          <a:xfrm>
            <a:off x="7187184" y="1463040"/>
            <a:ext cx="1517904" cy="1828800"/>
          </a:xfrm>
          <a:prstGeom prst="roundRect">
            <a:avLst>
              <a:gd name="adj" fmla="val 4819"/>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32" name="Shape 26"/>
          <p:cNvSpPr/>
          <p:nvPr/>
        </p:nvSpPr>
        <p:spPr>
          <a:xfrm>
            <a:off x="7671816" y="1627632"/>
            <a:ext cx="548640" cy="548640"/>
          </a:xfrm>
          <a:prstGeom prst="ellipse">
            <a:avLst/>
          </a:prstGeom>
          <a:solidFill>
            <a:srgbClr val="0B4DA2"/>
          </a:solidFill>
          <a:ln w="12700">
            <a:solidFill>
              <a:srgbClr val="0B4DA2"/>
            </a:solidFill>
            <a:prstDash val="solid"/>
          </a:ln>
        </p:spPr>
      </p:sp>
      <p:pic>
        <p:nvPicPr>
          <p:cNvPr id="33" name="Image 4" descr="preencoded.png"/>
          <p:cNvPicPr>
            <a:picLocks noChangeAspect="1"/>
          </p:cNvPicPr>
          <p:nvPr/>
        </p:nvPicPr>
        <p:blipFill>
          <a:blip r:embed="rId7"/>
          <a:stretch>
            <a:fillRect/>
          </a:stretch>
        </p:blipFill>
        <p:spPr>
          <a:xfrm>
            <a:off x="7814462" y="1770278"/>
            <a:ext cx="263347" cy="263347"/>
          </a:xfrm>
          <a:prstGeom prst="rect">
            <a:avLst/>
          </a:prstGeom>
        </p:spPr>
      </p:pic>
      <p:sp>
        <p:nvSpPr>
          <p:cNvPr id="34" name="Text 27"/>
          <p:cNvSpPr txBox="1"/>
          <p:nvPr/>
        </p:nvSpPr>
        <p:spPr>
          <a:xfrm>
            <a:off x="7260336" y="2267712"/>
            <a:ext cx="1371600" cy="274320"/>
          </a:xfrm>
          <a:prstGeom prst="rect">
            <a:avLst/>
          </a:prstGeom>
          <a:noFill/>
          <a:ln/>
        </p:spPr>
        <p:txBody>
          <a:bodyPr wrap="square" lIns="0" tIns="0" rIns="0" bIns="0" rtlCol="0" anchor="t"/>
          <a:lstStyle/>
          <a:p>
            <a:pPr marL="0" indent="0" algn="ctr">
              <a:buNone/>
            </a:pPr>
            <a:r>
              <a:rPr lang="en-US" sz="1100" b="1" dirty="0">
                <a:solidFill>
                  <a:srgbClr val="071B3F"/>
                </a:solidFill>
                <a:latin typeface="Segoe UI" pitchFamily="34" charset="0"/>
                <a:ea typeface="Segoe UI" pitchFamily="34" charset="-122"/>
                <a:cs typeface="Segoe UI" pitchFamily="34" charset="-120"/>
              </a:rPr>
              <a:t>Service Layer</a:t>
            </a:r>
            <a:endParaRPr lang="en-US" sz="1100" dirty="0"/>
          </a:p>
        </p:txBody>
      </p:sp>
      <p:sp>
        <p:nvSpPr>
          <p:cNvPr id="35" name="Text 28"/>
          <p:cNvSpPr txBox="1"/>
          <p:nvPr/>
        </p:nvSpPr>
        <p:spPr>
          <a:xfrm>
            <a:off x="7278624" y="2560320"/>
            <a:ext cx="1335024" cy="640080"/>
          </a:xfrm>
          <a:prstGeom prst="rect">
            <a:avLst/>
          </a:prstGeom>
          <a:noFill/>
          <a:ln/>
        </p:spPr>
        <p:txBody>
          <a:bodyPr wrap="square" lIns="0" tIns="0" rIns="0" bIns="0" rtlCol="0" anchor="t"/>
          <a:lstStyle/>
          <a:p>
            <a:pPr marL="0" indent="0" algn="ctr">
              <a:buNone/>
            </a:pPr>
            <a:r>
              <a:rPr lang="en-US" sz="950" dirty="0">
                <a:solidFill>
                  <a:srgbClr val="5B6B82"/>
                </a:solidFill>
                <a:latin typeface="Calibri" pitchFamily="34" charset="0"/>
                <a:ea typeface="Calibri" pitchFamily="34" charset="-122"/>
                <a:cs typeface="Calibri" pitchFamily="34" charset="-120"/>
              </a:rPr>
              <a:t>Peticiones HTTP con header Cookie.</a:t>
            </a:r>
            <a:endParaRPr lang="en-US" sz="950" dirty="0"/>
          </a:p>
        </p:txBody>
      </p:sp>
      <p:sp>
        <p:nvSpPr>
          <p:cNvPr id="36" name="Shape 29"/>
          <p:cNvSpPr/>
          <p:nvPr/>
        </p:nvSpPr>
        <p:spPr>
          <a:xfrm>
            <a:off x="457200" y="3474720"/>
            <a:ext cx="4023360" cy="1234440"/>
          </a:xfrm>
          <a:prstGeom prst="roundRect">
            <a:avLst>
              <a:gd name="adj" fmla="val 5926"/>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37" name="Text 30"/>
          <p:cNvSpPr txBox="1"/>
          <p:nvPr/>
        </p:nvSpPr>
        <p:spPr>
          <a:xfrm>
            <a:off x="640080" y="3547872"/>
            <a:ext cx="3657600" cy="256032"/>
          </a:xfrm>
          <a:prstGeom prst="rect">
            <a:avLst/>
          </a:prstGeom>
          <a:noFill/>
          <a:ln/>
        </p:spPr>
        <p:txBody>
          <a:bodyPr wrap="square" lIns="0" tIns="0" rIns="0" bIns="0" rtlCol="0" anchor="t"/>
          <a:lstStyle/>
          <a:p>
            <a:pPr marL="0" indent="0">
              <a:buNone/>
            </a:pPr>
            <a:r>
              <a:rPr lang="en-US" sz="1200" b="1" dirty="0">
                <a:solidFill>
                  <a:srgbClr val="2E9E6A"/>
                </a:solidFill>
                <a:latin typeface="Segoe UI" pitchFamily="34" charset="0"/>
                <a:ea typeface="Segoe UI" pitchFamily="34" charset="-122"/>
                <a:cs typeface="Segoe UI" pitchFamily="34" charset="-120"/>
              </a:rPr>
              <a:t>Beneficios</a:t>
            </a:r>
            <a:endParaRPr lang="en-US" sz="1200" dirty="0"/>
          </a:p>
        </p:txBody>
      </p:sp>
      <p:sp>
        <p:nvSpPr>
          <p:cNvPr id="38" name="Text 31"/>
          <p:cNvSpPr txBox="1"/>
          <p:nvPr/>
        </p:nvSpPr>
        <p:spPr>
          <a:xfrm>
            <a:off x="640080" y="3822192"/>
            <a:ext cx="3657600" cy="841248"/>
          </a:xfrm>
          <a:prstGeom prst="rect">
            <a:avLst/>
          </a:prstGeom>
          <a:noFill/>
          <a:ln/>
        </p:spPr>
        <p:txBody>
          <a:bodyPr wrap="square" lIns="0" tIns="0" rIns="0" bIns="0" rtlCol="0" anchor="t"/>
          <a:lstStyle/>
          <a:p>
            <a:pPr marL="342900" indent="-342900">
              <a:spcAft>
                <a:spcPts val="200"/>
              </a:spcAft>
              <a:buSzPct val="100000"/>
              <a:buChar char="•"/>
            </a:pPr>
            <a:r>
              <a:rPr lang="en-US" sz="1050" dirty="0">
                <a:solidFill>
                  <a:srgbClr val="1B2433"/>
                </a:solidFill>
                <a:latin typeface="Calibri" pitchFamily="34" charset="0"/>
                <a:ea typeface="Calibri" pitchFamily="34" charset="-122"/>
                <a:cs typeface="Calibri" pitchFamily="34" charset="-120"/>
              </a:rPr>
              <a:t>No se piden ni guardan credenciales</a:t>
            </a:r>
            <a:endParaRPr lang="en-US" sz="1050" dirty="0"/>
          </a:p>
          <a:p>
            <a:pPr marL="342900" indent="-342900">
              <a:spcAft>
                <a:spcPts val="200"/>
              </a:spcAft>
              <a:buSzPct val="100000"/>
              <a:buChar char="•"/>
            </a:pPr>
            <a:r>
              <a:rPr lang="en-US" sz="1050" dirty="0">
                <a:solidFill>
                  <a:srgbClr val="1B2433"/>
                </a:solidFill>
                <a:latin typeface="Calibri" pitchFamily="34" charset="0"/>
                <a:ea typeface="Calibri" pitchFamily="34" charset="-122"/>
                <a:cs typeface="Calibri" pitchFamily="34" charset="-120"/>
              </a:rPr>
              <a:t>Respeta las autorizaciones del usuario</a:t>
            </a:r>
            <a:endParaRPr lang="en-US" sz="1050" dirty="0"/>
          </a:p>
          <a:p>
            <a:pPr marL="342900" indent="-342900">
              <a:spcAft>
                <a:spcPts val="200"/>
              </a:spcAft>
              <a:buSzPct val="100000"/>
              <a:buChar char="•"/>
            </a:pPr>
            <a:r>
              <a:rPr lang="en-US" sz="1050" dirty="0">
                <a:solidFill>
                  <a:srgbClr val="1B2433"/>
                </a:solidFill>
                <a:latin typeface="Calibri" pitchFamily="34" charset="0"/>
                <a:ea typeface="Calibri" pitchFamily="34" charset="-122"/>
                <a:cs typeface="Calibri" pitchFamily="34" charset="-120"/>
              </a:rPr>
              <a:t>Reutiliza la licencia de la sesión activa</a:t>
            </a:r>
            <a:endParaRPr lang="en-US" sz="1050" dirty="0"/>
          </a:p>
        </p:txBody>
      </p:sp>
      <p:sp>
        <p:nvSpPr>
          <p:cNvPr id="39" name="Shape 32"/>
          <p:cNvSpPr/>
          <p:nvPr/>
        </p:nvSpPr>
        <p:spPr>
          <a:xfrm>
            <a:off x="4663440" y="3474720"/>
            <a:ext cx="4023360" cy="1234440"/>
          </a:xfrm>
          <a:prstGeom prst="roundRect">
            <a:avLst>
              <a:gd name="adj" fmla="val 5926"/>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40" name="Text 33"/>
          <p:cNvSpPr txBox="1"/>
          <p:nvPr/>
        </p:nvSpPr>
        <p:spPr>
          <a:xfrm>
            <a:off x="4846320" y="3547872"/>
            <a:ext cx="3657600" cy="256032"/>
          </a:xfrm>
          <a:prstGeom prst="rect">
            <a:avLst/>
          </a:prstGeom>
          <a:noFill/>
          <a:ln/>
        </p:spPr>
        <p:txBody>
          <a:bodyPr wrap="square" lIns="0" tIns="0" rIns="0" bIns="0" rtlCol="0" anchor="t"/>
          <a:lstStyle/>
          <a:p>
            <a:pPr marL="0" indent="0">
              <a:buNone/>
            </a:pPr>
            <a:r>
              <a:rPr lang="en-US" sz="1200" b="1" dirty="0">
                <a:solidFill>
                  <a:srgbClr val="0B4DA2"/>
                </a:solidFill>
                <a:latin typeface="Segoe UI" pitchFamily="34" charset="0"/>
                <a:ea typeface="Segoe UI" pitchFamily="34" charset="-122"/>
                <a:cs typeface="Segoe UI" pitchFamily="34" charset="-120"/>
              </a:rPr>
              <a:t>Requisitos</a:t>
            </a:r>
            <a:endParaRPr lang="en-US" sz="1200" dirty="0"/>
          </a:p>
        </p:txBody>
      </p:sp>
      <p:sp>
        <p:nvSpPr>
          <p:cNvPr id="41" name="Text 34"/>
          <p:cNvSpPr txBox="1"/>
          <p:nvPr/>
        </p:nvSpPr>
        <p:spPr>
          <a:xfrm>
            <a:off x="4846320" y="3822192"/>
            <a:ext cx="3657600" cy="841248"/>
          </a:xfrm>
          <a:prstGeom prst="rect">
            <a:avLst/>
          </a:prstGeom>
          <a:noFill/>
          <a:ln/>
        </p:spPr>
        <p:txBody>
          <a:bodyPr wrap="square" lIns="0" tIns="0" rIns="0" bIns="0" rtlCol="0" anchor="t"/>
          <a:lstStyle/>
          <a:p>
            <a:pPr marL="342900" indent="-342900">
              <a:spcAft>
                <a:spcPts val="200"/>
              </a:spcAft>
              <a:buSzPct val="100000"/>
              <a:buChar char="•"/>
            </a:pPr>
            <a:r>
              <a:rPr lang="en-US" sz="1050" dirty="0">
                <a:solidFill>
                  <a:srgbClr val="1B2433"/>
                </a:solidFill>
                <a:latin typeface="Calibri" pitchFamily="34" charset="0"/>
                <a:ea typeface="Calibri" pitchFamily="34" charset="-122"/>
                <a:cs typeface="Calibri" pitchFamily="34" charset="-120"/>
              </a:rPr>
              <a:t>SL registrado en el mismo SLD / landscape</a:t>
            </a:r>
            <a:endParaRPr lang="en-US" sz="1050" dirty="0"/>
          </a:p>
          <a:p>
            <a:pPr marL="342900" indent="-342900">
              <a:spcAft>
                <a:spcPts val="200"/>
              </a:spcAft>
              <a:buSzPct val="100000"/>
              <a:buChar char="•"/>
            </a:pPr>
            <a:r>
              <a:rPr lang="en-US" sz="1050" dirty="0">
                <a:solidFill>
                  <a:srgbClr val="1B2433"/>
                </a:solidFill>
                <a:latin typeface="Calibri" pitchFamily="34" charset="0"/>
                <a:ea typeface="Calibri" pitchFamily="34" charset="-122"/>
                <a:cs typeface="Calibri" pitchFamily="34" charset="-120"/>
              </a:rPr>
              <a:t>URL de SL accesible desde el equipo cliente</a:t>
            </a:r>
            <a:endParaRPr lang="en-US" sz="1050" dirty="0"/>
          </a:p>
          <a:p>
            <a:pPr marL="342900" indent="-342900">
              <a:spcAft>
                <a:spcPts val="200"/>
              </a:spcAft>
              <a:buSzPct val="100000"/>
              <a:buChar char="•"/>
            </a:pPr>
            <a:r>
              <a:rPr lang="en-US" sz="1050" dirty="0">
                <a:solidFill>
                  <a:srgbClr val="1B2433"/>
                </a:solidFill>
                <a:latin typeface="Calibri" pitchFamily="34" charset="0"/>
                <a:ea typeface="Calibri" pitchFamily="34" charset="-122"/>
                <a:cs typeface="Calibri" pitchFamily="34" charset="-120"/>
              </a:rPr>
              <a:t>Certificado HTTPS de confianza</a:t>
            </a:r>
            <a:endParaRPr lang="en-US" sz="1050" dirty="0"/>
          </a:p>
        </p:txBody>
      </p:sp>
      <p:sp>
        <p:nvSpPr>
          <p:cNvPr id="42"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xmlns="" val="0"/>
            </a:ext>
          </a:extLst>
        </p:spPr>
        <p:txBody>
          <a:bodyPr/>
          <a:lstStyle>
            <a:lvl1pPr>
              <a:defRPr sz="800">
                <a:solidFill>
                  <a:srgbClr val="8A9AB0"/>
                </a:solidFill>
                <a:latin typeface="Calibri"/>
                <a:ea typeface="Calibri"/>
                <a:cs typeface="Calibri"/>
              </a:defRPr>
            </a:lvl1pPr>
          </a:lstStyle>
          <a:p>
            <a:pPr algn="r"/>
            <a:fld id="{F7021451-1387-4CA6-816F-3879F97B5CBC}" type="slidenum">
              <a:rPr lang="en-US" b="0"/>
              <a:t>42</a:t>
            </a:fld>
            <a:endParaRPr lang="en-US"/>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5F8FC"/>
        </a:solidFill>
        <a:effectLst/>
      </p:bgPr>
    </p:bg>
    <p:spTree>
      <p:nvGrpSpPr>
        <p:cNvPr id="1" name=""/>
        <p:cNvGrpSpPr/>
        <p:nvPr/>
      </p:nvGrpSpPr>
      <p:grpSpPr>
        <a:xfrm>
          <a:off x="0" y="0"/>
          <a:ext cx="0" cy="0"/>
          <a:chOff x="0" y="0"/>
          <a:chExt cx="0" cy="0"/>
        </a:xfrm>
      </p:grpSpPr>
      <p:sp>
        <p:nvSpPr>
          <p:cNvPr id="2" name="Shape 0"/>
          <p:cNvSpPr/>
          <p:nvPr/>
        </p:nvSpPr>
        <p:spPr>
          <a:xfrm>
            <a:off x="457200" y="256032"/>
            <a:ext cx="1720901" cy="237744"/>
          </a:xfrm>
          <a:prstGeom prst="roundRect">
            <a:avLst>
              <a:gd name="adj" fmla="val 50000"/>
            </a:avLst>
          </a:prstGeom>
          <a:solidFill>
            <a:srgbClr val="071B3F"/>
          </a:solidFill>
          <a:ln w="12700">
            <a:solidFill>
              <a:srgbClr val="071B3F"/>
            </a:solidFill>
            <a:prstDash val="solid"/>
          </a:ln>
        </p:spPr>
      </p:sp>
      <p:sp>
        <p:nvSpPr>
          <p:cNvPr id="3" name="Text 1"/>
          <p:cNvSpPr txBox="1"/>
          <p:nvPr/>
        </p:nvSpPr>
        <p:spPr>
          <a:xfrm>
            <a:off x="457200" y="256032"/>
            <a:ext cx="1720901" cy="237744"/>
          </a:xfrm>
          <a:prstGeom prst="rect">
            <a:avLst/>
          </a:prstGeom>
          <a:noFill/>
          <a:ln/>
        </p:spPr>
        <p:txBody>
          <a:bodyPr wrap="square" lIns="0" tIns="0" rIns="0" bIns="0" rtlCol="0" anchor="ctr"/>
          <a:lstStyle/>
          <a:p>
            <a:pPr marL="0" indent="0" algn="ctr">
              <a:buNone/>
            </a:pPr>
            <a:r>
              <a:rPr lang="en-US" sz="850" b="1" kern="0" spc="100" dirty="0">
                <a:solidFill>
                  <a:srgbClr val="F5A800"/>
                </a:solidFill>
                <a:latin typeface="Segoe UI" pitchFamily="34" charset="0"/>
                <a:ea typeface="Segoe UI" pitchFamily="34" charset="-122"/>
                <a:cs typeface="Segoe UI" pitchFamily="34" charset="-120"/>
              </a:rPr>
              <a:t>07  ·  ADD-ON + SSO</a:t>
            </a:r>
            <a:endParaRPr lang="en-US" sz="850" dirty="0"/>
          </a:p>
        </p:txBody>
      </p:sp>
      <p:sp>
        <p:nvSpPr>
          <p:cNvPr id="4" name="Text 2"/>
          <p:cNvSpPr txBox="1"/>
          <p:nvPr/>
        </p:nvSpPr>
        <p:spPr>
          <a:xfrm>
            <a:off x="457200" y="566928"/>
            <a:ext cx="8229600" cy="502920"/>
          </a:xfrm>
          <a:prstGeom prst="rect">
            <a:avLst/>
          </a:prstGeom>
          <a:noFill/>
          <a:ln/>
        </p:spPr>
        <p:txBody>
          <a:bodyPr wrap="square" lIns="0" tIns="0" rIns="0" bIns="0" rtlCol="0" anchor="ctr"/>
          <a:lstStyle/>
          <a:p>
            <a:pPr marL="0" indent="0">
              <a:buNone/>
            </a:pPr>
            <a:r>
              <a:rPr lang="en-US" sz="2400" b="1" dirty="0">
                <a:solidFill>
                  <a:srgbClr val="071B3F"/>
                </a:solidFill>
                <a:latin typeface="Segoe UI" pitchFamily="34" charset="0"/>
                <a:ea typeface="Segoe UI" pitchFamily="34" charset="-122"/>
                <a:cs typeface="Segoe UI" pitchFamily="34" charset="-120"/>
              </a:rPr>
              <a:t>Implementación en C#</a:t>
            </a:r>
            <a:endParaRPr lang="en-US" sz="2400" dirty="0"/>
          </a:p>
        </p:txBody>
      </p:sp>
      <p:sp>
        <p:nvSpPr>
          <p:cNvPr id="5" name="Text 3"/>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00" dirty="0">
                <a:solidFill>
                  <a:srgbClr val="8A9AB0"/>
                </a:solidFill>
                <a:latin typeface="Calibri" pitchFamily="34" charset="0"/>
                <a:ea typeface="Calibri" pitchFamily="34" charset="-122"/>
                <a:cs typeface="Calibri" pitchFamily="34" charset="-120"/>
              </a:rPr>
              <a:t>Ventura Soluciones  |  SAP Business One · Service Layer</a:t>
            </a:r>
            <a:endParaRPr lang="en-US" sz="800" dirty="0"/>
          </a:p>
        </p:txBody>
      </p:sp>
      <p:sp>
        <p:nvSpPr>
          <p:cNvPr id="6" name="Shape 4"/>
          <p:cNvSpPr/>
          <p:nvPr/>
        </p:nvSpPr>
        <p:spPr>
          <a:xfrm>
            <a:off x="457200" y="1188720"/>
            <a:ext cx="5212080" cy="3566160"/>
          </a:xfrm>
          <a:prstGeom prst="roundRect">
            <a:avLst>
              <a:gd name="adj" fmla="val 1795"/>
            </a:avLst>
          </a:prstGeom>
          <a:solidFill>
            <a:srgbClr val="0E1B2E"/>
          </a:solidFill>
          <a:ln w="12700">
            <a:solidFill>
              <a:srgbClr val="0E1B2E"/>
            </a:solidFill>
            <a:prstDash val="solid"/>
          </a:ln>
          <a:effectLst>
            <a:outerShdw blurRad="101600" dist="25400" dir="5400000" algn="bl" rotWithShape="0">
              <a:srgbClr val="0B2A55">
                <a:alpha val="12000"/>
              </a:srgbClr>
            </a:outerShdw>
          </a:effectLst>
        </p:spPr>
      </p:sp>
      <p:sp>
        <p:nvSpPr>
          <p:cNvPr id="7" name="Shape 5"/>
          <p:cNvSpPr/>
          <p:nvPr/>
        </p:nvSpPr>
        <p:spPr>
          <a:xfrm>
            <a:off x="594360" y="1298448"/>
            <a:ext cx="73152" cy="73152"/>
          </a:xfrm>
          <a:prstGeom prst="ellipse">
            <a:avLst/>
          </a:prstGeom>
          <a:solidFill>
            <a:srgbClr val="FF5F56"/>
          </a:solidFill>
          <a:ln w="12700">
            <a:solidFill>
              <a:srgbClr val="FF5F56"/>
            </a:solidFill>
            <a:prstDash val="solid"/>
          </a:ln>
        </p:spPr>
      </p:sp>
      <p:sp>
        <p:nvSpPr>
          <p:cNvPr id="8" name="Shape 6"/>
          <p:cNvSpPr/>
          <p:nvPr/>
        </p:nvSpPr>
        <p:spPr>
          <a:xfrm>
            <a:off x="722376" y="1298448"/>
            <a:ext cx="73152" cy="73152"/>
          </a:xfrm>
          <a:prstGeom prst="ellipse">
            <a:avLst/>
          </a:prstGeom>
          <a:solidFill>
            <a:srgbClr val="FFBD2E"/>
          </a:solidFill>
          <a:ln w="12700">
            <a:solidFill>
              <a:srgbClr val="FFBD2E"/>
            </a:solidFill>
            <a:prstDash val="solid"/>
          </a:ln>
        </p:spPr>
      </p:sp>
      <p:sp>
        <p:nvSpPr>
          <p:cNvPr id="9" name="Shape 7"/>
          <p:cNvSpPr/>
          <p:nvPr/>
        </p:nvSpPr>
        <p:spPr>
          <a:xfrm>
            <a:off x="850392" y="1298448"/>
            <a:ext cx="73152" cy="73152"/>
          </a:xfrm>
          <a:prstGeom prst="ellipse">
            <a:avLst/>
          </a:prstGeom>
          <a:solidFill>
            <a:srgbClr val="27C93F"/>
          </a:solidFill>
          <a:ln w="12700">
            <a:solidFill>
              <a:srgbClr val="27C93F"/>
            </a:solidFill>
            <a:prstDash val="solid"/>
          </a:ln>
        </p:spPr>
      </p:sp>
      <p:sp>
        <p:nvSpPr>
          <p:cNvPr id="10" name="Text 8"/>
          <p:cNvSpPr txBox="1"/>
          <p:nvPr/>
        </p:nvSpPr>
        <p:spPr>
          <a:xfrm>
            <a:off x="1024128" y="1243584"/>
            <a:ext cx="4526280" cy="182880"/>
          </a:xfrm>
          <a:prstGeom prst="rect">
            <a:avLst/>
          </a:prstGeom>
          <a:noFill/>
          <a:ln/>
        </p:spPr>
        <p:txBody>
          <a:bodyPr wrap="square" lIns="0" tIns="0" rIns="0" bIns="0" rtlCol="0" anchor="ctr"/>
          <a:lstStyle/>
          <a:p>
            <a:pPr marL="0" indent="0">
              <a:buNone/>
            </a:pPr>
            <a:r>
              <a:rPr lang="en-US" sz="850" b="1" dirty="0">
                <a:solidFill>
                  <a:srgbClr val="F5A800"/>
                </a:solidFill>
                <a:latin typeface="Segoe UI" pitchFamily="34" charset="0"/>
                <a:ea typeface="Segoe UI" pitchFamily="34" charset="-122"/>
                <a:cs typeface="Segoe UI" pitchFamily="34" charset="-120"/>
              </a:rPr>
              <a:t>ServiceLayerSso.cs</a:t>
            </a:r>
            <a:endParaRPr lang="en-US" sz="850" dirty="0"/>
          </a:p>
        </p:txBody>
      </p:sp>
      <p:sp>
        <p:nvSpPr>
          <p:cNvPr id="11" name="Text 9"/>
          <p:cNvSpPr txBox="1"/>
          <p:nvPr/>
        </p:nvSpPr>
        <p:spPr>
          <a:xfrm>
            <a:off x="594360" y="1481328"/>
            <a:ext cx="4937760" cy="3200400"/>
          </a:xfrm>
          <a:prstGeom prst="rect">
            <a:avLst/>
          </a:prstGeom>
          <a:noFill/>
          <a:ln/>
        </p:spPr>
        <p:txBody>
          <a:bodyPr wrap="square" lIns="0" tIns="0" rIns="0" bIns="0" rtlCol="0" anchor="t"/>
          <a:lstStyle/>
          <a:p>
            <a:pPr marL="0" indent="0">
              <a:lnSpc>
                <a:spcPct val="100000"/>
              </a:lnSpc>
              <a:buNone/>
            </a:pPr>
            <a:r>
              <a:rPr lang="en-US" sz="880" b="1" dirty="0">
                <a:solidFill>
                  <a:srgbClr val="F5A800"/>
                </a:solidFill>
                <a:latin typeface="Consolas" pitchFamily="34" charset="0"/>
                <a:ea typeface="Consolas" pitchFamily="34" charset="-122"/>
                <a:cs typeface="Consolas" pitchFamily="34" charset="-120"/>
              </a:rPr>
              <a:t>const</a:t>
            </a:r>
            <a:r>
              <a:rPr lang="en-US" sz="880" dirty="0">
                <a:solidFill>
                  <a:srgbClr val="DCE6F2"/>
                </a:solidFill>
                <a:latin typeface="Consolas" pitchFamily="34" charset="0"/>
                <a:ea typeface="Consolas" pitchFamily="34" charset="-122"/>
                <a:cs typeface="Consolas" pitchFamily="34" charset="-120"/>
              </a:rPr>
              <a:t> </a:t>
            </a:r>
            <a:r>
              <a:rPr lang="en-US" sz="880" b="1" dirty="0">
                <a:solidFill>
                  <a:srgbClr val="F5A800"/>
                </a:solidFill>
                <a:latin typeface="Consolas" pitchFamily="34" charset="0"/>
                <a:ea typeface="Consolas" pitchFamily="34" charset="-122"/>
                <a:cs typeface="Consolas" pitchFamily="34" charset="-120"/>
              </a:rPr>
              <a:t>string</a:t>
            </a:r>
            <a:r>
              <a:rPr lang="en-US" sz="880" dirty="0">
                <a:solidFill>
                  <a:srgbClr val="DCE6F2"/>
                </a:solidFill>
                <a:latin typeface="Consolas" pitchFamily="34" charset="0"/>
                <a:ea typeface="Consolas" pitchFamily="34" charset="-122"/>
                <a:cs typeface="Consolas" pitchFamily="34" charset="-120"/>
              </a:rPr>
              <a:t> SL = </a:t>
            </a:r>
            <a:r>
              <a:rPr lang="en-US" sz="880" dirty="0">
                <a:solidFill>
                  <a:srgbClr val="B5E48C"/>
                </a:solidFill>
                <a:latin typeface="Consolas" pitchFamily="34" charset="0"/>
                <a:ea typeface="Consolas" pitchFamily="34" charset="-122"/>
                <a:cs typeface="Consolas" pitchFamily="34" charset="-120"/>
              </a:rPr>
              <a:t>"https://sapserver:50000/b1s/v1/"</a:t>
            </a:r>
            <a:r>
              <a:rPr lang="en-US" sz="880" dirty="0">
                <a:solidFill>
                  <a:srgbClr val="DCE6F2"/>
                </a:solidFill>
                <a:latin typeface="Consolas" pitchFamily="34" charset="0"/>
                <a:ea typeface="Consolas" pitchFamily="34" charset="-122"/>
                <a:cs typeface="Consolas" pitchFamily="34" charset="-120"/>
              </a:rPr>
              <a:t>;</a:t>
            </a:r>
            <a:endParaRPr lang="en-US" sz="880" dirty="0"/>
          </a:p>
          <a:p>
            <a:pPr marL="0" indent="0">
              <a:lnSpc>
                <a:spcPct val="100000"/>
              </a:lnSpc>
              <a:buNone/>
            </a:pPr>
            <a:r>
              <a:rPr lang="en-US" sz="880" dirty="0">
                <a:solidFill>
                  <a:srgbClr val="DCE6F2"/>
                </a:solidFill>
                <a:latin typeface="Consolas" pitchFamily="34" charset="0"/>
                <a:ea typeface="Consolas" pitchFamily="34" charset="-122"/>
                <a:cs typeface="Consolas" pitchFamily="34" charset="-120"/>
              </a:rPr>
              <a:t> </a:t>
            </a:r>
            <a:endParaRPr lang="en-US" sz="880" dirty="0"/>
          </a:p>
          <a:p>
            <a:pPr marL="0" indent="0">
              <a:lnSpc>
                <a:spcPct val="100000"/>
              </a:lnSpc>
              <a:buNone/>
            </a:pPr>
            <a:r>
              <a:rPr lang="en-US" sz="880" i="1" dirty="0">
                <a:solidFill>
                  <a:srgbClr val="7D8FA8"/>
                </a:solidFill>
                <a:latin typeface="Consolas" pitchFamily="34" charset="0"/>
                <a:ea typeface="Consolas" pitchFamily="34" charset="-122"/>
                <a:cs typeface="Consolas" pitchFamily="34" charset="-120"/>
              </a:rPr>
              <a:t>// 1. Contexto SSO desde la sesión activa del cliente B1</a:t>
            </a:r>
            <a:endParaRPr lang="en-US" sz="880" dirty="0"/>
          </a:p>
          <a:p>
            <a:pPr marL="0" indent="0">
              <a:lnSpc>
                <a:spcPct val="100000"/>
              </a:lnSpc>
              <a:buNone/>
            </a:pPr>
            <a:r>
              <a:rPr lang="en-US" sz="880" b="1" dirty="0">
                <a:solidFill>
                  <a:srgbClr val="F5A800"/>
                </a:solidFill>
                <a:latin typeface="Consolas" pitchFamily="34" charset="0"/>
                <a:ea typeface="Consolas" pitchFamily="34" charset="-122"/>
                <a:cs typeface="Consolas" pitchFamily="34" charset="-120"/>
              </a:rPr>
              <a:t>string</a:t>
            </a:r>
            <a:r>
              <a:rPr lang="en-US" sz="880" dirty="0">
                <a:solidFill>
                  <a:srgbClr val="DCE6F2"/>
                </a:solidFill>
                <a:latin typeface="Consolas" pitchFamily="34" charset="0"/>
                <a:ea typeface="Consolas" pitchFamily="34" charset="-122"/>
                <a:cs typeface="Consolas" pitchFamily="34" charset="-120"/>
              </a:rPr>
              <a:t> ctx = Application.SBO_Application.Company</a:t>
            </a:r>
            <a:endParaRPr lang="en-US" sz="880" dirty="0"/>
          </a:p>
          <a:p>
            <a:pPr marL="0" indent="0">
              <a:lnSpc>
                <a:spcPct val="100000"/>
              </a:lnSpc>
              <a:buNone/>
            </a:pPr>
            <a:r>
              <a:rPr lang="en-US" sz="880" dirty="0">
                <a:solidFill>
                  <a:srgbClr val="DCE6F2"/>
                </a:solidFill>
                <a:latin typeface="Consolas" pitchFamily="34" charset="0"/>
                <a:ea typeface="Consolas" pitchFamily="34" charset="-122"/>
                <a:cs typeface="Consolas" pitchFamily="34" charset="-120"/>
              </a:rPr>
              <a:t>                 .GetServiceLayerConnectionContext(SL);</a:t>
            </a:r>
            <a:endParaRPr lang="en-US" sz="880" dirty="0"/>
          </a:p>
          <a:p>
            <a:pPr marL="0" indent="0">
              <a:lnSpc>
                <a:spcPct val="100000"/>
              </a:lnSpc>
              <a:buNone/>
            </a:pPr>
            <a:r>
              <a:rPr lang="en-US" sz="880" i="1" dirty="0">
                <a:solidFill>
                  <a:srgbClr val="7D8FA8"/>
                </a:solidFill>
                <a:latin typeface="Consolas" pitchFamily="34" charset="0"/>
                <a:ea typeface="Consolas" pitchFamily="34" charset="-122"/>
                <a:cs typeface="Consolas" pitchFamily="34" charset="-120"/>
              </a:rPr>
              <a:t>// ctx =&gt; "B1SESSION=5f1c...;ROUTEID=.node2"</a:t>
            </a:r>
            <a:endParaRPr lang="en-US" sz="880" dirty="0"/>
          </a:p>
          <a:p>
            <a:pPr marL="0" indent="0">
              <a:lnSpc>
                <a:spcPct val="100000"/>
              </a:lnSpc>
              <a:buNone/>
            </a:pPr>
            <a:r>
              <a:rPr lang="en-US" sz="880" dirty="0">
                <a:solidFill>
                  <a:srgbClr val="DCE6F2"/>
                </a:solidFill>
                <a:latin typeface="Consolas" pitchFamily="34" charset="0"/>
                <a:ea typeface="Consolas" pitchFamily="34" charset="-122"/>
                <a:cs typeface="Consolas" pitchFamily="34" charset="-120"/>
              </a:rPr>
              <a:t> </a:t>
            </a:r>
            <a:endParaRPr lang="en-US" sz="880" dirty="0"/>
          </a:p>
          <a:p>
            <a:pPr marL="0" indent="0">
              <a:lnSpc>
                <a:spcPct val="100000"/>
              </a:lnSpc>
              <a:buNone/>
            </a:pPr>
            <a:r>
              <a:rPr lang="en-US" sz="880" i="1" dirty="0">
                <a:solidFill>
                  <a:srgbClr val="7D8FA8"/>
                </a:solidFill>
                <a:latin typeface="Consolas" pitchFamily="34" charset="0"/>
                <a:ea typeface="Consolas" pitchFamily="34" charset="-122"/>
                <a:cs typeface="Consolas" pitchFamily="34" charset="-120"/>
              </a:rPr>
              <a:t>// 2. HttpClient sin manejo automático de cookies</a:t>
            </a:r>
            <a:endParaRPr lang="en-US" sz="880" dirty="0"/>
          </a:p>
          <a:p>
            <a:pPr marL="0" indent="0">
              <a:lnSpc>
                <a:spcPct val="100000"/>
              </a:lnSpc>
              <a:buNone/>
            </a:pPr>
            <a:r>
              <a:rPr lang="en-US" sz="880" b="1" dirty="0">
                <a:solidFill>
                  <a:srgbClr val="F5A800"/>
                </a:solidFill>
                <a:latin typeface="Consolas" pitchFamily="34" charset="0"/>
                <a:ea typeface="Consolas" pitchFamily="34" charset="-122"/>
                <a:cs typeface="Consolas" pitchFamily="34" charset="-120"/>
              </a:rPr>
              <a:t>var</a:t>
            </a:r>
            <a:r>
              <a:rPr lang="en-US" sz="880" dirty="0">
                <a:solidFill>
                  <a:srgbClr val="DCE6F2"/>
                </a:solidFill>
                <a:latin typeface="Consolas" pitchFamily="34" charset="0"/>
                <a:ea typeface="Consolas" pitchFamily="34" charset="-122"/>
                <a:cs typeface="Consolas" pitchFamily="34" charset="-120"/>
              </a:rPr>
              <a:t> handler = </a:t>
            </a:r>
            <a:r>
              <a:rPr lang="en-US" sz="880" b="1" dirty="0">
                <a:solidFill>
                  <a:srgbClr val="F5A800"/>
                </a:solidFill>
                <a:latin typeface="Consolas" pitchFamily="34" charset="0"/>
                <a:ea typeface="Consolas" pitchFamily="34" charset="-122"/>
                <a:cs typeface="Consolas" pitchFamily="34" charset="-120"/>
              </a:rPr>
              <a:t>new</a:t>
            </a:r>
            <a:r>
              <a:rPr lang="en-US" sz="880" dirty="0">
                <a:solidFill>
                  <a:srgbClr val="DCE6F2"/>
                </a:solidFill>
                <a:latin typeface="Consolas" pitchFamily="34" charset="0"/>
                <a:ea typeface="Consolas" pitchFamily="34" charset="-122"/>
                <a:cs typeface="Consolas" pitchFamily="34" charset="-120"/>
              </a:rPr>
              <a:t> HttpClientHandler { UseCookies = false };</a:t>
            </a:r>
            <a:endParaRPr lang="en-US" sz="880" dirty="0"/>
          </a:p>
          <a:p>
            <a:pPr marL="0" indent="0">
              <a:lnSpc>
                <a:spcPct val="100000"/>
              </a:lnSpc>
              <a:buNone/>
            </a:pPr>
            <a:r>
              <a:rPr lang="en-US" sz="880" b="1" dirty="0">
                <a:solidFill>
                  <a:srgbClr val="F5A800"/>
                </a:solidFill>
                <a:latin typeface="Consolas" pitchFamily="34" charset="0"/>
                <a:ea typeface="Consolas" pitchFamily="34" charset="-122"/>
                <a:cs typeface="Consolas" pitchFamily="34" charset="-120"/>
              </a:rPr>
              <a:t>var</a:t>
            </a:r>
            <a:r>
              <a:rPr lang="en-US" sz="880" dirty="0">
                <a:solidFill>
                  <a:srgbClr val="DCE6F2"/>
                </a:solidFill>
                <a:latin typeface="Consolas" pitchFamily="34" charset="0"/>
                <a:ea typeface="Consolas" pitchFamily="34" charset="-122"/>
                <a:cs typeface="Consolas" pitchFamily="34" charset="-120"/>
              </a:rPr>
              <a:t> http = </a:t>
            </a:r>
            <a:r>
              <a:rPr lang="en-US" sz="880" b="1" dirty="0">
                <a:solidFill>
                  <a:srgbClr val="F5A800"/>
                </a:solidFill>
                <a:latin typeface="Consolas" pitchFamily="34" charset="0"/>
                <a:ea typeface="Consolas" pitchFamily="34" charset="-122"/>
                <a:cs typeface="Consolas" pitchFamily="34" charset="-120"/>
              </a:rPr>
              <a:t>new</a:t>
            </a:r>
            <a:r>
              <a:rPr lang="en-US" sz="880" dirty="0">
                <a:solidFill>
                  <a:srgbClr val="DCE6F2"/>
                </a:solidFill>
                <a:latin typeface="Consolas" pitchFamily="34" charset="0"/>
                <a:ea typeface="Consolas" pitchFamily="34" charset="-122"/>
                <a:cs typeface="Consolas" pitchFamily="34" charset="-120"/>
              </a:rPr>
              <a:t> HttpClient(handler) { BaseAddress = </a:t>
            </a:r>
            <a:r>
              <a:rPr lang="en-US" sz="880" b="1" dirty="0">
                <a:solidFill>
                  <a:srgbClr val="F5A800"/>
                </a:solidFill>
                <a:latin typeface="Consolas" pitchFamily="34" charset="0"/>
                <a:ea typeface="Consolas" pitchFamily="34" charset="-122"/>
                <a:cs typeface="Consolas" pitchFamily="34" charset="-120"/>
              </a:rPr>
              <a:t>new</a:t>
            </a:r>
            <a:r>
              <a:rPr lang="en-US" sz="880" dirty="0">
                <a:solidFill>
                  <a:srgbClr val="DCE6F2"/>
                </a:solidFill>
                <a:latin typeface="Consolas" pitchFamily="34" charset="0"/>
                <a:ea typeface="Consolas" pitchFamily="34" charset="-122"/>
                <a:cs typeface="Consolas" pitchFamily="34" charset="-120"/>
              </a:rPr>
              <a:t> Uri(SL) };</a:t>
            </a:r>
            <a:endParaRPr lang="en-US" sz="880" dirty="0"/>
          </a:p>
          <a:p>
            <a:pPr marL="0" indent="0">
              <a:lnSpc>
                <a:spcPct val="100000"/>
              </a:lnSpc>
              <a:buNone/>
            </a:pPr>
            <a:r>
              <a:rPr lang="en-US" sz="880" dirty="0">
                <a:solidFill>
                  <a:srgbClr val="DCE6F2"/>
                </a:solidFill>
                <a:latin typeface="Consolas" pitchFamily="34" charset="0"/>
                <a:ea typeface="Consolas" pitchFamily="34" charset="-122"/>
                <a:cs typeface="Consolas" pitchFamily="34" charset="-120"/>
              </a:rPr>
              <a:t>http.DefaultRequestHeaders.Add(</a:t>
            </a:r>
            <a:r>
              <a:rPr lang="en-US" sz="880" dirty="0">
                <a:solidFill>
                  <a:srgbClr val="B5E48C"/>
                </a:solidFill>
                <a:latin typeface="Consolas" pitchFamily="34" charset="0"/>
                <a:ea typeface="Consolas" pitchFamily="34" charset="-122"/>
                <a:cs typeface="Consolas" pitchFamily="34" charset="-120"/>
              </a:rPr>
              <a:t>"Cookie"</a:t>
            </a:r>
            <a:r>
              <a:rPr lang="en-US" sz="880" dirty="0">
                <a:solidFill>
                  <a:srgbClr val="DCE6F2"/>
                </a:solidFill>
                <a:latin typeface="Consolas" pitchFamily="34" charset="0"/>
                <a:ea typeface="Consolas" pitchFamily="34" charset="-122"/>
                <a:cs typeface="Consolas" pitchFamily="34" charset="-120"/>
              </a:rPr>
              <a:t>, ctx);</a:t>
            </a:r>
            <a:endParaRPr lang="en-US" sz="880" dirty="0"/>
          </a:p>
          <a:p>
            <a:pPr marL="0" indent="0">
              <a:lnSpc>
                <a:spcPct val="100000"/>
              </a:lnSpc>
              <a:buNone/>
            </a:pPr>
            <a:r>
              <a:rPr lang="en-US" sz="880" dirty="0">
                <a:solidFill>
                  <a:srgbClr val="DCE6F2"/>
                </a:solidFill>
                <a:latin typeface="Consolas" pitchFamily="34" charset="0"/>
                <a:ea typeface="Consolas" pitchFamily="34" charset="-122"/>
                <a:cs typeface="Consolas" pitchFamily="34" charset="-120"/>
              </a:rPr>
              <a:t> </a:t>
            </a:r>
            <a:endParaRPr lang="en-US" sz="880" dirty="0"/>
          </a:p>
          <a:p>
            <a:pPr marL="0" indent="0">
              <a:lnSpc>
                <a:spcPct val="100000"/>
              </a:lnSpc>
              <a:buNone/>
            </a:pPr>
            <a:r>
              <a:rPr lang="en-US" sz="880" i="1" dirty="0">
                <a:solidFill>
                  <a:srgbClr val="7D8FA8"/>
                </a:solidFill>
                <a:latin typeface="Consolas" pitchFamily="34" charset="0"/>
                <a:ea typeface="Consolas" pitchFamily="34" charset="-122"/>
                <a:cs typeface="Consolas" pitchFamily="34" charset="-120"/>
              </a:rPr>
              <a:t>// 3. Consumir SL como el usuario logueado</a:t>
            </a:r>
            <a:endParaRPr lang="en-US" sz="880" dirty="0"/>
          </a:p>
          <a:p>
            <a:pPr marL="0" indent="0">
              <a:lnSpc>
                <a:spcPct val="100000"/>
              </a:lnSpc>
              <a:buNone/>
            </a:pPr>
            <a:r>
              <a:rPr lang="en-US" sz="880" b="1" dirty="0">
                <a:solidFill>
                  <a:srgbClr val="F5A800"/>
                </a:solidFill>
                <a:latin typeface="Consolas" pitchFamily="34" charset="0"/>
                <a:ea typeface="Consolas" pitchFamily="34" charset="-122"/>
                <a:cs typeface="Consolas" pitchFamily="34" charset="-120"/>
              </a:rPr>
              <a:t>var</a:t>
            </a:r>
            <a:r>
              <a:rPr lang="en-US" sz="880" dirty="0">
                <a:solidFill>
                  <a:srgbClr val="DCE6F2"/>
                </a:solidFill>
                <a:latin typeface="Consolas" pitchFamily="34" charset="0"/>
                <a:ea typeface="Consolas" pitchFamily="34" charset="-122"/>
                <a:cs typeface="Consolas" pitchFamily="34" charset="-120"/>
              </a:rPr>
              <a:t> resp = </a:t>
            </a:r>
            <a:r>
              <a:rPr lang="en-US" sz="880" b="1" dirty="0">
                <a:solidFill>
                  <a:srgbClr val="F5A800"/>
                </a:solidFill>
                <a:latin typeface="Consolas" pitchFamily="34" charset="0"/>
                <a:ea typeface="Consolas" pitchFamily="34" charset="-122"/>
                <a:cs typeface="Consolas" pitchFamily="34" charset="-120"/>
              </a:rPr>
              <a:t>await</a:t>
            </a:r>
            <a:r>
              <a:rPr lang="en-US" sz="880" dirty="0">
                <a:solidFill>
                  <a:srgbClr val="DCE6F2"/>
                </a:solidFill>
                <a:latin typeface="Consolas" pitchFamily="34" charset="0"/>
                <a:ea typeface="Consolas" pitchFamily="34" charset="-122"/>
                <a:cs typeface="Consolas" pitchFamily="34" charset="-120"/>
              </a:rPr>
              <a:t> http.GetAsync(</a:t>
            </a:r>
            <a:endParaRPr lang="en-US" sz="880" dirty="0"/>
          </a:p>
          <a:p>
            <a:pPr marL="0" indent="0">
              <a:lnSpc>
                <a:spcPct val="100000"/>
              </a:lnSpc>
              <a:buNone/>
            </a:pPr>
            <a:r>
              <a:rPr lang="en-US" sz="880" dirty="0">
                <a:solidFill>
                  <a:srgbClr val="DCE6F2"/>
                </a:solidFill>
                <a:latin typeface="Consolas" pitchFamily="34" charset="0"/>
                <a:ea typeface="Consolas" pitchFamily="34" charset="-122"/>
                <a:cs typeface="Consolas" pitchFamily="34" charset="-120"/>
              </a:rPr>
              <a:t>    </a:t>
            </a:r>
            <a:r>
              <a:rPr lang="en-US" sz="880" dirty="0">
                <a:solidFill>
                  <a:srgbClr val="B5E48C"/>
                </a:solidFill>
                <a:latin typeface="Consolas" pitchFamily="34" charset="0"/>
                <a:ea typeface="Consolas" pitchFamily="34" charset="-122"/>
                <a:cs typeface="Consolas" pitchFamily="34" charset="-120"/>
              </a:rPr>
              <a:t>"BusinessPartners?$select=CardCode,CardName&amp;$top=5"</a:t>
            </a:r>
            <a:r>
              <a:rPr lang="en-US" sz="880" dirty="0">
                <a:solidFill>
                  <a:srgbClr val="DCE6F2"/>
                </a:solidFill>
                <a:latin typeface="Consolas" pitchFamily="34" charset="0"/>
                <a:ea typeface="Consolas" pitchFamily="34" charset="-122"/>
                <a:cs typeface="Consolas" pitchFamily="34" charset="-120"/>
              </a:rPr>
              <a:t>);</a:t>
            </a:r>
            <a:endParaRPr lang="en-US" sz="880" dirty="0"/>
          </a:p>
          <a:p>
            <a:pPr marL="0" indent="0">
              <a:lnSpc>
                <a:spcPct val="100000"/>
              </a:lnSpc>
              <a:buNone/>
            </a:pPr>
            <a:r>
              <a:rPr lang="en-US" sz="880" b="1" dirty="0">
                <a:solidFill>
                  <a:srgbClr val="F5A800"/>
                </a:solidFill>
                <a:latin typeface="Consolas" pitchFamily="34" charset="0"/>
                <a:ea typeface="Consolas" pitchFamily="34" charset="-122"/>
                <a:cs typeface="Consolas" pitchFamily="34" charset="-120"/>
              </a:rPr>
              <a:t>string</a:t>
            </a:r>
            <a:r>
              <a:rPr lang="en-US" sz="880" dirty="0">
                <a:solidFill>
                  <a:srgbClr val="DCE6F2"/>
                </a:solidFill>
                <a:latin typeface="Consolas" pitchFamily="34" charset="0"/>
                <a:ea typeface="Consolas" pitchFamily="34" charset="-122"/>
                <a:cs typeface="Consolas" pitchFamily="34" charset="-120"/>
              </a:rPr>
              <a:t> json = </a:t>
            </a:r>
            <a:r>
              <a:rPr lang="en-US" sz="880" b="1" dirty="0">
                <a:solidFill>
                  <a:srgbClr val="F5A800"/>
                </a:solidFill>
                <a:latin typeface="Consolas" pitchFamily="34" charset="0"/>
                <a:ea typeface="Consolas" pitchFamily="34" charset="-122"/>
                <a:cs typeface="Consolas" pitchFamily="34" charset="-120"/>
              </a:rPr>
              <a:t>await</a:t>
            </a:r>
            <a:r>
              <a:rPr lang="en-US" sz="880" dirty="0">
                <a:solidFill>
                  <a:srgbClr val="DCE6F2"/>
                </a:solidFill>
                <a:latin typeface="Consolas" pitchFamily="34" charset="0"/>
                <a:ea typeface="Consolas" pitchFamily="34" charset="-122"/>
                <a:cs typeface="Consolas" pitchFamily="34" charset="-120"/>
              </a:rPr>
              <a:t> resp.Content.ReadAsStringAsync();</a:t>
            </a:r>
            <a:endParaRPr lang="en-US" sz="880" dirty="0"/>
          </a:p>
        </p:txBody>
      </p:sp>
      <p:sp>
        <p:nvSpPr>
          <p:cNvPr id="12" name="Shape 10"/>
          <p:cNvSpPr/>
          <p:nvPr/>
        </p:nvSpPr>
        <p:spPr>
          <a:xfrm>
            <a:off x="5852160" y="1188720"/>
            <a:ext cx="2834640" cy="795528"/>
          </a:xfrm>
          <a:prstGeom prst="roundRect">
            <a:avLst>
              <a:gd name="adj" fmla="val 9195"/>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13" name="Shape 11"/>
          <p:cNvSpPr/>
          <p:nvPr/>
        </p:nvSpPr>
        <p:spPr>
          <a:xfrm>
            <a:off x="5961888" y="1362456"/>
            <a:ext cx="438912" cy="438912"/>
          </a:xfrm>
          <a:prstGeom prst="ellipse">
            <a:avLst/>
          </a:prstGeom>
          <a:solidFill>
            <a:srgbClr val="E8F1FC"/>
          </a:solidFill>
          <a:ln w="12700">
            <a:solidFill>
              <a:srgbClr val="E8F1FC"/>
            </a:solidFill>
            <a:prstDash val="solid"/>
          </a:ln>
        </p:spPr>
      </p:sp>
      <p:pic>
        <p:nvPicPr>
          <p:cNvPr id="14" name="Image 0" descr="preencoded.png"/>
          <p:cNvPicPr>
            <a:picLocks noChangeAspect="1"/>
          </p:cNvPicPr>
          <p:nvPr/>
        </p:nvPicPr>
        <p:blipFill>
          <a:blip r:embed="rId3"/>
          <a:stretch>
            <a:fillRect/>
          </a:stretch>
        </p:blipFill>
        <p:spPr>
          <a:xfrm>
            <a:off x="6076005" y="1476573"/>
            <a:ext cx="210678" cy="210678"/>
          </a:xfrm>
          <a:prstGeom prst="rect">
            <a:avLst/>
          </a:prstGeom>
        </p:spPr>
      </p:pic>
      <p:sp>
        <p:nvSpPr>
          <p:cNvPr id="15" name="Text 12"/>
          <p:cNvSpPr txBox="1"/>
          <p:nvPr/>
        </p:nvSpPr>
        <p:spPr>
          <a:xfrm>
            <a:off x="6492240" y="1280160"/>
            <a:ext cx="2103120" cy="256032"/>
          </a:xfrm>
          <a:prstGeom prst="rect">
            <a:avLst/>
          </a:prstGeom>
          <a:noFill/>
          <a:ln/>
        </p:spPr>
        <p:txBody>
          <a:bodyPr wrap="square" lIns="0" tIns="0" rIns="0" bIns="0" rtlCol="0" anchor="t"/>
          <a:lstStyle/>
          <a:p>
            <a:pPr marL="0" indent="0">
              <a:buNone/>
            </a:pPr>
            <a:r>
              <a:rPr lang="en-US" sz="1100" b="1" dirty="0">
                <a:solidFill>
                  <a:srgbClr val="071B3F"/>
                </a:solidFill>
                <a:latin typeface="Segoe UI" pitchFamily="34" charset="0"/>
                <a:ea typeface="Segoe UI" pitchFamily="34" charset="-122"/>
                <a:cs typeface="Segoe UI" pitchFamily="34" charset="-120"/>
              </a:rPr>
              <a:t>401 = sesión vencida</a:t>
            </a:r>
            <a:endParaRPr lang="en-US" sz="1100" dirty="0"/>
          </a:p>
        </p:txBody>
      </p:sp>
      <p:sp>
        <p:nvSpPr>
          <p:cNvPr id="16" name="Text 13"/>
          <p:cNvSpPr txBox="1"/>
          <p:nvPr/>
        </p:nvSpPr>
        <p:spPr>
          <a:xfrm>
            <a:off x="6492240" y="1536192"/>
            <a:ext cx="2103120" cy="411480"/>
          </a:xfrm>
          <a:prstGeom prst="rect">
            <a:avLst/>
          </a:prstGeom>
          <a:noFill/>
          <a:ln/>
        </p:spPr>
        <p:txBody>
          <a:bodyPr wrap="square" lIns="0" tIns="0" rIns="0" bIns="0" rtlCol="0" anchor="t"/>
          <a:lstStyle/>
          <a:p>
            <a:pPr marL="0" indent="0">
              <a:buNone/>
            </a:pPr>
            <a:r>
              <a:rPr lang="en-US" sz="950" dirty="0">
                <a:solidFill>
                  <a:srgbClr val="5B6B82"/>
                </a:solidFill>
                <a:latin typeface="Calibri" pitchFamily="34" charset="0"/>
                <a:ea typeface="Calibri" pitchFamily="34" charset="-122"/>
                <a:cs typeface="Calibri" pitchFamily="34" charset="-120"/>
              </a:rPr>
              <a:t>Vuelve a pedir el contexto y reintenta la petición.</a:t>
            </a:r>
            <a:endParaRPr lang="en-US" sz="950" dirty="0"/>
          </a:p>
        </p:txBody>
      </p:sp>
      <p:sp>
        <p:nvSpPr>
          <p:cNvPr id="17" name="Shape 14"/>
          <p:cNvSpPr/>
          <p:nvPr/>
        </p:nvSpPr>
        <p:spPr>
          <a:xfrm>
            <a:off x="5852160" y="2093976"/>
            <a:ext cx="2834640" cy="795528"/>
          </a:xfrm>
          <a:prstGeom prst="roundRect">
            <a:avLst>
              <a:gd name="adj" fmla="val 9195"/>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18" name="Shape 15"/>
          <p:cNvSpPr/>
          <p:nvPr/>
        </p:nvSpPr>
        <p:spPr>
          <a:xfrm>
            <a:off x="5961888" y="2267712"/>
            <a:ext cx="438912" cy="438912"/>
          </a:xfrm>
          <a:prstGeom prst="ellipse">
            <a:avLst/>
          </a:prstGeom>
          <a:solidFill>
            <a:srgbClr val="E8F1FC"/>
          </a:solidFill>
          <a:ln w="12700">
            <a:solidFill>
              <a:srgbClr val="E8F1FC"/>
            </a:solidFill>
            <a:prstDash val="solid"/>
          </a:ln>
        </p:spPr>
      </p:sp>
      <p:pic>
        <p:nvPicPr>
          <p:cNvPr id="19" name="Image 1" descr="preencoded.png"/>
          <p:cNvPicPr>
            <a:picLocks noChangeAspect="1"/>
          </p:cNvPicPr>
          <p:nvPr/>
        </p:nvPicPr>
        <p:blipFill>
          <a:blip r:embed="rId4"/>
          <a:stretch>
            <a:fillRect/>
          </a:stretch>
        </p:blipFill>
        <p:spPr>
          <a:xfrm>
            <a:off x="6076005" y="2381829"/>
            <a:ext cx="210678" cy="210678"/>
          </a:xfrm>
          <a:prstGeom prst="rect">
            <a:avLst/>
          </a:prstGeom>
        </p:spPr>
      </p:pic>
      <p:sp>
        <p:nvSpPr>
          <p:cNvPr id="20" name="Text 16"/>
          <p:cNvSpPr txBox="1"/>
          <p:nvPr/>
        </p:nvSpPr>
        <p:spPr>
          <a:xfrm>
            <a:off x="6492240" y="2185416"/>
            <a:ext cx="2103120" cy="256032"/>
          </a:xfrm>
          <a:prstGeom prst="rect">
            <a:avLst/>
          </a:prstGeom>
          <a:noFill/>
          <a:ln/>
        </p:spPr>
        <p:txBody>
          <a:bodyPr wrap="square" lIns="0" tIns="0" rIns="0" bIns="0" rtlCol="0" anchor="t"/>
          <a:lstStyle/>
          <a:p>
            <a:pPr marL="0" indent="0">
              <a:buNone/>
            </a:pPr>
            <a:r>
              <a:rPr lang="en-US" sz="1100" b="1" dirty="0">
                <a:solidFill>
                  <a:srgbClr val="071B3F"/>
                </a:solidFill>
                <a:latin typeface="Segoe UI" pitchFamily="34" charset="0"/>
                <a:ea typeface="Segoe UI" pitchFamily="34" charset="-122"/>
                <a:cs typeface="Segoe UI" pitchFamily="34" charset="-120"/>
              </a:rPr>
              <a:t>Un contexto por usuario</a:t>
            </a:r>
            <a:endParaRPr lang="en-US" sz="1100" dirty="0"/>
          </a:p>
        </p:txBody>
      </p:sp>
      <p:sp>
        <p:nvSpPr>
          <p:cNvPr id="21" name="Text 17"/>
          <p:cNvSpPr txBox="1"/>
          <p:nvPr/>
        </p:nvSpPr>
        <p:spPr>
          <a:xfrm>
            <a:off x="6492240" y="2441448"/>
            <a:ext cx="2103120" cy="411480"/>
          </a:xfrm>
          <a:prstGeom prst="rect">
            <a:avLst/>
          </a:prstGeom>
          <a:noFill/>
          <a:ln/>
        </p:spPr>
        <p:txBody>
          <a:bodyPr wrap="square" lIns="0" tIns="0" rIns="0" bIns="0" rtlCol="0" anchor="t"/>
          <a:lstStyle/>
          <a:p>
            <a:pPr marL="0" indent="0">
              <a:buNone/>
            </a:pPr>
            <a:r>
              <a:rPr lang="en-US" sz="950" dirty="0">
                <a:solidFill>
                  <a:srgbClr val="5B6B82"/>
                </a:solidFill>
                <a:latin typeface="Calibri" pitchFamily="34" charset="0"/>
                <a:ea typeface="Calibri" pitchFamily="34" charset="-122"/>
                <a:cs typeface="Calibri" pitchFamily="34" charset="-120"/>
              </a:rPr>
              <a:t>Nunca compartas la cookie entre usuarios o equipos.</a:t>
            </a:r>
            <a:endParaRPr lang="en-US" sz="950" dirty="0"/>
          </a:p>
        </p:txBody>
      </p:sp>
      <p:sp>
        <p:nvSpPr>
          <p:cNvPr id="22" name="Shape 18"/>
          <p:cNvSpPr/>
          <p:nvPr/>
        </p:nvSpPr>
        <p:spPr>
          <a:xfrm>
            <a:off x="5852160" y="2999232"/>
            <a:ext cx="2834640" cy="795528"/>
          </a:xfrm>
          <a:prstGeom prst="roundRect">
            <a:avLst>
              <a:gd name="adj" fmla="val 9195"/>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23" name="Shape 19"/>
          <p:cNvSpPr/>
          <p:nvPr/>
        </p:nvSpPr>
        <p:spPr>
          <a:xfrm>
            <a:off x="5961888" y="3172968"/>
            <a:ext cx="438912" cy="438912"/>
          </a:xfrm>
          <a:prstGeom prst="ellipse">
            <a:avLst/>
          </a:prstGeom>
          <a:solidFill>
            <a:srgbClr val="E8F1FC"/>
          </a:solidFill>
          <a:ln w="12700">
            <a:solidFill>
              <a:srgbClr val="E8F1FC"/>
            </a:solidFill>
            <a:prstDash val="solid"/>
          </a:ln>
        </p:spPr>
      </p:sp>
      <p:pic>
        <p:nvPicPr>
          <p:cNvPr id="24" name="Image 2" descr="preencoded.png"/>
          <p:cNvPicPr>
            <a:picLocks noChangeAspect="1"/>
          </p:cNvPicPr>
          <p:nvPr/>
        </p:nvPicPr>
        <p:blipFill>
          <a:blip r:embed="rId5"/>
          <a:stretch>
            <a:fillRect/>
          </a:stretch>
        </p:blipFill>
        <p:spPr>
          <a:xfrm>
            <a:off x="6076005" y="3287085"/>
            <a:ext cx="210678" cy="210678"/>
          </a:xfrm>
          <a:prstGeom prst="rect">
            <a:avLst/>
          </a:prstGeom>
        </p:spPr>
      </p:pic>
      <p:sp>
        <p:nvSpPr>
          <p:cNvPr id="25" name="Text 20"/>
          <p:cNvSpPr txBox="1"/>
          <p:nvPr/>
        </p:nvSpPr>
        <p:spPr>
          <a:xfrm>
            <a:off x="6492240" y="3090672"/>
            <a:ext cx="2103120" cy="256032"/>
          </a:xfrm>
          <a:prstGeom prst="rect">
            <a:avLst/>
          </a:prstGeom>
          <a:noFill/>
          <a:ln/>
        </p:spPr>
        <p:txBody>
          <a:bodyPr wrap="square" lIns="0" tIns="0" rIns="0" bIns="0" rtlCol="0" anchor="t"/>
          <a:lstStyle/>
          <a:p>
            <a:pPr marL="0" indent="0">
              <a:buNone/>
            </a:pPr>
            <a:r>
              <a:rPr lang="en-US" sz="1100" b="1" dirty="0">
                <a:solidFill>
                  <a:srgbClr val="071B3F"/>
                </a:solidFill>
                <a:latin typeface="Segoe UI" pitchFamily="34" charset="0"/>
                <a:ea typeface="Segoe UI" pitchFamily="34" charset="-122"/>
                <a:cs typeface="Segoe UI" pitchFamily="34" charset="-120"/>
              </a:rPr>
              <a:t>No bloquees la UI</a:t>
            </a:r>
            <a:endParaRPr lang="en-US" sz="1100" dirty="0"/>
          </a:p>
        </p:txBody>
      </p:sp>
      <p:sp>
        <p:nvSpPr>
          <p:cNvPr id="26" name="Text 21"/>
          <p:cNvSpPr txBox="1"/>
          <p:nvPr/>
        </p:nvSpPr>
        <p:spPr>
          <a:xfrm>
            <a:off x="6492240" y="3346704"/>
            <a:ext cx="2103120" cy="411480"/>
          </a:xfrm>
          <a:prstGeom prst="rect">
            <a:avLst/>
          </a:prstGeom>
          <a:noFill/>
          <a:ln/>
        </p:spPr>
        <p:txBody>
          <a:bodyPr wrap="square" lIns="0" tIns="0" rIns="0" bIns="0" rtlCol="0" anchor="t"/>
          <a:lstStyle/>
          <a:p>
            <a:pPr marL="0" indent="0">
              <a:buNone/>
            </a:pPr>
            <a:r>
              <a:rPr lang="en-US" sz="950" dirty="0">
                <a:solidFill>
                  <a:srgbClr val="5B6B82"/>
                </a:solidFill>
                <a:latin typeface="Calibri" pitchFamily="34" charset="0"/>
                <a:ea typeface="Calibri" pitchFamily="34" charset="-122"/>
                <a:cs typeface="Calibri" pitchFamily="34" charset="-120"/>
              </a:rPr>
              <a:t>Llamadas async fuera del hilo de eventos del cliente.</a:t>
            </a:r>
            <a:endParaRPr lang="en-US" sz="950" dirty="0"/>
          </a:p>
        </p:txBody>
      </p:sp>
      <p:sp>
        <p:nvSpPr>
          <p:cNvPr id="27" name="Shape 22"/>
          <p:cNvSpPr/>
          <p:nvPr/>
        </p:nvSpPr>
        <p:spPr>
          <a:xfrm>
            <a:off x="5852160" y="3904488"/>
            <a:ext cx="2834640" cy="795528"/>
          </a:xfrm>
          <a:prstGeom prst="roundRect">
            <a:avLst>
              <a:gd name="adj" fmla="val 9195"/>
            </a:avLst>
          </a:prstGeom>
          <a:solidFill>
            <a:srgbClr val="FFFFFF"/>
          </a:solidFill>
          <a:ln w="9525">
            <a:solidFill>
              <a:srgbClr val="D5DFEC"/>
            </a:solidFill>
            <a:prstDash val="solid"/>
          </a:ln>
          <a:effectLst>
            <a:outerShdw blurRad="101600" dist="25400" dir="5400000" algn="bl" rotWithShape="0">
              <a:srgbClr val="0B2A55">
                <a:alpha val="12000"/>
              </a:srgbClr>
            </a:outerShdw>
          </a:effectLst>
        </p:spPr>
      </p:sp>
      <p:sp>
        <p:nvSpPr>
          <p:cNvPr id="28" name="Shape 23"/>
          <p:cNvSpPr/>
          <p:nvPr/>
        </p:nvSpPr>
        <p:spPr>
          <a:xfrm>
            <a:off x="5961888" y="4078224"/>
            <a:ext cx="438912" cy="438912"/>
          </a:xfrm>
          <a:prstGeom prst="ellipse">
            <a:avLst/>
          </a:prstGeom>
          <a:solidFill>
            <a:srgbClr val="E8F1FC"/>
          </a:solidFill>
          <a:ln w="12700">
            <a:solidFill>
              <a:srgbClr val="E8F1FC"/>
            </a:solidFill>
            <a:prstDash val="solid"/>
          </a:ln>
        </p:spPr>
      </p:sp>
      <p:pic>
        <p:nvPicPr>
          <p:cNvPr id="29" name="Image 3" descr="preencoded.png"/>
          <p:cNvPicPr>
            <a:picLocks noChangeAspect="1"/>
          </p:cNvPicPr>
          <p:nvPr/>
        </p:nvPicPr>
        <p:blipFill>
          <a:blip r:embed="rId6"/>
          <a:stretch>
            <a:fillRect/>
          </a:stretch>
        </p:blipFill>
        <p:spPr>
          <a:xfrm>
            <a:off x="6076005" y="4192341"/>
            <a:ext cx="210678" cy="210678"/>
          </a:xfrm>
          <a:prstGeom prst="rect">
            <a:avLst/>
          </a:prstGeom>
        </p:spPr>
      </p:pic>
      <p:sp>
        <p:nvSpPr>
          <p:cNvPr id="30" name="Text 24"/>
          <p:cNvSpPr txBox="1"/>
          <p:nvPr/>
        </p:nvSpPr>
        <p:spPr>
          <a:xfrm>
            <a:off x="6492240" y="3995928"/>
            <a:ext cx="2103120" cy="256032"/>
          </a:xfrm>
          <a:prstGeom prst="rect">
            <a:avLst/>
          </a:prstGeom>
          <a:noFill/>
          <a:ln/>
        </p:spPr>
        <p:txBody>
          <a:bodyPr wrap="square" lIns="0" tIns="0" rIns="0" bIns="0" rtlCol="0" anchor="t"/>
          <a:lstStyle/>
          <a:p>
            <a:pPr marL="0" indent="0">
              <a:buNone/>
            </a:pPr>
            <a:r>
              <a:rPr lang="en-US" sz="1100" b="1" dirty="0">
                <a:solidFill>
                  <a:srgbClr val="071B3F"/>
                </a:solidFill>
                <a:latin typeface="Segoe UI" pitchFamily="34" charset="0"/>
                <a:ea typeface="Segoe UI" pitchFamily="34" charset="-122"/>
                <a:cs typeface="Segoe UI" pitchFamily="34" charset="-120"/>
              </a:rPr>
              <a:t>Reutiliza tu cliente</a:t>
            </a:r>
            <a:endParaRPr lang="en-US" sz="1100" dirty="0"/>
          </a:p>
        </p:txBody>
      </p:sp>
      <p:sp>
        <p:nvSpPr>
          <p:cNvPr id="31" name="Text 25"/>
          <p:cNvSpPr txBox="1"/>
          <p:nvPr/>
        </p:nvSpPr>
        <p:spPr>
          <a:xfrm>
            <a:off x="6492240" y="4251960"/>
            <a:ext cx="2103120" cy="411480"/>
          </a:xfrm>
          <a:prstGeom prst="rect">
            <a:avLst/>
          </a:prstGeom>
          <a:noFill/>
          <a:ln/>
        </p:spPr>
        <p:txBody>
          <a:bodyPr wrap="square" lIns="0" tIns="0" rIns="0" bIns="0" rtlCol="0" anchor="t"/>
          <a:lstStyle/>
          <a:p>
            <a:pPr marL="0" indent="0">
              <a:buNone/>
            </a:pPr>
            <a:r>
              <a:rPr lang="en-US" sz="950" dirty="0">
                <a:solidFill>
                  <a:srgbClr val="5B6B82"/>
                </a:solidFill>
                <a:latin typeface="Calibri" pitchFamily="34" charset="0"/>
                <a:ea typeface="Calibri" pitchFamily="34" charset="-122"/>
                <a:cs typeface="Calibri" pitchFamily="34" charset="-120"/>
              </a:rPr>
              <a:t>Inyecta la cookie en el cliente HTTP del capítulo 6.</a:t>
            </a:r>
            <a:endParaRPr lang="en-US" sz="950" dirty="0"/>
          </a:p>
        </p:txBody>
      </p:sp>
      <p:sp>
        <p:nvSpPr>
          <p:cNvPr id="32"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xmlns="" val="0"/>
            </a:ext>
          </a:extLst>
        </p:spPr>
        <p:txBody>
          <a:bodyPr/>
          <a:lstStyle>
            <a:lvl1pPr>
              <a:defRPr sz="800">
                <a:solidFill>
                  <a:srgbClr val="8A9AB0"/>
                </a:solidFill>
                <a:latin typeface="Calibri"/>
                <a:ea typeface="Calibri"/>
                <a:cs typeface="Calibri"/>
              </a:defRPr>
            </a:lvl1pPr>
          </a:lstStyle>
          <a:p>
            <a:pPr algn="r"/>
            <a:fld id="{F7021451-1387-4CA6-816F-3879F97B5CBC}" type="slidenum">
              <a:rPr lang="en-US" b="0"/>
              <a:t>43</a:t>
            </a:fld>
            <a:endParaRPr lang="en-US"/>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name="Slide 4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1188720"/>
            <a:ext cx="5486400" cy="914400"/>
          </a:xfrm>
          <a:prstGeom prst="rect">
            <a:avLst/>
          </a:prstGeom>
          <a:noFill/>
          <a:ln/>
        </p:spPr>
        <p:txBody>
          <a:bodyPr wrap="square" lIns="0" tIns="0" rIns="0" bIns="0" rtlCol="0" anchor="t"/>
          <a:lstStyle/>
          <a:p>
            <a:pPr marL="0" indent="0">
              <a:buNone/>
            </a:pPr>
            <a:r>
              <a:rPr lang="en-US" sz="5400" b="1" dirty="0">
                <a:solidFill>
                  <a:srgbClr val="FFFFFF"/>
                </a:solidFill>
                <a:latin typeface="Segoe UI" pitchFamily="34" charset="0"/>
                <a:ea typeface="Segoe UI" pitchFamily="34" charset="-122"/>
                <a:cs typeface="Segoe UI" pitchFamily="34" charset="-120"/>
              </a:rPr>
              <a:t>¡Gracias!</a:t>
            </a:r>
            <a:endParaRPr lang="en-US" sz="5400" dirty="0"/>
          </a:p>
        </p:txBody>
      </p:sp>
      <p:sp>
        <p:nvSpPr>
          <p:cNvPr id="3" name="Text 1"/>
          <p:cNvSpPr txBox="1"/>
          <p:nvPr/>
        </p:nvSpPr>
        <p:spPr>
          <a:xfrm>
            <a:off x="658368" y="2103120"/>
            <a:ext cx="5486400" cy="548640"/>
          </a:xfrm>
          <a:prstGeom prst="rect">
            <a:avLst/>
          </a:prstGeom>
          <a:noFill/>
          <a:ln/>
        </p:spPr>
        <p:txBody>
          <a:bodyPr wrap="square" lIns="0" tIns="0" rIns="0" bIns="0" rtlCol="0" anchor="t"/>
          <a:lstStyle/>
          <a:p>
            <a:pPr marL="0" indent="0">
              <a:buNone/>
            </a:pPr>
            <a:r>
              <a:rPr lang="en-US" sz="2600" dirty="0">
                <a:solidFill>
                  <a:srgbClr val="F5A800"/>
                </a:solidFill>
                <a:latin typeface="Segoe UI" pitchFamily="34" charset="0"/>
                <a:ea typeface="Segoe UI" pitchFamily="34" charset="-122"/>
                <a:cs typeface="Segoe UI" pitchFamily="34" charset="-120"/>
              </a:rPr>
              <a:t>¿Preguntas?</a:t>
            </a:r>
            <a:endParaRPr lang="en-US" sz="2600" dirty="0"/>
          </a:p>
        </p:txBody>
      </p:sp>
      <p:sp>
        <p:nvSpPr>
          <p:cNvPr id="4" name="Shape 2"/>
          <p:cNvSpPr/>
          <p:nvPr/>
        </p:nvSpPr>
        <p:spPr>
          <a:xfrm>
            <a:off x="658368" y="2971800"/>
            <a:ext cx="1207008" cy="310896"/>
          </a:xfrm>
          <a:prstGeom prst="roundRect">
            <a:avLst>
              <a:gd name="adj" fmla="val 50000"/>
            </a:avLst>
          </a:prstGeom>
          <a:solidFill>
            <a:srgbClr val="FFFFFF">
              <a:alpha val="12000"/>
            </a:srgbClr>
          </a:solidFill>
          <a:ln w="9525">
            <a:solidFill>
              <a:srgbClr val="7FB6F0"/>
            </a:solidFill>
            <a:prstDash val="solid"/>
          </a:ln>
        </p:spPr>
      </p:sp>
      <p:sp>
        <p:nvSpPr>
          <p:cNvPr id="5" name="Text 3"/>
          <p:cNvSpPr txBox="1"/>
          <p:nvPr/>
        </p:nvSpPr>
        <p:spPr>
          <a:xfrm>
            <a:off x="658368" y="2971800"/>
            <a:ext cx="1207008" cy="310896"/>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REST / OData</a:t>
            </a:r>
            <a:endParaRPr lang="en-US" sz="1050" dirty="0"/>
          </a:p>
        </p:txBody>
      </p:sp>
      <p:sp>
        <p:nvSpPr>
          <p:cNvPr id="6" name="Shape 4"/>
          <p:cNvSpPr/>
          <p:nvPr/>
        </p:nvSpPr>
        <p:spPr>
          <a:xfrm>
            <a:off x="1975104" y="2971800"/>
            <a:ext cx="1517904" cy="310896"/>
          </a:xfrm>
          <a:prstGeom prst="roundRect">
            <a:avLst>
              <a:gd name="adj" fmla="val 50000"/>
            </a:avLst>
          </a:prstGeom>
          <a:solidFill>
            <a:srgbClr val="FFFFFF">
              <a:alpha val="12000"/>
            </a:srgbClr>
          </a:solidFill>
          <a:ln w="9525">
            <a:solidFill>
              <a:srgbClr val="7FB6F0"/>
            </a:solidFill>
            <a:prstDash val="solid"/>
          </a:ln>
        </p:spPr>
      </p:sp>
      <p:sp>
        <p:nvSpPr>
          <p:cNvPr id="7" name="Text 5"/>
          <p:cNvSpPr txBox="1"/>
          <p:nvPr/>
        </p:nvSpPr>
        <p:spPr>
          <a:xfrm>
            <a:off x="1975104" y="2971800"/>
            <a:ext cx="1517904" cy="310896"/>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Sesión y ROUTEID</a:t>
            </a:r>
            <a:endParaRPr lang="en-US" sz="1050" dirty="0"/>
          </a:p>
        </p:txBody>
      </p:sp>
      <p:sp>
        <p:nvSpPr>
          <p:cNvPr id="8" name="Shape 6"/>
          <p:cNvSpPr/>
          <p:nvPr/>
        </p:nvSpPr>
        <p:spPr>
          <a:xfrm>
            <a:off x="3602736" y="2971800"/>
            <a:ext cx="1129284" cy="310896"/>
          </a:xfrm>
          <a:prstGeom prst="roundRect">
            <a:avLst>
              <a:gd name="adj" fmla="val 50000"/>
            </a:avLst>
          </a:prstGeom>
          <a:solidFill>
            <a:srgbClr val="FFFFFF">
              <a:alpha val="12000"/>
            </a:srgbClr>
          </a:solidFill>
          <a:ln w="9525">
            <a:solidFill>
              <a:srgbClr val="7FB6F0"/>
            </a:solidFill>
            <a:prstDash val="solid"/>
          </a:ln>
        </p:spPr>
      </p:sp>
      <p:sp>
        <p:nvSpPr>
          <p:cNvPr id="9" name="Text 7"/>
          <p:cNvSpPr txBox="1"/>
          <p:nvPr/>
        </p:nvSpPr>
        <p:spPr>
          <a:xfrm>
            <a:off x="3602736" y="2971800"/>
            <a:ext cx="1129284" cy="310896"/>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PATCH &gt; PUT</a:t>
            </a:r>
            <a:endParaRPr lang="en-US" sz="1050" dirty="0"/>
          </a:p>
        </p:txBody>
      </p:sp>
      <p:sp>
        <p:nvSpPr>
          <p:cNvPr id="10" name="Shape 8"/>
          <p:cNvSpPr/>
          <p:nvPr/>
        </p:nvSpPr>
        <p:spPr>
          <a:xfrm>
            <a:off x="4841748" y="2971800"/>
            <a:ext cx="1051560" cy="310896"/>
          </a:xfrm>
          <a:prstGeom prst="roundRect">
            <a:avLst>
              <a:gd name="adj" fmla="val 50000"/>
            </a:avLst>
          </a:prstGeom>
          <a:solidFill>
            <a:srgbClr val="FFFFFF">
              <a:alpha val="12000"/>
            </a:srgbClr>
          </a:solidFill>
          <a:ln w="9525">
            <a:solidFill>
              <a:srgbClr val="7FB6F0"/>
            </a:solidFill>
            <a:prstDash val="solid"/>
          </a:ln>
        </p:spPr>
      </p:sp>
      <p:sp>
        <p:nvSpPr>
          <p:cNvPr id="11" name="Text 9"/>
          <p:cNvSpPr txBox="1"/>
          <p:nvPr/>
        </p:nvSpPr>
        <p:spPr>
          <a:xfrm>
            <a:off x="4841748" y="2971800"/>
            <a:ext cx="1051560" cy="310896"/>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UDT vs UDO</a:t>
            </a:r>
            <a:endParaRPr lang="en-US" sz="1050" dirty="0"/>
          </a:p>
        </p:txBody>
      </p:sp>
      <p:sp>
        <p:nvSpPr>
          <p:cNvPr id="12" name="Shape 10"/>
          <p:cNvSpPr/>
          <p:nvPr/>
        </p:nvSpPr>
        <p:spPr>
          <a:xfrm>
            <a:off x="6003036" y="2971800"/>
            <a:ext cx="1051560" cy="310896"/>
          </a:xfrm>
          <a:prstGeom prst="roundRect">
            <a:avLst>
              <a:gd name="adj" fmla="val 50000"/>
            </a:avLst>
          </a:prstGeom>
          <a:solidFill>
            <a:srgbClr val="FFFFFF">
              <a:alpha val="12000"/>
            </a:srgbClr>
          </a:solidFill>
          <a:ln w="9525">
            <a:solidFill>
              <a:srgbClr val="7FB6F0"/>
            </a:solidFill>
            <a:prstDash val="solid"/>
          </a:ln>
        </p:spPr>
      </p:sp>
      <p:sp>
        <p:nvSpPr>
          <p:cNvPr id="13" name="Text 11"/>
          <p:cNvSpPr txBox="1"/>
          <p:nvPr/>
        </p:nvSpPr>
        <p:spPr>
          <a:xfrm>
            <a:off x="6003036" y="2971800"/>
            <a:ext cx="1051560" cy="310896"/>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Changesets</a:t>
            </a:r>
            <a:endParaRPr lang="en-US" sz="1050" dirty="0"/>
          </a:p>
        </p:txBody>
      </p:sp>
      <p:sp>
        <p:nvSpPr>
          <p:cNvPr id="14" name="Shape 12"/>
          <p:cNvSpPr/>
          <p:nvPr/>
        </p:nvSpPr>
        <p:spPr>
          <a:xfrm>
            <a:off x="7164324" y="2971800"/>
            <a:ext cx="896112" cy="310896"/>
          </a:xfrm>
          <a:prstGeom prst="roundRect">
            <a:avLst>
              <a:gd name="adj" fmla="val 50000"/>
            </a:avLst>
          </a:prstGeom>
          <a:solidFill>
            <a:srgbClr val="FFFFFF">
              <a:alpha val="12000"/>
            </a:srgbClr>
          </a:solidFill>
          <a:ln w="9525">
            <a:solidFill>
              <a:srgbClr val="7FB6F0"/>
            </a:solidFill>
            <a:prstDash val="solid"/>
          </a:ln>
        </p:spPr>
      </p:sp>
      <p:sp>
        <p:nvSpPr>
          <p:cNvPr id="15" name="Text 13"/>
          <p:cNvSpPr txBox="1"/>
          <p:nvPr/>
        </p:nvSpPr>
        <p:spPr>
          <a:xfrm>
            <a:off x="7164324" y="2971800"/>
            <a:ext cx="896112" cy="310896"/>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B1SLayer</a:t>
            </a:r>
            <a:endParaRPr lang="en-US" sz="1050" dirty="0"/>
          </a:p>
        </p:txBody>
      </p:sp>
      <p:sp>
        <p:nvSpPr>
          <p:cNvPr id="16" name="Shape 14"/>
          <p:cNvSpPr/>
          <p:nvPr/>
        </p:nvSpPr>
        <p:spPr>
          <a:xfrm>
            <a:off x="8170164" y="2971800"/>
            <a:ext cx="507492" cy="310896"/>
          </a:xfrm>
          <a:prstGeom prst="roundRect">
            <a:avLst>
              <a:gd name="adj" fmla="val 50000"/>
            </a:avLst>
          </a:prstGeom>
          <a:solidFill>
            <a:srgbClr val="FFFFFF">
              <a:alpha val="12000"/>
            </a:srgbClr>
          </a:solidFill>
          <a:ln w="9525">
            <a:solidFill>
              <a:srgbClr val="7FB6F0"/>
            </a:solidFill>
            <a:prstDash val="solid"/>
          </a:ln>
        </p:spPr>
      </p:sp>
      <p:sp>
        <p:nvSpPr>
          <p:cNvPr id="17" name="Text 15"/>
          <p:cNvSpPr txBox="1"/>
          <p:nvPr/>
        </p:nvSpPr>
        <p:spPr>
          <a:xfrm>
            <a:off x="8170164" y="2971800"/>
            <a:ext cx="507492" cy="310896"/>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SSO</a:t>
            </a:r>
            <a:endParaRPr lang="en-US" sz="1050" dirty="0"/>
          </a:p>
        </p:txBody>
      </p:sp>
      <p:sp>
        <p:nvSpPr>
          <p:cNvPr id="18" name="Text 16"/>
          <p:cNvSpPr txBox="1"/>
          <p:nvPr/>
        </p:nvSpPr>
        <p:spPr>
          <a:xfrm>
            <a:off x="658368" y="3931920"/>
            <a:ext cx="4572000" cy="548640"/>
          </a:xfrm>
          <a:prstGeom prst="rect">
            <a:avLst/>
          </a:prstGeom>
          <a:noFill/>
          <a:ln/>
        </p:spPr>
        <p:txBody>
          <a:bodyPr wrap="square" lIns="0" tIns="0" rIns="0" bIns="0" rtlCol="0" anchor="t"/>
          <a:lstStyle/>
          <a:p>
            <a:pPr marL="0" indent="0">
              <a:buNone/>
            </a:pPr>
            <a:r>
              <a:rPr lang="en-US" sz="1500" b="1" dirty="0">
                <a:solidFill>
                  <a:srgbClr val="FFFFFF"/>
                </a:solidFill>
                <a:latin typeface="Segoe UI" pitchFamily="34" charset="0"/>
                <a:ea typeface="Segoe UI" pitchFamily="34" charset="-122"/>
                <a:cs typeface="Segoe UI" pitchFamily="34" charset="-120"/>
              </a:rPr>
              <a:t>David Mechato</a:t>
            </a:r>
            <a:endParaRPr lang="en-US" sz="1300" dirty="0"/>
          </a:p>
          <a:p>
            <a:pPr marL="0" indent="0">
              <a:buNone/>
            </a:pPr>
            <a:r>
              <a:rPr lang="en-US" sz="1100" dirty="0">
                <a:solidFill>
                  <a:srgbClr val="B9D3F0"/>
                </a:solidFill>
                <a:latin typeface="Calibri" pitchFamily="34" charset="0"/>
                <a:ea typeface="Calibri" pitchFamily="34" charset="-122"/>
                <a:cs typeface="Calibri" pitchFamily="34" charset="-120"/>
              </a:rPr>
              <a:t>Instructor  ·  Ventura Soluciones</a:t>
            </a:r>
            <a:endParaRPr lang="en-US" sz="13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TotalTime>
  <Words>4919</Words>
  <Application>Microsoft Office PowerPoint</Application>
  <PresentationFormat>Presentación en pantalla (16:9)</PresentationFormat>
  <Paragraphs>1260</Paragraphs>
  <Slides>44</Slides>
  <Notes>44</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44</vt:i4>
      </vt:variant>
    </vt:vector>
  </HeadingPairs>
  <TitlesOfParts>
    <vt:vector size="49" baseType="lpstr">
      <vt:lpstr>Arial</vt:lpstr>
      <vt:lpstr>Calibri</vt:lpstr>
      <vt:lpstr>Consolas</vt:lpstr>
      <vt:lpstr>Segoe UI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Ventura Soluciones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SAP Business One - Service Layer</dc:title>
  <dc:subject>PptxGenJS Presentation</dc:subject>
  <dc:creator>David Mechato - Ventura Soluciones</dc:creator>
  <cp:lastModifiedBy>David Mechato</cp:lastModifiedBy>
  <cp:revision>2</cp:revision>
  <dcterms:created xsi:type="dcterms:W3CDTF">2026-09-23T11:53:19Z</dcterms:created>
  <dcterms:modified xsi:type="dcterms:W3CDTF">2026-09-29T15:19:05Z</dcterms:modified>
</cp:coreProperties>
</file>